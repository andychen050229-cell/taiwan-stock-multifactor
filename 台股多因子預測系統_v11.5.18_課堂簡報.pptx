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4457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724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飽和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+ 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散戶情緒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主導</a:t>
            </a:r>
            <a:r>
              <a:rPr lang="zh-TW" altLang="en-US" sz="150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，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edge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多落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1–5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pp、跨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fold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方向反覆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lang="en-US"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</a:br>
            <a:br>
              <a:rPr dirty="0"/>
            </a:b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嚴格時序驗證下</a:t>
            </a:r>
            <a:r>
              <a:rPr lang="zh-TW" altLang="en-US" sz="150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，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</a:t>
            </a:r>
            <a:r>
              <a:rPr lang="zh-TW" altLang="en-US" sz="1500" b="1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，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dirty="0"/>
            </a:br>
            <a:br>
              <a:rPr dirty="0"/>
            </a:b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不應在日頻層做下注決策</a:t>
            </a: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4457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724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財報季頻、文本日頻、籌碼日頻，以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stock_id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, date)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為主鍵對齊</a:t>
            </a:r>
            <a:r>
              <a:rPr lang="zh-TW" altLang="en-US" sz="150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lang="zh-TW" altLang="en-US" dirty="0"/>
            </a:br>
            <a:br>
              <a:rPr dirty="0"/>
            </a:b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lag 45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天、文本只取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T 日 15:00 前</a:t>
            </a:r>
            <a:r>
              <a:rPr lang="zh-TW" altLang="en-US"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，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規範全面落地</a:t>
            </a:r>
            <a:r>
              <a:rPr lang="zh-TW" altLang="en-US" sz="1500" b="1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，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從源頭阻斷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dirty="0"/>
            </a:br>
            <a:br>
              <a:rPr dirty="0"/>
            </a:b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</a:t>
            </a: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4457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134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顯著高於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D+1 / D+5；</a:t>
            </a:r>
            <a:br>
              <a:rPr dirty="0"/>
            </a:b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1 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個月窗口進入價格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br>
              <a:rPr dirty="0"/>
            </a:b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</a:t>
            </a:r>
            <a:r>
              <a:rPr sz="15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&gt; 1 </a:t>
            </a:r>
            <a:r>
              <a:rPr sz="15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個月，</a:t>
            </a:r>
            <a:r>
              <a:rPr sz="15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</a:t>
            </a:r>
            <a:r>
              <a:rPr sz="15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dirty="0"/>
            </a:b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→ D+20 </a:t>
            </a:r>
            <a:r>
              <a:rPr sz="1300" b="1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是訊號最強、雜訊已收斂的甜蜜點</a:t>
            </a:r>
            <a:r>
              <a:rPr sz="1300" b="1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8153400"/>
            <a:ext cx="15887700" cy="6942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alpha 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並非不存在、而是被錯誤時序與單一因子框架所遮蔽</a:t>
            </a:r>
            <a:r>
              <a:rPr lang="zh-TW" altLang="en-US" sz="160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>
              <a:rPr dirty="0"/>
            </a:b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D+20 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中長線、</a:t>
            </a:r>
            <a:r>
              <a:rPr sz="1600"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</a:t>
            </a:r>
            <a:r>
              <a:rPr sz="1600" b="1" i="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600"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嚴格驗證，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10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spc="-16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200" b="0" i="0" dirty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3200" b="1" i="0" spc="-18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275" y="4061922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 dirty="0" err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</a:t>
            </a:r>
            <a:r>
              <a:rPr sz="1200" b="0" i="0" spc="4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5.6% · Corr → MI → VIF </a:t>
            </a:r>
            <a:r>
              <a:rPr sz="1200" b="0" i="0" spc="40" dirty="0" err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</a:t>
            </a:r>
            <a:endParaRPr sz="1200" b="0" i="0" spc="40" dirty="0">
              <a:solidFill>
                <a:srgbClr val="64748B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393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4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  <a:endParaRPr sz="3200" b="1" i="0" spc="-140" dirty="0">
              <a:solidFill>
                <a:srgbClr val="1E3A8A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393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077700" y="406291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781800"/>
            <a:ext cx="16459200" cy="10287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104900" y="6934200"/>
            <a:ext cx="381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32196" y="7470444"/>
            <a:ext cx="253365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00900"/>
            <a:ext cx="1143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1096" y="7470444"/>
            <a:ext cx="25336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00900"/>
            <a:ext cx="1143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89996" y="7470444"/>
            <a:ext cx="25336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00900"/>
            <a:ext cx="1143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28421" y="7470444"/>
            <a:ext cx="25336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00900"/>
            <a:ext cx="1143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57321" y="7470444"/>
            <a:ext cx="253365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00900"/>
            <a:ext cx="1143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00900"/>
            <a:ext cx="253365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14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86221" y="7470444"/>
            <a:ext cx="253365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924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914400" y="7924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162050" y="80962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382000"/>
            <a:ext cx="158877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 dirty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 dirty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486400"/>
            <a:ext cx="16459200" cy="1866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104900" y="56578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055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四折落於</a:t>
            </a:r>
            <a:r>
              <a:rPr sz="13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0.633 – 0.656、跨 fold </a:t>
            </a:r>
            <a:r>
              <a:rPr sz="13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標準差僅</a:t>
            </a:r>
            <a:r>
              <a:rPr sz="1300" b="0" i="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0.0089 · </a:t>
            </a:r>
            <a:r>
              <a:rPr sz="1300" b="0" i="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證據非過擬合</a:t>
            </a:r>
            <a:endParaRPr sz="1300" b="0" i="0" dirty="0">
              <a:solidFill>
                <a:srgbClr val="334155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04900" y="6400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667500"/>
            <a:ext cx="2095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956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2956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810000" y="6400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400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667500"/>
            <a:ext cx="2095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580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258050" y="6515100"/>
            <a:ext cx="1905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72400" y="6400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400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667500"/>
            <a:ext cx="2095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2204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11220450" y="6515100"/>
            <a:ext cx="133350" cy="95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1734800" y="6400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400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667500"/>
            <a:ext cx="2095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182850" y="6515100"/>
            <a:ext cx="247650" cy="952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5182850" y="6515100"/>
            <a:ext cx="219075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5697200" y="6400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620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914400" y="7620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8077200"/>
            <a:ext cx="15887700" cy="1302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fold 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重複出現、</a:t>
            </a:r>
            <a:r>
              <a:rPr sz="1600"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</a:t>
            </a:r>
            <a:r>
              <a:rPr sz="1600" b="1" i="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p-hacking </a:t>
            </a:r>
            <a:r>
              <a:rPr sz="1600"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與單期僥倖</a:t>
            </a:r>
            <a:r>
              <a:rPr sz="1600" b="1" i="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br>
              <a:rPr dirty="0"/>
            </a:b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命中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36.81%、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比基準高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1600" b="1" i="0" dirty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600" b="0" i="0" dirty="0" err="1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可下單的選股訊號、非回測假象</a:t>
            </a:r>
            <a:r>
              <a:rPr sz="1600" b="0" i="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50000"/>
              </a:lnSpc>
            </a:pPr>
            <a:endParaRPr lang="en-US" sz="1300" b="0" i="0" dirty="0">
              <a:solidFill>
                <a:srgbClr val="64748B"/>
              </a:solidFill>
              <a:latin typeface="Times New Roman"/>
              <a:ea typeface="Microsoft JhengHei"/>
              <a:cs typeface="Microsoft JhengHei"/>
            </a:endParaRPr>
          </a:p>
          <a:p>
            <a:pPr algn="l">
              <a:lnSpc>
                <a:spcPct val="150000"/>
              </a:lnSpc>
            </a:pPr>
            <a:r>
              <a:rPr sz="1300" b="0" i="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 dirty="0" err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下一頁交代統計穩健性</a:t>
            </a:r>
            <a:r>
              <a:rPr sz="1300" b="0" i="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 dirty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</a:t>
            </a:r>
            <a:r>
              <a:rPr sz="4400" b="1" i="0" spc="-100" dirty="0" err="1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治理關卡</a:t>
            </a:r>
            <a:r>
              <a:rPr sz="4400" b="1" i="0" spc="-10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 </a:t>
            </a:r>
            <a:r>
              <a:rPr sz="4400" b="1" i="0" spc="-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br>
              <a:rPr dirty="0"/>
            </a:br>
            <a:r>
              <a:rPr sz="2400" b="1" i="0" spc="-4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</a:t>
            </a:r>
            <a:r>
              <a:rPr lang="zh-TW" altLang="en-US"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或是</a:t>
            </a:r>
            <a:r>
              <a:rPr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過</a:t>
            </a:r>
            <a:r>
              <a:rPr lang="zh-TW" altLang="en-US"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度</a:t>
            </a:r>
            <a:r>
              <a:rPr sz="2400" b="1" i="0" spc="-4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擬合</a:t>
            </a:r>
            <a:r>
              <a:rPr lang="zh-TW" altLang="en-US" sz="2400" b="1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，是</a:t>
            </a:r>
            <a:r>
              <a:rPr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</a:t>
            </a:r>
            <a:r>
              <a:rPr lang="zh-TW" altLang="en-US"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被</a:t>
            </a:r>
            <a:r>
              <a:rPr sz="2400" b="1" i="0" spc="-40" dirty="0" err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獨立稽核</a:t>
            </a:r>
            <a:r>
              <a:rPr lang="zh-TW" altLang="en-US" sz="2400" b="1" i="0" spc="-40" dirty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的項目。</a:t>
            </a:r>
            <a:endParaRPr sz="2400" b="1" i="0" spc="-40" dirty="0">
              <a:solidFill>
                <a:srgbClr val="334155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275" y="3853833"/>
            <a:ext cx="4762500" cy="11124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600" b="1" i="0" spc="-24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  <a:endParaRPr sz="8000" b="1" i="0" spc="-240" dirty="0">
              <a:solidFill>
                <a:srgbClr val="1E3A8A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35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6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6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6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  <a:endParaRPr sz="1300" b="1" i="0" spc="-20" dirty="0">
              <a:solidFill>
                <a:srgbClr val="10B981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  <a:endParaRPr sz="1000" b="1" i="0" spc="180" dirty="0">
              <a:solidFill>
                <a:srgbClr val="10B981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303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5100" y="3672937"/>
            <a:ext cx="33528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53450" y="40392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303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</a:t>
            </a:r>
            <a:r>
              <a:rPr b="1" i="0" dirty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8900" y="3714750"/>
            <a:ext cx="33528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325350" y="40392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 dirty="0" err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  <a:endParaRPr b="1" i="0" dirty="0">
              <a:solidFill>
                <a:srgbClr val="1E3A8A"/>
              </a:solidFill>
              <a:latin typeface="Times New Roman"/>
              <a:ea typeface="Microsoft JhengHei"/>
              <a:cs typeface="Microsoft JhengHei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4058900" y="3714750"/>
            <a:ext cx="33528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 dirty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6097250" y="40392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151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553450" y="56013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870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2325350" y="5435193"/>
            <a:ext cx="1219200" cy="6358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58900" y="52768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6097250" y="56013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 dirty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15100" y="68389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553450" y="71634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287000" y="6838950"/>
            <a:ext cx="3352800" cy="269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1634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36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2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30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058900" y="6838950"/>
            <a:ext cx="3352800" cy="269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163493"/>
            <a:ext cx="1219200" cy="303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——DSR 通過多重檢定、9 / 9 治理關卡全數通過、</a:t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pp、1d / 5d / 20d 三期同向、半衰期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924300"/>
            <a:ext cx="46101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2481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2344400" y="42481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419600"/>
            <a:ext cx="46101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648200"/>
            <a:ext cx="4610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5143500"/>
            <a:ext cx="46101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4673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12344400" y="54673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638800"/>
            <a:ext cx="46101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867400"/>
            <a:ext cx="4610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362700"/>
            <a:ext cx="46101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686550"/>
            <a:ext cx="50292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12344400" y="66865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858000"/>
            <a:ext cx="46101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7086600"/>
            <a:ext cx="4610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581900"/>
            <a:ext cx="46101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能落地、邊界清楚、節奏可預期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基本面結構</a:t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可驗證、可重現、可落地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預測特徵、Walk-Forward Purged K-Fold + 20 日 embargo、</a:t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55345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14400" y="855345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62050" y="872490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01065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1059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14400" y="91059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62050" y="9239250"/>
            <a:ext cx="158877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514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514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1066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1066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2015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4400" y="882015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162050" y="8991600"/>
            <a:ext cx="57150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277350"/>
            <a:ext cx="158877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7703</Words>
  <Application>Microsoft Office PowerPoint</Application>
  <PresentationFormat>自訂</PresentationFormat>
  <Paragraphs>1920</Paragraphs>
  <Slides>41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5" baseType="lpstr"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陳柏寰</cp:lastModifiedBy>
  <cp:revision>5</cp:revision>
  <dcterms:created xsi:type="dcterms:W3CDTF">2013-01-27T09:14:16Z</dcterms:created>
  <dcterms:modified xsi:type="dcterms:W3CDTF">2026-04-26T07:21:53Z</dcterms:modified>
  <cp:category/>
</cp:coreProperties>
</file>