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交易日，於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1066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383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8591550"/>
            <a:ext cx="1066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243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0" y="8591550"/>
            <a:ext cx="1066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03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58250"/>
            <a:ext cx="1066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38350" y="88582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0" y="8858250"/>
            <a:ext cx="1066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4350" y="88582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0" y="8858250"/>
            <a:ext cx="1066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0350" y="88582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6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台股短線是噪聲、</a:t>
            </a:r>
            <a:r>
              <a:rPr sz="4000" b="1" i="0" spc="-8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以 D+20 為視窗、三軸結構化訊號驗證 alpha 來源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1,623 → 91 特徵 · XGBoost · </a:t>
            </a:r>
            <a:r>
              <a:rPr sz="4000" b="1" i="0" spc="-8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資料 → 特徵 → 模型 → 驗證、</a:t>
            </a: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948,976 樣本、</a:t>
            </a:r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781800"/>
            <a:ext cx="1645920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04900" y="693420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924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4400" y="7924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2050" y="8096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382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四項獨立統計檢定一致指向 </a:t>
            </a:r>
            <a:r>
              <a:rPr sz="40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四向度交叉驗證 · 同一結論在四 fold 樣本外重複收斂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486400"/>
            <a:ext cx="16459200" cy="1866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4900" y="5657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055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56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956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100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580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580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2204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20450" y="6515100"/>
            <a:ext cx="133350" cy="95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348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1828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182850" y="6515100"/>
            <a:ext cx="219075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972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620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4400" y="7620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8077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DSR 12.12 </a:t>
            </a:r>
            <a:r>
              <a:rPr sz="4000" b="1" i="0" spc="-8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≫ </a:t>
            </a: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3.0 顯著</a:t>
            </a: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、</a:t>
            </a:r>
            <a:r>
              <a:rPr sz="4000" b="1" i="0" spc="-1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9 / 9 治理關卡 </a:t>
            </a:r>
            <a:r>
              <a:rPr sz="4000" b="1" i="0" spc="-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結論並非運氣、並非過擬合、可獨立稽核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 spc="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950" y="61341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5246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6350" y="64389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9400" y="64389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8657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6350" y="68008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680085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" y="72485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6350" y="71628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9400" y="71628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——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DSR 通過多重檢定、9 / 9 治理關卡全數通過、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每月詞向量重新訓練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Risk 為地基、</a:t>
            </a:r>
            <a:r>
              <a:rPr sz="40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Risk × Trend × Text 三元正貢獻；Chip / Event / Industry 引入雜訊多於訊息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Microsoft JhengHei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Microsoft JhengHei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Microsoft JhengHei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為下一輪精簡的對象</a:t>
            </a: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Q1 最悲觀、</a:t>
            </a:r>
            <a:r>
              <a:rPr sz="4000" b="1" i="0" spc="-1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隔日 +3.2 pp </a:t>
            </a: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兩端極值帶 alpha · 三窗口同向、半衰期 &gt; 一個月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+8.5 bps 的 94%</a:t>
            </a:r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（閾值 0.50）</a:t>
            </a:r>
            <a:r>
              <a:rPr sz="40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 命中 37.98%、邊際 </a:t>
            </a:r>
            <a:r>
              <a:rPr sz="40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門檻越嚴、edge 越陡；</a:t>
            </a:r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0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0.40 軌 net edge ≈ +2.9 pp；</a:t>
            </a:r>
            <a:r>
              <a:rPr sz="16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差異僅在閾值。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Top 1% 策略 </a:t>
            </a:r>
            <a:r>
              <a:rPr sz="4000" b="1" i="0" spc="-6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24 個月累積 +88%</a:t>
            </a:r>
            <a:r>
              <a:rPr sz="40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、CAGR </a:t>
            </a:r>
            <a:r>
              <a:rPr sz="40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+36.8%</a:t>
            </a:r>
            <a:r>
              <a:rPr sz="2600" b="0" i="0" spc="-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機率分數轉實單 · 含手續費 0.3% + 滑價 0.1% 後仍領先大盤 2 倍以上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9243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2481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344400" y="42481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2553950" y="44196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6482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51435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4673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344400" y="54673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553950" y="56388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8674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362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6865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2344400" y="66865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53950" y="68580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70866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581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在等同流動性條件下展現結構性 alpha。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— ACTION · 部署條件、限制邊界、重新訓練節奏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部署條件具備、</a:t>
            </a:r>
            <a:r>
              <a:rPr sz="4000" b="1" i="0" spc="-1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1 – 2 個月重新訓練、</a:t>
            </a: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能落地、邊界清楚、節奏可預期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0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0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邊界明確、重新訓練節奏可追蹤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4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F1E8"/>
                </a:solidFill>
                <a:latin typeface="Microsoft JhengHei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160">
                <a:solidFill>
                  <a:srgbClr val="67E8F9"/>
                </a:solidFill>
                <a:latin typeface="Microsoft JhengHei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A.01 · 研究立場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不做 </a:t>
            </a:r>
            <a:r>
              <a:rPr sz="4000" b="1" i="0" spc="-1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黑箱、overfitting、無法重現 </a:t>
            </a:r>
            <a:r>
              <a:rPr sz="40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6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A.02 · 三重結構性難題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55345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855345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87249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01065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時序紀律 + 主鍵對齊 + 詞表自建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A.03 · 6 階段流水線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6 階段流水線 </a:t>
            </a:r>
            <a:r>
              <a:rPr sz="2600" b="1" i="0" spc="-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A.04 · 七張原始表結構與量級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3,483,598 列原始資料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A.06 · 技術堆疊五層架構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A.07 · 九大支柱範例特徵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Microsoft JhengHei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A.08 · Leave-One-Pillar-Out 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40A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C4899"/>
                </a:solidFill>
                <a:latin typeface="Microsoft JhengHei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2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2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2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2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2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Microsoft JhengHei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A.11 · 演算法四模型對照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Top 0.1% Strategy </a:t>
            </a:r>
            <a:r>
              <a:rPr sz="4000" b="1" i="0" spc="-8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vs </a:t>
            </a:r>
            <a:r>
              <a:rPr sz="4000" b="1" i="0" spc="-8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8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1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A.17 · 互動儀表板 13 頁地圖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1059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91059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92392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A.19 · 詞表光譜多空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A.20 · 情感五分位詳解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A.21 · Q1 反向效應完整解讀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1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A.25 · 訊號衰減監控 9 支柱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Microsoft JhengHei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Microsoft JhengHei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Microsoft JhengHei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A.27 · 參考文獻四大領域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A.28 · 工具棧 15 個核心套件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 本地或雲端重現；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AUDIT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A.29 · 方法論詳述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5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Microsoft JhengHei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4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Microsoft JhengHei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4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2015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82015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8991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F43F5E"/>
                </a:solidFill>
                <a:latin typeface="Microsoft JhengHei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27735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Microsoft JhengHei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