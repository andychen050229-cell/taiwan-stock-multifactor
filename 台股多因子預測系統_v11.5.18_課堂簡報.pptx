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910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TAIWAN EQUITY · QUANT RESEARCH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419100"/>
            <a:ext cx="6286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NTU · BIG DATA &amp; BUSINESS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571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7907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STRATEGIC RESEARCH DECK · v11.5.18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0750"/>
            <a:ext cx="9525000" cy="2435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台股多因子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7800" b="1" i="0" spc="-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預測系統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48200"/>
            <a:ext cx="952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857750"/>
            <a:ext cx="9525000" cy="978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lang="en-US" altLang="zh-TW" sz="2800" b="1" i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800" b="1" i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是台股多因子預測從研究走向部署的可行切入點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948K </a:t>
            </a:r>
            <a:r>
              <a:rPr lang="zh-TW" altLang="en-US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樣本與四重檢驗支持中長線選股訊號。</a:t>
            </a:r>
            <a:endParaRPr sz="16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6572250"/>
            <a:ext cx="9525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6572250"/>
            <a:ext cx="9525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1100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· D+20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4-fold WFPK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6225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52925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925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925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閾 3.0 · </a:t>
            </a: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多重檢定通過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58050" y="6781800"/>
            <a:ext cx="9525" cy="819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24750" y="6781800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TOP 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0" y="7078640"/>
            <a:ext cx="2905125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+36.8%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0" y="7860262"/>
            <a:ext cx="2905125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TAIEX +12.4%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299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029950" y="17907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39500" y="20002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0" y="22669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/ 1,623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0" y="31051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三層漏斗</a:t>
            </a:r>
            <a:r>
              <a:rPr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</a:t>
            </a:r>
            <a:r>
              <a:rPr sz="16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</a:t>
            </a:r>
            <a:r>
              <a:rPr sz="16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5.6%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54150" y="17907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154150" y="1790700"/>
            <a:ext cx="3048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363700" y="20002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63700" y="22669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63700" y="31051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 折 IC 一致性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299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029950" y="3771900"/>
            <a:ext cx="304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39500" y="39814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39500" y="42481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/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9500" y="50863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治理關卡全數通過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54150" y="3771900"/>
            <a:ext cx="3048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4154150" y="3771900"/>
            <a:ext cx="3048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363700" y="3981450"/>
            <a:ext cx="26289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SAMPLES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63700" y="4248150"/>
            <a:ext cx="2628900" cy="57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63700" y="5086350"/>
            <a:ext cx="26289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1,930 檔 × 505 交易日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29950" y="6572250"/>
            <a:ext cx="62865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1029950" y="6572250"/>
            <a:ext cx="62865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239500" y="6781800"/>
            <a:ext cx="5905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WHAT YOU'LL HEAR · 12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39500" y="7067550"/>
            <a:ext cx="5905500" cy="587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一個結論：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 D+20 alpha 可預測、可驗證、可部署。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三段路徑：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切角 → 方法 → 證據 → 落地。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172450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8343900"/>
            <a:ext cx="342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TEAM · 6 MEMBERS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陳柏寰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085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525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陳又萍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7300" y="859155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1700" y="859155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謝瑞洋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R13724056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李泰坤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085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B12302131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525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林芮靚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67300" y="8839200"/>
            <a:ext cx="8572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B13102133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1700" y="8839200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沈承寬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0" y="834390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0" y="8591550"/>
            <a:ext cx="3619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NTU · Big Data &amp; Business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0000" y="8839200"/>
            <a:ext cx="3619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大數據與商業分析專案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0500" y="834390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VERSION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20500" y="8591550"/>
            <a:ext cx="1905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v11.5.18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097000" y="8343900"/>
            <a:ext cx="3276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097000" y="8591550"/>
            <a:ext cx="32766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April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97000" y="8839200"/>
            <a:ext cx="3276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Academic Project · 課堂簡報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Problem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 §7.4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SETUP</a:t>
            </a:r>
          </a:p>
        </p:txBody>
      </p:sp>
      <p:sp>
        <p:nvSpPr>
          <p:cNvPr id="10" name="Oval 9"/>
          <p:cNvSpPr/>
          <p:nvPr/>
        </p:nvSpPr>
        <p:spPr>
          <a:xfrm>
            <a:off x="159543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PROBLEM · </a:t>
            </a:r>
            <a:r>
              <a:rPr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為什麼鎖定</a:t>
            </a:r>
            <a:r>
              <a:rPr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205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 </a:t>
            </a:r>
            <a:r>
              <a:rPr lang="en-US" altLang="zh-TW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</a:t>
            </a: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並非不存在，而是被錯誤時序與單一因子框架遮蔽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8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28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讓基本面、文本與籌碼訊號完成收斂。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11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EVIDENCE · </a:t>
            </a:r>
            <a:r>
              <a:rPr sz="1400" b="1" i="0" spc="240" dirty="0" err="1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短線是噪聲</a:t>
            </a:r>
            <a:endParaRPr sz="1400" b="1" i="0" spc="2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81100" y="34480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</a:t>
            </a:r>
            <a:r>
              <a:rPr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edge </a:t>
            </a:r>
            <a:r>
              <a:rPr sz="22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多落</a:t>
            </a:r>
            <a:r>
              <a:rPr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1–5 pp、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37909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</a:t>
            </a:r>
            <a:r>
              <a:rPr sz="22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IC 跨 fold </a:t>
            </a:r>
            <a:r>
              <a:rPr sz="22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不一致</a:t>
            </a:r>
            <a:endParaRPr sz="22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81100" y="42481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1100" y="4438650"/>
            <a:ext cx="4724400" cy="3104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日頻波動由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HFT </a:t>
            </a: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飽和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</a:t>
            </a: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散戶情緒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主導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可預測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edge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多落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1–5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pp、跨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fold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方向反覆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 Walk-Forward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嚴格時序驗證下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短線預測無法穩定複現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回測亮眼亦多為過擬合假象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sz="13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不應在日頻層做下注決策</a:t>
            </a: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51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151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818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ANGLE · </a:t>
            </a:r>
            <a:r>
              <a:rPr sz="1400"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三軸對齊</a:t>
            </a:r>
            <a:endParaRPr sz="14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81800" y="34480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 × 文本 × 籌碼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7909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於 D+20 收斂為共振訊號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1800" y="42481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81800" y="4438650"/>
            <a:ext cx="4724400" cy="3104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財報季頻、文本日頻、籌碼日頻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 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為主鍵對齊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lag 45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天、文本只取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 日 15:00 前、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point-in-time </a:t>
            </a: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規範全面落地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forward-looking bias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從源頭阻斷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sz="13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同一決策日只看當下可見的訊息</a:t>
            </a: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15800" y="2933700"/>
            <a:ext cx="525780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1158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382500" y="3162300"/>
            <a:ext cx="47244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· </a:t>
            </a:r>
            <a:r>
              <a:rPr sz="1400" b="1" i="0" spc="24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為什麼</a:t>
            </a:r>
            <a:r>
              <a:rPr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2500" y="34480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為訊號收斂、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500" y="3790950"/>
            <a:ext cx="47244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雜訊衰退的最佳視窗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82500" y="42481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2382500" y="4438650"/>
            <a:ext cx="4724400" cy="123825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496800" y="4533900"/>
            <a:ext cx="449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 vs HORIZON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687300" y="5381625"/>
            <a:ext cx="533400" cy="1047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611100" y="522922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6111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0" y="5286375"/>
            <a:ext cx="533400" cy="2000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639800" y="513397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398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744700" y="5029200"/>
            <a:ext cx="53340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668500" y="4876800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685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773400" y="5210175"/>
            <a:ext cx="533400" cy="2762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697200" y="5057775"/>
            <a:ext cx="6858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97200" y="5524500"/>
            <a:ext cx="6858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82500" y="5759500"/>
            <a:ext cx="4724400" cy="1774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ICIR 0.7431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顯著高於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D+1 / D+5；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基本面訊號約於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個月窗口進入價格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半衰期</a:t>
            </a:r>
            <a:r>
              <a:rPr sz="15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&gt; 1 </a:t>
            </a:r>
            <a:r>
              <a:rPr sz="15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個月，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對應中長線部位</a:t>
            </a: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ct val="155000"/>
              </a:lnSpc>
            </a:pP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D+20 </a:t>
            </a:r>
            <a:r>
              <a:rPr sz="13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是訊號最強、雜訊已收斂的甜蜜點</a:t>
            </a:r>
            <a:r>
              <a:rPr sz="13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7696200"/>
            <a:ext cx="16459200" cy="1396551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14400" y="7696200"/>
            <a:ext cx="57150" cy="1396551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2050" y="78676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 </a:t>
            </a: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WHAT</a:t>
            </a:r>
            <a:endParaRPr sz="14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181100" y="8194712"/>
            <a:ext cx="1588770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alpha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並非不存在、而是被錯誤時序與單一因子框架所遮蔽</a:t>
            </a:r>
            <a:r>
              <a:rPr lang="zh-TW" altLang="en-US" sz="140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把切點放到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中長線、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以三軸結構化訊號、Walk-Forward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嚴格驗證，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下一頁交代資料、特徵、模型、驗證的完整流水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 §7.4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SETUP</a:t>
            </a:r>
          </a:p>
        </p:txBody>
      </p:sp>
      <p:sp>
        <p:nvSpPr>
          <p:cNvPr id="10" name="Oval 9"/>
          <p:cNvSpPr/>
          <p:nvPr/>
        </p:nvSpPr>
        <p:spPr>
          <a:xfrm>
            <a:off x="159543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METHODOLOGY · 一頁交代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模型能力必須先通過時序紀律檢驗，才有資格被解讀為 </a:t>
            </a:r>
            <a:r>
              <a:rPr lang="en-US" altLang="zh-TW" sz="3600" b="1" i="0" spc="-8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</a:t>
            </a:r>
          </a:p>
          <a:p>
            <a:pPr algn="l">
              <a:lnSpc>
                <a:spcPct val="130000"/>
              </a:lnSpc>
            </a:pP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PIT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阻斷前視偏誤。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009900"/>
            <a:ext cx="3415352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· FEATURE 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3388145"/>
            <a:ext cx="4953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4000" b="1" i="0" spc="-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</a:t>
            </a:r>
            <a:r>
              <a:rPr lang="zh-TW" altLang="en-US" sz="4000" b="0" i="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 →  </a:t>
            </a:r>
            <a:r>
              <a:rPr lang="en-US" altLang="zh-TW" sz="4000" b="1" i="0" spc="-1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  <a:endParaRPr sz="4000" b="1" i="0" spc="-1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7275" y="3996235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保留率</a:t>
            </a:r>
            <a:r>
              <a:rPr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5.6% · Corr → MI → VIF </a:t>
            </a: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三層漏斗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4629150"/>
            <a:ext cx="272415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原始候選</a:t>
            </a:r>
            <a:endParaRPr sz="1200" b="1" i="0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7150" y="4629150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 9 支柱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8250" y="4629150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43000" y="4838700"/>
            <a:ext cx="495300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3000" y="5048250"/>
            <a:ext cx="272415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Corr ≤ 0.85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150" y="5048250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剔除共線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8250" y="5048250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870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52578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143000" y="5257800"/>
            <a:ext cx="2667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43000" y="5467350"/>
            <a:ext cx="272415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 top-K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150" y="5467350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互資訊保留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8250" y="5467350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6769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43000" y="5676900"/>
            <a:ext cx="8858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43000" y="5886450"/>
            <a:ext cx="272415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VIF &lt; 5 · 業務檢查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150" y="5886450"/>
            <a:ext cx="1238250" cy="17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進場特徵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8250" y="5886450"/>
            <a:ext cx="104775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6096000"/>
            <a:ext cx="4953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143000" y="6096000"/>
            <a:ext cx="2762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389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38900" y="29718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67500" y="3009900"/>
            <a:ext cx="1905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·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7025" y="3322539"/>
            <a:ext cx="49530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 spc="-14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endParaRPr sz="4000" b="1" i="0" spc="-14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67500" y="4003698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  <a:r>
              <a:rPr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150 trials · early stopping · 4 </a:t>
            </a:r>
            <a:r>
              <a:rPr sz="140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折交叉訓練</a:t>
            </a:r>
            <a:endParaRPr sz="1400" b="0" i="0" spc="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67500" y="4457700"/>
            <a:ext cx="28575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 vs </a:t>
            </a:r>
            <a:r>
              <a:rPr sz="1200" b="1" i="0" spc="2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對照組</a:t>
            </a:r>
            <a:endParaRPr sz="1200" b="1" i="0" spc="20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67500" y="4749358"/>
            <a:ext cx="2228850" cy="2358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43975" y="481965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943975" y="4819650"/>
            <a:ext cx="18002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63250" y="4749262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7500" y="5111212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43975" y="518160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943975" y="5181600"/>
            <a:ext cx="16573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763250" y="5111212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0.6381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7500" y="5473162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43975" y="554355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943975" y="5543550"/>
            <a:ext cx="12573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763250" y="5473162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0.6168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7500" y="5835112"/>
            <a:ext cx="22288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Reg.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43975" y="5905500"/>
            <a:ext cx="20764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943975" y="5905500"/>
            <a:ext cx="704850" cy="76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763250" y="5835112"/>
            <a:ext cx="857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0.5874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963400" y="2971800"/>
            <a:ext cx="5410200" cy="3695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963400" y="29718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2192000" y="3009900"/>
            <a:ext cx="2286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· 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92000" y="3391784"/>
            <a:ext cx="4953000" cy="539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 · 4 fold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92000" y="3994220"/>
            <a:ext cx="4953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+ 20 日 embargo · D+20 horizon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92000" y="4343400"/>
            <a:ext cx="24765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時序結構</a:t>
            </a:r>
            <a:r>
              <a:rPr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（% × </a:t>
            </a:r>
            <a:r>
              <a:rPr sz="1200" b="1" i="0" spc="20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樣本軸</a:t>
            </a:r>
            <a:r>
              <a:rPr sz="1200" b="1" i="0" spc="2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92000" y="464820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0" y="4686300"/>
            <a:ext cx="96202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3763625" y="46863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4011275" y="4686300"/>
            <a:ext cx="4953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2192000" y="499110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801600" y="5029200"/>
            <a:ext cx="12573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4058900" y="50292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4306550" y="50292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2192000" y="533400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801600" y="5372100"/>
            <a:ext cx="1590675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4392275" y="53721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4639925" y="53721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192000" y="5676900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801600" y="5715000"/>
            <a:ext cx="192405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4725650" y="5715000"/>
            <a:ext cx="2476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4973300" y="5715000"/>
            <a:ext cx="581025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192000" y="6067425"/>
            <a:ext cx="9525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344400" y="6017039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430250" y="6067425"/>
            <a:ext cx="952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3582650" y="6017039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20d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668500" y="6067425"/>
            <a:ext cx="9525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4820900" y="6017039"/>
            <a:ext cx="123825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Test OOS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6781800"/>
            <a:ext cx="16459200" cy="1066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104900" y="6934200"/>
            <a:ext cx="3810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6-PHASE PIPELINE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49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· Ingest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4900" y="7429500"/>
            <a:ext cx="253365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表 3.48M 列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0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338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· Feature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33800" y="74295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→ 91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86500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2700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· Model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62700" y="74295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 Optuna 150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249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011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· Explain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1125" y="74295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· LOPO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5538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6300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· Backtest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630025" y="7429500"/>
            <a:ext cx="253365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門檻 OOS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182725" y="7200900"/>
            <a:ext cx="1143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258925" y="72009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· Govern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258925" y="7429500"/>
            <a:ext cx="253365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/ 9 PASS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" y="7924800"/>
            <a:ext cx="16459200" cy="12573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914400" y="7924800"/>
            <a:ext cx="57150" cy="1257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162050" y="80962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POINT-IN-TIME DISCIPLINE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62050" y="8382000"/>
            <a:ext cx="1588770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lag 45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天、文本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 日 15:00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截止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stock_id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, date)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主鍵對齊</a:t>
            </a:r>
            <a:r>
              <a:rPr lang="zh-TW" altLang="en-US" sz="140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日 embargo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解決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標籤跨期重疊，</a:t>
            </a:r>
            <a:r>
              <a:rPr sz="1400" b="1" i="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</a:t>
            </a: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DSR 12.12 </a:t>
            </a:r>
            <a:r>
              <a:rPr sz="1400" b="1" i="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通過多重檢定的關鍵前提</a:t>
            </a: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  → 詳 Appendix A.04 / A.05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Headline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HEADLINE · 四個獨立指標、同一結論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四項獨立指標收斂，證明 </a:t>
            </a: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訊號具樣本外穩定性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 rate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同步成立。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181350"/>
            <a:ext cx="35623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OOS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86200" y="3173584"/>
            <a:ext cx="85725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預測強度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4743450"/>
            <a:ext cx="356235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spc="2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D+20
4 </a:t>
            </a:r>
            <a:r>
              <a:rPr sz="1400" b="0" i="0" spc="2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折一致</a:t>
            </a:r>
            <a:r>
              <a:rPr sz="1400" b="0" i="0" spc="2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σ 0.0089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73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67300" y="2971800"/>
            <a:ext cx="40195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95900" y="3181350"/>
            <a:ext cx="35623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91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39100" y="3173584"/>
            <a:ext cx="85725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穩定性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59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95900" y="45910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95900" y="4743450"/>
            <a:ext cx="356235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Mean IC / σ
跨 fold 方向一致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0200" y="2971799"/>
            <a:ext cx="4019550" cy="245745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220200" y="2971800"/>
            <a:ext cx="40195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48800" y="3181350"/>
            <a:ext cx="35623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1920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192000" y="3173584"/>
            <a:ext cx="85725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統計穩健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88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48800" y="4591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48800" y="4743450"/>
            <a:ext cx="356235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扣 150 trials 多重檢定
閾 3.0 · 通過顯著性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373100" y="2971800"/>
            <a:ext cx="401955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373100" y="2971800"/>
            <a:ext cx="40195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601700" y="3181350"/>
            <a:ext cx="35623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344900" y="3143250"/>
            <a:ext cx="85725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344900" y="3173584"/>
            <a:ext cx="85725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1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選股效益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01700" y="3524250"/>
            <a:ext cx="3562350" cy="1209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 spc="-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601700" y="4591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601700" y="4743450"/>
            <a:ext cx="3562350" cy="607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 vs base 26.28%
相對提升 +40.1%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5486400"/>
            <a:ext cx="16459200" cy="1866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04900" y="5657850"/>
            <a:ext cx="5715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CONSISTENCY · 4 折 OOS AUC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" y="5905500"/>
            <a:ext cx="85725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四折落於 0.633 – 0.656、跨 fold 標準差僅 0.0089 · 證據非過擬合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49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9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 Q4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56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95650" y="6515100"/>
            <a:ext cx="1905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8100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673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73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Q1–Q2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580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258050" y="6515100"/>
            <a:ext cx="1905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724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0.6463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297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97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Q2–Q3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204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220450" y="6515100"/>
            <a:ext cx="133350" cy="952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7348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0.6332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992100" y="6400800"/>
            <a:ext cx="952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92100" y="6667500"/>
            <a:ext cx="20955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spc="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 Q4–25 Q1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182850" y="6515100"/>
            <a:ext cx="247650" cy="95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5182850" y="6515100"/>
            <a:ext cx="219075" cy="95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697200" y="6400800"/>
            <a:ext cx="11430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0.6543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" y="7620000"/>
            <a:ext cx="16459200" cy="16002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914400" y="7620000"/>
            <a:ext cx="45719" cy="1600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162050" y="77914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BOTTOM LINE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62050" y="8077200"/>
            <a:ext cx="15887700" cy="930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同一結論在四項獨立檢定下成立、跨四個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fold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重複出現、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排除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p-hacking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與單期僥倖</a:t>
            </a:r>
            <a:r>
              <a:rPr lang="zh-TW" altLang="en-US" sz="1400" b="1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36.81%、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比基準高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——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可下單的選股訊號、非回測假象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下一頁交代統計穩健性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詳 Appendix A.11 / A.12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Statistical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 · PSI per Basel III FRTB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RIGOR · 統計穩健 ＋ 治理關卡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統計修正後仍顯著，模型結果已越過「回測漂亮」的最低門檻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gates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支撐可稽核性。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5143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143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3950" y="3200400"/>
            <a:ext cx="4572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 · 多重檢定後的真 Sharpe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3543300"/>
            <a:ext cx="47625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Bailey &amp; López de Prado (2014)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3879945"/>
            <a:ext cx="4762500" cy="1011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 spc="-24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5067300"/>
            <a:ext cx="476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· </a:t>
            </a:r>
            <a:r>
              <a:rPr sz="1400" b="1" i="0" spc="16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多重檢定後仍顯著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23950" y="5448300"/>
            <a:ext cx="4724400" cy="1333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3950" y="5448300"/>
            <a:ext cx="1181100" cy="133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05050" y="5448300"/>
            <a:ext cx="3543300" cy="1333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95525" y="5410200"/>
            <a:ext cx="1905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19300" y="5638800"/>
            <a:ext cx="76200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3.0</a:t>
            </a:r>
            <a:endParaRPr sz="1000" b="1" i="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28800" y="5810250"/>
            <a:ext cx="114300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 spc="40" dirty="0" err="1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臨界值</a:t>
            </a:r>
            <a:endParaRPr sz="1050" b="0" i="0" spc="40" dirty="0">
              <a:solidFill>
                <a:srgbClr val="F43F5E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810250" y="5391150"/>
            <a:ext cx="38100" cy="247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76850" y="5638800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  <a:endParaRPr sz="1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3950" y="6134100"/>
            <a:ext cx="47625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實作流程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950" y="652462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76350" y="64389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 trials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9400" y="643890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掃 hyperparameter / threshold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3950" y="688657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76350" y="680085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skew、kurt 校正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9400" y="680085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修正非常態分佈高估</a:t>
            </a:r>
            <a:endParaRPr sz="1300" b="0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23950" y="7248525"/>
            <a:ext cx="5715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76350" y="71628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 deflate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9400" y="7162800"/>
            <a:ext cx="3333750" cy="248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值降至 &lt; 0.001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484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484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46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409950"/>
            <a:ext cx="33528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7147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 2.41 → DSR 12.12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34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534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203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203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1727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65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Worst Fold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72700" y="34099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最差折 AUC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2700" y="37147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 = 0.6332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253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3253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92200" y="29908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3792200" y="29908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3944600" y="31432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68450" y="31623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44600" y="34099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時序隔離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44600" y="3714750"/>
            <a:ext cx="33528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D+20、20 日 purge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097250" y="40767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097250" y="40982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484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484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46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Leakage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洩漏掃描</a:t>
            </a:r>
            <a:endParaRPr sz="20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00800" y="52768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 / 91 features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534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53450" y="56603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203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00203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1727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965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</a:t>
            </a:r>
            <a:r>
              <a:rPr sz="1100" b="1" i="0" spc="18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Drift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727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FRTB 漂移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72700" y="52768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0.13 (txt)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792200" y="45529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3792200" y="45529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3944600" y="47053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268450" y="47244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KS Test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944600" y="49720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訓練 vs 測試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944600" y="52768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 p = 0.037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097250" y="56388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6097250" y="56603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484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484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0" y="6267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246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可回溯</a:t>
            </a:r>
            <a:r>
              <a:rPr sz="20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SQL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6838950"/>
            <a:ext cx="33528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/ 91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534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5534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203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00203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172700" y="6267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965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727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可重現性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72700" y="6838950"/>
            <a:ext cx="33528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SD &lt; 1e-6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23253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23253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792200" y="6115050"/>
            <a:ext cx="36576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3792200" y="611505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3944600" y="6267450"/>
            <a:ext cx="381000" cy="218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-2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268450" y="6286500"/>
            <a:ext cx="1714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Pipeline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944600" y="6534150"/>
            <a:ext cx="3352800" cy="3368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線上預測流水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944600" y="6838950"/>
            <a:ext cx="33528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2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/ 6 模型驗證通過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097250" y="7200900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6097250" y="7222483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400" y="7696200"/>
            <a:ext cx="16459200" cy="16002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914400" y="7696200"/>
            <a:ext cx="57150" cy="1600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62050" y="7867650"/>
            <a:ext cx="571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THIS MATTERS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62050" y="8153400"/>
            <a:ext cx="15887700" cy="9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0.6455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並非偶然</a:t>
            </a:r>
            <a:r>
              <a:rPr lang="zh-TW" altLang="en-US" sz="140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→ 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通過多重檢定、9 / 9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治理關卡全數通過、Text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PSI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觸發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WARN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對應</a:t>
            </a:r>
            <a:r>
              <a:rPr sz="1400" b="1" i="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每月詞向量重新訓練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結論已可進入下一頁：拆解哪些因子在驅動這個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AUC。</a:t>
            </a:r>
          </a:p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A.05 / A.12</a:t>
            </a:r>
          </a:p>
        </p:txBody>
      </p:sp>
      <p:sp>
        <p:nvSpPr>
          <p:cNvPr id="118" name="Rectangle 62">
            <a:extLst>
              <a:ext uri="{FF2B5EF4-FFF2-40B4-BE49-F238E27FC236}">
                <a16:creationId xmlns:a16="http://schemas.microsoft.com/office/drawing/2014/main" id="{93336479-DFA0-9F46-279F-AC5D1E45424A}"/>
              </a:ext>
            </a:extLst>
          </p:cNvPr>
          <p:cNvSpPr/>
          <p:nvPr/>
        </p:nvSpPr>
        <p:spPr>
          <a:xfrm>
            <a:off x="12344684" y="5661297"/>
            <a:ext cx="12192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TextBox 63">
            <a:extLst>
              <a:ext uri="{FF2B5EF4-FFF2-40B4-BE49-F238E27FC236}">
                <a16:creationId xmlns:a16="http://schemas.microsoft.com/office/drawing/2014/main" id="{C643789D-FB65-42D5-4A95-3B265F768CFC}"/>
              </a:ext>
            </a:extLst>
          </p:cNvPr>
          <p:cNvSpPr txBox="1"/>
          <p:nvPr/>
        </p:nvSpPr>
        <p:spPr>
          <a:xfrm>
            <a:off x="12344684" y="5682880"/>
            <a:ext cx="1219200" cy="1854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18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Factor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FACTOR ATTRIBUTION · 哪一支柱在發力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真正驅動模型的不是特徵數量，而是 </a:t>
            </a: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× Trend × Text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的訊號協同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是地基，低品質支柱應進入下一輪精簡。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724150"/>
            <a:ext cx="5715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PILLARS · 91 </a:t>
            </a:r>
            <a:r>
              <a:rPr sz="1400" b="1" i="0" spc="2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特徵分布</a:t>
            </a:r>
            <a:endParaRPr sz="1400" b="1" i="0" spc="24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2971800"/>
            <a:ext cx="27241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6800" y="31051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7800" y="31242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33909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趨勢動量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5600" y="3295650"/>
            <a:ext cx="6858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5600" y="39058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475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14750" y="2971800"/>
            <a:ext cx="2724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67150" y="31051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150" y="31242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150" y="33909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5950" y="3295650"/>
            <a:ext cx="6858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5950" y="39058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5100" y="29718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515100" y="2971800"/>
            <a:ext cx="272415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67500" y="31051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0" y="31242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500" y="33909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估值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6300" y="32956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6300" y="39058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14400" y="4229100"/>
            <a:ext cx="27241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6800" y="4362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7800" y="43815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6800" y="46482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產業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5600" y="45529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95600" y="51631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1475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714750" y="4229100"/>
            <a:ext cx="27241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67150" y="4362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48150" y="43815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67150" y="46482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事件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95950" y="45529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5950" y="51631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15100" y="42291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515100" y="4229100"/>
            <a:ext cx="27241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667500" y="43624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8500" y="4381500"/>
            <a:ext cx="19050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7500" y="46482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風險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6300" y="45529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96300" y="51631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5486400"/>
            <a:ext cx="272415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066800" y="56197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47800" y="56388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6800" y="59055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籌碼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95600" y="58102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4F46E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5600" y="64204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1475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714750" y="5486400"/>
            <a:ext cx="272415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867150" y="56197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8150" y="5638800"/>
            <a:ext cx="1905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67150" y="59055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情緒分數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95950" y="5810250"/>
            <a:ext cx="571500" cy="67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5950" y="64204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15100" y="5486400"/>
            <a:ext cx="27241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515100" y="5486400"/>
            <a:ext cx="2724150" cy="381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67500" y="5619750"/>
            <a:ext cx="38100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-4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48500" y="5638800"/>
            <a:ext cx="1905000" cy="269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16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67500" y="5905500"/>
            <a:ext cx="1771650" cy="404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文本語料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96300" y="5810250"/>
            <a:ext cx="647700" cy="671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000" b="1" i="0" spc="-100" dirty="0">
                <a:solidFill>
                  <a:srgbClr val="A855F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96300" y="6420422"/>
            <a:ext cx="571500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20250" y="2724150"/>
            <a:ext cx="7753350" cy="3962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48850" y="2895600"/>
            <a:ext cx="571500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ΔAUC · Leave-One-Pillar-Out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48850" y="31242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baseline 0.6486 · 1 bps = ΔAUC × 10,000 ·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正向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該支柱貢獻訊號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848850" y="345608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239500" y="35814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3525500" y="35242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3535025" y="3505200"/>
            <a:ext cx="2038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5963900" y="347291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48850" y="377993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39500" y="39052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3525500" y="38481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3535025" y="3829050"/>
            <a:ext cx="95250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5963900" y="379676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48850" y="410378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239500" y="42291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3525500" y="41719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3535025" y="4152900"/>
            <a:ext cx="1333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5963900" y="412061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 bps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48850" y="442763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239500" y="45529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3525500" y="44958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3535025" y="4476750"/>
            <a:ext cx="1238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5963900" y="444446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48850" y="4604260"/>
            <a:ext cx="1238250" cy="5641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239500" y="48768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3525500" y="48196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3477875" y="4800600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5963900" y="476831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 bps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48850" y="507533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239500" y="52006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3525500" y="51435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3477875" y="5124450"/>
            <a:ext cx="381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5963900" y="509216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-2.8 bps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48850" y="539918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239500" y="55245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3525500" y="54673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3306425" y="5448300"/>
            <a:ext cx="20955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5963900" y="541601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 bps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848850" y="572303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239500" y="584835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3525500" y="579120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3287375" y="5772150"/>
            <a:ext cx="2286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5963900" y="573986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 bps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48850" y="6046880"/>
            <a:ext cx="123825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39500" y="6172200"/>
            <a:ext cx="457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3525500" y="6115050"/>
            <a:ext cx="952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3249275" y="6096000"/>
            <a:ext cx="266700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5963900" y="6063711"/>
            <a:ext cx="123825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 bps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4400" y="6858000"/>
            <a:ext cx="16459200" cy="12573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914400" y="6858000"/>
            <a:ext cx="57150" cy="1257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162050" y="70294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THIS MATTERS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62050" y="7315200"/>
            <a:ext cx="15887700" cy="673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× Trend × Text </a:t>
            </a:r>
            <a:r>
              <a:rPr sz="16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為三元協同核心：移除</a:t>
            </a:r>
            <a:r>
              <a:rPr sz="16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Risk，</a:t>
            </a:r>
            <a:r>
              <a:rPr sz="1600" b="1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其他支柱無法區分雜訊日與訊號日</a:t>
            </a:r>
            <a:r>
              <a:rPr sz="16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、AUC</a:t>
            </a:r>
            <a:r>
              <a:rPr sz="16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6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塌陷</a:t>
            </a:r>
            <a:r>
              <a:rPr sz="16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0.01386。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/ Event / Industry 共 −49 </a:t>
            </a:r>
            <a:r>
              <a:rPr sz="15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bps、</a:t>
            </a:r>
            <a:r>
              <a:rPr sz="1500" b="1" i="0" dirty="0" err="1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為下一輪精簡的對象</a:t>
            </a:r>
            <a:r>
              <a:rPr sz="13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   → Appendix A.07 / A.08 / A.09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50" y="420859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8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v11.5.18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U-Shape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sent_polarity_5d 五桶 · OOS 2024-Q4 – 2025-Q1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6392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830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WOW FINDING · 散戶情緒呈反向 U 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極端情緒提供反向交易訊號，成為主模型之外的 </a:t>
            </a:r>
            <a:r>
              <a:rPr lang="en-US" altLang="zh-TW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 filter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悲觀分位的反彈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最明顯。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10477500" cy="452149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QUINTILE EDGE · sent_polarity_5d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09950"/>
            <a:ext cx="7620000" cy="235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=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該分位實際命中率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− baseline 26.28% · pp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為百分點</a:t>
            </a:r>
            <a:endParaRPr sz="14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71650" y="5562600"/>
            <a:ext cx="92392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71650" y="4038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945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 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71650" y="4800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4707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1650" y="6324600"/>
            <a:ext cx="923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6231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469109"/>
            <a:ext cx="5715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4343400"/>
            <a:ext cx="1333500" cy="1219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66900" y="40544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 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6690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1650" y="7067550"/>
            <a:ext cx="1905000" cy="398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spc="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最悲觀</a:t>
            </a:r>
            <a:r>
              <a:rPr sz="105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
sent &lt; 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9075" y="5486400"/>
            <a:ext cx="1333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38575" y="51974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+0.2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8575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3325" y="7067550"/>
            <a:ext cx="1905000" cy="188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spc="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20–40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0275" y="5562600"/>
            <a:ext cx="13335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19775" y="62070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-1.6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9775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4525" y="7067550"/>
            <a:ext cx="1905000" cy="398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中性
40–60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1950" y="5448300"/>
            <a:ext cx="1333500" cy="114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91450" y="51593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+0.3 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145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6200" y="7067550"/>
            <a:ext cx="1905000" cy="188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60–80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3150" y="5334000"/>
            <a:ext cx="1333500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72650" y="50450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2650" y="6816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7400" y="7067550"/>
            <a:ext cx="1905000" cy="398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最樂觀
sent &gt; 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82400" y="2990849"/>
            <a:ext cx="5791200" cy="14463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582400" y="2990850"/>
            <a:ext cx="5791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72900" y="32004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① Q1 </a:t>
            </a:r>
            <a:r>
              <a:rPr sz="1600" b="1" i="0" dirty="0" err="1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反彈</a:t>
            </a:r>
            <a:r>
              <a:rPr sz="16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</a:t>
            </a:r>
            <a:r>
              <a:rPr sz="1600" b="1" i="0" dirty="0" err="1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過度悲觀</a:t>
            </a:r>
            <a:endParaRPr sz="1600" b="1" i="0" dirty="0">
              <a:solidFill>
                <a:srgbClr val="10B98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772900" y="3505200"/>
            <a:ext cx="5524500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極度悲觀時隔日</a:t>
            </a: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+3.2 pp edge、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Kahneman (1979) </a:t>
            </a: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過度反應假說方向一致</a:t>
            </a: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適合逆向擇時</a:t>
            </a: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mean-reversion。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582400" y="4476749"/>
            <a:ext cx="5791200" cy="144976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582400" y="4476750"/>
            <a:ext cx="5791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72900" y="46863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② Q5 弱勢 · 利多飽和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72900" y="4991100"/>
            <a:ext cx="5524500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 僅 +0.6 pp、遠低於 Q1、</a:t>
            </a:r>
            <a:br>
              <a:rPr sz="20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利多已被討論、故事飽和、</a:t>
            </a:r>
            <a:br>
              <a:rPr sz="20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Tetlock (2007) 過度樂觀方向一致。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582400" y="5962650"/>
            <a:ext cx="5791200" cy="155589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582400" y="5962650"/>
            <a:ext cx="5791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772900" y="6172200"/>
            <a:ext cx="55245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③ News × Forum 互補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72900" y="6477000"/>
            <a:ext cx="5524500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兩源相關僅 0.20、各自獨立、</a:t>
            </a:r>
            <a:br>
              <a:rPr sz="20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1d / 5d / 20d 三期同向、</a:t>
            </a:r>
            <a:br>
              <a:rPr sz="200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納入 sentiment overlay 作為 alpha filter。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7696200"/>
            <a:ext cx="16459200" cy="1312772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14400" y="7696200"/>
            <a:ext cx="57150" cy="13127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62050" y="7867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STRATEGIC INSIGHT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2050" y="81534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文本情緒並非單調訊號、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U 型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即過度反應假說在台股的實證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+ Q5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共佔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sentiment LOPO 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 的 94%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可作為主模型之上的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alpha filter。  → A.18 – A.23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Deployment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40 檔門檻 × OOS 404,724 樣本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DEPLOYMENT · 從機率分數到可下單清單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模型分數已能被產品化為每日可執行的選股清單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決定是主動下注或研究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66700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71800"/>
            <a:ext cx="83820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4900" y="310515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TOP-% HIT RATE · 邊際遞增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3147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樣本愈集中、edge 愈陡 · base 26.28%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3619500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3619500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 (檔)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7650" y="3619500"/>
            <a:ext cx="142875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619500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6195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相對提升</a:t>
            </a:r>
            <a:endParaRPr sz="1400" b="1" i="0" spc="16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04900" y="3886200"/>
            <a:ext cx="809625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4900" y="44481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04900" y="3981450"/>
            <a:ext cx="8096250" cy="4762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04900" y="3981450"/>
            <a:ext cx="38100" cy="4762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1100" y="41020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閾值 0.50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9400" y="410204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2,836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7650" y="409364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37.98%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10204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+11.70 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0400" y="410204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+44.5%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4900" y="492442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81100" y="45782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閾值 0.49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9400" y="457829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4,149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7650" y="456989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36.64%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57829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+10.36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0400" y="457829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+39.4%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4900" y="54006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81100" y="50545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9400" y="505454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4,047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7650" y="504614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05454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+10.53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0400" y="505454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+40.1%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4900" y="587692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81100" y="55307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19400" y="553079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20,236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7650" y="552239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31.44%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553079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+5.16 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10400" y="553079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+19.6%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4900" y="6353175"/>
            <a:ext cx="8096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81100" y="60070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9400" y="600704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40,472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7650" y="599864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28.88%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600704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+2.60 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0400" y="600704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1100" y="64832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9400" y="6483293"/>
            <a:ext cx="1238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404,724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57650" y="6474893"/>
            <a:ext cx="14287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-2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26.28%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6483293"/>
            <a:ext cx="1524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0400" y="6483293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0250" y="2971800"/>
            <a:ext cx="7620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DUAL TRACK · 雙軌部位設計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0250" y="3181350"/>
            <a:ext cx="7620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依資金屬性與決策節奏分流、共用同一機率分數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20250" y="34671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20250" y="3467100"/>
            <a:ext cx="7620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810750" y="3676650"/>
            <a:ext cx="85725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48950" y="3676650"/>
            <a:ext cx="5715000" cy="285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保守 · Threshold 0.50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48950" y="3981450"/>
            <a:ext cx="1905000" cy="20955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668000" y="4002259"/>
            <a:ext cx="18669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HIGH CONVICTION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48950" y="4286250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CALL 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48950" y="44577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553950" y="4286250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53950" y="44577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37.98%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458950" y="42862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 BASE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458950" y="4457700"/>
            <a:ext cx="2286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+11.70 pp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48950" y="4876800"/>
            <a:ext cx="647700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主動基金實盤 / 自營部位、模型高度確信才下注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48950" y="5086350"/>
            <a:ext cx="647700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每日 2–3 檔（散戶可操作）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20250" y="5524500"/>
            <a:ext cx="7620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9620250" y="5524500"/>
            <a:ext cx="7620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10750" y="5734050"/>
            <a:ext cx="857250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 spc="-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8950" y="5734050"/>
            <a:ext cx="5715000" cy="285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探索 · Threshold 0.40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48950" y="6038850"/>
            <a:ext cx="1905000" cy="20955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668000" y="6059659"/>
            <a:ext cx="18669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BROAD COVERAGE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48950" y="6343650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CALL RATE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48950" y="65151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8.83%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553950" y="6343650"/>
            <a:ext cx="1905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553950" y="65151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29.41%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458950" y="63436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EDGE vs BASE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458950" y="6515100"/>
            <a:ext cx="2286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+3.14 pp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48950" y="6934200"/>
            <a:ext cx="647700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研究 watchlist / 量化原型，接受低 edge 換取多樣性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48950" y="7143750"/>
            <a:ext cx="647700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每日 30–40 檔（機構 cover）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14400" y="7543800"/>
            <a:ext cx="16459200" cy="1542178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914400" y="7543800"/>
            <a:ext cx="57150" cy="154217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62050" y="77152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NET EDGE · 扣 20 bps </a:t>
            </a:r>
            <a:r>
              <a:rPr sz="1600" b="1" i="0" spc="26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交易成本後</a:t>
            </a:r>
            <a:endParaRPr sz="1600" b="1" i="0" spc="26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62050" y="8001000"/>
            <a:ext cx="15887700" cy="932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0.50 軌 net edge ≈ +11.5 pp、0.40 軌 net edge ≈ +2.9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pp；</a:t>
            </a: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兩軌共用同一機率分數、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差異僅在閾值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本研究為學術成果、不構成任何投資建議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 Appendix A.13 / A.14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月再平衡 · 手續費 0.3% 內含 · 滑價 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0668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BACKTEST · 100 元起始、24 個月後達 188 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352550"/>
            <a:ext cx="1645920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TW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</a:t>
            </a:r>
            <a:r>
              <a:rPr lang="zh-TW" altLang="en-US" sz="3600" b="1" i="0" spc="-6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高信心訊號能把預測優勢轉化為策略績效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回測顯示模型具經濟性，但需維持一致成本口徑。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3028950"/>
            <a:ext cx="11239500" cy="4381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21945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CUMULATIVE NAV · </a:t>
            </a:r>
            <a:r>
              <a:rPr sz="1200" b="1" i="0" spc="24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起始資金</a:t>
            </a:r>
            <a:r>
              <a:rPr sz="1200" b="1" i="0" spc="24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100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48050"/>
            <a:ext cx="7620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= </a:t>
            </a:r>
            <a:r>
              <a:rPr sz="12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sz="12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D+20 Top 1% · </a:t>
            </a: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月初再平衡</a:t>
            </a:r>
            <a:endParaRPr sz="1200" b="0" i="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14500" y="61150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19200" y="60198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500" y="56673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19200" y="557212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1650" y="566737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14500" y="52197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19200" y="51244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1650" y="521970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14500" y="47815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46863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71650" y="478155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14500" y="43338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19200" y="423862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1650" y="4333875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14500" y="38862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9200" y="37909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71650" y="3886200"/>
            <a:ext cx="10001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771650" y="6115050"/>
            <a:ext cx="100012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7165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52550" y="666750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2024-Q2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20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48100" y="666750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2024-Q4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2275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53175" y="666750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2025-Q2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7825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848725" y="666750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2025-Q4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772900" y="65532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353800" y="6667500"/>
            <a:ext cx="857250" cy="176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2026-Q1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1771650" y="6067425"/>
            <a:ext cx="428625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00275" y="601980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38425" y="600075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67050" y="598170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05200" y="595312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43350" y="593407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71975" y="591502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10125" y="588645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248275" y="586740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76900" y="584835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15050" y="58197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553200" y="5781675"/>
            <a:ext cx="428625" cy="381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981825" y="5734050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19975" y="5686425"/>
            <a:ext cx="438150" cy="476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858125" y="5667375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286750" y="5648325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724900" y="5619750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163050" y="5600700"/>
            <a:ext cx="428625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591675" y="5581650"/>
            <a:ext cx="438150" cy="190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29825" y="55530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467975" y="5553075"/>
            <a:ext cx="428625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896600" y="5553075"/>
            <a:ext cx="438150" cy="285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334750" y="5553075"/>
            <a:ext cx="438150" cy="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771650" y="601980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200275" y="5915025"/>
            <a:ext cx="438150" cy="1047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638425" y="5753100"/>
            <a:ext cx="428625" cy="1619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067050" y="561975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505200" y="548640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943350" y="5353050"/>
            <a:ext cx="428625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371975" y="5267325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10125" y="518160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48275" y="5086350"/>
            <a:ext cx="428625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676900" y="495300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115050" y="4819650"/>
            <a:ext cx="438150" cy="1333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53200" y="4752975"/>
            <a:ext cx="428625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981825" y="4667250"/>
            <a:ext cx="438150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419975" y="4600575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858125" y="4514850"/>
            <a:ext cx="428625" cy="857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86750" y="4419600"/>
            <a:ext cx="438150" cy="952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724900" y="4381500"/>
            <a:ext cx="438150" cy="3810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163050" y="4333875"/>
            <a:ext cx="428625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591675" y="4267200"/>
            <a:ext cx="438150" cy="666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029825" y="4219575"/>
            <a:ext cx="438150" cy="4762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467975" y="4200525"/>
            <a:ext cx="428625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896600" y="4181475"/>
            <a:ext cx="438150" cy="19050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34750" y="4152900"/>
            <a:ext cx="438150" cy="28575"/>
          </a:xfrm>
          <a:prstGeom prst="line">
            <a:avLst/>
          </a:prstGeom>
          <a:ln w="38100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11715750" y="409575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11725275" y="5505450"/>
            <a:ext cx="95250" cy="9525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725150" y="3905250"/>
            <a:ext cx="104775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15650" y="5648325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3100" y="4057650"/>
            <a:ext cx="209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228850" y="400050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· Top 1% · +88% / +36.8% CAGR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3100" y="4305300"/>
            <a:ext cx="20955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228850" y="424815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TAIEX · benchmark · +25% / +12.4% CAGR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2344400" y="30289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2344400" y="30289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2553950" y="32004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</a:t>
            </a:r>
            <a:r>
              <a:rPr sz="1200" b="1" i="0" spc="22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年化</a:t>
            </a:r>
            <a:endParaRPr sz="1200" b="1" i="0" spc="220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2553950" y="34290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+36.8%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553950" y="39243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TAIEX +12.4%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344400" y="42481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2344400" y="424815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2553950" y="44196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累積報酬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553950" y="46482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553950" y="51435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 個月、月再平衡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2344400" y="54673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2344400" y="5467350"/>
            <a:ext cx="5029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2553950" y="56388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 DRAWDOWN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553950" y="58674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-14.2%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553950" y="63627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TAIEX -22.4%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2344400" y="6686550"/>
            <a:ext cx="5029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2344400" y="6686550"/>
            <a:ext cx="502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2553950" y="68580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SHARPE · CALMAR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553950" y="7086600"/>
            <a:ext cx="46101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0.81 · 2.59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553950" y="7581900"/>
            <a:ext cx="46101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TAIEX 0.42 · 0.55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14400" y="7941864"/>
            <a:ext cx="16459200" cy="173623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914400" y="7941864"/>
            <a:ext cx="57150" cy="173623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162050" y="8113314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READOUT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62050" y="8399064"/>
            <a:ext cx="15887700" cy="1302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把 AUC 0.6455 化為實單，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個月內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100 元 → 188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元、CAGR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+36.8%、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最大回撤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-14.2%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TAIEX </a:t>
            </a: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同期</a:t>
            </a: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+25% / </a:t>
            </a: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回撤</a:t>
            </a:r>
            <a:r>
              <a:rPr sz="1400" b="0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-22.4% </a:t>
            </a:r>
            <a:r>
              <a:rPr sz="1400" b="0" i="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相比、</a:t>
            </a:r>
            <a:r>
              <a:rPr sz="1400" b="1" i="0" dirty="0" err="1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在等同流動性條件下展現結構性</a:t>
            </a:r>
            <a:r>
              <a:rPr sz="1400" b="1" i="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alpha。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本研究為學術回測、不構成投資建議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→ 詳 Appendix A.15 / A.16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2459"/>
            <a:ext cx="285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Limits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0" y="9753600"/>
            <a:ext cx="1524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ACTION</a:t>
            </a:r>
          </a:p>
        </p:txBody>
      </p:sp>
      <p:sp>
        <p:nvSpPr>
          <p:cNvPr id="10" name="Oval 9"/>
          <p:cNvSpPr/>
          <p:nvPr/>
        </p:nvSpPr>
        <p:spPr>
          <a:xfrm>
            <a:off x="1596390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6173450" y="9801225"/>
            <a:ext cx="76200" cy="76200"/>
          </a:xfrm>
          <a:prstGeom prst="ellipse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373475" y="97917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04900"/>
            <a:ext cx="8572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ACTION · </a:t>
            </a:r>
            <a:r>
              <a:rPr sz="1400" b="1" i="0" spc="24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部署條件、限制邊界、重新訓練節奏</a:t>
            </a:r>
            <a:endParaRPr sz="1400" b="1" i="0" spc="2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1371600"/>
            <a:ext cx="16668750" cy="1079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部署不是上線模型，而是建立可監控、可重訓、可停損的研究系統</a:t>
            </a:r>
            <a:br>
              <a:rPr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POC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overlay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drift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 </a:t>
            </a:r>
            <a:r>
              <a:rPr lang="en-US" altLang="zh-TW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</a:t>
            </a:r>
            <a:r>
              <a:rPr lang="zh-TW" altLang="en-US" sz="20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個月落地重點。</a:t>
            </a:r>
            <a:endParaRPr sz="20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2724150"/>
            <a:ext cx="762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908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9250" y="3276600"/>
            <a:ext cx="1905000" cy="228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9250" y="3302735"/>
            <a:ext cx="1905000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spc="200" dirty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DEPLOYMENT ·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部署條件已備齊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08779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43000" y="4305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57300" y="4210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419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0.6455 OOS、4 折一致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876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7300" y="47815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4991100"/>
            <a:ext cx="4838700" cy="235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 ≫ 3.0、多重檢定通過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5448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57300" y="5353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1% Hit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5562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36.81% / +10.53 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60198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57300" y="59245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300" y="61341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 / 9 治理關卡全數通過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6591300"/>
            <a:ext cx="38100" cy="152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57300" y="6496050"/>
            <a:ext cx="1143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7300" y="670560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/ 91 SQL 可回溯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89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38900" y="29908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675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3750" y="3276600"/>
            <a:ext cx="1905000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43750" y="3302735"/>
            <a:ext cx="1905000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spc="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LIMITS · BOUNDED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75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三大限制邊界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67500" y="408779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667500" y="4210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81800" y="42100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 dirty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SCOPE · D+20 </a:t>
            </a:r>
            <a:r>
              <a:rPr sz="1400" b="1" i="0" spc="160" dirty="0" err="1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中長線</a:t>
            </a:r>
            <a:endParaRPr sz="1400" b="1" i="0" spc="160" dirty="0">
              <a:solidFill>
                <a:srgbClr val="F59E0B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1800" y="44767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不適用 intraday、短於 5 日的訊號半衰期不足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67500" y="51625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81800" y="51625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· PSI 0.13 WARN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800" y="54292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語言演化（deepseek、矽光子）、需每月詞向量重新訓練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67500" y="6115050"/>
            <a:ext cx="38100" cy="723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1800" y="6115050"/>
            <a:ext cx="48387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REGIME · 多頭主導窗口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81800" y="6381750"/>
            <a:ext cx="4838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2024-Q4 至 2025-Q1、極端崩跌情境未涵蓋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963400" y="2990850"/>
            <a:ext cx="5410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1963400" y="299085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192000" y="32004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668250" y="3276600"/>
            <a:ext cx="2030388" cy="24765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668249" y="3302736"/>
            <a:ext cx="2030389" cy="176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 spc="200" dirty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ROADMAP · 6 MONTHS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92000" y="3676650"/>
            <a:ext cx="49530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 </a:t>
            </a:r>
            <a:r>
              <a:rPr sz="2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個月分三步落地</a:t>
            </a:r>
            <a:endParaRPr sz="2400" b="1" i="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2192000" y="408779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2192000" y="4210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192000" y="42135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49200" y="42100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 · POC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49200" y="4476750"/>
            <a:ext cx="44958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每日 Top 1% 服務化、API 試接 1 客戶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92000" y="51625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192000" y="51660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49200" y="51625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 – Q3 · OVERLAY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649200" y="5429250"/>
            <a:ext cx="44958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支柱獨立風控 overlay、可解釋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192000" y="6115050"/>
            <a:ext cx="342900" cy="342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2192000" y="6118570"/>
            <a:ext cx="3429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49200" y="6115050"/>
            <a:ext cx="44958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6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 – Q4 · DRIFT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49200" y="6381750"/>
            <a:ext cx="44958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每月詞向量重新訓練、PSI 自動回報、防 drift &gt; 0.20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" y="7696200"/>
            <a:ext cx="16459200" cy="13716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14400" y="7696200"/>
            <a:ext cx="57150" cy="1371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62050" y="7867650"/>
            <a:ext cx="5715000" cy="268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26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SEQUENCING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2050" y="815340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中長線預測在四項獨立檢定下成立、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邊界明確、重新訓練節奏可追蹤</a:t>
            </a:r>
            <a:r>
              <a:rPr lang="zh-TW" altLang="en-US" sz="140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下一步為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POC </a:t>
            </a:r>
            <a:r>
              <a:rPr sz="1400" b="1" i="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試運行</a:t>
            </a:r>
            <a:r>
              <a:rPr sz="1400" b="1" i="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PSI </a:t>
            </a:r>
            <a:r>
              <a:rPr sz="1400" b="1" i="0" dirty="0" err="1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自動回報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的工程落地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br>
              <a:rPr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本研究為學術成果、不構成投資建議；後續延伸詳</a:t>
            </a:r>
            <a:r>
              <a:rPr sz="1400" b="0" i="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A.26 limitations &amp; future work。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7315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8229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9144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0058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3736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097000" y="0"/>
            <a:ext cx="34290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487900" y="0"/>
            <a:ext cx="38100" cy="7620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1874296"/>
            <a:ext cx="57150" cy="43815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Times New Roman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50" y="403771"/>
            <a:ext cx="3429000" cy="2021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 dirty="0" err="1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多因子股票預測系統</a:t>
            </a:r>
            <a:r>
              <a:rPr sz="1200" b="1" i="0" spc="140" dirty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0" y="361950"/>
            <a:ext cx="3619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24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CLOSING · Q &amp;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325850" y="428625"/>
            <a:ext cx="9525" cy="1524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21100" y="361950"/>
            <a:ext cx="952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123825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— THANK YOU · 提問與討論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1657350"/>
            <a:ext cx="15430500" cy="710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TW" altLang="en-US" sz="4400" b="1" i="0" spc="-200" dirty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本專案證明：台股 </a:t>
            </a:r>
            <a:r>
              <a:rPr lang="en-US" altLang="zh-TW" sz="4400" b="1" i="0" spc="-200" dirty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D+20 alpha </a:t>
            </a:r>
            <a:r>
              <a:rPr lang="zh-TW" altLang="en-US" sz="4400" b="1" i="0" spc="-200" dirty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可被系統化發現、驗證與監控</a:t>
            </a:r>
            <a:endParaRPr sz="4400" b="1" i="0" spc="-200" dirty="0">
              <a:solidFill>
                <a:srgbClr val="22D3EE"/>
              </a:solidFill>
              <a:latin typeface="Times New Roman"/>
              <a:ea typeface="Microsoft JhengHei"/>
              <a:cs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89732" y="5985854"/>
            <a:ext cx="10308537" cy="2467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500" b="0" i="0" dirty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Thanks</a:t>
            </a:r>
            <a:r>
              <a:rPr lang="zh-TW" altLang="en-US" sz="11500" b="0" i="0" dirty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！</a:t>
            </a:r>
            <a:endParaRPr sz="11500" b="1" i="0" dirty="0">
              <a:solidFill>
                <a:srgbClr val="F5F1E8"/>
              </a:solidFill>
              <a:latin typeface="Times New Roman"/>
              <a:ea typeface="Microsoft JhengHei"/>
              <a:cs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38250" y="3918929"/>
            <a:ext cx="15430500" cy="1524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38250" y="3918929"/>
            <a:ext cx="15430500" cy="381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28750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OOS AUC · D+20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 dirty="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0.6455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635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86375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 dirty="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TOP 1% HIT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86375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36.81%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43975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CAGR · 24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+36.8%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7086600"/>
            <a:ext cx="9525" cy="1066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001625" y="4128479"/>
            <a:ext cx="34766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F1E8"/>
                </a:solidFill>
                <a:latin typeface="Times New Roman"/>
                <a:ea typeface="Microsoft JhengHei"/>
                <a:cs typeface="Microsoft JhengHei"/>
              </a:rPr>
              <a:t>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01625" y="4395179"/>
            <a:ext cx="3476625" cy="8090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 spc="-8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9 /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250" y="96964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94A3B8"/>
                </a:solidFill>
                <a:latin typeface="Times New Roman"/>
                <a:ea typeface="Microsoft JhengHei"/>
                <a:cs typeface="Microsoft JhengHei"/>
              </a:rPr>
              <a:t>本研究為 NTU 大數據與商業分析專案課堂成果、不構成任何投資建議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49500" y="96964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160">
                <a:solidFill>
                  <a:srgbClr val="67E8F9"/>
                </a:solidFill>
                <a:latin typeface="Times New Roman"/>
                <a:ea typeface="Microsoft JhengHei"/>
                <a:cs typeface="Microsoft JhengHei"/>
              </a:rPr>
              <a:t>APPENDIX · 30 PAGES</a:t>
            </a: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4D3DADA9-CE3D-C196-200F-F89D61CB4A2E}"/>
              </a:ext>
            </a:extLst>
          </p:cNvPr>
          <p:cNvSpPr txBox="1"/>
          <p:nvPr/>
        </p:nvSpPr>
        <p:spPr>
          <a:xfrm>
            <a:off x="1228725" y="2764344"/>
            <a:ext cx="15430500" cy="581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TW" altLang="en-US" sz="3600" b="1" i="0" spc="-200" dirty="0">
                <a:solidFill>
                  <a:srgbClr val="FFFFFF"/>
                </a:solidFill>
                <a:latin typeface="Times New Roman"/>
                <a:ea typeface="Microsoft JhengHei"/>
                <a:cs typeface="Microsoft JhengHei"/>
              </a:rPr>
              <a:t>從資料、模型、回測到治理已形成完整閉環。</a:t>
            </a:r>
            <a:endParaRPr sz="3600" b="1" i="0" spc="-200" dirty="0">
              <a:solidFill>
                <a:srgbClr val="22D3EE"/>
              </a:solidFill>
              <a:latin typeface="Times New Roman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Three Commitments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· Bailey &amp; López de Prado (2014) DSR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A.01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研究立場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08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3600" b="1" i="0" spc="-10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本研究以透明、抗過擬合與可重現作為三項方法論底線</a:t>
            </a:r>
            <a:b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b="1" i="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先定義研究可信度，再討論模型結果。</a:t>
            </a:r>
            <a:endParaRPr sz="2400" b="1" i="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32385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7300" y="3562350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4577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透明 ·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不做黑箱模型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7300" y="54483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提供 SHAP Top-20、LOPO ΔAUC、500 keyword Lift × χ²；儀表板「ICIR / Text / Feature Analysis」三頁專用於可解釋性展示。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32385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43700" y="3562350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44577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嚴謹 · RIGOR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不做 overfitting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3700" y="54483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437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Walk-Forward Purged K-Fold + 20 日 embargo · DSR 12.12 通過 150 trials 多重檢定 · PSI / KS 漂移監控 9 支柱 × 30 日。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1887200" y="32385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230100" y="3562350"/>
            <a:ext cx="19050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4457700"/>
            <a:ext cx="4572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可重現 · REPRODUCIBILITY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0100" y="4762500"/>
            <a:ext cx="4572000" cy="46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不做無法重現的研究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30100" y="544830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230100" y="5715000"/>
            <a:ext cx="4572000" cy="1059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每階段 JSON artifact + rng=42 + lineage · Phase 1–6 六份報告 + 13 頁互動 dashboard，可逐頁追溯模型決策。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7391400"/>
            <a:ext cx="16459200" cy="16002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7391400"/>
            <a:ext cx="57150" cy="1600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62050" y="75628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ACADEMIC BASELINE · 學術底線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2050" y="7848600"/>
            <a:ext cx="15887700" cy="736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三承諾為 Phase 1–6 設計約束；任一未守，則統計結論失效。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7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這是與一般「回測看起來很好」的量化原型</a:t>
            </a:r>
            <a:r>
              <a:rPr sz="17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最根本的區隔</a:t>
            </a:r>
            <a:r>
              <a:rPr sz="17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——所有產出可獨立稽核、可第三方重新訓練。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Problem ·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López de Prado 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A.02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三重結構性難題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08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36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台股預測難題來自低訊噪比、訊號錯位與文本非結構化</a:t>
            </a:r>
            <a:b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400" b="1" i="0" spc="-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多因子與 </a:t>
            </a:r>
            <a:r>
              <a:rPr lang="en-US" altLang="zh-TW" sz="2400" b="1" i="0" spc="-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PIT </a:t>
            </a:r>
            <a:r>
              <a:rPr lang="zh-TW" altLang="en-US" sz="2400" b="1" i="0" spc="-40" dirty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是必要設計，不是額外複雜化。</a:t>
            </a:r>
            <a:endParaRPr sz="2400" b="1" i="0" spc="-40" dirty="0">
              <a:solidFill>
                <a:srgbClr val="06B6D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68605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9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90850"/>
            <a:ext cx="16459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162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3219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訊號雜訊比極低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5000" y="3581400"/>
            <a:ext cx="7620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05000" y="3695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日頻波動真正可預測 edge 約 1–5 pp · 雜訊主導日內價格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4019550"/>
            <a:ext cx="142875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 · Walk-Forward Purged K-Fold (López de Prado §7.4) + 20 日 embargo + DSR 多重檢定 12.12 三層治理；Optuna 150 trials 後 SR̂ 2.41 仍顯著。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95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4895850"/>
            <a:ext cx="16459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4900" y="5067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5124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異質訊號難對齊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5486400"/>
            <a:ext cx="7620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05000" y="5600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價量 tick / 財報季頻 (lag 45d) / PTT 事件頻 三種時間尺度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5924550"/>
            <a:ext cx="14287500" cy="299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 · Feature Store 以 (stock_id, date) 為主鍵；T 日收盤可取得為邊界、文本僅取 T 日 15:00 前；DuckDB 內部 join 輸出 948,976 列。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6800850"/>
            <a:ext cx="16459200" cy="1752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680085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04900" y="69723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5000" y="7029450"/>
            <a:ext cx="6667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文本資料品質混雜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5000" y="7391400"/>
            <a:ext cx="762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05000" y="7505700"/>
            <a:ext cx="142875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 1,125,134 筆中近 40% 來自 Top 5 熱門股 · entity 涵蓋率不足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5000" y="7829550"/>
            <a:ext cx="14287500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對策 · 自建台股 500 keyword Lift × χ² 詞表 + tickers entity linking 達 92% 涵蓋；URL+title MinHash LSH dedup (Jaccard ≥ 0.85)；coverage 衰減校正。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55345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855345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62050" y="87249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 dirty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2050" y="9010650"/>
            <a:ext cx="15887700" cy="606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三難題對應三層治理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→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時序紀律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主鍵對齊</a:t>
            </a:r>
            <a:r>
              <a:rPr sz="1400" b="1" i="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</a:t>
            </a:r>
            <a:r>
              <a:rPr sz="1400" b="1" i="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詞表自建</a:t>
            </a:r>
            <a:b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對應到</a:t>
            </a:r>
            <a:r>
              <a:rPr sz="1400" b="0" i="0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P.04 Approach 的 6-phase pipeline。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6-Phase Pipeline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A.03 · 6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階段流水線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8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六階段 </a:t>
            </a:r>
            <a:r>
              <a:rPr 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pipeline </a:t>
            </a: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將量化研究拆解為可追溯的交付流程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每個 </a:t>
            </a:r>
            <a:r>
              <a:rPr lang="en-US" altLang="zh-TW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Phase </a:t>
            </a:r>
            <a:r>
              <a:rPr lang="zh-TW" altLang="en-US" sz="2600" b="1" i="0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皆對應輸入、輸出與品質閘。</a:t>
            </a:r>
            <a:endParaRPr sz="2600" b="1" i="0" spc="-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資料清洗與對齊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433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表 · 3,483,598 列 ETL · 除權息補償、RSI 異常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phase1_report.json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32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818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特徵工程與選擇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39433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1,623 → 91 · Purged K-Fold · 20 日 embargo · 948,976 樣本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18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818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phase2_report.json · feature_store.parquet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92000" y="29337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1920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420600" y="31432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77800" y="31623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20600" y="35242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模型訓練與調參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20600" y="39433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/ LightGBM / Logistic / RF · Optuna 150 trials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420600" y="46101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420600" y="47244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model_registry/*.pkl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430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Explain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歸因分析 · LOPO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267450"/>
            <a:ext cx="4953000" cy="625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Leave-One-Pillar-Out · SHAP summary · ΔAUC × 10,000 bps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430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自行整理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532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818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90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18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門檻掃描 · 回測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800" y="62674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門檻 0.40 / 0.50 / 0.60 · 三情境 · 40 檔門檻 sweep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818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18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自行整理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92000" y="525780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192000" y="52578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420600" y="5467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77800" y="548640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20600" y="5848350"/>
            <a:ext cx="4953000" cy="352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治理閘門 · 交付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20600" y="6267450"/>
            <a:ext cx="4953000" cy="291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/ PSI / KS / embargo / 最差 fold / lineage 9 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420600" y="693420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420600" y="7048500"/>
            <a:ext cx="4953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phase6_gates.json · dashboard/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7848600"/>
            <a:ext cx="16459200" cy="1181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7848600"/>
            <a:ext cx="57150" cy="1181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62050" y="8020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DESIGN PRINCIPLE · 設計原則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2050" y="8305800"/>
            <a:ext cx="15887700" cy="736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每階段皆產出 JSON 報告 + 摘要 + artifact，dashboard 可逐頁追溯；所有 random seed = 42、所有切分 lineage 可重新訓練，</a:t>
            </a:r>
            <a:r>
              <a:rPr sz="17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 raw → 決策清單</a:t>
            </a:r>
            <a:r>
              <a:rPr sz="17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任一節點皆可被獨立復現。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· 7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DuckDB local snapshot 2025-12-31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A.04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七張原始表結構與量級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8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七張資料表共同建立台股多因子模型的底層資料資產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4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價量、財報、籌碼與文本資料完成統一對齊。</a:t>
            </a:r>
            <a:endParaRPr sz="2600" b="1" i="0" spc="-4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90850"/>
            <a:ext cx="15811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5850" y="3067050"/>
            <a:ext cx="2095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850" y="306705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7350" y="306705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850" y="3067050"/>
            <a:ext cx="914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333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33337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5850" y="3493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companies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850" y="3493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上市櫃主檔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7350" y="3468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850" y="3501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產業 / 市場別 / 上市日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905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390525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5850" y="4065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stock_prices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850" y="4065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 K + 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7350" y="4039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955,405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850" y="4073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OHLCV · 還原權息 · 1932 檔 × 495 交易日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476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44767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85850" y="4636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income_statement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1850" y="4636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損益表 (季)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7350" y="4611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14,968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850" y="4644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EPS / 營收 / 毛利 · lag 45 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048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" y="504825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85850" y="5208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balance_sheet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1850" y="5208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資產負債表 (季)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67350" y="5182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850" y="5216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股東權益 / 負債 · lag 45 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619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14400" y="56197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85850" y="5779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institutional_inv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1850" y="5779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三大法人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7350" y="5754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855,980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850" y="5787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外資 / 投信 / 自營 · 買賣超與持股比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6191250"/>
            <a:ext cx="15811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" y="619125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85850" y="63510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margin_trading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1850" y="63510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融資融券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7350" y="63258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566,095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62850" y="63594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融資餘額 / 融券餘額 / 券資比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6762750"/>
            <a:ext cx="15811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14400" y="676275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5850" y="6922568"/>
            <a:ext cx="20955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stock_text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1850" y="69225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 + PTT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67350" y="6897369"/>
            <a:ext cx="1714500" cy="3022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1,125,134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62850" y="6930968"/>
            <a:ext cx="895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來源 · 2008-01 起 · entity 匹配 92%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7620000"/>
            <a:ext cx="16459200" cy="1485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4400" y="7620000"/>
            <a:ext cx="57150" cy="1485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62050" y="77914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INTEGRITY GUARDRAILS · 完整性護欄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2050" y="8077200"/>
            <a:ext cx="15887700" cy="693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異常時序 (除權息日) 與雜訊 (RSI 暴衝) 已透過 ETL 校正；</a:t>
            </a: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財報以發布日 + 45 日延遲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對齊；新聞僅取 T 日 15:00 收盤前；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表透過 (stock_id, date) 主鍵 join，最終 </a:t>
            </a:r>
            <a:r>
              <a:rPr sz="16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= 948,976 列 × 91 features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&amp; Walk-Forward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§7.4 · embargo length determined by 20-day return 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7620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A.05 · Panel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結構與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Walk-Forward Purged K-Fold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設計是防止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標籤污染的關鍵機制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時序資料不可用一般 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K-fold 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(stock_id, date) 主鍵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由 1,623 候選 → 91 final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上市櫃涵蓋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SPAN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2014-01 → 2025-12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00600"/>
            <a:ext cx="95250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WALK-FORWARD PURGED K-FOLD · 4-FOLD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124450"/>
            <a:ext cx="164592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85900" y="7620000"/>
            <a:ext cx="15316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859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001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149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582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97305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68730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802100" y="7600950"/>
            <a:ext cx="9525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516350" y="77343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5900" y="5524500"/>
            <a:ext cx="612457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610475" y="5524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915275" y="5524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4400" y="5576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85900" y="5905500"/>
            <a:ext cx="84201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906000" y="5905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10800" y="5905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" y="5957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85900" y="6286500"/>
            <a:ext cx="10715625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2201525" y="6286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2506325" y="6286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14400" y="6338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" y="6667500"/>
            <a:ext cx="1301115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497050" y="6667500"/>
            <a:ext cx="304800" cy="30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4801850" y="6667500"/>
            <a:ext cx="1990725" cy="304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4400" y="6719135"/>
            <a:ext cx="5334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85900" y="8020050"/>
            <a:ext cx="152400" cy="95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54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1400" y="8020050"/>
            <a:ext cx="152400" cy="95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7909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Embargo (20d)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76900" y="8020050"/>
            <a:ext cx="152400" cy="95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86450" y="79753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7962900"/>
            <a:ext cx="16459200" cy="12573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7962900"/>
            <a:ext cx="57150" cy="1257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81343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EMBARGO · 為何要 embargo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2050" y="8420100"/>
            <a:ext cx="15887700" cy="324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 日 embargo 隔絕 </a:t>
            </a: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training-test 樣本之間的標籤洩漏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（label 涉及未來 20 日報酬）；purge + expanding window 確保 </a:t>
            </a:r>
            <a:r>
              <a:rPr sz="16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/ ICIR / DSR 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皆於完全 out-of-sample 測得。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Tech Stack · 5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A.06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技術堆疊五層架構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五層技術架構支撐研究系統從資料到服務化的延展性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Storage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Serve </a:t>
            </a:r>
            <a:r>
              <a:rPr lang="zh-TW" altLang="en-US" sz="2600" b="1" spc="-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分層管理。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76200" cy="952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0150" y="31051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31432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34290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互動服務層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31400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 (13 pages) · ICIR / SHAP / Decile / Equity 即時切換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2900" y="35378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app/, dashboard.py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58900" y="30572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005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4000500"/>
            <a:ext cx="76200" cy="952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0150" y="41719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42100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0150" y="44958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模型訓練層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2900" y="42068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1.7 / LightGBM 4.x / scikit-learn · Optuna 150 trials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2900" y="46046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src/models/, model_registry/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58900" y="41240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0673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5067300"/>
            <a:ext cx="76200" cy="952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00150" y="52387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2600" y="52768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0150" y="55626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特徵工程層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52900" y="52736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× 9 pillars · purged K-Fold · 20d embargo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2900" y="56714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src/features/, feature_store.parquet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58900" y="51908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61341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6134100"/>
            <a:ext cx="76200" cy="952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00150" y="63055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2600" y="63436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ETL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0150" y="66294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資料對齊層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52900" y="63404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 表 → panel · 主鍵 (stock_id, date) · 財報 lag 45d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52900" y="67382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src/etl/, scripts/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58900" y="62576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7200900"/>
            <a:ext cx="16459200" cy="952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14400" y="7200900"/>
            <a:ext cx="76200" cy="952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00150" y="73723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2600" y="74104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0150" y="7696200"/>
            <a:ext cx="2476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儲存層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52900" y="7407218"/>
            <a:ext cx="952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DuckDB 0.10 + Parquet · local snapshot · WAL off · 35 GB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900" y="7805017"/>
            <a:ext cx="9525000" cy="2014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data/raw/, data/processed/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58900" y="7324490"/>
            <a:ext cx="3048000" cy="7053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42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86106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14400" y="86106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CONTAINERIZED · 完全可重現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2050" y="90678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五層皆有 unit test + integration test · 任何一層可獨立替換 (e.g. DuckDB → BigQuery)；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Docker compose 兩節點即可重新訓練全棧。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9-Pillar Framework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91 features grouped to 9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A.07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九大支柱範例特徵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TW" altLang="en-US" sz="4000" b="1" i="0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九支柱框架讓模型同時吸收價格、基本面、風險與文本訊號</a:t>
            </a:r>
            <a:endParaRPr lang="en-US" altLang="zh-TW" sz="4000" b="1" i="0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 algn="l">
              <a:lnSpc>
                <a:spcPct val="118000"/>
              </a:lnSpc>
            </a:pPr>
            <a:r>
              <a:rPr lang="zh-TW" altLang="en-US" sz="2600" b="1" i="0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支柱化設計提升解釋性與治理能力。</a:t>
            </a:r>
            <a:endParaRPr lang="en-US" altLang="zh-TW" sz="2600" b="1" i="0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8481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 · downside_dev · maxdd_60d · beta_60d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605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96050" y="2933700"/>
            <a:ext cx="541020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465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4650" y="3848100"/>
            <a:ext cx="571500" cy="285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465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 · macd_signal · adx_14 · slope_20d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77700" y="29337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077700" y="2933700"/>
            <a:ext cx="5410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306300" y="31242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535400" y="31242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63900" y="31937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06300" y="34861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Momentum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06300" y="384810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306300" y="39624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ret_5d · ret_20d · ret_60d · roc_10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4705350"/>
            <a:ext cx="54102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4300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10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5619750"/>
            <a:ext cx="571500" cy="2857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4300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 · pb · ev_ebitda · earnings_yield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605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496050" y="4705350"/>
            <a:ext cx="5410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2465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375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8225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465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4650" y="56197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2465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roe · gross_margin · debt_eq · revenue_growth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077700" y="470535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077700" y="4705350"/>
            <a:ext cx="5410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2306300" y="489585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35400" y="489585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63900" y="496540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06300" y="525780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306300" y="56197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306300" y="573405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sector_dummy × 9 · industry_momentum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647700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4300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43000" y="7391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4300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 · margin_balance · short_ratio · turnover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605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496050" y="6477000"/>
            <a:ext cx="5410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2465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5375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8225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465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24650" y="7391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72465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 · forum_sent · sent_consensus · q1_dummy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077700" y="6477000"/>
            <a:ext cx="54102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2077700" y="6477000"/>
            <a:ext cx="54102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306300" y="66675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535400" y="66675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963900" y="6737059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306300" y="7029450"/>
            <a:ext cx="4953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306300" y="7391400"/>
            <a:ext cx="571500" cy="2857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306300" y="7505700"/>
            <a:ext cx="4953000" cy="24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 spc="2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earnings_announce · ex_div · split · merger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BLOCK STRUCTURE · 區塊設計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2050" y="8877300"/>
            <a:ext cx="15887700" cy="303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九支柱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彼此互補 · 跨價量 / 籌碼 / 文本三類資產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各支柱可單獨 ablation；LOPO 結果見 A.08。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ΔAUC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4-fold mean ΔAUC × 10,000 (bps)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76200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A.08 · Leave-One-Pillar-Out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詳解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驗證顯示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支柱是模型不可替代的核心訊號源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支柱貢獻不是由特徵數量決定。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477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移除單一支柱後 OOS AUC 變動 (4-fold mean, bps)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568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67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15050" y="356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4575" y="3600450"/>
            <a:ext cx="26479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10700" y="3577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4044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4152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15050" y="4038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24575" y="4076700"/>
            <a:ext cx="1238250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0700" y="40532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45211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4629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15050" y="4514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4575" y="4552950"/>
            <a:ext cx="18097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0700" y="45295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 bps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" y="49973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5105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15050" y="4991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4575" y="5029200"/>
            <a:ext cx="161925" cy="171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10700" y="50057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" y="5473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5581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15050" y="5467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57900" y="550545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10700" y="5482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 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" y="5949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forum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60579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15050" y="59436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57900" y="5981700"/>
            <a:ext cx="476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10700" y="59582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-2.8 bps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4900" y="64261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65341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15050" y="64198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829300" y="6457950"/>
            <a:ext cx="2762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10700" y="64345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 bps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" y="69023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701040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15050" y="689610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10250" y="6934200"/>
            <a:ext cx="29527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410700" y="691079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 bps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4900" y="73786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7486650"/>
            <a:ext cx="62865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115050" y="7372350"/>
            <a:ext cx="9525" cy="2476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753100" y="7410450"/>
            <a:ext cx="352425" cy="171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10700" y="7387042"/>
            <a:ext cx="11430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 bps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443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THREE READINGS · 三個關鍵解讀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44300" y="348615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544300" y="3486150"/>
            <a:ext cx="58293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772900" y="36576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82500" y="3695700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一支獨大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382500" y="40386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382500" y="4171950"/>
            <a:ext cx="47625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 bps · 占解釋力 ~50% · 風險特徵不可裁去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544300" y="491490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544300" y="4914900"/>
            <a:ext cx="58293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1772900" y="508635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382500" y="5124450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 第二位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382500" y="54673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382500" y="5600700"/>
            <a:ext cx="47625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 bps · 動能 / 趨勢仍然顯著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544300" y="6343650"/>
            <a:ext cx="58293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44300" y="6343650"/>
            <a:ext cx="58293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1772900" y="6515100"/>
            <a:ext cx="5715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382500" y="6553200"/>
            <a:ext cx="43815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文本是淨正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382500" y="689610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382500" y="7029450"/>
            <a:ext cx="47625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 bps · 不貴的話應保留 · ~13% 邊際貢獻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826770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14400" y="826770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IMPLICATION · 投資組合啟示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62050" y="87249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若被迫精簡，先砍 Chip / Event / Industry 三支 (合計 -49 bps，為負貢獻)；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保留 Risk + Trend + Valuation + Sentiment 四支已可貢獻 220+ bps 的 ΔAUC。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Top-20 +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TreeExplainer · |SHAP| mean across OOS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A.09 · SHAP Top-20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與支柱一致性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共同確認模型判斷符合經濟直覺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解釋結果支持模型非黑箱判斷。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477500" cy="628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TOP 20 FEATURES BY MEAN |SHAP| · OOS 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479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5900" y="35052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5900" y="3496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71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24500" y="3552825"/>
            <a:ext cx="40005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15500" y="3471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3765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5900" y="37909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85900" y="3782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0" y="3756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downside_dev_60d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4500" y="3838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24500" y="3838575"/>
            <a:ext cx="3324225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15500" y="3756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4051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5900" y="407670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85900" y="4067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5000" y="4042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beta_60d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4500" y="4124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524500" y="4124325"/>
            <a:ext cx="28956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15500" y="4042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" y="4336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85900" y="436245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85900" y="4353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5000" y="4328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macd_signal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4500" y="4410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524500" y="4410075"/>
            <a:ext cx="26479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15500" y="4328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4622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85900" y="46482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85900" y="4639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5000" y="4614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24500" y="4695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524500" y="4695825"/>
            <a:ext cx="2447925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15500" y="4614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" y="4908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85900" y="49339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85900" y="4841960"/>
            <a:ext cx="304800" cy="317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05000" y="4899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ret_20d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24500" y="4981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524500" y="4981575"/>
            <a:ext cx="2305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715500" y="4899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4900" y="5194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" y="5219700"/>
            <a:ext cx="304800" cy="13335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485900" y="5210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5000" y="5185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adx_14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4500" y="5267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24500" y="5267325"/>
            <a:ext cx="2190750" cy="381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715500" y="5185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4900" y="5479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85900" y="5505450"/>
            <a:ext cx="304800" cy="133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85900" y="5496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05000" y="5471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maxdd_60d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24500" y="5553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524500" y="5553075"/>
            <a:ext cx="2000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715500" y="5471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4900" y="5765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85900" y="579120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485900" y="5782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0" y="5757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news_sent_5d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24500" y="5838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524500" y="5838825"/>
            <a:ext cx="18002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715500" y="5757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4900" y="6051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85900" y="60769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485900" y="6068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05000" y="6042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foreign_inv_buy_5d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24500" y="6124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524500" y="6124575"/>
            <a:ext cx="17145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715500" y="6042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4900" y="6337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85900" y="63627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485900" y="6353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05000" y="6328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24500" y="6410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524500" y="6410325"/>
            <a:ext cx="1628775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715500" y="6328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900" y="6622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85900" y="6648450"/>
            <a:ext cx="304800" cy="1333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485900" y="6556460"/>
            <a:ext cx="304800" cy="317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05000" y="6614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roc_10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24500" y="6696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524500" y="6696075"/>
            <a:ext cx="15430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715500" y="6614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4900" y="6908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85900" y="69342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85900" y="6925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05000" y="6900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roe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24500" y="6981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524500" y="6981825"/>
            <a:ext cx="145732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715500" y="6900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4900" y="7194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85900" y="7219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485900" y="7211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05000" y="7185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forum_sent_5d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24500" y="7267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524500" y="7267575"/>
            <a:ext cx="1343025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715500" y="7185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4900" y="7480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85900" y="750570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485900" y="7496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05000" y="7471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turnover_20d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524500" y="7553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524500" y="7553325"/>
            <a:ext cx="12668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715500" y="7471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4900" y="7765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485900" y="7791450"/>
            <a:ext cx="30480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485900" y="7782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05000" y="7757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margin_balance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24500" y="7839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5524500" y="7839075"/>
            <a:ext cx="1152525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9715500" y="7757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04900" y="80515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485900" y="807720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485900" y="80683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05000" y="80431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pb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524500" y="81248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524500" y="8124825"/>
            <a:ext cx="106680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9715500" y="80431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4900" y="83372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85900" y="8362950"/>
            <a:ext cx="30480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485900" y="83540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05000" y="83288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q1_dummy_news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24500" y="84105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5524500" y="8410575"/>
            <a:ext cx="9525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9715500" y="83288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04900" y="862300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19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485900" y="8648700"/>
            <a:ext cx="30480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485900" y="863980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05000" y="861461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gross_margin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524500" y="869632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5524500" y="8696325"/>
            <a:ext cx="866775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9715500" y="861461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4900" y="8908759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485900" y="8934450"/>
            <a:ext cx="304800" cy="13335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485900" y="8925559"/>
            <a:ext cx="3048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05000" y="8900360"/>
            <a:ext cx="3429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earnings_yield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524500" y="8982075"/>
            <a:ext cx="4000500" cy="381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5524500" y="8982075"/>
            <a:ext cx="781050" cy="381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9715500" y="8900360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0.028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5443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PILLAR-WISE SHAP vs LOPO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1544300" y="3486150"/>
            <a:ext cx="5829300" cy="304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1715750" y="3555709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020800" y="3555709"/>
            <a:ext cx="1333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544800" y="355570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 bps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544300" y="37909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11544300" y="3790950"/>
            <a:ext cx="381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1715750" y="38448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973050" y="38700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020800" y="38448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0.434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44800" y="38448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+138.6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1544300" y="41338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1544300" y="4133850"/>
            <a:ext cx="38100" cy="3429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1715750" y="41877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973050" y="42129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020800" y="41877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0.259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5544800" y="41877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+64.9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544300" y="44767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11544300" y="4476750"/>
            <a:ext cx="38100" cy="3429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11715750" y="45306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973050" y="45558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020800" y="45306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0.124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800" y="4530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+9.5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544300" y="48196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1544300" y="4819650"/>
            <a:ext cx="38100" cy="342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11715750" y="48735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2973050" y="48987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020800" y="48735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5544800" y="48735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544300" y="51625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11544300" y="5162550"/>
            <a:ext cx="38100" cy="3429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1715750" y="52164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973050" y="52416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020800" y="52164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0.147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5544800" y="52164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1544300" y="55054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11544300" y="5505450"/>
            <a:ext cx="38100" cy="3429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1715750" y="55593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2973050" y="55845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4020800" y="55593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544800" y="55593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-14.8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1544300" y="5848350"/>
            <a:ext cx="5829300" cy="3429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11544300" y="5848350"/>
            <a:ext cx="38100" cy="342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1715750" y="59022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973050" y="59274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4020800" y="59022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5544800" y="59022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-15.7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1544300" y="6191250"/>
            <a:ext cx="58293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11544300" y="6191250"/>
            <a:ext cx="38100" cy="342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11715750" y="62451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Fund.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973050" y="6270334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FND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4020800" y="6245168"/>
            <a:ext cx="1333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5544800" y="62451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-2.6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1544300" y="6667500"/>
            <a:ext cx="5829300" cy="25146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1544300" y="6667500"/>
            <a:ext cx="57150" cy="2514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1791950" y="68389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CROSS-METHOD CONSISTENCY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791950" y="7124700"/>
            <a:ext cx="5257800" cy="929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與 LOPO 對 Risk / Trend / Valuation 三支柱結論一致；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 在 SHAP 量值大 (0.147) 卻在 LOPO 為負 (-18.5)，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顯示 chip 特徵與其他支柱有相關性 → 集成中冗餘。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Top-10 Single Factors · 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Spearman IC over 4-fold OOS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A.10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IC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排行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Top-10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單因子訊號不足以形成可交易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alpha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，必須仰賴多支柱交互作用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集成後的訊號品質高於單點因子。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3906500" cy="381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700" y="3050884"/>
            <a:ext cx="342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50884"/>
            <a:ext cx="3390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9700" y="3050884"/>
            <a:ext cx="1104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050884"/>
            <a:ext cx="16764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(Spearman)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050884"/>
            <a:ext cx="1866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53700" y="3050884"/>
            <a:ext cx="1866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(OOS, single)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49200" y="3050884"/>
            <a:ext cx="20574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3147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33147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8700" y="34448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4364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volatility_20d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9700" y="34532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34364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4364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53700" y="34364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49200" y="34532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負相關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100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38100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28700" y="39401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39317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downside_dev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9700" y="39485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39317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9317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3700" y="39317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49200" y="39485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負相關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3053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43053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8700" y="44354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4270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macd_signal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9700" y="44438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3200" y="44270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44270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53700" y="44270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649200" y="44438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8006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" y="4800600"/>
            <a:ext cx="38100" cy="495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28700" y="49307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0200" y="49223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beta_60d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9700" y="49391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3200" y="49223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-0.061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49223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53700" y="49223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49200" y="49391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負相關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2959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4400" y="52959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28700" y="54260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00200" y="54176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sma_5_20_ratio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9700" y="54344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3200" y="54176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54176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3700" y="54176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49200" y="54344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57912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14400" y="5791200"/>
            <a:ext cx="38100" cy="4953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28700" y="59213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59129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ret_20d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9700" y="59297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53200" y="59129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+0.055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58200" y="59129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53700" y="59129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649200" y="59297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62865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14400" y="6286500"/>
            <a:ext cx="38100" cy="495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28700" y="64166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64082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news_sent_5d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9700" y="64250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3200" y="64082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64082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53700" y="64082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49200" y="64250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4400" y="67818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14400" y="6781800"/>
            <a:ext cx="38100" cy="495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28700" y="69119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69035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foreign_inv_buy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9700" y="69203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53200" y="69035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+0.045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69035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53700" y="69035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649200" y="69203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4400" y="7277100"/>
            <a:ext cx="13906500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914400" y="7277100"/>
            <a:ext cx="38100" cy="4953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28700" y="74072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0200" y="73988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19700" y="74156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53200" y="73988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58200" y="73988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53700" y="73988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49200" y="74156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負相關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" y="7772400"/>
            <a:ext cx="139065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14400" y="7772400"/>
            <a:ext cx="38100" cy="4953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028700" y="7902518"/>
            <a:ext cx="342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00200" y="7894118"/>
            <a:ext cx="3390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adx_14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9700" y="7910917"/>
            <a:ext cx="11049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53200" y="7894118"/>
            <a:ext cx="16764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+0.039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58200" y="78941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0.036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53700" y="7894118"/>
            <a:ext cx="18669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0.587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649200" y="7910917"/>
            <a:ext cx="205740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正相關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INSIGHT · 單因子的天花板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62050" y="8877300"/>
            <a:ext cx="15887700" cy="303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單因子 AUC 上限 ~0.642 · 集成後達 0.6490；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集成才是 alpha 的關鍵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——任何單一因子在 OOS 都不足以承擔倉位決策。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Comparison · 4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4-fold mean ± std · Optuna 150 trials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A.11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演算法四模型對照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 err="1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勝出反映台股訊號具有非線性與交互作用特徵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Tree-based model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優於線性基準。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3820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OOS AUC · 4-fold mean (vs 0.5 baseline)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4724400"/>
            <a:ext cx="1333500" cy="297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44258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1.7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5650" y="4838700"/>
            <a:ext cx="1333500" cy="2857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05150" y="454019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515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 4.x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5400" y="5133975"/>
            <a:ext cx="1333500" cy="25622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14900" y="48354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90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5150" y="5734050"/>
            <a:ext cx="1333500" cy="1962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4650" y="5435543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78105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L2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85900" y="7696200"/>
            <a:ext cx="7620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85900" y="8115300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63100" y="2933700"/>
            <a:ext cx="78105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536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METRICS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3600" y="3429000"/>
            <a:ext cx="7810500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67900" y="3517609"/>
            <a:ext cx="18669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96340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0165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39900" y="3517609"/>
            <a:ext cx="1009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78150" y="3517609"/>
            <a:ext cx="17716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53600" y="3771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753600" y="3771900"/>
            <a:ext cx="38100" cy="571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06000" y="39496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1.7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63400" y="39412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01650" y="3949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39900" y="3949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78150" y="39664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WINNER · 採用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53600" y="4343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753600" y="4343400"/>
            <a:ext cx="38100" cy="5715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906000" y="45211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 4.x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63400" y="45127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01650" y="4521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439900" y="4521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10.84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78150" y="45379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差距 0.6 pp · 訓練快 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53600" y="4914900"/>
            <a:ext cx="7810500" cy="571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753600" y="4914900"/>
            <a:ext cx="38100" cy="571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906000" y="50926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Random Forest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63400" y="50842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0.6285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01650" y="5092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39900" y="50926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8.92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678150" y="51094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泛化稍弱 · 可解釋強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3600" y="5486400"/>
            <a:ext cx="7810500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753600" y="5486400"/>
            <a:ext cx="38100" cy="571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906000" y="5664143"/>
            <a:ext cx="18669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Logistic L2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63400" y="5655743"/>
            <a:ext cx="100965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5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0.5984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201650" y="5664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0.413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439900" y="5664143"/>
            <a:ext cx="10096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4.31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78150" y="5680910"/>
            <a:ext cx="177165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Linear baseline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XGBOOST · 為何採用 XGBoost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2050" y="8877300"/>
            <a:ext cx="15887700" cy="303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優勝差距僅 0.6 pp · 但其在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minority class (Top 0.1%) 的 ICIR / DSR 顯著最佳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；後續所有指標均以 XGBoost 為主模型。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by Fold + DSR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DSR per Bailey &amp; López de Prado (2014)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A.12 · 4-Fold AUC + DSR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將策略績效從試算結果提升為可辯護的統計結論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多重檢定修正後仍通過顯著門檻。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97536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OOS AUC BY FOLD · expanding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66900" y="4648200"/>
            <a:ext cx="1333500" cy="31623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6400" y="43592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0.6582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64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2017-19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2400" y="4953000"/>
            <a:ext cx="1333500" cy="28575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71900" y="46640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2020-21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7900" y="4819650"/>
            <a:ext cx="1333500" cy="29908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67400" y="453066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74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2022-23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400" y="4914900"/>
            <a:ext cx="1333500" cy="2895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62900" y="4625918"/>
            <a:ext cx="1714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0.6450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0" y="7924800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2900" y="8184859"/>
            <a:ext cx="1714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2024-25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66900" y="4838700"/>
            <a:ext cx="6858000" cy="95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63000" y="470535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mean 0.6490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66900" y="7810500"/>
            <a:ext cx="685800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866900" y="84010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0.5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96600" y="2933700"/>
            <a:ext cx="647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896600" y="2933700"/>
            <a:ext cx="647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125200" y="31623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DEFLATED SHARPE RATIO · 多重檢定校正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25200" y="3486150"/>
            <a:ext cx="6019800" cy="705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12.12 (p&lt;0.001)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25200" y="42100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125200" y="4400550"/>
            <a:ext cx="6019800" cy="1629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= (SR̂ − E[max SR_n]) × √(T−1) / √(1 − γ₃·SR̂ + (γ₄−1)/4·SR̂²)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觀測 Sharpe Ratio = 2.41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多重試驗 (Optuna trials) = 150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OOS 樣本期 (years) ≈ 8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γ₃, γ₄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= 報酬 skewness / kurtosis 校正項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25200" y="7219950"/>
            <a:ext cx="601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125200" y="7334250"/>
            <a:ext cx="60198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解讀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25200" y="7600950"/>
            <a:ext cx="6019800" cy="58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&gt; 2 即顯著；本系統 12.12 為極強拒絕「運氣假說」的證據——150 次參數搜尋的選擇偏誤已被扣除。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86106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14400" y="86106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STABILITY · 跨 fold 穩定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2050" y="90678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 fold AUC 標準差 0.005 · 最差 fold 0.6431 仍遠高於 0.5 baseline ·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系統不靠單一年份。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</a:t>
            </a:r>
            <a:r>
              <a:rPr sz="1200" b="1" i="0" spc="14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</a:t>
            </a:r>
            <a:r>
              <a:rPr sz="1200" b="1" i="0" spc="140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附錄</a:t>
            </a:r>
            <a:endParaRPr sz="1200" b="1" i="0" spc="140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Sweep · 0.40 / 0.50 / 0.60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40 thresholds × 4-fold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A.13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三情境門檻設計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設計讓同一模型對應不同風險偏好的投資決策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高門檻追求確信，低門檻擴大覆蓋。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保守 · CONSERVATIVE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01955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42672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767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673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768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8674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0769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+22.4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6991350"/>
            <a:ext cx="48006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較少訊號 · 高勝率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平衡 · BALANCED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019550"/>
            <a:ext cx="571500" cy="28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9400" y="42672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4767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0673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2768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46.1%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8674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60769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+16.1 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6991350"/>
            <a:ext cx="48006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本系統預設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0" y="2933700"/>
            <a:ext cx="525780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攻擊 · AGGRESSIVE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15800" y="3448050"/>
            <a:ext cx="4800600" cy="604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spc="-1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 ≥ 0.40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15800" y="40195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115800" y="42672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15800" y="44767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12.3%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15800" y="50673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15800" y="52768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38.2%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15800" y="5867400"/>
            <a:ext cx="480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vs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15800" y="6076950"/>
            <a:ext cx="4800600" cy="537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spc="-8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+8.2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15800" y="6991350"/>
            <a:ext cx="48006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訊號多 · 勝率較低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7696200"/>
            <a:ext cx="16459200" cy="1485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4400" y="7696200"/>
            <a:ext cx="57150" cy="1485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62050" y="78676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INTERPRETATION · 投資人對照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2050" y="8153400"/>
            <a:ext cx="15887700" cy="693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本系統的門檻是 </a:t>
            </a: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可調節的策略開關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；機構可挑保守、量化基金可挑攻擊。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6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三情境的 IC / hit rate / edge 全部在 OOS 取得，已扣 5 bps 滑價假設。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Decile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OOS hit rate by predicted-prob decile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A.14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預測機率分位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×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命中率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Decile hit rate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遞增證明模型分數具有排序能力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分數越高，實際命中率越高。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HIT RATE BY PREDICTED-PROB DECILE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6000750"/>
            <a:ext cx="1047750" cy="1619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95400" y="57201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9900" y="5829300"/>
            <a:ext cx="1047750" cy="1790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19400" y="55487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3900" y="5705475"/>
            <a:ext cx="1047750" cy="1914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43400" y="54248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26.5%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7900" y="5591175"/>
            <a:ext cx="1047750" cy="20288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67400" y="53105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1900" y="5467350"/>
            <a:ext cx="1047750" cy="21526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1400" y="51867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29.8%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5900" y="5334000"/>
            <a:ext cx="1047750" cy="228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15400" y="50534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31.6%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9900" y="5200650"/>
            <a:ext cx="1047750" cy="24193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439400" y="492006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9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53900" y="4991100"/>
            <a:ext cx="1047750" cy="2628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963400" y="4710517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36.4%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63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677900" y="4638675"/>
            <a:ext cx="1047750" cy="298132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3487400" y="435809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41.2%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87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01900" y="4162425"/>
            <a:ext cx="1047750" cy="34575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011400" y="3881842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47.8%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1400" y="7729943"/>
            <a:ext cx="1428750" cy="218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5900" y="5448300"/>
            <a:ext cx="1562100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430500" y="5238750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30% baseline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26770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826770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MONOTONICITY · 機率排序與真實命中一致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2050" y="8724900"/>
            <a:ext cx="15887700" cy="629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十個分位無一破口 · 排序能力扎實；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D10 vs D1 spread = 25.4 pp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· 是策略中最關鍵的 alpha 來源。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此為 P.06 主簡報「47.8% hit @ D10」的詳細展開。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Equity Curve · Top 0.1% vs 0050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5 bps round-trip cost · 20-day rebalance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A.15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累積報酬曲線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Top-K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策略證明高分位訊號能轉化為投資組合績效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模型不只預測方向，也能形成組合。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143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85900" y="77343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5900" y="3219450"/>
            <a:ext cx="9525" cy="4514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59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001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47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578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724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867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013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1155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301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5900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7325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087850" y="77343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802100" y="7848600"/>
            <a:ext cx="571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28750" y="77343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76390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68389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67437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85900" y="68389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28750" y="59340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4400" y="583882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85900" y="593407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428750" y="50292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" y="493395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5900" y="50292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428750" y="41243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14400" y="4029075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5900" y="41243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28750" y="32194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4400" y="3124200"/>
            <a:ext cx="476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85900" y="32194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" name="Connector 49"/>
          <p:cNvCxnSpPr/>
          <p:nvPr/>
        </p:nvCxnSpPr>
        <p:spPr>
          <a:xfrm flipV="1">
            <a:off x="1485900" y="7410450"/>
            <a:ext cx="2228850" cy="3238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714750" y="6981825"/>
            <a:ext cx="2228850" cy="42862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943600" y="6334125"/>
            <a:ext cx="2228850" cy="6477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172450" y="5838825"/>
            <a:ext cx="2228850" cy="49530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01300" y="5172075"/>
            <a:ext cx="2228850" cy="666750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2630150" y="4343400"/>
            <a:ext cx="2228850" cy="8286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59000" y="3552825"/>
            <a:ext cx="2228850" cy="790575"/>
          </a:xfrm>
          <a:prstGeom prst="line">
            <a:avLst/>
          </a:prstGeom>
          <a:ln w="381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85900" y="7524750"/>
            <a:ext cx="2228850" cy="2095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714750" y="7229475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943600" y="7048500"/>
            <a:ext cx="2228850" cy="1809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72450" y="7048500"/>
            <a:ext cx="2228850" cy="29527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01300" y="7105650"/>
            <a:ext cx="2228850" cy="238125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2630150" y="6800850"/>
            <a:ext cx="2228850" cy="30480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4859000" y="6515100"/>
            <a:ext cx="2228850" cy="285750"/>
          </a:xfrm>
          <a:prstGeom prst="line">
            <a:avLst/>
          </a:prstGeom>
          <a:ln w="254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438275" y="76866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3667125" y="736282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5895975" y="6934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8124825" y="62865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10353675" y="5791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12582525" y="512445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14811375" y="4295775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7040225" y="3505200"/>
            <a:ext cx="95250" cy="9525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447800" y="76962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3676650" y="74866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5905500" y="71913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134350" y="70104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0363200" y="7305675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2592050" y="70675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14820900" y="676275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17049750" y="6477000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5373350" y="3343275"/>
            <a:ext cx="1905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+232%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373350" y="6610350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14500" y="3448050"/>
            <a:ext cx="2286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019300" y="339090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0.1% portfolio (avg 4 stocks)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4500" y="3733800"/>
            <a:ext cx="228600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019300" y="3676650"/>
            <a:ext cx="3048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0050 ETF (TWSE benchmark)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8585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585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+16.4%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0990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+6.7%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5765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+9.7 pp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585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 /  0050  /  EDGE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863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863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257800" y="8382000"/>
            <a:ext cx="2286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5780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8185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0.78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+1.63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5780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 /  0050  /  EDGE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5830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25830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42975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2975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-18.2%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35380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-32.4%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40155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+14.2 pp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2975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 /  0050  /  EDGE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430250" y="8267700"/>
            <a:ext cx="39433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3430250" y="8267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601700" y="838200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HIT RATE (M)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601700" y="8610600"/>
            <a:ext cx="1905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64%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525750" y="86645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52%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573500" y="8664518"/>
            <a:ext cx="8001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+12 pp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3601700" y="8972550"/>
            <a:ext cx="1905000" cy="134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8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STRATEGY  /  0050  /  EDGE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Drawdown &amp; Cost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round-trip cost from 0 to 30 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A.16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回撤與交易成本敏感度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成本壓力測試顯示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D+20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策略仍具交易摩擦緩衝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短週期策略受成本侵蝕更明顯。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bps ·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1955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43434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533900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9400" y="45148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816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9400" y="51625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362700"/>
            <a:ext cx="4800600" cy="270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本系統預設 · 散戶券商一般成本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bps · STRESS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01955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3434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9400" y="4533900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800" y="45148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1816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5800" y="51625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6362700"/>
            <a:ext cx="4800600" cy="270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重稅 / 較高滑價 · 多空組合場景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0" y="29337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115800" y="31432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30 bps · WORST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15800" y="3448050"/>
            <a:ext cx="4800600" cy="77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+5.8%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15800" y="401955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CAGR · annualized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15800" y="434340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115800" y="4533900"/>
            <a:ext cx="1905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SR̂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92200" y="45148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15800" y="51816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MaxDD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92200" y="5162550"/>
            <a:ext cx="31623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-25.4%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15800" y="6362700"/>
            <a:ext cx="4800600" cy="270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 · 流動性低 / 散戶高週轉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7315200"/>
            <a:ext cx="16459200" cy="18669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4400" y="7315200"/>
            <a:ext cx="57150" cy="18669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62050" y="74866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COST RESILIENCE · 成本韌性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2050" y="7772400"/>
            <a:ext cx="158877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即使在 30 bps 極端成本下，策略 </a:t>
            </a: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仍維持 +5.8% CAGR · SR̂ 0.92</a:t>
            </a:r>
            <a:r>
              <a:rPr sz="16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6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 bps base case 為散戶實際可達成之水準。</a:t>
            </a:r>
          </a:p>
          <a:p>
            <a:pPr algn="l">
              <a:lnSpc>
                <a:spcPct val="150000"/>
              </a:lnSpc>
            </a:pPr>
            <a:r>
              <a:rPr sz="1200" b="1" i="0" spc="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IMPLICATION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本策略不依賴零成本假設，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在合理交易成本下仍具實戰可用性。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Dashboard · 13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dashboard/ · Streamlit 1.31 · launch via `make serve`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A.17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互動儀表板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13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頁地圖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互動儀表板將研究結果轉化為跨角色共用的決策介面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研究員、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PM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與治理角色可使用同一 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truth source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58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系統首頁 · KPI 速讀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006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Health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/ KS 漂移監控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4000" y="2933700"/>
            <a:ext cx="39624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154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Feature Catalog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3409950"/>
            <a:ext cx="381000" cy="190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298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速查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0" y="29337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3258800" y="293370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430250" y="31051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44600" y="31432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944600" y="340995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944600" y="34861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AUC / ICIR / fold 切換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44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58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ICIR Heatmap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002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pillar × month 熱圖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0292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006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Explorer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150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Top-20 / 個股逐股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144000" y="4133850"/>
            <a:ext cx="39624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3154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Decile Hit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4610100"/>
            <a:ext cx="38100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8298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D1-D10 命中率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258800" y="41338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3258800" y="413385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3430250" y="43053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44600" y="43434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Threshold Sweep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944600" y="461010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944600" y="46863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 門檻 sweep 曲線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144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858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02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Backtest Equity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002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002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累積報酬 + 0050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5029200" y="5334000"/>
            <a:ext cx="3962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006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50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Drawdown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5810250"/>
            <a:ext cx="3810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150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回撤期間 + Calmar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1440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3154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298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Sentiment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8298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8298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keyword Lift × χ²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258800" y="533400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3258800" y="5334000"/>
            <a:ext cx="39624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3430250" y="550545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944600" y="554355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Daily Watchlist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944600" y="5810250"/>
            <a:ext cx="381000" cy="190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944600" y="588645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今日訊號股 + Q1 警示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6534150"/>
            <a:ext cx="39624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14400" y="6534150"/>
            <a:ext cx="39624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85850" y="6705600"/>
            <a:ext cx="571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0200" y="6743700"/>
            <a:ext cx="30861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Governance Gates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00200" y="7010400"/>
            <a:ext cx="381000" cy="1905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600200" y="7086600"/>
            <a:ext cx="3086100" cy="236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9/9 閘門即時狀態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84201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914400" y="84201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62050" y="85915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OPERATIONAL READY · 上線即用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62050" y="8877300"/>
            <a:ext cx="15887700" cy="303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 部署，三秒切頁；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所有圖表皆可導出 PNG / 對應 JSON artifact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；研究員、PM、合規可同時使用同一頁面。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Asset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sentiment lexicon under src/text/lexicon/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A.18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文本資產總覽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新聞與論壇文本已被轉化為可建模的台股情緒資產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1.12M articles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keywords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支撐文本訊號。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1,125,134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來源 · 2008+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Bull 256 / Bear 244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tickers 涵蓋率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152900"/>
            <a:ext cx="3486150" cy="222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MinHash LSH J ≥ 0.85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LEXICON CONSTRUCTION · 詞表建構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4900" y="5372100"/>
            <a:ext cx="7715250" cy="2420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500-keyword 台股情感詞表 · 三步驟</a:t>
            </a:r>
          </a:p>
          <a:p>
            <a:pPr algn="l">
              <a:lnSpc>
                <a:spcPct val="155000"/>
              </a:lnSpc>
            </a:pPr>
            <a:r>
              <a:rPr sz="14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TF-IDF 候選 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 400k+ 高品質新聞抽 5,000 候選詞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Lift × χ² 過濾 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計算每詞 Lift (vs neutral) 與卡方值 → 留 500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400" b="1" i="0" spc="1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 專家校驗 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兩位金融研究生雙盲標註 · κ = 0.78</a:t>
            </a:r>
          </a:p>
          <a:p>
            <a:pPr algn="l">
              <a:lnSpc>
                <a:spcPct val="155000"/>
              </a:lnSpc>
            </a:pPr>
            <a:r>
              <a:rPr sz="16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為何不直接用通用情感詞表？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LIWC / NTUSD 的「正面」≠ 股價的「正面」 (e.g. 「擴產」中性偏負，因稀釋EPS)</a:t>
            </a:r>
          </a:p>
          <a:p>
            <a:pPr algn="l">
              <a:lnSpc>
                <a:spcPct val="155000"/>
              </a:lnSpc>
            </a:pPr>
            <a:r>
              <a:rPr sz="12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完整詞表參考 src/text/lexicon/twstock500.csv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735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SOURCE BREAKDOWN · 15 來源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7350" y="5143500"/>
            <a:ext cx="809625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77350" y="51435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86900" y="55593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Anue 鉅亨網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2763500" y="5638800"/>
            <a:ext cx="34290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383000" y="55593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6900" y="60165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PTT Stock 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63500" y="6096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2763500" y="6096000"/>
            <a:ext cx="2571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383000" y="60165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6900" y="64737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經濟日報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763500" y="65532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2763500" y="6553200"/>
            <a:ext cx="1714500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383000" y="64737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6900" y="69309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工商時報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763500" y="70104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2763500" y="7010400"/>
            <a:ext cx="1571625" cy="76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383000" y="69309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86900" y="73881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Money DJ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763500" y="74676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2763500" y="7467600"/>
            <a:ext cx="1143000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383000" y="73881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86900" y="78453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Yahoo 股市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763500" y="79248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2763500" y="7924800"/>
            <a:ext cx="1000125" cy="76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383000" y="78453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6900" y="8302568"/>
            <a:ext cx="3048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其他 9 來源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763500" y="8382000"/>
            <a:ext cx="342900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2763500" y="8382000"/>
            <a:ext cx="285750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383000" y="8302568"/>
            <a:ext cx="762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91059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91059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9239250"/>
            <a:ext cx="158877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 來源 · 前 6 大占 80% · </a:t>
            </a: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經濟日報 / 工商時報 / Anue 為新聞主幹；PTT 為散戶情緒主軸。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 Spectrum ·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Lift = P(bull|word)/P(bull) · χ² independence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A.19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詞表光譜多空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Top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關鍵字篩選以統計檢定取代主觀詞表，降低文本因子偏誤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 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IC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檢驗共同篩選語料特徵。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1343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05150"/>
            <a:ext cx="7677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BULL · 多方關鍵詞 (Lift &gt;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7300" y="3498559"/>
            <a:ext cx="2286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0" y="3498559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0" y="3498559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3893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創高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0" y="3943350"/>
            <a:ext cx="3171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53250" y="3902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2.42×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0" y="3918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350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營收創高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0" y="4400550"/>
            <a:ext cx="30289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53250" y="4359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2.31×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0" y="4375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1,654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7300" y="4808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 法說會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0" y="4857750"/>
            <a:ext cx="26003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53250" y="4816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1.98×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50" y="4833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1,428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" y="5265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 擴產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00400" y="5314950"/>
            <a:ext cx="251460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53250" y="5273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1.92×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5290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1,322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7300" y="5722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 受惠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00400" y="5772150"/>
            <a:ext cx="24098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53250" y="5730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1.84×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6250" y="5747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2,104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7300" y="6179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 重押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200400" y="6229350"/>
            <a:ext cx="23336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53250" y="6188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0" y="6204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892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57300" y="6636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  升級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200400" y="6686550"/>
            <a:ext cx="225742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53250" y="6645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1.72×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6250" y="6661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7300" y="7094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  看好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0" y="7143750"/>
            <a:ext cx="22002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953250" y="7102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1.68×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6250" y="7119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2,842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7300" y="7551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  題材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200400" y="7600950"/>
            <a:ext cx="2124075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53250" y="7559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1.62×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6250" y="7576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57300" y="8008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  新訂單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0" y="8058150"/>
            <a:ext cx="2076450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53250" y="8016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1.58×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0" y="8033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784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9250" y="2933700"/>
            <a:ext cx="8134350" cy="581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239250" y="2933700"/>
            <a:ext cx="81343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467850" y="3105150"/>
            <a:ext cx="7677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BEAR · 空方關鍵詞 (Lift &gt; 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67850" y="3429000"/>
            <a:ext cx="7677150" cy="2857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582150" y="3498559"/>
            <a:ext cx="2286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KEYWORD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78100" y="3498559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LIFT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421100" y="3498559"/>
            <a:ext cx="7620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χ² rank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82150" y="3893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  砍單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25250" y="3943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525250" y="3943350"/>
            <a:ext cx="37528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5278100" y="3902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2.86×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421100" y="3918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150" y="4350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  裁員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525250" y="4400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525250" y="4400550"/>
            <a:ext cx="333375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278100" y="4359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2.54×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21100" y="4375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642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82150" y="4808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  下修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525250" y="4857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1525250" y="4857750"/>
            <a:ext cx="3171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5278100" y="4816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2.42×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421100" y="4833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82150" y="5265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  警報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525250" y="5314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1525250" y="5314950"/>
            <a:ext cx="28575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5278100" y="5273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2.18×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21100" y="5290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584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82150" y="5722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  遞延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525250" y="5772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525250" y="5772150"/>
            <a:ext cx="26765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5278100" y="5730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2.04×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21100" y="5747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82150" y="61796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06  衰退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525250" y="62293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525250" y="6229350"/>
            <a:ext cx="25146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5278100" y="61880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1.92×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21100" y="62047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1,462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82150" y="6636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07  低於預期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525250" y="66865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1525250" y="6686550"/>
            <a:ext cx="24098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5278100" y="66452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1.84×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421100" y="66619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1,102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82150" y="70940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08  虧損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525250" y="71437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1525250" y="7143750"/>
            <a:ext cx="23336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5278100" y="71024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1.78×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421100" y="71191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1,842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582150" y="75512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09  違約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25250" y="76009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1525250" y="7600950"/>
            <a:ext cx="225742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5278100" y="75596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1.72×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421100" y="75763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342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82150" y="80084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10  觀望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525250" y="8058150"/>
            <a:ext cx="3943350" cy="7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1525250" y="8058150"/>
            <a:ext cx="2124075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5278100" y="8016818"/>
            <a:ext cx="9525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1.62×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421100" y="8033585"/>
            <a:ext cx="7620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2,104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4400" y="89154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14400" y="89154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162050" y="9048750"/>
            <a:ext cx="158877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空方 Lift 上限 (砍單 2.86×) &gt; 多方 (創高 2.42×) · </a:t>
            </a: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空方詞訊號更強烈 · 解釋 Q1 contrarian 效應的源頭。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Quintile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forward 20-day excess return by quintile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A.20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情感五分位詳解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情緒五分位呈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，顯示極端情緒比中性情緒更有資訊量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情緒不是單調買賣訊號。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02870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6667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FORWARD 20-DAY EXCESS RETURN BY SENTIMENT QUINTILE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6953250"/>
            <a:ext cx="83820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5900" y="4819650"/>
            <a:ext cx="1524000" cy="2133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45222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
極負面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6953250"/>
            <a:ext cx="1524000" cy="1200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86100" y="822636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61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
偏負面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7300" y="6953250"/>
            <a:ext cx="1524000" cy="2667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6800" y="7292918"/>
            <a:ext cx="190500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
中性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6553200"/>
            <a:ext cx="1524000" cy="400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67500" y="625581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
偏正面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8700" y="5353050"/>
            <a:ext cx="152400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200" y="5055668"/>
            <a:ext cx="1905000" cy="251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8614369"/>
            <a:ext cx="1905000" cy="4877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
極正面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91900" y="29337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391900" y="2933700"/>
            <a:ext cx="59817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20500" y="31432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contrarian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20500" y="3486150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68400" y="3678361"/>
            <a:ext cx="3429000" cy="263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極端壞消息 → 過度反應 → 反彈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391900" y="43434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391900" y="4343400"/>
            <a:ext cx="5981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620500" y="45529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 momentum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20500" y="4895850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68400" y="5088061"/>
            <a:ext cx="3429000" cy="263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極端好消息 → 慣性延續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391900" y="57531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1391900" y="5753100"/>
            <a:ext cx="598170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620500" y="5962650"/>
            <a:ext cx="3810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 中性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20500" y="6305550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68400" y="6497761"/>
            <a:ext cx="3429000" cy="263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無方向 · 雜訊主導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91900" y="7162800"/>
            <a:ext cx="5981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391900" y="7162800"/>
            <a:ext cx="59817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620500" y="7372350"/>
            <a:ext cx="3810000" cy="30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Spread Q1−Q3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20500" y="7715250"/>
            <a:ext cx="1905000" cy="436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pc="-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+3.6 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68400" y="7907461"/>
            <a:ext cx="3429000" cy="263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對沖組合潛在 alpha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86106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14400" y="86106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BEHAVIORAL FINANCE · 行為財務學印證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2050" y="90678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反向效應 =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過度反應假說 (DeBondt &amp; Thaler 1985)</a:t>
            </a: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在台股的數據驗證 · 詳見 A.21。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 Contrarian · Elaboration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DeBondt &amp; Thaler (1985) · empirical: artifact 自行整理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A.21 · Q1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反向效應完整解讀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極端悲觀對應過度反應後的修正空間，可作為反向訊號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恐慌情緒未必代表基本面惡化。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164592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3162300"/>
            <a:ext cx="160782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THE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3429000"/>
            <a:ext cx="16078200" cy="420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當輿情極度負面時 (Q1)，未來 20 日「期望報酬」反而變正 +3.2%；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3886200"/>
            <a:ext cx="160782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空頭過度反應 → 賣壓出清 → 散戶恐慌底 → 機構接手反彈。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0" y="4648200"/>
            <a:ext cx="52578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空頭過度反應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1912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極負面新聞 (e.g. 砍單、警報) 在 1-3 日內形成集體恐慌，技術線型急殺 5-10%。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0" y="4648200"/>
            <a:ext cx="52578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4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賣壓快速出清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61912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散戶停損賣出殆盡 · 融資餘額大降 · 週轉率異常高（90 日均 1.5×+）。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0" y="4648200"/>
            <a:ext cx="5257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887200" y="46482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115800" y="4876800"/>
            <a:ext cx="762000" cy="73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15800" y="5524500"/>
            <a:ext cx="190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15800" y="5791200"/>
            <a:ext cx="48006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機構低接 + 反彈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15800" y="61912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115800" y="6343650"/>
            <a:ext cx="4800600" cy="710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若基本面未受結構性傷害，外資 / 投信於 5-10 日後低接 · T+20 平均 +3.2%。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26770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826770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62050" y="84391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EXECUTION CAVEAT · 執行注意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2050" y="8724900"/>
            <a:ext cx="15887700" cy="58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此效應僅限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基本面未受結構性傷害的標的</a:t>
            </a: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；模型加入 ROE / debt 作 sanity guardrail，避免抄到「真的不行」的個股。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3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回測 OOS 8 年仍穩定，但個股級執行需研究員 final call。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Multi-Horizon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forward 1d/5d/20d excess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A.22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多時間視窗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U-shape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在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1d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5d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20d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重複出現，支持情緒訊號具時間穩定性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多持有期一致性降低噪聲疑慮。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5257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· T+1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一日內仍以慣性主導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7800" y="5219700"/>
            <a:ext cx="666750" cy="2000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54702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62200" y="5219700"/>
            <a:ext cx="666750" cy="4667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57369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1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861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1000" y="5219700"/>
            <a:ext cx="666750" cy="666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00500" y="53368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05400" y="5153025"/>
            <a:ext cx="666750" cy="666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14900" y="49177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4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單位 · % excess return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2933700"/>
            <a:ext cx="52578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94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· T+5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反向效應開始浮現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34200" y="4953000"/>
            <a:ext cx="666750" cy="266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43700" y="47177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3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48600" y="5219700"/>
            <a:ext cx="666750" cy="5334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58100" y="58036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58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630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725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2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77400" y="5086350"/>
            <a:ext cx="666750" cy="1333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86900" y="48511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86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91800" y="4686300"/>
            <a:ext cx="666750" cy="53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401300" y="44510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1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單位 · % excess return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0" y="2933700"/>
            <a:ext cx="5257800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887200" y="2933700"/>
            <a:ext cx="5257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115800" y="3105150"/>
            <a:ext cx="4800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HORIZON · T+20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15800" y="3409950"/>
            <a:ext cx="4800600" cy="25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U-shape 完整成型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115800" y="5219700"/>
            <a:ext cx="480060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2420600" y="4152900"/>
            <a:ext cx="666750" cy="1066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2230100" y="39176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+3.2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301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335000" y="5219700"/>
            <a:ext cx="666750" cy="6000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3144500" y="587028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1445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249400" y="5219700"/>
            <a:ext cx="666750" cy="133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058900" y="54035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589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163800" y="5019675"/>
            <a:ext cx="666750" cy="200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4973300" y="4784434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9733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078200" y="4419600"/>
            <a:ext cx="666750" cy="800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5887700" y="418435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+2.4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887700" y="6641809"/>
            <a:ext cx="10477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Q5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15800" y="7543800"/>
            <a:ext cx="4800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單位 · % excess return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" y="815340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14400" y="815340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162050" y="83248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TIME EVOLUTION · 時間演化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2050" y="86106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反向效應在 T+1 尚未顯現 (慣性主導) · 在 T+5 開始浮現 · 在 T+20 完整成型；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建議交易視窗為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5-20 日期間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；亦支援 D20 為主標籤的設計選擇。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× Forum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joint distribution news_sent × forum_sent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A.23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×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論壇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共識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2×2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新聞與論壇共識能提升情緒訊號的決策可信度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跨來源一致時，訊號品質最高。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6858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BOTH BULL · 共識多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671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362450"/>
            <a:ext cx="5715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45529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新聞正 + 論壇正 · 訊號最強烈 · 占樣本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7900" y="31432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9337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01000" y="2933700"/>
            <a:ext cx="6858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31432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BULL / FORUM BEAR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671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362450"/>
            <a:ext cx="5715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0" y="45529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新聞正 / 論壇負 · 散戶觀望 · 機構默買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0" y="31432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5829300"/>
            <a:ext cx="68580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43000" y="60388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 BEAR / FORUM BULL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3627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5805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3000" y="74485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新聞負 / 論壇正 · 散戶追高被套 · 警示區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7900" y="60388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5829300"/>
            <a:ext cx="685800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001000" y="5829300"/>
            <a:ext cx="6858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0" y="6038850"/>
            <a:ext cx="6400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BOTH BEAR · 共識空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6362700"/>
            <a:ext cx="6400800" cy="1074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7258050"/>
            <a:ext cx="5715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0" y="7448550"/>
            <a:ext cx="6400800" cy="312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新聞負 + 論壇負 · 反向效應 · 占樣本 14%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4500" y="60388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1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T+20 fwd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59000" y="2933700"/>
            <a:ext cx="25146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DECISION RULES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59000" y="33147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4859000" y="3314700"/>
            <a:ext cx="2514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030450" y="34480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CONSENSUS_BULL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30450" y="36766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+4.1%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30450" y="3943350"/>
            <a:ext cx="2286000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兩者皆 ≥ +1.5σ → 買進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859000" y="45720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4859000" y="4572000"/>
            <a:ext cx="25146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5030450" y="47053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CONTRARIAN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30450" y="49339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30450" y="5200650"/>
            <a:ext cx="2286000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兩者皆 ≤ -1.5σ → 反向買進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859000" y="58293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4859000" y="5829300"/>
            <a:ext cx="2514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5030450" y="59626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AVOID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30450" y="61912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30450" y="6457950"/>
            <a:ext cx="2286000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news+ × forum− → 觀望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859000" y="7086600"/>
            <a:ext cx="2514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859000" y="7086600"/>
            <a:ext cx="2514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5030450" y="7219950"/>
            <a:ext cx="2286000" cy="167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18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SHORT-LIST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30450" y="7448550"/>
            <a:ext cx="22860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030450" y="7715250"/>
            <a:ext cx="2286000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news− × forum+ → 警示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86106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14400" y="86106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CROSS-CHANNEL VALIDATION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2050" y="90678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兩源共識 (BOTH BULL) +4.1% &gt; 單源 ;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跨來源驗證</a:t>
            </a: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是訊號品質的關鍵濾網。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Coverage &amp; Daily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1932 stocks × 4380 days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A.24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涵蓋率與每日情感序列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文本覆蓋率決定情緒因子的適用範圍與解讀強度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大型股可積極使用，小型股需保守解讀。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9433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50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日均覆蓋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63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86350" y="2933700"/>
            <a:ext cx="39433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49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9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49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日均覆蓋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830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58300" y="2933700"/>
            <a:ext cx="39433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48690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1500+ 小型股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38%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90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日均覆蓋 · 警示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30250" y="2933700"/>
            <a:ext cx="39433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430250" y="2933700"/>
            <a:ext cx="39433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658850" y="3143250"/>
            <a:ext cx="34861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PEAK ARTICLES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58850" y="3409950"/>
            <a:ext cx="3486150" cy="940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4,210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58850" y="4152900"/>
            <a:ext cx="3486150" cy="222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單日峰值 (2024-08)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81965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DAILY MARKET SENTIMENT INDEX (2018-2025)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143500"/>
            <a:ext cx="16459200" cy="36195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485900" y="5429250"/>
            <a:ext cx="9525" cy="2990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859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2001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147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290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578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24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867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013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1155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6301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3444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85900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57325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87850" y="8420100"/>
            <a:ext cx="9525" cy="571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802100" y="853440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28750" y="842010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9650" y="8324850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-1.0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85900" y="842010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428750" y="76676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9650" y="757237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-0.5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85900" y="76676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428750" y="692467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9650" y="682942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85900" y="6924675"/>
            <a:ext cx="15601950" cy="95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428750" y="6181725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09650" y="6086475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+0.5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85900" y="6181725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428750" y="5429250"/>
            <a:ext cx="57150" cy="9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9650" y="5334000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+1.0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85900" y="5429250"/>
            <a:ext cx="15601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1485900" y="6553200"/>
            <a:ext cx="533400" cy="1047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19300" y="6657975"/>
            <a:ext cx="533400" cy="8858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552700" y="6448425"/>
            <a:ext cx="542925" cy="10953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095625" y="6210300"/>
            <a:ext cx="533400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29025" y="6210300"/>
            <a:ext cx="542925" cy="9810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71950" y="7191375"/>
            <a:ext cx="533400" cy="6572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05350" y="7400925"/>
            <a:ext cx="542925" cy="4476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248275" y="6981825"/>
            <a:ext cx="533400" cy="4191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81675" y="6657975"/>
            <a:ext cx="542925" cy="3238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24600" y="6391275"/>
            <a:ext cx="533400" cy="2667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858000" y="6305550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00925" y="6305550"/>
            <a:ext cx="533400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934325" y="6515100"/>
            <a:ext cx="542925" cy="2381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77250" y="6753225"/>
            <a:ext cx="533400" cy="5238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010650" y="7191375"/>
            <a:ext cx="542925" cy="857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553575" y="6810375"/>
            <a:ext cx="533400" cy="3810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86975" y="6448425"/>
            <a:ext cx="542925" cy="3619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629900" y="615315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163300" y="6153150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1706225" y="6362700"/>
            <a:ext cx="533400" cy="2952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2239625" y="6657975"/>
            <a:ext cx="542925" cy="4381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782550" y="7096125"/>
            <a:ext cx="533400" cy="30480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315950" y="71913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3858875" y="6600825"/>
            <a:ext cx="533400" cy="590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392275" y="63912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4935200" y="6210300"/>
            <a:ext cx="533400" cy="18097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5468600" y="6210300"/>
            <a:ext cx="542925" cy="952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6011525" y="6305550"/>
            <a:ext cx="533400" cy="352425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6544925" y="6657975"/>
            <a:ext cx="542925" cy="209550"/>
          </a:xfrm>
          <a:prstGeom prst="line">
            <a:avLst/>
          </a:prstGeom>
          <a:ln w="254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5943600" y="5524500"/>
            <a:ext cx="9525" cy="2895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181600" y="5543550"/>
            <a:ext cx="1524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COVID-19 crash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89154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914400" y="89154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162050" y="90487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極端事件 (COVID-19 / 2022 升息) 情感指數皆出現 -0.6 級重挫，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系統能即時捕捉市場情緒拐點。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Signal Decay · PSI by Pillar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 · PSI computed on 30-day rolling window vs train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A.25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訊號衰減監控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9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PSI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監控將模型衰退從事後檢討轉為事前預警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Drift governance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是部署後的必要條件。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552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310515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6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POPULATION STABILITY INDEX BY PILLAR · 30-day rolling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0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1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2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4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05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7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0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1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2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74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5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7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8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31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42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54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5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7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88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00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1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2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4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5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8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80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91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2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14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5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37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60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715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29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943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057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72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286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400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515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629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743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58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972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086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200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315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429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543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58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772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886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001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115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229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343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458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572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686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8801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915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9029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144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9258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372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486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9601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9715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829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944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0058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0172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0287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10401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10515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0629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0744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10858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0972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087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201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1315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1430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1544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658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1772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1887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2001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2115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2230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2344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2458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2573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2687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2801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2915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3030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3144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3258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3373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3487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13601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3716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3830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3944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4058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4173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14287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4401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14516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4630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4744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14859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14973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5087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15201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5316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5430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5544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5659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15773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5887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60020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161163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162306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63449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64592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165735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166878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68021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169164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7030700" y="6610350"/>
            <a:ext cx="57150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6192500" y="6515100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Warning 0.10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48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60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171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182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194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205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217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228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240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251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262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274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285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297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308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320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331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342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354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65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377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88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400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411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22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4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45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457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468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480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491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502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514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525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537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548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560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5715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5829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5943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6057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6172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6286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6400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6515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6629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6743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6858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6972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7086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7200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7315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6" name="Rectangle 205"/>
          <p:cNvSpPr/>
          <p:nvPr/>
        </p:nvSpPr>
        <p:spPr>
          <a:xfrm>
            <a:off x="7429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7" name="Rectangle 206"/>
          <p:cNvSpPr/>
          <p:nvPr/>
        </p:nvSpPr>
        <p:spPr>
          <a:xfrm>
            <a:off x="7543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7658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7772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7886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8001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8115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8229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8343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8458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8572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8686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8801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8915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9029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9144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9258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9372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9486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9601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9715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9829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9944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10058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10172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10287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10401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10515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10629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10744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10858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10972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11087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11201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11315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11430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11544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11658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11772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5" name="Rectangle 244"/>
          <p:cNvSpPr/>
          <p:nvPr/>
        </p:nvSpPr>
        <p:spPr>
          <a:xfrm>
            <a:off x="11887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12001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12115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12230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12344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12458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12573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12687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12801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12915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13030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13144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3258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13373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9" name="Rectangle 258"/>
          <p:cNvSpPr/>
          <p:nvPr/>
        </p:nvSpPr>
        <p:spPr>
          <a:xfrm>
            <a:off x="13487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13601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13716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13830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13944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14058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14173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14287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14401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14516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14630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14744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14859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14973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15087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15201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15316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15430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15544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15659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15773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15887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160020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161163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Rectangle 282"/>
          <p:cNvSpPr/>
          <p:nvPr/>
        </p:nvSpPr>
        <p:spPr>
          <a:xfrm>
            <a:off x="162306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163449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5" name="Rectangle 284"/>
          <p:cNvSpPr/>
          <p:nvPr/>
        </p:nvSpPr>
        <p:spPr>
          <a:xfrm>
            <a:off x="164592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165735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166878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168021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169164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17030700" y="4800600"/>
            <a:ext cx="57150" cy="95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16192500" y="4705350"/>
            <a:ext cx="952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Alert 0.25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485900" y="7334250"/>
            <a:ext cx="1238250" cy="4762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1295400" y="70452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95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800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800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3200400" y="7210425"/>
            <a:ext cx="1238250" cy="600075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3009900" y="6921443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40A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0.05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009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Trend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514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3514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914900" y="7086600"/>
            <a:ext cx="1238250" cy="7239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4724400" y="67976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724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Momentum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229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5229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629400" y="6972300"/>
            <a:ext cx="1238250" cy="838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6438900" y="66833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891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0.07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6438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Valuation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943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1" name="TextBox 310"/>
          <p:cNvSpPr txBox="1"/>
          <p:nvPr/>
        </p:nvSpPr>
        <p:spPr>
          <a:xfrm>
            <a:off x="6943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343900" y="7334250"/>
            <a:ext cx="1238250" cy="476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3" name="TextBox 312"/>
          <p:cNvSpPr txBox="1"/>
          <p:nvPr/>
        </p:nvSpPr>
        <p:spPr>
          <a:xfrm>
            <a:off x="8153400" y="70452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8153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Fund.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658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8658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0058400" y="6848475"/>
            <a:ext cx="1238250" cy="9620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9867900" y="6559493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0.08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867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Industry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27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10372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1772900" y="6724650"/>
            <a:ext cx="1238250" cy="10858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11582400" y="643566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0.09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1582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Chip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2087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12087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3487400" y="6248400"/>
            <a:ext cx="1238250" cy="1562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3296900" y="59594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0.13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32969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3801725" y="8172450"/>
            <a:ext cx="609600" cy="2095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1" name="TextBox 330"/>
          <p:cNvSpPr txBox="1"/>
          <p:nvPr/>
        </p:nvSpPr>
        <p:spPr>
          <a:xfrm>
            <a:off x="138017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WARN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5201900" y="7086600"/>
            <a:ext cx="1238250" cy="7239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3" name="TextBox 332"/>
          <p:cNvSpPr txBox="1"/>
          <p:nvPr/>
        </p:nvSpPr>
        <p:spPr>
          <a:xfrm>
            <a:off x="15011400" y="6797618"/>
            <a:ext cx="1619250" cy="23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C48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0.06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5011400" y="7937209"/>
            <a:ext cx="161925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Event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5516225" y="8172450"/>
            <a:ext cx="609600" cy="209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15516225" y="8193259"/>
            <a:ext cx="609600" cy="1679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OK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914400" y="861060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8" name="Rectangle 337"/>
          <p:cNvSpPr/>
          <p:nvPr/>
        </p:nvSpPr>
        <p:spPr>
          <a:xfrm>
            <a:off x="914400" y="861060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1162050" y="87820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EARLY WARNING · 早期警示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162050" y="906780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Sentiment 0.13 已過 0.10 警告線 · 仍低於 0.25 alert ·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建議季度更新詞表 · 避免衰減</a:t>
            </a: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。其餘 8 支柱皆穩定。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Self-assessment per BCG due diligence template · open issues tracked at issues/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A.26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五大限制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五大未來方向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模型限制清楚揭露，才能使部署建議具備可信度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Intraday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、黑天鵝與跨市場外推仍需補強。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81940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LIMITATIONS · 五大限制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31623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4900" y="33337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5450" y="33337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日頻限制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5450" y="36576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無 intraday 微結構訊號 (tick / order book)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4400" y="42672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4900" y="44386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5450" y="44386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台股限制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5450" y="47625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未跨市場 (HK / SG / US ADR) · 政策外溢未建模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53721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4900" y="55435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5450" y="55435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黑天鵝盲點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5450" y="58674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極端事件 (戰爭 / 疫情) 訓練樣本稀少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14400" y="6477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04900" y="66484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5450" y="66484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文本來源偏誤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5450" y="69723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40% 集中於 Top 5 熱門股 · 中小型股訊號薄弱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14400" y="75819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4900" y="77533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5450" y="77533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靜態詞表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5450" y="80772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500 詞表為 2024 校驗 · 半年衰減 PSI &gt; 0.1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7350" y="2819400"/>
            <a:ext cx="7620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FUTURE WORK · 五大未來方向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77350" y="31623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77350" y="31623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67850" y="33337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3337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加入 Intraday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6576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tick / 1-min K · order flow imbalance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77350" y="42672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277350" y="42672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467850" y="44386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44386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跨市場 portfolio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7625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 + HK + ADR · 統一 9-pillar · ~5,000 stocks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77350" y="53721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277350" y="53721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467850" y="55435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5435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線上學習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8674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EWMA + concept drift detection · 月更新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77350" y="64770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277350" y="64770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67850" y="66484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6484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LLM 輔助情感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9723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GPT / Llama embedding 取代部分詞表 · 強化中小型股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77350" y="7581900"/>
            <a:ext cx="8096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277350" y="7581900"/>
            <a:ext cx="8096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467850" y="7753350"/>
            <a:ext cx="5715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7753350"/>
            <a:ext cx="628650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因果機制建模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8077200"/>
            <a:ext cx="6286500" cy="255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do-calculus + IV · 從相關走向因果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" y="87630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914400" y="87630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62050" y="88963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系統設計時即承認自身邊界 · 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誠實 &gt; 過譽 · 這是 v11.5.17 與一般學術原型最根本的差別。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Bibliography · 15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自行整理· all referenced in code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A.27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參考文獻四大領域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 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文獻基礎支撐本研究在因子模型、行為財務與量化治理上的選擇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方法不是任意拼裝，而是有理論來源。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1432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 · 方法論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51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3505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López de Prado (2018). Advances in Financial Machine Learning. Wiley.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65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3500" y="40195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Bailey &amp; López de Prado (2014). The Deflated Sharpe Ratio. SSRN 2460551.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02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45339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Harvey, Liu &amp; Zhu (2016). … and the Cross-Section of Expected Returns. RFS 29(1).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946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50482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Lopez de Prado &amp; Lewis (2019). Detection of False Investment Strategies. JPM 45.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9250" y="29337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239250" y="293370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67850" y="31432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FACTOR MODELS · 因子模型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7850" y="3451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8350" y="3505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Fama &amp; French (1993). Common Risk Factors in the Returns on Stocks and Bonds. JFE 33.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7850" y="3965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8350" y="40195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Carhart (1997). On Persistence in Mutual Fund Performance. JF 52.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7850" y="44802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8350" y="45339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Asness, Moskowitz &amp; Pedersen (2013). Value and Momentum Everywhere. JF 68.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7850" y="49946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58350" y="50482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Hou, Xue &amp; Zhang (2015). Digesting Anomalies: An Investment Approach. RFS 28.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6096000"/>
            <a:ext cx="80962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43000" y="63055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BEHAVIORAL FINANCE · 行為財務學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66138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6675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DeBondt &amp; Thaler (1985). Does the Stock Market Overreact? JF 40.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1282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33500" y="71818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Tetlock (2007). Giving Content to Investor Sentiment. JF 62.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7642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500" y="7696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Loughran &amp; McDonald (2011). When Is a Liability Not a Liability? JF 66.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9250" y="6096000"/>
            <a:ext cx="80962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39250" y="6096000"/>
            <a:ext cx="809625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67850" y="630555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ML &amp; TEXT · 機器學習與文本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7850" y="66138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8350" y="66675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Chen &amp; Guestrin (2016). XGBoost: A Scalable Tree Boosting System. KDD.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7850" y="71282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8350" y="71818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Lundberg &amp; Lee (2017). A Unified Approach to Interpreting Model Predictions. NeurIPS.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7850" y="764257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8350" y="769620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Ke et al. (2017). LightGBM: A Highly Efficient Gradient Boosting Decision Tree. NeurIPS.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7850" y="8156920"/>
            <a:ext cx="228600" cy="3358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EA580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8350" y="8210550"/>
            <a:ext cx="7410450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Ardia et al. (2021). Sentometrics: Computing Time Series of Sentiment. JSS 99.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9067800"/>
            <a:ext cx="16459200" cy="51435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14400" y="9067800"/>
            <a:ext cx="57150" cy="5143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62050" y="92011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所有方法論皆有同行審核之文獻支撐；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本系統為 50 年量化文獻在台股的工程實作</a:t>
            </a: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Tools · Python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requirements.txt · pyproject.toml · 5 functional groups × 3 libs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A.28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工具棧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15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個核心套件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Python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工具鏈已覆蓋資料工程、模型訓練、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NLP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與治理監控需求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技術選型足以支撐課堂專案交付。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33337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39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· 資料層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3950" y="36766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82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panel data 主鍵對齊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3950" y="45529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82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向量運算 / 統計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3950" y="5429250"/>
            <a:ext cx="38100" cy="609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82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duckdb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本地 OLAP · WAL 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24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362450" y="2933700"/>
            <a:ext cx="33337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ML · 模型層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6766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630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630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630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★ winner · D+20 AUC 0.6455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5529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8630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lightgbm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630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v4.x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630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次佳引擎 · D+20 AUC 0.6391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429250"/>
            <a:ext cx="38100" cy="609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8630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scikit-learn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630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630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preprocess / metrics / split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05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810500" y="2933700"/>
            <a:ext cx="3333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200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TUNE · 搜尋層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20050" y="36766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343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43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v3.6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43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TPE Sampler · 50 trials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20050" y="45529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343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43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43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tree explainer · top-20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20050" y="5429250"/>
            <a:ext cx="38100" cy="609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343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joblib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43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43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model serialization · 6 horizons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5855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1258550" y="2933700"/>
            <a:ext cx="33337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46810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NLP · 文本層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68100" y="36766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58240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jieba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8240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v0.42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8240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中文斷詞 · 自定義金融詞典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68100" y="45529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58240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snownlp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8240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v0.12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8240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中文情緒五桶分位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68100" y="5429250"/>
            <a:ext cx="38100" cy="609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58240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wordcloud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8240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8240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視覺化 · Q1 vs Q5 對比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706600" y="2933700"/>
            <a:ext cx="3333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4706600" y="2933700"/>
            <a:ext cx="33337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916150" y="3143250"/>
            <a:ext cx="29146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VIZ + GOV · 服務層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916150" y="36766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5030450" y="36004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30450" y="38862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v1.39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30450" y="40957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13 頁互動儀表板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916150" y="45529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5030450" y="44767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plotly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030450" y="47625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v5.24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30450" y="49720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dark-glint chart 語言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916150" y="5429250"/>
            <a:ext cx="38100" cy="6096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030450" y="5353050"/>
            <a:ext cx="28003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matplotlib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030450" y="5638800"/>
            <a:ext cx="9525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v3.9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30450" y="5848350"/>
            <a:ext cx="2800350" cy="210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static report figures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" y="6667500"/>
            <a:ext cx="16459200" cy="20955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14400" y="6667500"/>
            <a:ext cx="57150" cy="20955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62050" y="68389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WHY THIS STACK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62050" y="7124700"/>
            <a:ext cx="15887700" cy="123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純 Python · MIT/Apache 授權 · 全部可在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Streamlit Cloud / Docker / Conda</a:t>
            </a: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本地或雲端重現；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XGBoost + LightGBM 雙引擎並行 · </a:t>
            </a:r>
            <a:r>
              <a:rPr sz="1500" b="1" i="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Optuna 150 trials × 6 horizon × engine = 900 次搜尋</a:t>
            </a: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；SHAP 提供個股可解釋性、Streamlit 13 頁將模型結果暴露給研究員與經理人。</a:t>
            </a:r>
          </a:p>
          <a:p>
            <a:pPr algn="l">
              <a:lnSpc>
                <a:spcPct val="150000"/>
              </a:lnSpc>
            </a:pPr>
            <a:r>
              <a:rPr sz="1200" b="1" i="0" spc="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AUDIT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所有依賴版本鎖在 </a:t>
            </a:r>
            <a:r>
              <a:rPr sz="1300" b="1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requirements.txt</a:t>
            </a: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、commit hash + joblib 同步、</a:t>
            </a:r>
            <a:r>
              <a:rPr sz="13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任何一段績效都可從原始資料 → 重現到分數差 &lt; 1e-6。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Methodology · 5 Core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López de Prado (2018) · Bailey &amp; López de Prado (2014) · Lundberg &amp; Lee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A.29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方法論詳述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五大方法分別處理時序洩漏、過擬合、黑箱、歸因與漂移風險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WFPK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、</a:t>
            </a:r>
            <a:r>
              <a:rPr lang="en-US" altLang="zh-TW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</a:t>
            </a: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各自對應一類模型風險。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9337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4400" y="2933700"/>
            <a:ext cx="76200" cy="10287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00150" y="30861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31242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Purged WF-CV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2600" y="33909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時序交叉驗證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37147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López de Prado (2018) §7.4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5900" y="30861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5900" y="32956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29250" y="3444849"/>
            <a:ext cx="4857750" cy="2350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Fold k 之 train ∩ test̂(t±h) = 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0" y="30861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0" y="3295650"/>
            <a:ext cx="64770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4 fold × 20 日 embargo · 防止 D+20 標籤跨期重疊洩漏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386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038600"/>
            <a:ext cx="76200" cy="10287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00150" y="41910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2600" y="42291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Deflated Sharpe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44958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多重檢定校正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2600" y="48196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Bailey &amp; López de Prado (2014)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5900" y="41910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5900" y="44005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29250" y="4549749"/>
            <a:ext cx="4857750" cy="2350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DSR = (SR̂ − E[max SR_n]) · √(T−1) / Φ⁻¹(1−α)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0" y="41910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0" y="4400550"/>
            <a:ext cx="6477000" cy="263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原始 SR̂ 2.41 → DSR 12.12 · 扣 150 trials skew/kurt 後 p ≪ 0.001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1435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4400" y="5143500"/>
            <a:ext cx="76200" cy="1028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00150" y="52959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52600" y="53340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LOPO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52600" y="56007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支柱貢獻分析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2600" y="59245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Custom · feature ablation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95900" y="52959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95900" y="55054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29250" y="5654649"/>
            <a:ext cx="4857750" cy="2350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ΔAUC_p = AUC(全 91) − AUC(91 \ pillar 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68000" y="52959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8000" y="5505450"/>
            <a:ext cx="6477000" cy="2632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Risk +138.6 bps · Trend +64.9 · Chip / Event / Industry 共 −49 bps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62484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14400" y="6248400"/>
            <a:ext cx="7620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0150" y="64008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52600" y="6438900"/>
            <a:ext cx="2095500" cy="493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SHAP TreeExplainer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2600" y="67056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個股可解釋性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2600" y="70294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Lundberg &amp; Lee (2017)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5900" y="64008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95900" y="66103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9250" y="6759549"/>
            <a:ext cx="4857750" cy="2350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φ_i(x) = E[f(x) | x_i] − E[f(x)]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0" y="64008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68000" y="6610350"/>
            <a:ext cx="64770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Top 20 全局特徵 · per-stock 解釋 → Streamlit 個股檢視頁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7353300"/>
            <a:ext cx="16459200" cy="10287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4400" y="7353300"/>
            <a:ext cx="76200" cy="10287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00150" y="7505700"/>
            <a:ext cx="762000" cy="36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52600" y="7543800"/>
            <a:ext cx="2095500" cy="235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/ 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2600" y="7810500"/>
            <a:ext cx="2286000" cy="335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漂移監控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2600" y="8134350"/>
            <a:ext cx="3429000" cy="1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Basel III FRTB · industry standard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95900" y="7505700"/>
            <a:ext cx="9525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FORMULA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95900" y="7715250"/>
            <a:ext cx="5143500" cy="533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29250" y="7864449"/>
            <a:ext cx="4857750" cy="2350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-2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PSI = Σ (p_i − q_i) ln(p_i / q_i)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0" y="75057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OUR APPLICATION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68000" y="7715250"/>
            <a:ext cx="647700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91 features 月測 · Text PSI 0.13 觸發 WARN · 對策每月詞向量重新訓練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8382000"/>
            <a:ext cx="16459200" cy="10668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14400" y="8382000"/>
            <a:ext cx="57150" cy="10668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62050" y="85534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METHOD-TO-EVIDENCE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2050" y="8839200"/>
            <a:ext cx="15887700" cy="65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每個結論都可逆向追溯到一個方法、每個方法都有一篇引用文獻；</a:t>
            </a:r>
            <a:br>
              <a:rPr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這 5 大方法疊加 = </a:t>
            </a:r>
            <a:r>
              <a:rPr sz="15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從原始資料到 9 / 9 治理關卡 PASS 的審計鏈</a:t>
            </a:r>
            <a:r>
              <a:rPr sz="15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342900" cy="2857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259"/>
            <a:ext cx="342900" cy="1511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04060"/>
            <a:ext cx="3619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多因子股票預測系統 ·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39500" y="404060"/>
            <a:ext cx="6667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&amp; Extended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746959"/>
            <a:ext cx="12382500" cy="1847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Source · TWSE / TPEx · 公開資訊觀測站 · CMoney 文本 · 課程指定資料庫 BDA-2026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0" y="9753600"/>
            <a:ext cx="1905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4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APPENDIX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40200" y="9801225"/>
            <a:ext cx="76200" cy="76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54500" y="9738560"/>
            <a:ext cx="571500" cy="201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104900"/>
            <a:ext cx="6667500" cy="2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— A.30 ·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資料來源</a:t>
            </a:r>
            <a:r>
              <a:rPr sz="1400" b="1" i="0" spc="24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+ </a:t>
            </a:r>
            <a:r>
              <a:rPr sz="1400" b="1" i="0" spc="240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延伸期刊文獻</a:t>
            </a:r>
            <a:endParaRPr sz="1400" b="1" i="0" spc="24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666875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資料來源與 </a:t>
            </a:r>
            <a:r>
              <a:rPr lang="en-US" altLang="zh-TW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lineage </a:t>
            </a:r>
            <a:r>
              <a:rPr lang="zh-TW" altLang="en-US" sz="4000" b="1" spc="-80" dirty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決定模型結果能否被複查與重現</a:t>
            </a:r>
            <a:endParaRPr lang="en-US" altLang="zh-TW" sz="4000" b="1" spc="-80" dirty="0">
              <a:solidFill>
                <a:srgbClr val="1E3A8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  <a:p>
            <a:pPr>
              <a:lnSpc>
                <a:spcPct val="118000"/>
              </a:lnSpc>
            </a:pPr>
            <a:r>
              <a:rPr lang="zh-TW" altLang="en-US" sz="2600" b="1" spc="-8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每一筆資料與每一個特徵都應可回溯。</a:t>
            </a:r>
            <a:endParaRPr lang="en-US" altLang="zh-TW" sz="2600" b="1" spc="-8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8194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SOURCES · 資料來源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1051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3105150"/>
            <a:ext cx="809625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33147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PRICE /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195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TWSE · TPEx · 公開資訊觀測站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195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1,930 檔股票 × 505 交易日 · OHLCV + 融資融券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148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data/raw/stock_prices.parquet · 4.2 GB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0482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5048250"/>
            <a:ext cx="809625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52578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06B6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FUNDAMENTALS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626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財報資料庫 · 季頻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9626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IFRS 報表三表 · 主鍵 (stock_id, period) · lag 45 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64579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data/raw/financial_statements.parquet · 312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6991350"/>
            <a:ext cx="809625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14400" y="6991350"/>
            <a:ext cx="80962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763905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TEXT CORPUS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7505700"/>
            <a:ext cx="7639050" cy="302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CMoney 新聞 + PTT Stock 論壇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7905750"/>
            <a:ext cx="7639050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948K 文本 · T 日 15:00 截止 · 自定義金融詞典 1,521 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8401050"/>
            <a:ext cx="7639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↪ data/raw/text/ · 8.7 GB · jieba 斷詞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0" y="2819400"/>
            <a:ext cx="5715000" cy="18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EXTENDED REFERENCES · 延伸文獻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34500" y="31051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34500" y="3105150"/>
            <a:ext cx="80391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44050" y="32766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TAIWAN MARKET · 台股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4050" y="34671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6450" y="34671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Lin &amp; Lee (2010). 台股報酬可預測性. 臺大管理論叢 21(1).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4050" y="36766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6450" y="36766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張 (2018). 台灣股市規模效應與動能效應. 中山管理評論 26(2).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16350" y="3752850"/>
            <a:ext cx="762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+ 1 more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34500" y="40386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334500" y="4038600"/>
            <a:ext cx="80391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44050" y="421005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TIME-SERIES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4050" y="44005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6450" y="44005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Cerqueira et al. (2020). Evaluating time series forecasting models. ML 109.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4050" y="46101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6450" y="46101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Hyndman &amp; Athanasopoulos (2021). Forecasting: Principles and Practice (3e).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34500" y="497205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334500" y="4972050"/>
            <a:ext cx="8039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544050" y="514350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GOVERNANCE · 治理規範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4050" y="53340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6450" y="53340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Basel III · FRTB (2019). Minimum capital requirements for market risk.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4050" y="55435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6450" y="55435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EU AI Act (2024). High-risk AI systems Article 9 — risk management.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34500" y="5905500"/>
            <a:ext cx="8039100" cy="8572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34500" y="5905500"/>
            <a:ext cx="80391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544050" y="6076950"/>
            <a:ext cx="7620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DATA &amp; TOOLING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4050" y="626745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6450" y="626745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McKinney (2011). pandas: a Foundational Python Library for DA. PyHPC.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4050" y="6477000"/>
            <a:ext cx="152400" cy="201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59E0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6450" y="6477000"/>
            <a:ext cx="7467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Akiba et al. (2019). Optuna: A Next-generation Hyperparameter Optimization Framework. KDD.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516350" y="6553200"/>
            <a:ext cx="762000" cy="151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4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+ 1 more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8820150"/>
            <a:ext cx="16459200" cy="800100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14400" y="8820150"/>
            <a:ext cx="5715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162050" y="89916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F43F5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PROVENANCE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2050" y="9277350"/>
            <a:ext cx="15887700" cy="283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948,976 筆樣本 · 1,623 候選因子 · 91 篩選後特徵 · 全部</a:t>
            </a:r>
            <a:r>
              <a:rPr sz="1400" b="1" i="0">
                <a:solidFill>
                  <a:srgbClr val="1E3A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 SQL 可回溯</a:t>
            </a:r>
            <a:r>
              <a:rPr sz="1400" b="0" i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</a:rPr>
              <a:t>；本研究遵循 BDA-2026 課程資料規範、所有外部引用標明出處、所有方法論可獨立復現。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8152</Words>
  <Application>Microsoft Office PowerPoint</Application>
  <PresentationFormat>自訂</PresentationFormat>
  <Paragraphs>1942</Paragraphs>
  <Slides>41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6" baseType="lpstr">
      <vt:lpstr>微軟正黑體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陳柏寰</cp:lastModifiedBy>
  <cp:revision>30</cp:revision>
  <dcterms:created xsi:type="dcterms:W3CDTF">2013-01-27T09:14:16Z</dcterms:created>
  <dcterms:modified xsi:type="dcterms:W3CDTF">2026-04-26T10:22:44Z</dcterms:modified>
  <cp:category/>
</cp:coreProperties>
</file>