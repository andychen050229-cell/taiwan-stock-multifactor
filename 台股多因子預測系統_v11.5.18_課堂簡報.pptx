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B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14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19100"/>
            <a:ext cx="6667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TAIWAN EQUITY · QUANT RESEARCH TERMINAL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419100"/>
            <a:ext cx="6286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NTU · BIG DATA &amp; BUSINESS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00200"/>
            <a:ext cx="571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1790700"/>
            <a:ext cx="6667500" cy="218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24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STRATEGIC RESEARCH DECK · v11.5.18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0750"/>
            <a:ext cx="9525000" cy="24352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0" b="1" i="0" spc="-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台股多因子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7800" b="1" i="0" spc="-20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預測系統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648200"/>
            <a:ext cx="9525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14400" y="4857750"/>
            <a:ext cx="9525000" cy="9789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lang="en-US" altLang="zh-TW" sz="2800" b="1" i="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D+20 </a:t>
            </a:r>
            <a:r>
              <a:rPr lang="zh-TW" altLang="en-US" sz="2800" b="1" i="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是台股多因子預測從研究走向部署的可行切入點</a:t>
            </a: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948K </a:t>
            </a:r>
            <a:r>
              <a:rPr lang="zh-TW" altLang="en-US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樣本與四重檢驗支持中長線選股訊號。</a:t>
            </a:r>
            <a:endParaRPr sz="1600" b="1" i="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14400" y="6572250"/>
            <a:ext cx="95250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14400" y="6572250"/>
            <a:ext cx="9525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81100" y="6781800"/>
            <a:ext cx="2905125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OOS AUC · D+20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1100" y="7010400"/>
            <a:ext cx="2905125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0.6455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7600950"/>
            <a:ext cx="2905125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XGBoost · 4-fold WFPK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86225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352925" y="6781800"/>
            <a:ext cx="2905125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DSR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2925" y="7010400"/>
            <a:ext cx="2905125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12.12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925" y="7600950"/>
            <a:ext cx="2905125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閾 3.0 · 多重檢定通過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58050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524750" y="6781800"/>
            <a:ext cx="2905125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CAGR · TOP 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750" y="7010400"/>
            <a:ext cx="2905125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+36.8%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4750" y="7600950"/>
            <a:ext cx="2905125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vs TAIEX +12.4%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299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1029950" y="17907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239500" y="2000250"/>
            <a:ext cx="26289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9500" y="2266950"/>
            <a:ext cx="2628900" cy="57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91 / 1,623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39500" y="3105150"/>
            <a:ext cx="26289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三層漏斗 · 保留 5.6%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1541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4154150" y="1790700"/>
            <a:ext cx="3048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4363700" y="2000250"/>
            <a:ext cx="26289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ICIR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363700" y="2266950"/>
            <a:ext cx="2628900" cy="57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0.7431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363700" y="3105150"/>
            <a:ext cx="26289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 折 IC 一致性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299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11029950" y="3771900"/>
            <a:ext cx="304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1239500" y="3981450"/>
            <a:ext cx="26289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GATES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39500" y="4248150"/>
            <a:ext cx="2628900" cy="57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 /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39500" y="5086350"/>
            <a:ext cx="26289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治理關卡全數通過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1541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14154150" y="37719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4363700" y="3981450"/>
            <a:ext cx="26289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SAMPLES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363700" y="4248150"/>
            <a:ext cx="2628900" cy="570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948,976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363700" y="5086350"/>
            <a:ext cx="26289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1,930 檔 × 505 交易日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029950" y="6572250"/>
            <a:ext cx="62865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1029950" y="6572250"/>
            <a:ext cx="6286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239500" y="6781800"/>
            <a:ext cx="5905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WHAT YOU'LL HEAR · 12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39500" y="7067550"/>
            <a:ext cx="5905500" cy="5878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一個結論：</a:t>
            </a: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台股 D+20 alpha 可預測、可驗證、可部署。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三段路徑：</a:t>
            </a: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切角 → 方法 → 證據 → 落地。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17245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914400" y="8343900"/>
            <a:ext cx="3429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TEAM · 6 MEMBERS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8591550"/>
            <a:ext cx="8572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R13724054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8591550"/>
            <a:ext cx="1143000" cy="218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陳柏寰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90850" y="8591550"/>
            <a:ext cx="8572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R13724035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05250" y="8591550"/>
            <a:ext cx="1143000" cy="218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陳又萍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7300" y="8591550"/>
            <a:ext cx="8572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R13724051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1700" y="8591550"/>
            <a:ext cx="1143000" cy="218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謝瑞洋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8839200"/>
            <a:ext cx="8572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R13724056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8839200"/>
            <a:ext cx="1143000" cy="218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李泰坤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0850" y="8839200"/>
            <a:ext cx="8572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B12302131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05250" y="8839200"/>
            <a:ext cx="1143000" cy="218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林芮靚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67300" y="8839200"/>
            <a:ext cx="8572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B13102133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1700" y="8839200"/>
            <a:ext cx="1143000" cy="218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沈承寬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0" y="8343900"/>
            <a:ext cx="2286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COURSE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20000" y="8591550"/>
            <a:ext cx="3619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NTU · Big Data &amp; Business Analytics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20000" y="8839200"/>
            <a:ext cx="3619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大數據與商業分析專案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0" y="83439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VERSION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0" y="8591550"/>
            <a:ext cx="1905000" cy="218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v11.5.18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097000" y="8343900"/>
            <a:ext cx="3276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097000" y="8591550"/>
            <a:ext cx="3276600" cy="218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April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97000" y="8839200"/>
            <a:ext cx="32766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Academic Project · 課堂簡報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12459"/>
            <a:ext cx="285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Problem Framing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López de Prado (2018) §7.4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SETUP</a:t>
            </a:r>
          </a:p>
        </p:txBody>
      </p:sp>
      <p:sp>
        <p:nvSpPr>
          <p:cNvPr id="10" name="Oval 9"/>
          <p:cNvSpPr/>
          <p:nvPr/>
        </p:nvSpPr>
        <p:spPr>
          <a:xfrm>
            <a:off x="159543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PROBLEM · 為什麼鎖定 D+20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052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lang="zh-TW" altLang="en-US" sz="3600" b="1" i="0" spc="-8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台股 </a:t>
            </a:r>
            <a:r>
              <a:rPr lang="en-US" altLang="zh-TW" sz="3600" b="1" i="0" spc="-8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alpha </a:t>
            </a:r>
            <a:r>
              <a:rPr lang="zh-TW" altLang="en-US" sz="3600" b="1" i="0" spc="-8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並非不存在，而是被錯誤時序與單一因子框架遮蔽</a:t>
            </a:r>
            <a:br>
              <a:rPr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28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D+20 </a:t>
            </a:r>
            <a:r>
              <a:rPr lang="zh-TW" altLang="en-US" sz="28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讓基本面、文本與籌碼訊號完成收斂。</a:t>
            </a:r>
            <a:endParaRPr sz="2000" b="1" i="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144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81100" y="3162300"/>
            <a:ext cx="47244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EVIDENCE · 短線是噪聲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1100" y="3448050"/>
            <a:ext cx="47244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日頻 edge 多落 1–5 pp、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1100" y="3790950"/>
            <a:ext cx="47244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統計 IC 跨 fold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81100" y="42481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81100" y="4438650"/>
            <a:ext cx="4724400" cy="3104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日頻波動由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</a:t>
            </a:r>
            <a:r>
              <a:rPr sz="15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HFT </a:t>
            </a:r>
            <a:r>
              <a:rPr sz="1500" b="1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飽和</a:t>
            </a:r>
            <a:r>
              <a:rPr sz="15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+ </a:t>
            </a:r>
            <a:r>
              <a:rPr sz="1500" b="1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散戶情緒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</a:t>
            </a: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主導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可預測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edge </a:t>
            </a: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多落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1–5 </a:t>
            </a: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pp、跨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fold </a:t>
            </a: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方向反覆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在 Walk-Forward </a:t>
            </a: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嚴格時序驗證下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500" b="1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短線預測無法穩定複現</a:t>
            </a:r>
            <a:r>
              <a:rPr sz="15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回測亮眼亦多為過擬合假象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3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→ </a:t>
            </a:r>
            <a:r>
              <a:rPr sz="1300" b="1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不應在日頻層做下注決策</a:t>
            </a:r>
            <a:r>
              <a:rPr sz="13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51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5151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781800" y="3162300"/>
            <a:ext cx="47244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OUR ANGLE · 三軸對齊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448050"/>
            <a:ext cx="47244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基本面 × 文本 × 籌碼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1800" y="3790950"/>
            <a:ext cx="47244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於 D+20 收斂為共振訊號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81800" y="42481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781800" y="4438650"/>
            <a:ext cx="4724400" cy="3104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財報季頻、文本日頻、籌碼日頻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，</a:t>
            </a: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以 </a:t>
            </a:r>
            <a:r>
              <a:rPr sz="15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(</a:t>
            </a:r>
            <a:r>
              <a:rPr sz="1500" b="1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stock_id</a:t>
            </a:r>
            <a:r>
              <a:rPr sz="15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, date)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</a:t>
            </a: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為主鍵對齊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；</a:t>
            </a: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財報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lag 45 </a:t>
            </a: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天、文本只取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T 日 15:00 前、</a:t>
            </a: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5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point-in-time </a:t>
            </a:r>
            <a:r>
              <a:rPr sz="1500" b="1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規範全面落地</a:t>
            </a:r>
            <a:r>
              <a:rPr sz="15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forward-looking bias </a:t>
            </a: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從源頭阻斷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3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→ </a:t>
            </a:r>
            <a:r>
              <a:rPr sz="1300" b="1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同一決策日只看當下可見的訊息</a:t>
            </a:r>
            <a:r>
              <a:rPr sz="13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1158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21158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2382500" y="3162300"/>
            <a:ext cx="47244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HORIZON · 為什麼 D+20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82500" y="3448050"/>
            <a:ext cx="47244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D+20 為訊號收斂、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82500" y="3790950"/>
            <a:ext cx="47244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雜訊衰退的最佳視窗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82500" y="42481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2382500" y="4438650"/>
            <a:ext cx="4724400" cy="123825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2496800" y="4533900"/>
            <a:ext cx="44958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ICIR vs HORIZON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687300" y="5381625"/>
            <a:ext cx="533400" cy="10477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2611100" y="5229225"/>
            <a:ext cx="6858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611100" y="5524500"/>
            <a:ext cx="685800" cy="167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D+1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0" y="5286375"/>
            <a:ext cx="533400" cy="2000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3639800" y="5133975"/>
            <a:ext cx="6858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639800" y="5524500"/>
            <a:ext cx="685800" cy="167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D+5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744700" y="5029200"/>
            <a:ext cx="533400" cy="457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4668500" y="4876800"/>
            <a:ext cx="6858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668500" y="5524500"/>
            <a:ext cx="685800" cy="167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D+20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773400" y="5210175"/>
            <a:ext cx="533400" cy="2762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697200" y="5057775"/>
            <a:ext cx="6858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697200" y="5524500"/>
            <a:ext cx="685800" cy="167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D+60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382500" y="5759500"/>
            <a:ext cx="4724400" cy="1774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D+20 ICIR 0.7431 </a:t>
            </a: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顯著高於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D+1 / D+5；</a:t>
            </a: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基本面訊號約於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1 </a:t>
            </a: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個月窗口進入價格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500" b="1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半衰期</a:t>
            </a:r>
            <a:r>
              <a:rPr sz="15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&gt; 1 </a:t>
            </a:r>
            <a:r>
              <a:rPr sz="1500" b="1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個月，</a:t>
            </a: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對應中長線部位</a:t>
            </a: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l">
              <a:lnSpc>
                <a:spcPct val="155000"/>
              </a:lnSpc>
            </a:pPr>
            <a:r>
              <a:rPr sz="13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→ D+20 </a:t>
            </a:r>
            <a:r>
              <a:rPr sz="1300" b="1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是訊號最強、雜訊已收斂的甜蜜點</a:t>
            </a:r>
            <a:r>
              <a:rPr sz="13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7696200"/>
            <a:ext cx="16459200" cy="1396551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914400" y="7696200"/>
            <a:ext cx="57150" cy="1396551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162050" y="7867650"/>
            <a:ext cx="5715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6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 </a:t>
            </a:r>
            <a:r>
              <a:rPr sz="1600" b="1" i="0" spc="26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WHAT</a:t>
            </a:r>
            <a:endParaRPr sz="1400" b="1" i="0" spc="260" dirty="0">
              <a:solidFill>
                <a:srgbClr val="06B6D4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181100" y="8194712"/>
            <a:ext cx="15887700" cy="607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台股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alpha 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並非不存在、而是被錯誤時序與單一因子框架所遮蔽</a:t>
            </a:r>
            <a:r>
              <a:rPr lang="zh-TW" altLang="en-US" sz="140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  <a:br>
              <a:rPr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把切點放到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D+20 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中長線、</a:t>
            </a:r>
            <a:r>
              <a:rPr sz="14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以三軸結構化訊號、Walk-Forward</a:t>
            </a:r>
            <a:r>
              <a:rPr sz="14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</a:t>
            </a:r>
            <a:r>
              <a:rPr sz="14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嚴格驗證，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下一頁交代資料、特徵、模型、驗證的完整流水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12459"/>
            <a:ext cx="285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López de Prado (2018) §7.4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SETUP</a:t>
            </a:r>
          </a:p>
        </p:txBody>
      </p:sp>
      <p:sp>
        <p:nvSpPr>
          <p:cNvPr id="10" name="Oval 9"/>
          <p:cNvSpPr/>
          <p:nvPr/>
        </p:nvSpPr>
        <p:spPr>
          <a:xfrm>
            <a:off x="159543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METHODOLOGY · 一頁交代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0791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TW" altLang="en-US" sz="3600" b="1" i="0" spc="-8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模型能力必須先通過時序紀律檢驗，才有資格被解讀為 </a:t>
            </a:r>
            <a:r>
              <a:rPr lang="en-US" altLang="zh-TW" sz="3600" b="1" i="0" spc="-8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alpha</a:t>
            </a:r>
          </a:p>
          <a:p>
            <a:pPr algn="l">
              <a:lnSpc>
                <a:spcPct val="130000"/>
              </a:lnSpc>
            </a:pP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PIT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WFPK 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與 </a:t>
            </a: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 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日 </a:t>
            </a: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embargo 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阻斷前視偏誤。</a:t>
            </a:r>
            <a:endParaRPr sz="2000" b="1" i="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43000" y="3009900"/>
            <a:ext cx="3415352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 · FEATURE FUNNEL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7275" y="3388145"/>
            <a:ext cx="49530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4000" b="1" i="0" spc="-16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1,623</a:t>
            </a:r>
            <a:r>
              <a:rPr lang="zh-TW" altLang="en-US" sz="4000" b="0" i="0" dirty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 →  </a:t>
            </a:r>
            <a:r>
              <a:rPr lang="en-US" altLang="zh-TW" sz="4000" b="1" i="0" spc="-1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91</a:t>
            </a:r>
            <a:endParaRPr sz="4000" b="1" i="0" spc="-1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57275" y="3996235"/>
            <a:ext cx="49530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spc="4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保留率</a:t>
            </a:r>
            <a:r>
              <a:rPr sz="1400" b="0" i="0" spc="4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5.6% · Corr → MI → VIF </a:t>
            </a:r>
            <a:r>
              <a:rPr sz="1400" b="0" i="0" spc="4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三層漏斗</a:t>
            </a:r>
            <a:endParaRPr sz="1400" b="0" i="0" spc="40" dirty="0">
              <a:solidFill>
                <a:srgbClr val="64748B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43000" y="4629150"/>
            <a:ext cx="2724150" cy="2021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原始候選</a:t>
            </a:r>
            <a:endParaRPr sz="1200" b="1" i="0" dirty="0">
              <a:solidFill>
                <a:srgbClr val="0F172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867150" y="4629150"/>
            <a:ext cx="1238250" cy="176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 spc="4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跨 9 支柱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8250" y="4629150"/>
            <a:ext cx="104775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1,623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43000" y="5048250"/>
            <a:ext cx="2724150" cy="202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Corr ≤ 0.85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7150" y="5048250"/>
            <a:ext cx="1238250" cy="176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 spc="4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剔除共線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8250" y="5048250"/>
            <a:ext cx="104775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870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2578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143000" y="5257800"/>
            <a:ext cx="2667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143000" y="5467350"/>
            <a:ext cx="2724150" cy="202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MI top-K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7150" y="5467350"/>
            <a:ext cx="1238250" cy="176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 spc="4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互資訊保留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8250" y="5467350"/>
            <a:ext cx="104775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287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56769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143000" y="5676900"/>
            <a:ext cx="8858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143000" y="5886450"/>
            <a:ext cx="2724150" cy="2021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VIF &lt; 5 · 業務檢查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67150" y="5886450"/>
            <a:ext cx="1238250" cy="176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 spc="4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進場特徵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48250" y="5886450"/>
            <a:ext cx="104775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60960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1143000" y="6096000"/>
            <a:ext cx="2762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4389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438900" y="29718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667500" y="3009900"/>
            <a:ext cx="190500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 · MODEL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7025" y="3322539"/>
            <a:ext cx="4953000" cy="6742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 spc="-14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XGBoost</a:t>
            </a:r>
            <a:endParaRPr sz="4000" b="1" i="0" spc="-14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667500" y="4003698"/>
            <a:ext cx="49530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spc="4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Optuna</a:t>
            </a:r>
            <a:r>
              <a:rPr sz="1400" b="0" i="0" spc="4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150 trials · early stopping · 4 </a:t>
            </a:r>
            <a:r>
              <a:rPr sz="1400" b="0" i="0" spc="4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折交叉訓練</a:t>
            </a:r>
            <a:endParaRPr sz="1400" b="0" i="0" spc="40" dirty="0">
              <a:solidFill>
                <a:srgbClr val="64748B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667500" y="4457700"/>
            <a:ext cx="2857500" cy="2021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OOS AUC vs </a:t>
            </a:r>
            <a:r>
              <a:rPr sz="1200" b="1" i="0" spc="20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對照組</a:t>
            </a:r>
            <a:endParaRPr sz="1200" b="1" i="0" spc="200" dirty="0">
              <a:solidFill>
                <a:srgbClr val="64748B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667500" y="4749358"/>
            <a:ext cx="2228850" cy="2358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XGBoost 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43975" y="48196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8943975" y="4819650"/>
            <a:ext cx="18002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763250" y="4749262"/>
            <a:ext cx="857250" cy="236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0.6455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7500" y="5111212"/>
            <a:ext cx="2228850" cy="236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LightGBM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43975" y="51816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8943975" y="5181600"/>
            <a:ext cx="16573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0763250" y="5111212"/>
            <a:ext cx="857250" cy="236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0.6381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67500" y="5473162"/>
            <a:ext cx="2228850" cy="236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Random Forest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43975" y="55435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8943975" y="5543550"/>
            <a:ext cx="12573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0763250" y="5473162"/>
            <a:ext cx="857250" cy="236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0.6168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67500" y="5835112"/>
            <a:ext cx="2228850" cy="236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Logistic Reg.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43975" y="59055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8943975" y="5905500"/>
            <a:ext cx="70485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0763250" y="5835112"/>
            <a:ext cx="857250" cy="236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0.5874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963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11963400" y="29718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2192000" y="3009900"/>
            <a:ext cx="228600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 · VALIDATION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192000" y="3391784"/>
            <a:ext cx="4953000" cy="5393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WFPK · 4 fold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92000" y="3994220"/>
            <a:ext cx="49530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spc="4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+ 20 日 embargo · D+20 horizon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192000" y="4343400"/>
            <a:ext cx="2476500" cy="2021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時序結構</a:t>
            </a:r>
            <a:r>
              <a:rPr sz="1200" b="1" i="0" spc="2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（% × </a:t>
            </a:r>
            <a:r>
              <a:rPr sz="1200" b="1" i="0" spc="20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樣本軸</a:t>
            </a:r>
            <a:r>
              <a:rPr sz="1200" b="1" i="0" spc="2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92000" y="46482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801600" y="4686300"/>
            <a:ext cx="96202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13763625" y="46863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14011275" y="4686300"/>
            <a:ext cx="4953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12192000" y="49911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2801600" y="5029200"/>
            <a:ext cx="12573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14058900" y="50292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14306550" y="50292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2192000" y="53340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801600" y="5372100"/>
            <a:ext cx="159067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14392275" y="53721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14639925" y="53721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12192000" y="56769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2801600" y="5715000"/>
            <a:ext cx="192405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14725650" y="57150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14973300" y="57150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12192000" y="6067425"/>
            <a:ext cx="952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2344400" y="6017039"/>
            <a:ext cx="123825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 spc="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Train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430250" y="6067425"/>
            <a:ext cx="952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3582650" y="6017039"/>
            <a:ext cx="123825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 spc="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Embargo 20d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4668500" y="6067425"/>
            <a:ext cx="9525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14820900" y="6017039"/>
            <a:ext cx="123825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 spc="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Test OOS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6781800"/>
            <a:ext cx="16459200" cy="10668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104900" y="6934200"/>
            <a:ext cx="381000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6-PHASE PIPELINE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900" y="7200900"/>
            <a:ext cx="253365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4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 · Ingest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04900" y="7429500"/>
            <a:ext cx="2533650" cy="269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 spc="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7 表 3.48M 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57600" y="7200900"/>
            <a:ext cx="1143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›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733800" y="7200900"/>
            <a:ext cx="253365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 · Feature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33800" y="7429500"/>
            <a:ext cx="253365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 spc="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1,623 → 91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86500" y="7200900"/>
            <a:ext cx="1143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›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62700" y="7200900"/>
            <a:ext cx="253365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 ·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62700" y="7429500"/>
            <a:ext cx="253365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 spc="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XGB Optuna 150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24925" y="7200900"/>
            <a:ext cx="1143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›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001125" y="7200900"/>
            <a:ext cx="253365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04 · Explain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1125" y="7429500"/>
            <a:ext cx="253365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 spc="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SHAP · LOPO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553825" y="7200900"/>
            <a:ext cx="1143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›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630025" y="7200900"/>
            <a:ext cx="253365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05 · Backtest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630025" y="7429500"/>
            <a:ext cx="2533650" cy="269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 spc="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40 門檻 OOS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182725" y="7200900"/>
            <a:ext cx="1143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258925" y="7200900"/>
            <a:ext cx="253365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06 · Govern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258925" y="7429500"/>
            <a:ext cx="253365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 spc="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 / 9 PASS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14400" y="79248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914400" y="79248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1162050" y="8096250"/>
            <a:ext cx="5715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6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POINT-IN-TIME DISCIPLINE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62050" y="8382000"/>
            <a:ext cx="15887700" cy="607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財報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lag 45 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天、文本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T 日 15:00 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截止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sz="14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(</a:t>
            </a:r>
            <a:r>
              <a:rPr sz="14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stock_id</a:t>
            </a:r>
            <a:r>
              <a:rPr sz="14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, date) 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主鍵對齊</a:t>
            </a:r>
            <a:r>
              <a:rPr lang="zh-TW" altLang="en-US" sz="140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  <a:br>
              <a:rPr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 日 embargo 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解決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D+20 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標籤跨期重疊，</a:t>
            </a:r>
            <a:r>
              <a:rPr sz="1400" b="1" i="0" dirty="0" err="1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是</a:t>
            </a:r>
            <a:r>
              <a:rPr sz="1400" b="1" i="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DSR 12.12 </a:t>
            </a:r>
            <a:r>
              <a:rPr sz="1400" b="1" i="0" dirty="0" err="1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通過多重檢定的關鍵前提</a:t>
            </a:r>
            <a:r>
              <a:rPr sz="1400" b="1" i="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  <a:r>
              <a:rPr sz="14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  → 詳 Appendix A.04 / A.05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12459"/>
            <a:ext cx="285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Headline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DSR per Bailey &amp; López de Prado (2014)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HEADLINE · 四個獨立指標、同一結論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0791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TW" altLang="en-US" sz="3600" b="1" i="0" spc="-6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四項獨立指標收斂，證明 </a:t>
            </a:r>
            <a:r>
              <a:rPr lang="en-US" altLang="zh-TW" sz="3600" b="1" i="0" spc="-6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D+20 </a:t>
            </a:r>
            <a:r>
              <a:rPr lang="zh-TW" altLang="en-US" sz="3600" b="1" i="0" spc="-6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訊號具樣本外穩定性</a:t>
            </a:r>
            <a:br>
              <a:rPr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AUC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ICIR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DSR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Top 1% hit rate 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同步成立。</a:t>
            </a:r>
            <a:endParaRPr sz="2000" b="1" i="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4019550" cy="24574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43000" y="3181350"/>
            <a:ext cx="35623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OOS AUC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886200" y="3173584"/>
            <a:ext cx="85725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預測強度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524250"/>
            <a:ext cx="3562350" cy="12091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0.6455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143000" y="4743450"/>
            <a:ext cx="3562350" cy="607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 spc="2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XGBoost</a:t>
            </a:r>
            <a:r>
              <a:rPr sz="1400" b="0" i="0" spc="2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· D+20
4 </a:t>
            </a:r>
            <a:r>
              <a:rPr sz="1400" b="0" i="0" spc="2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折一致</a:t>
            </a:r>
            <a:r>
              <a:rPr sz="1400" b="0" i="0" spc="2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· σ 0.0089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67300" y="2971800"/>
            <a:ext cx="4019550" cy="24574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5067300" y="2971800"/>
            <a:ext cx="40195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295900" y="3181350"/>
            <a:ext cx="35623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ICIR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039100" y="3173584"/>
            <a:ext cx="85725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IC 穩定性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5900" y="3524250"/>
            <a:ext cx="3562350" cy="12091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0.7431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95900" y="45910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295900" y="4743450"/>
            <a:ext cx="3562350" cy="607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 spc="2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Mean IC / σ
跨 fold 方向一致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20200" y="2971799"/>
            <a:ext cx="4019550" cy="245745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92202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448800" y="3181350"/>
            <a:ext cx="35623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DSR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2192000" y="3173584"/>
            <a:ext cx="85725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統計穩健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48800" y="3524250"/>
            <a:ext cx="3562350" cy="12091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12.12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488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9448800" y="4743450"/>
            <a:ext cx="3562350" cy="607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 spc="2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扣 150 trials 多重檢定
閾 3.0 · 通過顯著性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373100" y="2971800"/>
            <a:ext cx="4019550" cy="24574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13373100" y="2971800"/>
            <a:ext cx="40195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3601700" y="3181350"/>
            <a:ext cx="35623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TOP 1% HIT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6344900" y="3173584"/>
            <a:ext cx="85725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選股效益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601700" y="3524250"/>
            <a:ext cx="3562350" cy="12091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36.81%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601700" y="4591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3601700" y="4743450"/>
            <a:ext cx="3562350" cy="607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 spc="2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+10.53 pp vs base 26.28%
相對提升 +40.1%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5486400"/>
            <a:ext cx="16459200" cy="18669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104900" y="5657850"/>
            <a:ext cx="57150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CONSISTENCY · 4 折 OOS AUC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5905500"/>
            <a:ext cx="8572500" cy="269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四折落於 0.633 – 0.656、跨 fold 標準差僅 0.0089 · 證據非過擬合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900" y="6400800"/>
            <a:ext cx="9525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FOLD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4900" y="6667500"/>
            <a:ext cx="20955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 spc="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2023 Q4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956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3295650" y="6515100"/>
            <a:ext cx="1905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810000" y="6400800"/>
            <a:ext cx="1143000" cy="337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2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0.6481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67300" y="6400800"/>
            <a:ext cx="9525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FOLD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67300" y="6667500"/>
            <a:ext cx="20955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 spc="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2024 Q1–Q2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580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7258050" y="6515100"/>
            <a:ext cx="1905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7772400" y="6400800"/>
            <a:ext cx="1143000" cy="337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2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0.6463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29700" y="6400800"/>
            <a:ext cx="9525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FOLD 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29700" y="6667500"/>
            <a:ext cx="20955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 spc="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2024 Q2–Q3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2204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11220450" y="6515100"/>
            <a:ext cx="133350" cy="952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1734800" y="6400800"/>
            <a:ext cx="1143000" cy="337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2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0.6332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992100" y="6400800"/>
            <a:ext cx="9525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FOLD 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92100" y="6667500"/>
            <a:ext cx="20955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 spc="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2024 Q4–25 Q1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51828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15182850" y="6515100"/>
            <a:ext cx="219075" cy="952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5697200" y="6400800"/>
            <a:ext cx="1143000" cy="337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2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0.6543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4400" y="76200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914400" y="7620000"/>
            <a:ext cx="45719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1162050" y="7791450"/>
            <a:ext cx="5715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6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BOTTOM LINE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2050" y="8077200"/>
            <a:ext cx="15887700" cy="93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同一結論在四項獨立檢定下成立、跨四個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fold 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重複出現、</a:t>
            </a:r>
            <a:r>
              <a:rPr sz="14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排除</a:t>
            </a:r>
            <a:r>
              <a:rPr sz="14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p-hacking </a:t>
            </a:r>
            <a:r>
              <a:rPr sz="14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與單期僥倖</a:t>
            </a:r>
            <a:r>
              <a:rPr lang="zh-TW" altLang="en-US" sz="1400" b="1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  <a:br>
              <a:rPr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Top 1% 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命中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36.81%、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比基準高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</a:t>
            </a:r>
            <a:r>
              <a:rPr sz="1400" b="1" i="0" dirty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+10.53 pp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——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可下單的選股訊號、非回測假象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  <a:endParaRPr lang="en-US" sz="1400" b="0" i="0" dirty="0">
              <a:solidFill>
                <a:srgbClr val="64748B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 algn="l">
              <a:lnSpc>
                <a:spcPct val="150000"/>
              </a:lnSpc>
            </a:pPr>
            <a:r>
              <a:rPr sz="14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→ </a:t>
            </a:r>
            <a:r>
              <a:rPr sz="1400" b="0" i="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下一頁交代統計穩健性</a:t>
            </a:r>
            <a:r>
              <a:rPr sz="14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· 詳 Appendix A.11 / A.12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12459"/>
            <a:ext cx="285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Statistical Rigor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DSR per Bailey &amp; López de Prado (2014) · PSI per Basel III FRTB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RIGOR · 統計穩健 ＋ 治理關卡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0791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TW" altLang="en-US" sz="3600" b="1" i="0" spc="-10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統計修正後仍顯著，模型結果已越過「回測漂亮」的最低門檻</a:t>
            </a:r>
            <a:br>
              <a:rPr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DSR 12.12 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與 </a:t>
            </a: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9/9 gates 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支撐可稽核性。</a:t>
            </a:r>
            <a:endParaRPr sz="2000" b="1" i="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51435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143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23950" y="3200400"/>
            <a:ext cx="4572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DEFLATED SHARPE · 多重檢定後的真 Sharpe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3950" y="3543300"/>
            <a:ext cx="47625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Bailey &amp; López de Prado (2014)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3950" y="3879945"/>
            <a:ext cx="4762500" cy="10113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1" i="0" spc="-24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12.12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3950" y="5067300"/>
            <a:ext cx="4762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6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DSR · </a:t>
            </a:r>
            <a:r>
              <a:rPr sz="1400" b="1" i="0" spc="16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多重檢定後仍顯著</a:t>
            </a:r>
            <a:endParaRPr sz="1400" b="1" i="0" spc="160" dirty="0">
              <a:solidFill>
                <a:srgbClr val="64748B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123950" y="5448300"/>
            <a:ext cx="4724400" cy="1333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123950" y="5448300"/>
            <a:ext cx="1181100" cy="133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305050" y="5448300"/>
            <a:ext cx="3543300" cy="13335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295525" y="5410200"/>
            <a:ext cx="1905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019300" y="5638800"/>
            <a:ext cx="762000" cy="176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 dirty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3.0</a:t>
            </a:r>
            <a:endParaRPr sz="1000" b="1" i="0" dirty="0">
              <a:solidFill>
                <a:srgbClr val="F43F5E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828800" y="5810250"/>
            <a:ext cx="1143000" cy="176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 spc="40" dirty="0" err="1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臨界值</a:t>
            </a:r>
            <a:endParaRPr sz="1050" b="0" i="0" spc="40" dirty="0">
              <a:solidFill>
                <a:srgbClr val="F43F5E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810250" y="5391150"/>
            <a:ext cx="38100" cy="247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276850" y="5638800"/>
            <a:ext cx="762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12.12</a:t>
            </a:r>
            <a:endParaRPr sz="1000" b="1" i="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23950" y="6134100"/>
            <a:ext cx="47625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實作流程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23950" y="652462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276350" y="6438900"/>
            <a:ext cx="2095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150 trials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9400" y="6438900"/>
            <a:ext cx="3333750" cy="248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掃 hyperparameter / threshold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23950" y="688657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276350" y="6800850"/>
            <a:ext cx="2095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skew、kurt 校正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19400" y="6800850"/>
            <a:ext cx="3333750" cy="248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修正非常態分佈高估</a:t>
            </a:r>
            <a:endParaRPr sz="1300" b="0" i="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123950" y="724852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276350" y="7162800"/>
            <a:ext cx="2095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多重檢定 deflate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9400" y="7162800"/>
            <a:ext cx="3333750" cy="248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 值降至 &lt; 0.001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484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2484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400800" y="3143250"/>
            <a:ext cx="381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4650" y="3162300"/>
            <a:ext cx="1714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8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DSR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409950"/>
            <a:ext cx="3352800" cy="337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Deflated Sharpe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714750"/>
            <a:ext cx="33528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SR̂ 2.41 → DSR 12.12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8553450" y="4098283"/>
            <a:ext cx="1219200" cy="1854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18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PASS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203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100203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172700" y="3143250"/>
            <a:ext cx="381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6550" y="3162300"/>
            <a:ext cx="1714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8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Worst Fold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72700" y="3409950"/>
            <a:ext cx="3352800" cy="3368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最差折 AUC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72700" y="3714750"/>
            <a:ext cx="33528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Fold 2 = 0.6332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2325350" y="4098283"/>
            <a:ext cx="1219200" cy="1854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18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PASS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7922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137922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3944600" y="3143250"/>
            <a:ext cx="381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268450" y="3162300"/>
            <a:ext cx="1714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8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Embargo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944600" y="3409950"/>
            <a:ext cx="3352800" cy="3368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時序隔離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944600" y="3714750"/>
            <a:ext cx="3352800" cy="269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D+20、20 日 purge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6097250" y="4098283"/>
            <a:ext cx="1219200" cy="1854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18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PASS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84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62484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400800" y="4705350"/>
            <a:ext cx="381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24650" y="4724400"/>
            <a:ext cx="1714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8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Leakage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0" y="4972050"/>
            <a:ext cx="3352800" cy="3368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洩漏掃描</a:t>
            </a:r>
            <a:endParaRPr sz="2000" b="1" i="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400800" y="5276850"/>
            <a:ext cx="33528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 / 91 features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553450" y="5660383"/>
            <a:ext cx="1219200" cy="1854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18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PASS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203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100203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10172700" y="4705350"/>
            <a:ext cx="381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96550" y="4724400"/>
            <a:ext cx="1714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8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PSI</a:t>
            </a:r>
            <a:r>
              <a:rPr sz="1100" b="1" i="0" spc="180" dirty="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</a:t>
            </a:r>
            <a:r>
              <a:rPr sz="1100" b="1" i="0" spc="18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Drift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72700" y="4972050"/>
            <a:ext cx="3352800" cy="3368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FRTB 漂移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72700" y="5276850"/>
            <a:ext cx="33528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Max 0.13 (txt)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7922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137922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13944600" y="4705350"/>
            <a:ext cx="381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268450" y="4724400"/>
            <a:ext cx="1714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8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KS Test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944600" y="4972050"/>
            <a:ext cx="3352800" cy="3368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訓練 vs 測試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944600" y="5276850"/>
            <a:ext cx="33528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min p = 0.037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6097250" y="5660383"/>
            <a:ext cx="1219200" cy="1854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18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PASS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2484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62484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6400800" y="6267450"/>
            <a:ext cx="381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24650" y="6286500"/>
            <a:ext cx="1714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8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Lineage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00800" y="6534150"/>
            <a:ext cx="3352800" cy="3368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可回溯</a:t>
            </a:r>
            <a:r>
              <a:rPr sz="20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SQL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0" y="6838950"/>
            <a:ext cx="3352800" cy="268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91 / 91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8553450" y="7222483"/>
            <a:ext cx="1219200" cy="1854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18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PASS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203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100203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10172700" y="6267450"/>
            <a:ext cx="381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96550" y="6286500"/>
            <a:ext cx="1714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8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Repro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72700" y="6534150"/>
            <a:ext cx="3352800" cy="3368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可重現性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72700" y="6838950"/>
            <a:ext cx="33528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SD &lt; 1e-6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12325350" y="7222483"/>
            <a:ext cx="1219200" cy="1854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18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PASS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37922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6" name="Rectangle 105"/>
          <p:cNvSpPr/>
          <p:nvPr/>
        </p:nvSpPr>
        <p:spPr>
          <a:xfrm>
            <a:off x="137922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3944600" y="6267450"/>
            <a:ext cx="381000" cy="218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268450" y="6286500"/>
            <a:ext cx="1714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8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Pipeline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3944600" y="6534150"/>
            <a:ext cx="3352800" cy="3368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線上預測流水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944600" y="6838950"/>
            <a:ext cx="3352800" cy="269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6 / 6 模型驗證通過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16097250" y="7222483"/>
            <a:ext cx="1219200" cy="1854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18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PASS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14400" y="76962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4" name="Rectangle 113"/>
          <p:cNvSpPr/>
          <p:nvPr/>
        </p:nvSpPr>
        <p:spPr>
          <a:xfrm>
            <a:off x="914400" y="7696200"/>
            <a:ext cx="57150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162050" y="7867650"/>
            <a:ext cx="5715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6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WHY THIS MATTERS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62050" y="8153400"/>
            <a:ext cx="15887700" cy="9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AUC 0.6455 </a:t>
            </a:r>
            <a:r>
              <a:rPr sz="14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並非偶然</a:t>
            </a:r>
            <a:r>
              <a:rPr lang="zh-TW" altLang="en-US" sz="140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→ 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DSR 通過多重檢定、9 / 9 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治理關卡全數通過、Text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PSI 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觸發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WARN 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對應</a:t>
            </a:r>
            <a:r>
              <a:rPr sz="1400" b="1" i="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每月詞向量重新訓練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  <a:br>
              <a:rPr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0" i="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結論已可進入下一頁：拆解哪些因子在驅動這個</a:t>
            </a:r>
            <a:r>
              <a:rPr sz="14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AUC。</a:t>
            </a:r>
          </a:p>
          <a:p>
            <a:pPr algn="l">
              <a:lnSpc>
                <a:spcPct val="150000"/>
              </a:lnSpc>
            </a:pPr>
            <a:r>
              <a:rPr sz="14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→ A.05 / A.12</a:t>
            </a:r>
          </a:p>
        </p:txBody>
      </p:sp>
      <p:sp>
        <p:nvSpPr>
          <p:cNvPr id="118" name="Rectangle 62">
            <a:extLst>
              <a:ext uri="{FF2B5EF4-FFF2-40B4-BE49-F238E27FC236}">
                <a16:creationId xmlns:a16="http://schemas.microsoft.com/office/drawing/2014/main" id="{93336479-DFA0-9F46-279F-AC5D1E45424A}"/>
              </a:ext>
            </a:extLst>
          </p:cNvPr>
          <p:cNvSpPr/>
          <p:nvPr/>
        </p:nvSpPr>
        <p:spPr>
          <a:xfrm>
            <a:off x="12344684" y="5661297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9" name="TextBox 63">
            <a:extLst>
              <a:ext uri="{FF2B5EF4-FFF2-40B4-BE49-F238E27FC236}">
                <a16:creationId xmlns:a16="http://schemas.microsoft.com/office/drawing/2014/main" id="{C643789D-FB65-42D5-4A95-3B265F768CFC}"/>
              </a:ext>
            </a:extLst>
          </p:cNvPr>
          <p:cNvSpPr txBox="1"/>
          <p:nvPr/>
        </p:nvSpPr>
        <p:spPr>
          <a:xfrm>
            <a:off x="12344684" y="5682880"/>
            <a:ext cx="1219200" cy="1854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18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PASS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12459"/>
            <a:ext cx="285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Factor Attribution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FACTOR ATTRIBUTION · 哪一支柱在發力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0791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TW" altLang="en-US" sz="3600" b="1" i="0" spc="-6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真正驅動模型的不是特徵數量，而是 </a:t>
            </a:r>
            <a:r>
              <a:rPr lang="en-US" altLang="zh-TW" sz="3600" b="1" i="0" spc="-6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Risk × Trend × Text </a:t>
            </a:r>
            <a:r>
              <a:rPr lang="zh-TW" altLang="en-US" sz="3600" b="1" i="0" spc="-6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的訊號協同</a:t>
            </a:r>
            <a:br>
              <a:rPr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Risk 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是地基，低品質支柱應進入下一輪精簡。</a:t>
            </a:r>
            <a:endParaRPr sz="2000" b="1" i="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14400" y="2724150"/>
            <a:ext cx="57150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 PILLARS · 91 </a:t>
            </a:r>
            <a:r>
              <a:rPr sz="1400" b="1" i="0" spc="24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特徵分布</a:t>
            </a:r>
            <a:endParaRPr sz="1400" b="1" i="0" spc="240" dirty="0">
              <a:solidFill>
                <a:srgbClr val="64748B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14400" y="2971800"/>
            <a:ext cx="27241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6800" y="3105150"/>
            <a:ext cx="381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7800" y="3124200"/>
            <a:ext cx="1905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6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800" y="3390900"/>
            <a:ext cx="1771650" cy="404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趨勢動量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5600" y="3295650"/>
            <a:ext cx="685800" cy="6717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4000" b="1" i="0" spc="-10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5600" y="3905822"/>
            <a:ext cx="571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1475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714750" y="2971800"/>
            <a:ext cx="27241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867150" y="3105150"/>
            <a:ext cx="381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48150" y="3124200"/>
            <a:ext cx="1905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6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Fundamental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7150" y="3390900"/>
            <a:ext cx="1771650" cy="404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基本面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95950" y="3295650"/>
            <a:ext cx="685800" cy="6717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4000" b="1" i="0" spc="-10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95950" y="3905822"/>
            <a:ext cx="571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151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515100" y="2971800"/>
            <a:ext cx="272415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67500" y="3105150"/>
            <a:ext cx="381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40">
                <a:solidFill>
                  <a:srgbClr val="7C3AED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0" y="3124200"/>
            <a:ext cx="1905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60">
                <a:solidFill>
                  <a:srgbClr val="7C3AED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7500" y="3390900"/>
            <a:ext cx="1771650" cy="404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估值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96300" y="3295650"/>
            <a:ext cx="571500" cy="6742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4000" b="1" i="0" spc="-100" dirty="0">
                <a:solidFill>
                  <a:srgbClr val="7C3AED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6300" y="3905822"/>
            <a:ext cx="571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914400" y="4229100"/>
            <a:ext cx="27241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066800" y="4362450"/>
            <a:ext cx="381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7800" y="4381500"/>
            <a:ext cx="1905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6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Industry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6800" y="4648200"/>
            <a:ext cx="1771650" cy="404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產業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95600" y="4552950"/>
            <a:ext cx="571500" cy="6742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4000" b="1" i="0" spc="-10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95600" y="5163122"/>
            <a:ext cx="571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1475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3714750" y="4229100"/>
            <a:ext cx="27241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867150" y="4362450"/>
            <a:ext cx="381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4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48150" y="4381500"/>
            <a:ext cx="1905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6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Event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67150" y="4648200"/>
            <a:ext cx="1771650" cy="404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事件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95950" y="4552950"/>
            <a:ext cx="571500" cy="6742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4000" b="1" i="0" spc="-100" dirty="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95950" y="5163122"/>
            <a:ext cx="571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151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6515100" y="4229100"/>
            <a:ext cx="27241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667500" y="4362450"/>
            <a:ext cx="381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8500" y="4381500"/>
            <a:ext cx="1905000" cy="269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Risk 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67500" y="4648200"/>
            <a:ext cx="1771650" cy="404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風險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96300" y="4552950"/>
            <a:ext cx="571500" cy="6742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4000" b="1" i="0" spc="-10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6300" y="5163122"/>
            <a:ext cx="571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914400" y="5486400"/>
            <a:ext cx="272415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066800" y="5619750"/>
            <a:ext cx="381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40">
                <a:solidFill>
                  <a:srgbClr val="4F46E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47800" y="5638800"/>
            <a:ext cx="1905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60">
                <a:solidFill>
                  <a:srgbClr val="4F46E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Chip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6800" y="5905500"/>
            <a:ext cx="1771650" cy="404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籌碼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95600" y="5810250"/>
            <a:ext cx="571500" cy="6742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4000" b="1" i="0" spc="-100" dirty="0">
                <a:solidFill>
                  <a:srgbClr val="4F46E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95600" y="6420422"/>
            <a:ext cx="571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1475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3714750" y="5486400"/>
            <a:ext cx="272415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3867150" y="5619750"/>
            <a:ext cx="381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40">
                <a:solidFill>
                  <a:srgbClr val="EC489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48150" y="5638800"/>
            <a:ext cx="1905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60">
                <a:solidFill>
                  <a:srgbClr val="EC489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Sentiment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67150" y="5905500"/>
            <a:ext cx="1771650" cy="404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情緒分數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95950" y="5810250"/>
            <a:ext cx="571500" cy="6742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4000" b="1" i="0" spc="-100" dirty="0">
                <a:solidFill>
                  <a:srgbClr val="EC489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95950" y="6420422"/>
            <a:ext cx="571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151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6515100" y="5486400"/>
            <a:ext cx="2724150" cy="3810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667500" y="5619750"/>
            <a:ext cx="3810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40">
                <a:solidFill>
                  <a:srgbClr val="A855F7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48500" y="5638800"/>
            <a:ext cx="1905000" cy="269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60">
                <a:solidFill>
                  <a:srgbClr val="A855F7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Text 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67500" y="5905500"/>
            <a:ext cx="1771650" cy="404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文本語料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96300" y="5810250"/>
            <a:ext cx="647700" cy="6717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4000" b="1" i="0" spc="-100" dirty="0">
                <a:solidFill>
                  <a:srgbClr val="A855F7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96300" y="6420422"/>
            <a:ext cx="571500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20250" y="2724150"/>
            <a:ext cx="7753350" cy="3962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9848850" y="2895600"/>
            <a:ext cx="571500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LOPO ΔAUC · Leave-One-Pillar-Out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48850" y="31242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baseline 0.6486 · 1 bps = ΔAUC × 10,000 · </a:t>
            </a:r>
            <a:r>
              <a:rPr sz="1400" b="0" i="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正向</a:t>
            </a:r>
            <a:r>
              <a:rPr sz="14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= </a:t>
            </a:r>
            <a:r>
              <a:rPr sz="1400" b="0" i="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該支柱貢獻訊號</a:t>
            </a:r>
            <a:endParaRPr sz="1400" b="0" i="0" dirty="0">
              <a:solidFill>
                <a:srgbClr val="64748B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9848850" y="3456080"/>
            <a:ext cx="1238250" cy="26968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Risk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239500" y="35814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13525500" y="35242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13535025" y="3505200"/>
            <a:ext cx="2038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5963900" y="3472911"/>
            <a:ext cx="1238250" cy="236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+138.6 bps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48850" y="3779930"/>
            <a:ext cx="1238250" cy="26968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Trend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239500" y="39052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13525500" y="38481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13535025" y="3829050"/>
            <a:ext cx="95250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5963900" y="3796761"/>
            <a:ext cx="1238250" cy="236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+64.9 bps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848850" y="4103780"/>
            <a:ext cx="1238250" cy="26968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Valuation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239500" y="42291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13525500" y="41719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13535025" y="4152900"/>
            <a:ext cx="133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15963900" y="4120611"/>
            <a:ext cx="1238250" cy="236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+9.5 bps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48850" y="4427630"/>
            <a:ext cx="1238250" cy="26968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Text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1239500" y="45529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13525500" y="44958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2" name="Rectangle 101"/>
          <p:cNvSpPr/>
          <p:nvPr/>
        </p:nvSpPr>
        <p:spPr>
          <a:xfrm>
            <a:off x="13535025" y="4476750"/>
            <a:ext cx="1238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15963900" y="4444461"/>
            <a:ext cx="1238250" cy="236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+8.5 bps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848850" y="4604260"/>
            <a:ext cx="1238250" cy="56412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Fundamental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239500" y="48768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6" name="Rectangle 105"/>
          <p:cNvSpPr/>
          <p:nvPr/>
        </p:nvSpPr>
        <p:spPr>
          <a:xfrm>
            <a:off x="13525500" y="48196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13477875" y="480060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15963900" y="4768311"/>
            <a:ext cx="1238250" cy="236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-2.6 bps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848850" y="5075330"/>
            <a:ext cx="1238250" cy="26968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Sentiment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1239500" y="52006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1" name="Rectangle 110"/>
          <p:cNvSpPr/>
          <p:nvPr/>
        </p:nvSpPr>
        <p:spPr>
          <a:xfrm>
            <a:off x="13525500" y="51435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13477875" y="512445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15963900" y="5092161"/>
            <a:ext cx="1238250" cy="236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-2.8 bps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848850" y="5399180"/>
            <a:ext cx="1238250" cy="26968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Industry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1239500" y="55245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6" name="Rectangle 115"/>
          <p:cNvSpPr/>
          <p:nvPr/>
        </p:nvSpPr>
        <p:spPr>
          <a:xfrm>
            <a:off x="13525500" y="54673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13306425" y="5448300"/>
            <a:ext cx="20955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5963900" y="5416011"/>
            <a:ext cx="1238250" cy="236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-14.8 bps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848850" y="5723030"/>
            <a:ext cx="1238250" cy="26968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Event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1239500" y="58483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13525500" y="57912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2" name="Rectangle 121"/>
          <p:cNvSpPr/>
          <p:nvPr/>
        </p:nvSpPr>
        <p:spPr>
          <a:xfrm>
            <a:off x="13287375" y="5772150"/>
            <a:ext cx="2286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15963900" y="5739861"/>
            <a:ext cx="1238250" cy="236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-15.7 bps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848850" y="6046880"/>
            <a:ext cx="1238250" cy="26968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Chip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239500" y="61722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6" name="Rectangle 125"/>
          <p:cNvSpPr/>
          <p:nvPr/>
        </p:nvSpPr>
        <p:spPr>
          <a:xfrm>
            <a:off x="13525500" y="61150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13249275" y="6096000"/>
            <a:ext cx="2667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15963900" y="6063711"/>
            <a:ext cx="1238250" cy="236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-18.5 bps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68580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914400" y="68580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1162050" y="70294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WHY THIS MATTERS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62050" y="7315200"/>
            <a:ext cx="15887700" cy="6730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Risk × Trend × Text </a:t>
            </a:r>
            <a:r>
              <a:rPr sz="16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為三元協同核心：移除</a:t>
            </a:r>
            <a:r>
              <a:rPr sz="16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</a:t>
            </a:r>
            <a:r>
              <a:rPr sz="16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Risk，</a:t>
            </a:r>
            <a:r>
              <a:rPr sz="1600" b="1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其他支柱無法區分雜訊日與訊號日</a:t>
            </a:r>
            <a:r>
              <a:rPr sz="16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、AUC</a:t>
            </a:r>
            <a:r>
              <a:rPr sz="16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</a:t>
            </a:r>
            <a:r>
              <a:rPr sz="16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塌陷</a:t>
            </a:r>
            <a:r>
              <a:rPr sz="16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0.01386。</a:t>
            </a: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5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Chip / Event / Industry 共 −49 </a:t>
            </a:r>
            <a:r>
              <a:rPr sz="15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bps、</a:t>
            </a:r>
            <a:r>
              <a:rPr sz="1500" b="1" i="0" dirty="0" err="1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為下一輪精簡的對象</a:t>
            </a:r>
            <a:r>
              <a:rPr sz="13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   → Appendix A.07 / A.08 / A.09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12459"/>
            <a:ext cx="285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20859"/>
            <a:ext cx="190500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Sentiment U-Shape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sent_polarity_5d 五桶 · OOS 2024-Q4 – 2025-Q1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WOW FINDING · 散戶情緒呈反向 U 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0791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TW" altLang="en-US" sz="3600" b="1" i="0" spc="-10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極端情緒提供反向交易訊號，成為主模型之外的 </a:t>
            </a:r>
            <a:r>
              <a:rPr lang="en-US" altLang="zh-TW" sz="3600" b="1" i="0" spc="-10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alpha filter</a:t>
            </a:r>
            <a:br>
              <a:rPr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Q1 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悲觀分位的反彈 </a:t>
            </a: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edge 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最明顯。</a:t>
            </a:r>
            <a:endParaRPr sz="2000" b="1" i="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10477500" cy="452149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43000" y="316230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SENTIMENT QUINTILE EDGE · sent_polarity_5d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09950"/>
            <a:ext cx="7620000" cy="2350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Edge = </a:t>
            </a:r>
            <a:r>
              <a:rPr sz="1400" b="0" i="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該分位實際命中率</a:t>
            </a:r>
            <a:r>
              <a:rPr sz="14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− baseline 26.28% · pp </a:t>
            </a:r>
            <a:r>
              <a:rPr sz="1400" b="0" i="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為百分點</a:t>
            </a:r>
            <a:endParaRPr sz="1400" b="0" i="0" dirty="0">
              <a:solidFill>
                <a:srgbClr val="64748B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771650" y="5562600"/>
            <a:ext cx="92392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771650" y="4038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43000" y="3945109"/>
            <a:ext cx="57150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+4 pp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71650" y="4800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143000" y="4707109"/>
            <a:ext cx="57150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+2 pp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71650" y="6324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43000" y="6231109"/>
            <a:ext cx="57150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-2 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469109"/>
            <a:ext cx="57150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57400" y="4343400"/>
            <a:ext cx="1333500" cy="1219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866900" y="405441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+3.2 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66900" y="681666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71650" y="7067550"/>
            <a:ext cx="1905000" cy="398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 spc="4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最悲觀</a:t>
            </a:r>
            <a:r>
              <a:rPr sz="1050" b="0" i="0" spc="4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
sent &lt; 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9075" y="5486400"/>
            <a:ext cx="1333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838575" y="519741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+0.2 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38575" y="681666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3325" y="7067550"/>
            <a:ext cx="1905000" cy="188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 spc="4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20–40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275" y="5562600"/>
            <a:ext cx="13335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819775" y="620706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-1.6 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9775" y="681666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24525" y="7067550"/>
            <a:ext cx="1905000" cy="398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中性
40–60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81950" y="5448300"/>
            <a:ext cx="1333500" cy="114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791450" y="515931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+0.3 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91450" y="681666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96200" y="7067550"/>
            <a:ext cx="1905000" cy="188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60–80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3150" y="5334000"/>
            <a:ext cx="1333500" cy="228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772650" y="504501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+0.6 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72650" y="681666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7400" y="7067550"/>
            <a:ext cx="1905000" cy="398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最樂觀
sent &gt; 80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582400" y="2990849"/>
            <a:ext cx="5791200" cy="14463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11582400" y="2990850"/>
            <a:ext cx="5791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1772900" y="3200400"/>
            <a:ext cx="5524500" cy="268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① Q1 </a:t>
            </a:r>
            <a:r>
              <a:rPr sz="1600" b="1" i="0" dirty="0" err="1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反彈</a:t>
            </a:r>
            <a:r>
              <a:rPr sz="1600" b="1" i="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· </a:t>
            </a:r>
            <a:r>
              <a:rPr sz="1600" b="1" i="0" dirty="0" err="1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過度悲觀</a:t>
            </a:r>
            <a:endParaRPr sz="1600" b="1" i="0" dirty="0">
              <a:solidFill>
                <a:srgbClr val="10B981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1772900" y="3505200"/>
            <a:ext cx="5524500" cy="9002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極度悲觀時隔日</a:t>
            </a:r>
            <a:r>
              <a:rPr sz="14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+3.2 pp edge、</a:t>
            </a:r>
            <a:br>
              <a:rPr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與 Kahneman (1979) </a:t>
            </a:r>
            <a:r>
              <a:rPr sz="14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過度反應假說方向一致</a:t>
            </a:r>
            <a:r>
              <a:rPr sz="14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br>
              <a:rPr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適合逆向擇時</a:t>
            </a:r>
            <a:r>
              <a:rPr sz="14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mean-reversion。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582400" y="4476749"/>
            <a:ext cx="5791200" cy="144976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11582400" y="4476750"/>
            <a:ext cx="5791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1772900" y="4686300"/>
            <a:ext cx="5524500" cy="268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② Q5 弱勢 · 利多飽和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72900" y="4991100"/>
            <a:ext cx="5524500" cy="9002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Q5 僅 +0.6 pp、遠低於 Q1、</a:t>
            </a:r>
            <a:br>
              <a:rPr sz="200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利多已被討論、故事飽和、</a:t>
            </a:r>
            <a:br>
              <a:rPr sz="200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與 Tetlock (2007) 過度樂觀方向一致。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582400" y="5962650"/>
            <a:ext cx="5791200" cy="155589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11582400" y="5962650"/>
            <a:ext cx="5791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1772900" y="6172200"/>
            <a:ext cx="5524500" cy="268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③ News × Forum 互補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72900" y="6477000"/>
            <a:ext cx="5524500" cy="9002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兩源相關僅 0.20、各自獨立、</a:t>
            </a:r>
            <a:br>
              <a:rPr sz="200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1d / 5d / 20d 三期同向、</a:t>
            </a:r>
            <a:br>
              <a:rPr sz="200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納入 sentiment overlay 作為 alpha filter。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7696200"/>
            <a:ext cx="16459200" cy="1312772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914400" y="7696200"/>
            <a:ext cx="57150" cy="131277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162050" y="7867650"/>
            <a:ext cx="5715000" cy="268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6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STRATEGIC INSIGHT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62050" y="8153400"/>
            <a:ext cx="15887700" cy="6067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文本情緒並非單調訊號、</a:t>
            </a:r>
            <a:r>
              <a:rPr sz="14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反向</a:t>
            </a:r>
            <a:r>
              <a:rPr sz="14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U 型 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即過度反應假說在台股的實證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  <a:br>
              <a:rPr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1" i="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Q1 + Q5 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共佔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sentiment LOPO </a:t>
            </a:r>
            <a:r>
              <a:rPr sz="14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+8.5 bps 的 94%</a:t>
            </a:r>
            <a:r>
              <a:rPr sz="14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sz="1400" b="0" i="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可作為主模型之上的</a:t>
            </a:r>
            <a:r>
              <a:rPr sz="14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alpha filter。  → A.18 – A.23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12459"/>
            <a:ext cx="285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Deployment 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40 檔門檻 × OOS 404,724 樣本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DEPLOYMENT · 從機率分數到可下單清單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0791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TW" altLang="en-US" sz="3600" b="1" i="0" spc="-6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模型分數已能被產品化為每日可執行的選股清單</a:t>
            </a:r>
            <a:br>
              <a:rPr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Threshold 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決定是主動下注或研究 </a:t>
            </a: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coverage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  <a:endParaRPr sz="2000" b="1" i="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83820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04900" y="3105150"/>
            <a:ext cx="6667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TOP-% HIT RATE · 邊際遞增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900" y="3314700"/>
            <a:ext cx="6667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樣本愈集中、edge 愈陡 · base 26.28%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900" y="3619500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6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分位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3619500"/>
            <a:ext cx="123825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6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 (檔)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7650" y="3619500"/>
            <a:ext cx="142875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6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命中率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619500"/>
            <a:ext cx="15240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6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Edge vs 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3619500"/>
            <a:ext cx="2095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6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相對提升</a:t>
            </a:r>
            <a:endParaRPr sz="1400" b="1" i="0" spc="160" dirty="0">
              <a:solidFill>
                <a:srgbClr val="64748B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104900" y="3886200"/>
            <a:ext cx="809625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104900" y="4448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104900" y="3981450"/>
            <a:ext cx="8096250" cy="4762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1104900" y="3981450"/>
            <a:ext cx="38100" cy="4762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181100" y="410204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閾值 0.50 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9400" y="4102043"/>
            <a:ext cx="12382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2,836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57650" y="4093643"/>
            <a:ext cx="142875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37.98%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4102043"/>
            <a:ext cx="1524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+11.70 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0400" y="4102043"/>
            <a:ext cx="2095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+44.5%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4900" y="49244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181100" y="457829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閾值 0.49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19400" y="4578293"/>
            <a:ext cx="12382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4,149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57650" y="4569893"/>
            <a:ext cx="142875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36.64%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578293"/>
            <a:ext cx="1524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+10.36 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10400" y="4578293"/>
            <a:ext cx="2095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+39.4%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04900" y="54006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181100" y="505454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Top 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19400" y="5054543"/>
            <a:ext cx="12382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4,047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57650" y="5046143"/>
            <a:ext cx="142875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36.81%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5054543"/>
            <a:ext cx="1524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+10.53 pp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10400" y="5054543"/>
            <a:ext cx="2095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+40.1%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04900" y="58769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181100" y="553079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Top 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19400" y="5530793"/>
            <a:ext cx="12382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20,236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57650" y="5522393"/>
            <a:ext cx="142875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31.44%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5530793"/>
            <a:ext cx="1524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+5.16 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10400" y="5530793"/>
            <a:ext cx="2095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+19.6%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04900" y="6353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181100" y="600704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Top 10%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19400" y="6007043"/>
            <a:ext cx="12382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40,472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57650" y="5998643"/>
            <a:ext cx="142875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28.88%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6007043"/>
            <a:ext cx="1524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+2.60 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0400" y="6007043"/>
            <a:ext cx="2095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+9.9%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81100" y="648329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Base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19400" y="6483293"/>
            <a:ext cx="12382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404,724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57650" y="6474893"/>
            <a:ext cx="142875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26.28%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0" y="6483293"/>
            <a:ext cx="1524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10400" y="6483293"/>
            <a:ext cx="2095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20250" y="2971800"/>
            <a:ext cx="76200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DUAL TRACK · 雙軌部位設計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20250" y="3181350"/>
            <a:ext cx="76200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依資金屬性與決策節奏分流、共用同一機率分數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20250" y="34671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9620250" y="3467100"/>
            <a:ext cx="7620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9810750" y="3676650"/>
            <a:ext cx="857250" cy="8732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48950" y="3676650"/>
            <a:ext cx="5715000" cy="2854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保守 · Threshold 0.50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648950" y="3981450"/>
            <a:ext cx="1905000" cy="209550"/>
          </a:xfrm>
          <a:prstGeom prst="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0668000" y="4002259"/>
            <a:ext cx="186690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HIGH CONVICTION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648950" y="4286250"/>
            <a:ext cx="1905000" cy="167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CALL RATE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48950" y="4457700"/>
            <a:ext cx="1905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0.70%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553950" y="4286250"/>
            <a:ext cx="1905000" cy="167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HIT RATE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553950" y="4457700"/>
            <a:ext cx="1905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37.98%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458950" y="4286250"/>
            <a:ext cx="2286000" cy="167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EDGE vs BASE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458950" y="4457700"/>
            <a:ext cx="2286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+11.70 pp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648950" y="4876800"/>
            <a:ext cx="647700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 主動基金實盤 / 自營部位、模型高度確信才下注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48950" y="5086350"/>
            <a:ext cx="647700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 每日 2–3 檔（散戶可操作）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620250" y="55245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9620250" y="5524500"/>
            <a:ext cx="7620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9810750" y="5734050"/>
            <a:ext cx="857250" cy="8732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48950" y="5734050"/>
            <a:ext cx="5715000" cy="2854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探索 · Threshold 0.40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48950" y="6038850"/>
            <a:ext cx="1905000" cy="20955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10668000" y="6059659"/>
            <a:ext cx="186690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BROAD COVERAGE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48950" y="6343650"/>
            <a:ext cx="1905000" cy="167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CALL RATE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48950" y="6515100"/>
            <a:ext cx="1905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8.83%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53950" y="6343650"/>
            <a:ext cx="1905000" cy="167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HIT RATE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553950" y="6515100"/>
            <a:ext cx="1905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29.41%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458950" y="6343650"/>
            <a:ext cx="2286000" cy="167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EDGE vs BASE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458950" y="6515100"/>
            <a:ext cx="2286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+3.14 pp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648950" y="6934200"/>
            <a:ext cx="647700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 研究 watchlist / 量化原型，接受低 edge 換取多樣性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48950" y="7143750"/>
            <a:ext cx="647700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 每日 30–40 檔（機構 cover）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14400" y="7543800"/>
            <a:ext cx="16459200" cy="1542178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914400" y="7543800"/>
            <a:ext cx="57150" cy="154217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162050" y="7715250"/>
            <a:ext cx="5715000" cy="268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6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NET EDGE · 扣 20 bps </a:t>
            </a:r>
            <a:r>
              <a:rPr sz="1600" b="1" i="0" spc="260" dirty="0" err="1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交易成本後</a:t>
            </a:r>
            <a:endParaRPr sz="1600" b="1" i="0" spc="260" dirty="0">
              <a:solidFill>
                <a:srgbClr val="06B6D4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162050" y="8001000"/>
            <a:ext cx="15887700" cy="9326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0.50 軌 net edge ≈ +11.5 pp、0.40 軌 net edge ≈ +2.9 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pp；</a:t>
            </a:r>
            <a:r>
              <a:rPr sz="14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兩軌共用同一機率分數、</a:t>
            </a:r>
            <a:r>
              <a:rPr sz="14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差異僅在閾值</a:t>
            </a:r>
            <a:r>
              <a:rPr sz="14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  <a:br>
              <a:rPr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0" i="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本研究為學術成果、不構成任何投資建議</a:t>
            </a:r>
            <a:r>
              <a:rPr sz="14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</a:p>
          <a:p>
            <a:pPr algn="l">
              <a:lnSpc>
                <a:spcPct val="150000"/>
              </a:lnSpc>
            </a:pPr>
            <a:r>
              <a:rPr sz="14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→ 詳 Appendix A.13 / A.14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12459"/>
            <a:ext cx="285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Strategy Backtest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月再平衡 · 手續費 0.3% 內含 · 滑價 0.1%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BACKTEST · 100 元起始、24 個月後達 188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0791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TW" sz="3600" b="1" i="0" spc="-6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Top 1% </a:t>
            </a:r>
            <a:r>
              <a:rPr lang="zh-TW" altLang="en-US" sz="3600" b="1" i="0" spc="-6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高信心訊號能把預測優勢轉化為策略績效</a:t>
            </a:r>
            <a:br>
              <a:rPr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回測顯示模型具經濟性，但需維持一致成本口徑。</a:t>
            </a:r>
            <a:endParaRPr sz="2000" b="1" i="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14400" y="3028950"/>
            <a:ext cx="11239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43000" y="321945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CUMULATIVE NAV · </a:t>
            </a:r>
            <a:r>
              <a:rPr sz="1200" b="1" i="0" spc="24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起始資金</a:t>
            </a:r>
            <a:r>
              <a:rPr sz="1200" b="1" i="0" spc="24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100 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48050"/>
            <a:ext cx="76200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Strategy = </a:t>
            </a:r>
            <a:r>
              <a:rPr sz="1200" b="0" i="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XGBoost</a:t>
            </a:r>
            <a:r>
              <a:rPr sz="12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D+20 Top 1% · </a:t>
            </a:r>
            <a:r>
              <a:rPr sz="1400" b="0" i="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月初再平衡</a:t>
            </a:r>
            <a:endParaRPr sz="1200" b="0" i="0" dirty="0">
              <a:solidFill>
                <a:srgbClr val="64748B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714500" y="61150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219200" y="6019800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4500" y="56673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219200" y="5572125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71650" y="56673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714500" y="52197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219200" y="5124450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71650" y="52197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1714500" y="47815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219200" y="4686300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160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71650" y="478155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714500" y="43338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219200" y="4238625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71650" y="43338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1714500" y="3886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219200" y="3790950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71650" y="38862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771650" y="6115050"/>
            <a:ext cx="100012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77165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352550" y="6667500"/>
            <a:ext cx="857250" cy="176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2024-Q2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72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848100" y="6667500"/>
            <a:ext cx="857250" cy="176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2024-Q4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227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353175" y="6667500"/>
            <a:ext cx="857250" cy="176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2025-Q2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6782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848725" y="6667500"/>
            <a:ext cx="857250" cy="176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2025-Q4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7729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1353800" y="6667500"/>
            <a:ext cx="857250" cy="176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2026-Q1</a:t>
            </a:r>
          </a:p>
        </p:txBody>
      </p:sp>
      <p:cxnSp>
        <p:nvCxnSpPr>
          <p:cNvPr id="48" name="Connector 47"/>
          <p:cNvCxnSpPr/>
          <p:nvPr/>
        </p:nvCxnSpPr>
        <p:spPr>
          <a:xfrm flipV="1">
            <a:off x="1771650" y="6067425"/>
            <a:ext cx="428625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200275" y="601980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638425" y="600075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067050" y="598170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505200" y="595312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43350" y="59340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371975" y="59150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10125" y="58864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248275" y="58674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676900" y="58483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115050" y="58197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6553200" y="5781675"/>
            <a:ext cx="428625" cy="381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981825" y="573405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419975" y="5686425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858125" y="56673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286750" y="56483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724900" y="56197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163050" y="56007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591675" y="55816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0029825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467975" y="5553075"/>
            <a:ext cx="428625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0896600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334750" y="5553075"/>
            <a:ext cx="438150" cy="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771650" y="601980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200275" y="5915025"/>
            <a:ext cx="438150" cy="1047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638425" y="5753100"/>
            <a:ext cx="428625" cy="1619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067050" y="56197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505200" y="54864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943350" y="5353050"/>
            <a:ext cx="428625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371975" y="5267325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810125" y="518160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248275" y="508635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676900" y="49530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6115050" y="48196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553200" y="4752975"/>
            <a:ext cx="428625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6981825" y="466725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7419975" y="4600575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7858125" y="4514850"/>
            <a:ext cx="428625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8286750" y="4419600"/>
            <a:ext cx="438150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8724900" y="4381500"/>
            <a:ext cx="438150" cy="3810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163050" y="4333875"/>
            <a:ext cx="428625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9591675" y="4267200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0029825" y="4219575"/>
            <a:ext cx="438150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0467975" y="4200525"/>
            <a:ext cx="428625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0896600" y="4181475"/>
            <a:ext cx="438150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1334750" y="4152900"/>
            <a:ext cx="438150" cy="285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11715750" y="4095750"/>
            <a:ext cx="114300" cy="1143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11725275" y="5505450"/>
            <a:ext cx="95250" cy="9525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725150" y="3905250"/>
            <a:ext cx="104775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188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15650" y="5648325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125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943100" y="4057650"/>
            <a:ext cx="2095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2228850" y="4000500"/>
            <a:ext cx="3048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Strategy · Top 1% · +88% / +36.8% CAGR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943100" y="4305300"/>
            <a:ext cx="2095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2228850" y="4248150"/>
            <a:ext cx="3048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TAIEX · benchmark · +25% / +12.4% CAGR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2344400" y="30289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12344400" y="30289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12553950" y="3200400"/>
            <a:ext cx="46101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2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CAGR · </a:t>
            </a:r>
            <a:r>
              <a:rPr sz="1200" b="1" i="0" spc="22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年化</a:t>
            </a:r>
            <a:endParaRPr sz="1200" b="1" i="0" spc="220" dirty="0">
              <a:solidFill>
                <a:srgbClr val="64748B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12553950" y="3429000"/>
            <a:ext cx="4610100" cy="5373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+36.8%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553950" y="3924300"/>
            <a:ext cx="46101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vs TAIEX +12.4%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344400" y="42481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12344400" y="42481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12553950" y="4419600"/>
            <a:ext cx="46101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累積報酬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2553950" y="4648200"/>
            <a:ext cx="4610100" cy="5373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+88%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553950" y="5143500"/>
            <a:ext cx="46101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24 個月、月再平衡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2344400" y="54673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12344400" y="5467350"/>
            <a:ext cx="5029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12553950" y="5638800"/>
            <a:ext cx="46101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MAX DRAWDOWN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2553950" y="5867400"/>
            <a:ext cx="4610100" cy="5373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-14.2%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553950" y="6362700"/>
            <a:ext cx="46101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vs TAIEX -22.4%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2344400" y="66865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8" name="Rectangle 117"/>
          <p:cNvSpPr/>
          <p:nvPr/>
        </p:nvSpPr>
        <p:spPr>
          <a:xfrm>
            <a:off x="12344400" y="6686550"/>
            <a:ext cx="502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2553950" y="6858000"/>
            <a:ext cx="46101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2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SHARPE · CALMAR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2553950" y="7086600"/>
            <a:ext cx="4610100" cy="5373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0.81 · 2.59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2553950" y="7581900"/>
            <a:ext cx="46101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vs TAIEX 0.42 · 0.55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14400" y="7941864"/>
            <a:ext cx="16459200" cy="173623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914400" y="7941864"/>
            <a:ext cx="57150" cy="173623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1162050" y="8113314"/>
            <a:ext cx="5715000" cy="268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6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STRATEGY READOUT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62050" y="8399064"/>
            <a:ext cx="15887700" cy="13020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把 AUC 0.6455 化為實單，</a:t>
            </a:r>
            <a:r>
              <a:rPr sz="14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24 </a:t>
            </a:r>
            <a:r>
              <a:rPr sz="14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個月內</a:t>
            </a:r>
            <a:r>
              <a:rPr sz="14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100 元 → 188 </a:t>
            </a:r>
            <a:r>
              <a:rPr sz="14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元、CAGR</a:t>
            </a:r>
            <a:r>
              <a:rPr sz="14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+36.8%、</a:t>
            </a:r>
            <a:r>
              <a:rPr sz="14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最大回撤</a:t>
            </a:r>
            <a:r>
              <a:rPr sz="14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-14.2%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  <a:br>
              <a:rPr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與 TAIEX </a:t>
            </a:r>
            <a:r>
              <a:rPr sz="14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同期</a:t>
            </a:r>
            <a:r>
              <a:rPr sz="14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+25% / </a:t>
            </a:r>
            <a:r>
              <a:rPr sz="14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回撤</a:t>
            </a:r>
            <a:r>
              <a:rPr sz="1400" b="0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-22.4% </a:t>
            </a:r>
            <a:r>
              <a:rPr sz="1400" b="0" i="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相比、</a:t>
            </a:r>
            <a:r>
              <a:rPr sz="1400" b="1" i="0" dirty="0" err="1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在等同流動性條件下展現結構性</a:t>
            </a:r>
            <a:r>
              <a:rPr sz="1400" b="1" i="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alpha。</a:t>
            </a:r>
            <a:br>
              <a:rPr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0" i="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本研究為學術回測、不構成投資建議</a:t>
            </a:r>
            <a:r>
              <a:rPr sz="14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</a:p>
          <a:p>
            <a:pPr algn="l">
              <a:lnSpc>
                <a:spcPct val="150000"/>
              </a:lnSpc>
            </a:pPr>
            <a:r>
              <a:rPr sz="14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→ 詳 Appendix A.15 / A.16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12459"/>
            <a:ext cx="285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Limits &amp;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ACTION · </a:t>
            </a:r>
            <a:r>
              <a:rPr sz="1400" b="1" i="0" spc="240" dirty="0" err="1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部署條件、限制邊界、重新訓練節奏</a:t>
            </a:r>
            <a:endParaRPr sz="1400" b="1" i="0" spc="240" dirty="0">
              <a:solidFill>
                <a:srgbClr val="06B6D4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0791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TW" altLang="en-US" sz="3600" b="1" i="0" spc="-10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部署不是上線模型，而是建立可監控、可重訓、可停損的研究系統</a:t>
            </a:r>
            <a:br>
              <a:rPr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POC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Risk overlay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PSI drift 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是 </a:t>
            </a:r>
            <a:r>
              <a:rPr lang="en-US" altLang="zh-TW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6 </a:t>
            </a:r>
            <a:r>
              <a:rPr lang="zh-TW" altLang="en-US" sz="20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個月落地重點。</a:t>
            </a:r>
            <a:endParaRPr sz="2000" b="1" i="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571500" cy="4030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19250" y="3302735"/>
            <a:ext cx="1905000" cy="1763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 spc="200" dirty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DEPLOYMENT · 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676650"/>
            <a:ext cx="4953000" cy="4030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部署條件已備齊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08779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143000" y="4305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257300" y="4210050"/>
            <a:ext cx="11430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AUC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4419600"/>
            <a:ext cx="48387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0.6455 OOS、4 折一致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4876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257300" y="4781550"/>
            <a:ext cx="11430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DSR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7300" y="4991100"/>
            <a:ext cx="4838700" cy="2350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12.12 ≫ 3.0、多重檢定通過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448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257300" y="5353050"/>
            <a:ext cx="11430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Top 1% Hit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7300" y="5562600"/>
            <a:ext cx="48387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36.81% / +10.53 pp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6019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257300" y="5924550"/>
            <a:ext cx="11430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Gates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7300" y="6134100"/>
            <a:ext cx="48387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 / 9 治理關卡全數通過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6591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257300" y="6496050"/>
            <a:ext cx="11430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Lineage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7300" y="6705600"/>
            <a:ext cx="48387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91 / 91 SQL 可回溯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389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438900" y="29908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67500" y="3200400"/>
            <a:ext cx="571500" cy="4030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143750" y="3302735"/>
            <a:ext cx="1905000" cy="1763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 spc="20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LIMITS · BOUNDED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0" y="3676650"/>
            <a:ext cx="4953000" cy="4030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三大限制邊界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67500" y="408779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6667500" y="4210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781800" y="4210050"/>
            <a:ext cx="48387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60" dirty="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SCOPE · D+20 </a:t>
            </a:r>
            <a:r>
              <a:rPr sz="1400" b="1" i="0" spc="160" dirty="0" err="1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中長線</a:t>
            </a:r>
            <a:endParaRPr sz="1400" b="1" i="0" spc="160" dirty="0">
              <a:solidFill>
                <a:srgbClr val="F59E0B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781800" y="4476750"/>
            <a:ext cx="48387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不適用 intraday、短於 5 日的訊號半衰期不足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67500" y="51625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6781800" y="5162550"/>
            <a:ext cx="48387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6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TEXT · PSI 0.13 WARN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5429250"/>
            <a:ext cx="48387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語言演化（deepseek、矽光子）、需每月詞向量重新訓練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67500" y="6115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781800" y="6115050"/>
            <a:ext cx="48387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6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REGIME · 多頭主導窗口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81800" y="6381750"/>
            <a:ext cx="48387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2024-Q4 至 2025-Q1、極端崩跌情境未涵蓋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963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11963400" y="299085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2192000" y="3200400"/>
            <a:ext cx="571500" cy="4030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668250" y="3276600"/>
            <a:ext cx="2030388" cy="24765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2668249" y="3302736"/>
            <a:ext cx="2030389" cy="1763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 spc="200" dirty="0">
                <a:solidFill>
                  <a:srgbClr val="0891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ROADMAP · 6 MONTHS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192000" y="3676650"/>
            <a:ext cx="4953000" cy="4030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6 </a:t>
            </a:r>
            <a:r>
              <a:rPr sz="24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個月分三步落地</a:t>
            </a:r>
            <a:endParaRPr sz="2400" b="1" i="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12192000" y="408779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2192000" y="4213570"/>
            <a:ext cx="3429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649200" y="4210050"/>
            <a:ext cx="44958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60">
                <a:solidFill>
                  <a:srgbClr val="0891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Q2 · POC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649200" y="4476750"/>
            <a:ext cx="44958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每日 Top 1% 服務化、API 試接 1 客戶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2192000" y="5166070"/>
            <a:ext cx="3429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649200" y="5162550"/>
            <a:ext cx="44958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60">
                <a:solidFill>
                  <a:srgbClr val="0891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Q2 – Q3 · OVERLAY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49200" y="5429250"/>
            <a:ext cx="44958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Risk 支柱獨立風控 overlay、可解釋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2192000" y="6118570"/>
            <a:ext cx="3429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649200" y="6115050"/>
            <a:ext cx="44958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60">
                <a:solidFill>
                  <a:srgbClr val="0891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Q3 – Q4 · DRIFT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649200" y="6381750"/>
            <a:ext cx="44958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每月詞向量重新訓練、PSI 自動回報、防 drift &gt; 0.20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1162050" y="7867650"/>
            <a:ext cx="5715000" cy="268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6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SEQUENCING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2050" y="8153400"/>
            <a:ext cx="15887700" cy="6067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D+20 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中長線預測在四項獨立檢定下成立、</a:t>
            </a:r>
            <a:r>
              <a:rPr sz="14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邊界明確、重新訓練節奏可追蹤</a:t>
            </a:r>
            <a:r>
              <a:rPr lang="zh-TW" altLang="en-US" sz="140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，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下一步為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</a:t>
            </a:r>
            <a:r>
              <a:rPr sz="1400" b="1" i="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POC </a:t>
            </a:r>
            <a:r>
              <a:rPr sz="1400" b="1" i="0" dirty="0" err="1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試運行</a:t>
            </a:r>
            <a:r>
              <a:rPr sz="1400" b="1" i="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+ PSI </a:t>
            </a:r>
            <a:r>
              <a:rPr sz="1400" b="1" i="0" dirty="0" err="1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自動回報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</a:t>
            </a: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的工程落地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  <a:br>
              <a:rPr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0" i="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本研究為學術成果、不構成投資建議；後續延伸詳</a:t>
            </a:r>
            <a:r>
              <a:rPr sz="1400" b="0" i="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A.26 limitations &amp; future work。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2743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3657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4572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7315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8229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0" y="9144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0" y="10058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73736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4097000" y="0"/>
            <a:ext cx="34290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7487900" y="0"/>
            <a:ext cx="38100" cy="762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4400" y="1874296"/>
            <a:ext cx="57150" cy="43815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4950" y="403771"/>
            <a:ext cx="3429000" cy="2021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 dirty="0" err="1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  <a:r>
              <a:rPr sz="1200" b="1" i="0" spc="140" dirty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730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24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CLOSING · Q &amp; 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325850" y="428625"/>
            <a:ext cx="9525" cy="1524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6421100" y="361950"/>
            <a:ext cx="95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1238250"/>
            <a:ext cx="7620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— THANK YOU · 提問與討論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1657350"/>
            <a:ext cx="15430500" cy="7107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lang="zh-TW" altLang="en-US" sz="4400" b="1" i="0" spc="-200" dirty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本專案證明：台股 </a:t>
            </a:r>
            <a:r>
              <a:rPr lang="en-US" altLang="zh-TW" sz="4400" b="1" i="0" spc="-200" dirty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D+20 alpha </a:t>
            </a:r>
            <a:r>
              <a:rPr lang="zh-TW" altLang="en-US" sz="4400" b="1" i="0" spc="-200" dirty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可被系統化發現、驗證與監控</a:t>
            </a:r>
            <a:endParaRPr sz="4400" b="1" i="0" spc="-200" dirty="0">
              <a:solidFill>
                <a:srgbClr val="22D3EE"/>
              </a:solidFill>
              <a:latin typeface="Times New Roman"/>
              <a:ea typeface="Microsoft JhengHei"/>
              <a:cs typeface="Microsoft JhengHe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989732" y="5985854"/>
            <a:ext cx="10308537" cy="2467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60000"/>
              </a:lnSpc>
            </a:pPr>
            <a:r>
              <a:rPr lang="en-US" sz="11500" b="0" i="0" dirty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Thanks</a:t>
            </a:r>
            <a:r>
              <a:rPr lang="zh-TW" altLang="en-US" sz="11500" b="0" i="0" dirty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！</a:t>
            </a:r>
            <a:endParaRPr sz="11500" b="1" i="0" dirty="0">
              <a:solidFill>
                <a:srgbClr val="F5F1E8"/>
              </a:solidFill>
              <a:latin typeface="Times New Roman"/>
              <a:ea typeface="Microsoft JhengHei"/>
              <a:cs typeface="Microsoft Jheng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238250" y="3918929"/>
            <a:ext cx="15430500" cy="1524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238250" y="3918929"/>
            <a:ext cx="154305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428750" y="4128479"/>
            <a:ext cx="3476625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 dirty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8750" y="4395179"/>
            <a:ext cx="3476625" cy="8090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 i="0" spc="-80" dirty="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635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286375" y="4128479"/>
            <a:ext cx="3476625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 dirty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6375" y="4395179"/>
            <a:ext cx="3476625" cy="8090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3975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0" y="4128479"/>
            <a:ext cx="3476625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CAGR · 24 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4395179"/>
            <a:ext cx="3476625" cy="8090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80160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3001625" y="4128479"/>
            <a:ext cx="3476625" cy="185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01625" y="4395179"/>
            <a:ext cx="3476625" cy="8090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825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本研究為 NTU 大數據與商業分析專案課堂成果、不構成任何投資建議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49500" y="9696450"/>
            <a:ext cx="2476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1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APPENDIX · 30 PAGES</a:t>
            </a:r>
          </a:p>
        </p:txBody>
      </p:sp>
      <p:sp>
        <p:nvSpPr>
          <p:cNvPr id="44" name="TextBox 26">
            <a:extLst>
              <a:ext uri="{FF2B5EF4-FFF2-40B4-BE49-F238E27FC236}">
                <a16:creationId xmlns:a16="http://schemas.microsoft.com/office/drawing/2014/main" id="{4D3DADA9-CE3D-C196-200F-F89D61CB4A2E}"/>
              </a:ext>
            </a:extLst>
          </p:cNvPr>
          <p:cNvSpPr txBox="1"/>
          <p:nvPr/>
        </p:nvSpPr>
        <p:spPr>
          <a:xfrm>
            <a:off x="1228725" y="2764344"/>
            <a:ext cx="15430500" cy="5814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lang="zh-TW" altLang="en-US" sz="3600" b="1" i="0" spc="-200" dirty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從資料、模型、回測到治理已形成完整閉環。</a:t>
            </a:r>
            <a:endParaRPr sz="3600" b="1" i="0" spc="-200" dirty="0">
              <a:solidFill>
                <a:srgbClr val="22D3EE"/>
              </a:solidFill>
              <a:latin typeface="Times New Roman"/>
              <a:ea typeface="Microsoft JhengHei"/>
              <a:cs typeface="Microsoft JhengHe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Three Commitments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López de Prado (2018) · Bailey &amp; López de Prado (2014) DSR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A.01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研究立場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84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TW" altLang="en-US" sz="3600" b="1" i="0" spc="-10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本研究以透明、抗過擬合與可重現作為三項方法論底線</a:t>
            </a:r>
            <a:br>
              <a:rPr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zh-TW" altLang="en-US" sz="2400" b="1" i="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先定義研究可信度，再討論模型結果。</a:t>
            </a:r>
            <a:endParaRPr sz="2400" b="1" i="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32385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257300" y="3562350"/>
            <a:ext cx="1905000" cy="1074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" y="4457700"/>
            <a:ext cx="4572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透明 · TRANSPARENCY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7300" y="4762500"/>
            <a:ext cx="4572000" cy="463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不做黑箱模型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57300" y="54483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257300" y="5715000"/>
            <a:ext cx="4572000" cy="105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提供 SHAP Top-20、LOPO ΔAUC、500 keyword Lift × χ²；儀表板「ICIR / Text / Feature Analysis」三頁專用於可解釋性展示。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400800" y="32385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43700" y="3562350"/>
            <a:ext cx="1905000" cy="1074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3700" y="4457700"/>
            <a:ext cx="4572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嚴謹 · RIGOR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3700" y="4762500"/>
            <a:ext cx="4572000" cy="463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不做 overfitting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3700" y="54483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743700" y="5715000"/>
            <a:ext cx="4572000" cy="105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Walk-Forward Purged K-Fold + 20 日 embargo · DSR 12.12 通過 150 trials 多重檢定 · PSI / KS 漂移監控 9 支柱 × 30 日。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1887200" y="32385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2230100" y="3562350"/>
            <a:ext cx="1905000" cy="1074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4457700"/>
            <a:ext cx="4572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可重現 · REPRODUCIBILITY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0100" y="4762500"/>
            <a:ext cx="4572000" cy="463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不做無法重現的研究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230100" y="54483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2230100" y="5715000"/>
            <a:ext cx="4572000" cy="105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每階段 JSON artifact + rng=42 + lineage · Phase 1–6 六份報告 + 13 頁互動 dashboard，可逐頁追溯模型決策。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7391400"/>
            <a:ext cx="16459200" cy="16002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914400" y="7391400"/>
            <a:ext cx="57150" cy="1600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162050" y="75628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ACADEMIC BASELINE · 學術底線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050" y="7848600"/>
            <a:ext cx="15887700" cy="736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三承諾為 Phase 1–6 設計約束；任一未守，則統計結論失效。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7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這是與一般「回測看起來很好」的量化原型</a:t>
            </a:r>
            <a:r>
              <a:rPr sz="17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最根本的區隔</a:t>
            </a:r>
            <a:r>
              <a:rPr sz="17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——所有產出可獨立稽核、可第三方重新訓練。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Problem ·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López de Prado (2018)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A.02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三重結構性難題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84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TW" altLang="en-US" sz="3600" b="1" i="0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台股預測難題來自低訊噪比、訊號錯位與文本非結構化</a:t>
            </a:r>
            <a:br>
              <a:rPr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zh-TW" altLang="en-US" sz="2400" b="1" i="0" spc="-4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多因子與 </a:t>
            </a:r>
            <a:r>
              <a:rPr lang="en-US" altLang="zh-TW" sz="2400" b="1" i="0" spc="-4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PIT </a:t>
            </a:r>
            <a:r>
              <a:rPr lang="zh-TW" altLang="en-US" sz="2400" b="1" i="0" spc="-40" dirty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是必要設計，不是額外複雜化。</a:t>
            </a:r>
            <a:endParaRPr sz="2400" b="1" i="0" spc="-40" dirty="0">
              <a:solidFill>
                <a:srgbClr val="06B6D4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6860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9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2990850"/>
            <a:ext cx="1645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04900" y="3162300"/>
            <a:ext cx="762000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3219450"/>
            <a:ext cx="66675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訊號雜訊比極低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5000" y="3581400"/>
            <a:ext cx="7620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905000" y="3695700"/>
            <a:ext cx="142875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 日頻波動真正可預測 edge 約 1–5 pp · 雜訊主導日內價格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4019550"/>
            <a:ext cx="14287500" cy="2996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對策 · Walk-Forward Purged K-Fold (López de Prado §7.4) + 20 日 embargo + DSR 多重檢定 12.12 三層治理；Optuna 150 trials 後 SR̂ 2.41 仍顯著。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895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14400" y="4895850"/>
            <a:ext cx="16459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4900" y="5067300"/>
            <a:ext cx="762000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5000" y="5124450"/>
            <a:ext cx="66675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異質訊號難對齊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5000" y="5486400"/>
            <a:ext cx="7620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905000" y="5600700"/>
            <a:ext cx="142875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 價量 tick / 財報季頻 (lag 45d) / PTT 事件頻 三種時間尺度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5924550"/>
            <a:ext cx="14287500" cy="2996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對策 · Feature Store 以 (stock_id, date) 為主鍵；T 日收盤可取得為邊界、文本僅取 T 日 15:00 前；DuckDB 內部 join 輸出 948,976 列。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680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14400" y="680085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104900" y="6972300"/>
            <a:ext cx="762000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05000" y="7029450"/>
            <a:ext cx="66675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文本資料品質混雜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05000" y="7391400"/>
            <a:ext cx="7620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905000" y="7505700"/>
            <a:ext cx="142875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 1,125,134 筆中近 40% 來自 Top 5 熱門股 · entity 涵蓋率不足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05000" y="7829550"/>
            <a:ext cx="14287500" cy="2996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對策 · 自建台股 500 keyword Lift × χ² 詞表 + tickers entity linking 達 92% 涵蓋；URL+title MinHash LSH dedup (Jaccard ≥ 0.85)；coverage 衰減校正。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855345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914400" y="855345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162050" y="872490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 dirty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KEY POINT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050" y="9010650"/>
            <a:ext cx="15887700" cy="6067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三難題對應三層治理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→ </a:t>
            </a:r>
            <a:r>
              <a:rPr sz="14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時序紀律</a:t>
            </a:r>
            <a:r>
              <a:rPr sz="14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+ </a:t>
            </a:r>
            <a:r>
              <a:rPr sz="14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主鍵對齊</a:t>
            </a:r>
            <a:r>
              <a:rPr sz="1400" b="1" i="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+ </a:t>
            </a:r>
            <a:r>
              <a:rPr sz="1400" b="1" i="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詞表自建</a:t>
            </a:r>
            <a:br>
              <a:rPr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0" i="0" dirty="0" err="1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對應到</a:t>
            </a:r>
            <a:r>
              <a:rPr sz="1400" b="0" i="0" dirty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P.04 Approach 的 6-phase pipeline。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6-Phase Pipeline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A.03 · 6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階段流水線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8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TW" altLang="en-US" sz="4000" b="1" i="0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六階段 </a:t>
            </a:r>
            <a:r>
              <a:rPr lang="en-US" sz="4000" b="1" i="0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pipeline </a:t>
            </a:r>
            <a:r>
              <a:rPr lang="zh-TW" altLang="en-US" sz="4000" b="1" i="0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將量化研究拆解為可追溯的交付流程</a:t>
            </a:r>
            <a:endParaRPr lang="en-US" altLang="zh-TW" sz="4000" b="1" i="0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 algn="l">
              <a:lnSpc>
                <a:spcPct val="118000"/>
              </a:lnSpc>
            </a:pPr>
            <a:r>
              <a:rPr lang="zh-TW" altLang="en-US" sz="2600" b="1" i="0" spc="-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每個 </a:t>
            </a:r>
            <a:r>
              <a:rPr lang="en-US" altLang="zh-TW" sz="2600" b="1" i="0" spc="-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Phase </a:t>
            </a:r>
            <a:r>
              <a:rPr lang="zh-TW" altLang="en-US" sz="2600" b="1" i="0" spc="-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皆對應輸入、輸出與品質閘。</a:t>
            </a:r>
            <a:endParaRPr sz="2600" b="1" i="0" spc="-4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62300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Ingest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524250"/>
            <a:ext cx="4953000" cy="3526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資料清洗與對齊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943350"/>
            <a:ext cx="4953000" cy="291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7 表 · 3,483,598 列 ETL · 除權息補償、RSI 異常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4953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phase1_report.json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32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5532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781800" y="314325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9000" y="3162300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1800" y="3524250"/>
            <a:ext cx="4953000" cy="3526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特徵工程與選擇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943350"/>
            <a:ext cx="4953000" cy="291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1,623 → 91 · Purged K-Fold · 20 日 embargo · 948,976 樣本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18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781800" y="4724400"/>
            <a:ext cx="4953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phase2_report.json · feature_store.parquet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1920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21920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2420600" y="314325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77800" y="3162300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420600" y="3524250"/>
            <a:ext cx="4953000" cy="3526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模型訓練與調參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420600" y="3943350"/>
            <a:ext cx="4953000" cy="291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XGBoost / LightGBM / Logistic / RF · Optuna 150 trials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4206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2420600" y="4724400"/>
            <a:ext cx="4953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model_registry/*.pkl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144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43000" y="546735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5486400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Explain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5848350"/>
            <a:ext cx="4953000" cy="3526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歸因分析 · LOPO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6267450"/>
            <a:ext cx="4953000" cy="6255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Leave-One-Pillar-Out · SHAP summary · ΔAUC × 10,000 bps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143000" y="7048500"/>
            <a:ext cx="4953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自行整理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532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65532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781800" y="546735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39000" y="5486400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Backtest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81800" y="5848350"/>
            <a:ext cx="4953000" cy="3526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門檻掃描 · 回測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6267450"/>
            <a:ext cx="4953000" cy="291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門檻 0.40 / 0.50 / 0.60 · 三情境 · 40 檔門檻 sweep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818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781800" y="7048500"/>
            <a:ext cx="4953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自行整理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1920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21920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2420600" y="546735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77800" y="5486400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Govern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420600" y="5848350"/>
            <a:ext cx="4953000" cy="3526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治理閘門 · 交付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420600" y="6267450"/>
            <a:ext cx="4953000" cy="291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DSR / PSI / KS / embargo / 最差 fold / lineage 9 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4206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2420600" y="7048500"/>
            <a:ext cx="4953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phase6_gates.json · dashboard/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7848600"/>
            <a:ext cx="16459200" cy="1181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914400" y="7848600"/>
            <a:ext cx="57150" cy="1181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162050" y="80200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DESIGN PRINCIPLE · 設計原則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" y="8305800"/>
            <a:ext cx="15887700" cy="736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每階段皆產出 JSON 報告 + 摘要 + artifact，dashboard 可逐頁追溯；所有 random seed = 42、所有切分 lineage 可重新訓練，</a:t>
            </a:r>
            <a:r>
              <a:rPr sz="17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從 raw → 決策清單</a:t>
            </a:r>
            <a:r>
              <a:rPr sz="17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任一節點皆可被獨立復現。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Data Sources · 7 Tables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DuckDB local snapshot 2025-12-31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A.04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七張原始表結構與量級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8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TW" altLang="en-US" sz="4000" b="1" i="0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七張資料表共同建立台股多因子模型的底層資料資產</a:t>
            </a:r>
            <a:endParaRPr lang="en-US" altLang="zh-TW" sz="4000" b="1" i="0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 algn="l">
              <a:lnSpc>
                <a:spcPct val="118000"/>
              </a:lnSpc>
            </a:pPr>
            <a:r>
              <a:rPr lang="zh-TW" altLang="en-US" sz="2600" b="1" i="0" spc="-4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價量、財報、籌碼與文本資料完成統一對齊。</a:t>
            </a:r>
            <a:endParaRPr sz="2600" b="1" i="0" spc="-4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90850"/>
            <a:ext cx="15811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85850" y="3067050"/>
            <a:ext cx="2095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1850" y="3067050"/>
            <a:ext cx="190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DOMAIN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350" y="3067050"/>
            <a:ext cx="190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850" y="3067050"/>
            <a:ext cx="9144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333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14400" y="33337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85850" y="3493568"/>
            <a:ext cx="20955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companies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1850" y="349356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上市櫃主檔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7350" y="3468369"/>
            <a:ext cx="1714500" cy="3022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1,932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850" y="3501968"/>
            <a:ext cx="8953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產業 / 市場別 / 上市日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905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914400" y="39052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85850" y="4065068"/>
            <a:ext cx="20955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stock_prices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1850" y="406506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日 K + 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7350" y="4039869"/>
            <a:ext cx="1714500" cy="3022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955,405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2850" y="4073468"/>
            <a:ext cx="8953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OHLCV · 還原權息 · 1932 檔 × 495 交易日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4476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914400" y="44767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85850" y="4636568"/>
            <a:ext cx="20955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income_statement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71850" y="463656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損益表 (季)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67350" y="4611369"/>
            <a:ext cx="1714500" cy="3022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14,968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2850" y="4644968"/>
            <a:ext cx="8953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EPS / 營收 / 毛利 · lag 45 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048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914400" y="50482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085850" y="5208068"/>
            <a:ext cx="20955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balance_sheet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1850" y="520806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資產負債表 (季)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67350" y="5182869"/>
            <a:ext cx="1714500" cy="3022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14,204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62850" y="5216468"/>
            <a:ext cx="8953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股東權益 / 負債 · lag 45 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5619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914400" y="56197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85850" y="5779568"/>
            <a:ext cx="20955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institutional_inv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1850" y="577956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三大法人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67350" y="5754369"/>
            <a:ext cx="1714500" cy="3022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855,980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62850" y="5787968"/>
            <a:ext cx="8953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外資 / 投信 / 自營 · 買賣超與持股比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6191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914400" y="61912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85850" y="6351068"/>
            <a:ext cx="20955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margin_trading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71850" y="635106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融資融券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67350" y="6325869"/>
            <a:ext cx="1714500" cy="3022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566,095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62850" y="6359468"/>
            <a:ext cx="8953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融資餘額 / 融券餘額 / 券資比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6762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914400" y="676275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85850" y="6922568"/>
            <a:ext cx="20955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stock_text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71850" y="692256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新聞 + PTT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67350" y="6897369"/>
            <a:ext cx="1714500" cy="3022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1,125,134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62850" y="6930968"/>
            <a:ext cx="8953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15 來源 · 2008-01 起 · entity 匹配 92%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76200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914400" y="76200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162050" y="77914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INTEGRITY GUARDRAILS · 完整性護欄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2050" y="8077200"/>
            <a:ext cx="15887700" cy="693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異常時序 (除權息日) 與雜訊 (RSI 暴衝) 已透過 ETL 校正；</a:t>
            </a:r>
            <a:r>
              <a:rPr sz="16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財報以發布日 + 45 日延遲</a:t>
            </a:r>
            <a:r>
              <a:rPr sz="16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對齊；新聞僅取 T 日 15:00 收盤前；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6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7 表透過 (stock_id, date) 主鍵 join，最終 </a:t>
            </a:r>
            <a:r>
              <a:rPr sz="16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panel = 948,976 列 × 91 features</a:t>
            </a:r>
            <a:r>
              <a:rPr sz="16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Panel &amp; Walk-Forward CV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López de Prado (2018) §7.4 · embargo length determined by 20-day return horizon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76200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A.05 · Panel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結構與</a:t>
            </a: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Walk-Forward Purged K-Fold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Panel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與 </a:t>
            </a: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embargo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設計是防止 </a:t>
            </a: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D+20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標籤污染的關鍵機制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時序資料不可用一般 </a:t>
            </a:r>
            <a:r>
              <a:rPr lang="en-US" altLang="zh-TW" sz="2600" b="1" spc="-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K-fold </a:t>
            </a:r>
            <a:r>
              <a:rPr lang="zh-TW" altLang="en-US" sz="2600" b="1" spc="-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驗證。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SAMPLES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948,976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2228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(stock_id, date) 主鍵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940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2228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由 1,623 候選 → 91 final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940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1,932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2228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上市櫃涵蓋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SPAN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940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12y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2228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2014-01 → 2025-12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00600"/>
            <a:ext cx="95250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WALK-FORWARD PURGED K-FOLD · 4-FOLD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24450"/>
            <a:ext cx="164592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485900" y="7620000"/>
            <a:ext cx="153162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4859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200150" y="7734300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149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29200" y="7734300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858250" y="7734300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9730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2687300" y="7734300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8021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6516350" y="7734300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85900" y="5524500"/>
            <a:ext cx="612457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7610475" y="5524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7915275" y="5524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914400" y="5576135"/>
            <a:ext cx="5334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85900" y="5905500"/>
            <a:ext cx="84201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9906000" y="5905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10210800" y="5905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14400" y="5957135"/>
            <a:ext cx="5334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85900" y="6286500"/>
            <a:ext cx="1071562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12201525" y="6286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12506325" y="6286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914400" y="6338135"/>
            <a:ext cx="5334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6667500"/>
            <a:ext cx="1301115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14497050" y="6667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14801850" y="6667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914400" y="6719135"/>
            <a:ext cx="5334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85900" y="8020050"/>
            <a:ext cx="1524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695450" y="7975309"/>
            <a:ext cx="19050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Train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81400" y="8020050"/>
            <a:ext cx="152400" cy="952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3790950" y="7975309"/>
            <a:ext cx="19050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Embargo (20d)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76900" y="8020050"/>
            <a:ext cx="152400" cy="952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886450" y="7975309"/>
            <a:ext cx="19050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Test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7962900"/>
            <a:ext cx="16459200" cy="12573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914400" y="7962900"/>
            <a:ext cx="57150" cy="1257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62050" y="81343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WHY EMBARGO · 為何要 embargo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62050" y="8420100"/>
            <a:ext cx="15887700" cy="3240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 日 embargo 隔絕 </a:t>
            </a:r>
            <a:r>
              <a:rPr sz="16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training-test 樣本之間的標籤洩漏</a:t>
            </a:r>
            <a:r>
              <a:rPr sz="16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（label 涉及未來 20 日報酬）；purge + expanding window 確保 </a:t>
            </a:r>
            <a:r>
              <a:rPr sz="16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AUC / ICIR / DSR </a:t>
            </a:r>
            <a:r>
              <a:rPr sz="16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皆於完全 out-of-sample 測得。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Tech Stack · 5 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A.06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技術堆疊五層架構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五層技術架構支撐研究系統從資料到服務化的延展性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en-US" altLang="zh-TW" sz="2600" b="1" spc="-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Storage</a:t>
            </a:r>
            <a:r>
              <a:rPr lang="zh-TW" altLang="en-US" sz="2600" b="1" spc="-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lang="en-US" altLang="zh-TW" sz="2600" b="1" spc="-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ETL</a:t>
            </a:r>
            <a:r>
              <a:rPr lang="zh-TW" altLang="en-US" sz="2600" b="1" spc="-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lang="en-US" altLang="zh-TW" sz="2600" b="1" spc="-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Feature</a:t>
            </a:r>
            <a:r>
              <a:rPr lang="zh-TW" altLang="en-US" sz="2600" b="1" spc="-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lang="en-US" altLang="zh-TW" sz="2600" b="1" spc="-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Model</a:t>
            </a:r>
            <a:r>
              <a:rPr lang="zh-TW" altLang="en-US" sz="2600" b="1" spc="-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lang="en-US" altLang="zh-TW" sz="2600" b="1" spc="-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Serve </a:t>
            </a:r>
            <a:r>
              <a:rPr lang="zh-TW" altLang="en-US" sz="2600" b="1" spc="-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分層管理。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76200" cy="952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200150" y="310515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600" y="3143250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SERVE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0150" y="3429000"/>
            <a:ext cx="24765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互動服務層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2900" y="3140018"/>
            <a:ext cx="9525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Streamlit (13 pages) · ICIR / SHAP / Decile / Equity 即時切換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2900" y="3537817"/>
            <a:ext cx="9525000" cy="2014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app/, dashboard.py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58900" y="3057290"/>
            <a:ext cx="3048000" cy="7053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0005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914400" y="4000500"/>
            <a:ext cx="76200" cy="952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200150" y="417195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2600" y="4210050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0150" y="4495800"/>
            <a:ext cx="24765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模型訓練層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2900" y="4206818"/>
            <a:ext cx="9525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XGBoost 1.7 / LightGBM 4.x / scikit-learn · Optuna 150 trials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52900" y="4604617"/>
            <a:ext cx="9525000" cy="2014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src/models/, model_registry/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58900" y="4124090"/>
            <a:ext cx="3048000" cy="7053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50673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914400" y="5067300"/>
            <a:ext cx="76200" cy="952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200150" y="523875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2600" y="5276850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0150" y="5562600"/>
            <a:ext cx="24765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特徵工程層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52900" y="5273618"/>
            <a:ext cx="9525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91 features × 9 pillars · purged K-Fold · 20d embargo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52900" y="5671417"/>
            <a:ext cx="9525000" cy="2014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src/features/, feature_store.parquet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058900" y="5190890"/>
            <a:ext cx="3048000" cy="7053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61341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14400" y="6134100"/>
            <a:ext cx="76200" cy="952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200150" y="630555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2600" y="6343650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ETL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0150" y="6629400"/>
            <a:ext cx="24765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資料對齊層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52900" y="6340418"/>
            <a:ext cx="9525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7 表 → panel · 主鍵 (stock_id, date) · 財報 lag 45d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2900" y="6738217"/>
            <a:ext cx="9525000" cy="2014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src/etl/, scripts/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058900" y="6257690"/>
            <a:ext cx="3048000" cy="7053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72009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914400" y="7200900"/>
            <a:ext cx="76200" cy="952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200150" y="737235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2600" y="7410450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STORAGE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00150" y="7696200"/>
            <a:ext cx="24765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儲存層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52900" y="7407218"/>
            <a:ext cx="9525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DuckDB 0.10 + Parquet · local snapshot · WAL off · 35 GB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52900" y="7805017"/>
            <a:ext cx="9525000" cy="2014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data/raw/, data/processed/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058900" y="7324490"/>
            <a:ext cx="3048000" cy="7053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CONTAINERIZED · 完全可重現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62050" y="9067800"/>
            <a:ext cx="158877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五層皆有 unit test + integration test · 任何一層可獨立替換 (e.g. DuckDB → BigQuery)；</a:t>
            </a: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Docker compose 兩節點即可重新訓練全棧。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9-Pillar Framework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91 features grouped to 9 pillars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A.07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九大支柱範例特徵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915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TW" altLang="en-US" sz="4000" b="1" i="0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九支柱框架讓模型同時吸收價格、基本面、風險與文本訊號</a:t>
            </a:r>
            <a:endParaRPr lang="en-US" altLang="zh-TW" sz="4000" b="1" i="0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 algn="l">
              <a:lnSpc>
                <a:spcPct val="118000"/>
              </a:lnSpc>
            </a:pPr>
            <a:r>
              <a:rPr lang="zh-TW" altLang="en-US" sz="2600" b="1" i="0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支柱化設計提升解釋性與治理能力。</a:t>
            </a:r>
            <a:endParaRPr lang="en-US" altLang="zh-TW" sz="2600" b="1" i="0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3124200"/>
            <a:ext cx="1905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2100" y="312420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193759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86150"/>
            <a:ext cx="49530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Risk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38481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43000" y="3962400"/>
            <a:ext cx="4953000" cy="24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volatility_20d · downside_dev · maxdd_60d · beta_60d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605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496050" y="2933700"/>
            <a:ext cx="541020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724650" y="3124200"/>
            <a:ext cx="1905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40A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3750" y="312420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2250" y="3193759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4650" y="3486150"/>
            <a:ext cx="49530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4650" y="3848100"/>
            <a:ext cx="571500" cy="285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724650" y="3962400"/>
            <a:ext cx="4953000" cy="24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sma_5_20_ratio · macd_signal · adx_14 · slope_20d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0777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2077700" y="29337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2306300" y="3124200"/>
            <a:ext cx="1905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535400" y="312420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963900" y="3193759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06300" y="3486150"/>
            <a:ext cx="49530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Momentum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06300" y="384810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2306300" y="3962400"/>
            <a:ext cx="4953000" cy="24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ret_5d · ret_20d · ret_60d · roc_10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14400" y="4705350"/>
            <a:ext cx="54102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43000" y="4895850"/>
            <a:ext cx="1905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891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72100" y="489585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4965409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5257800"/>
            <a:ext cx="49530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Valuation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5619750"/>
            <a:ext cx="571500" cy="28575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143000" y="5734050"/>
            <a:ext cx="4953000" cy="24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pe · pb · ev_ebitda · earnings_yield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605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6496050" y="47053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724650" y="4895850"/>
            <a:ext cx="1905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FND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53750" y="489585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82250" y="4965409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24650" y="5257800"/>
            <a:ext cx="49530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Fund.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24650" y="56197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724650" y="5734050"/>
            <a:ext cx="4953000" cy="24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roe · gross_margin · debt_eq · revenue_growth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0777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2077700" y="47053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2306300" y="4895850"/>
            <a:ext cx="1905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IND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535400" y="489585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963900" y="4965409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06300" y="5257800"/>
            <a:ext cx="49530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Industry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306300" y="56197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2306300" y="5734050"/>
            <a:ext cx="4953000" cy="24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sector_dummy × 9 · industry_momentum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914400" y="64770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143000" y="6667500"/>
            <a:ext cx="1905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CHP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72100" y="666750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0600" y="6737059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3000" y="7029450"/>
            <a:ext cx="49530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Chip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43000" y="7391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1143000" y="7505700"/>
            <a:ext cx="4953000" cy="24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foreign_inv_buy · margin_balance · short_ratio · turnover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9605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6496050" y="64770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6724650" y="6667500"/>
            <a:ext cx="1905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53750" y="666750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82250" y="6737059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24650" y="7029450"/>
            <a:ext cx="49530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Sentiment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24650" y="7391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6724650" y="7505700"/>
            <a:ext cx="4953000" cy="24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news_sent · forum_sent · sent_consensus · q1_dummy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0777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12077700" y="6477000"/>
            <a:ext cx="54102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2306300" y="6667500"/>
            <a:ext cx="1905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C489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EVT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535400" y="666750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963900" y="6737059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306300" y="7029450"/>
            <a:ext cx="49530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Event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2306300" y="7391400"/>
            <a:ext cx="571500" cy="28575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2306300" y="7505700"/>
            <a:ext cx="4953000" cy="24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earnings_announce · ex_div · split · merger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BLOCK STRUCTURE · 區塊設計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62050" y="8877300"/>
            <a:ext cx="15887700" cy="3038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九支柱 </a:t>
            </a: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彼此互補 · 跨價量 / 籌碼 / 文本三類資產</a:t>
            </a: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· 各支柱可單獨 ablation；LOPO 結果見 A.08。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LOPO ΔAUC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4-fold mean ΔAUC × 10,000 (bps)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76200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A.08 · Leave-One-Pillar-Out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詳解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LOPO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驗證顯示 </a:t>
            </a: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Risk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支柱是模型不可替代的核心訊號源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支柱貢獻不是由特徵數量決定。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477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移除單一支柱後 OOS AUC 變動 (4-fold mean, bps)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" y="356864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Risk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367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115050" y="356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124575" y="3600450"/>
            <a:ext cx="26479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410700" y="3577042"/>
            <a:ext cx="11430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+138.6 bps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900" y="404489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Trend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71800" y="4152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115050" y="4038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124575" y="4076700"/>
            <a:ext cx="12382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410700" y="4053292"/>
            <a:ext cx="11430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+64.9 bps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4900" y="452114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Valuation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71800" y="4629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115050" y="4514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124575" y="4552950"/>
            <a:ext cx="18097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410700" y="4529542"/>
            <a:ext cx="11430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+9.5 bps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4900" y="499739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Sentiment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71800" y="5105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115050" y="4991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124575" y="5029200"/>
            <a:ext cx="1619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410700" y="5005792"/>
            <a:ext cx="11430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+8.5 bps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4900" y="547364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Fund.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71800" y="5581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115050" y="5467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057900" y="550545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9410700" y="5482042"/>
            <a:ext cx="11430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-2.6 bps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594989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Sentiment forum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71800" y="6057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115050" y="5943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6057900" y="598170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410700" y="5958292"/>
            <a:ext cx="11430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-2.8 bps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4900" y="642614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Industry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71800" y="6534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6115050" y="6419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5829300" y="6457950"/>
            <a:ext cx="2762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9410700" y="6434542"/>
            <a:ext cx="11430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-14.8 bps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690239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Event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71800" y="7010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6115050" y="6896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5810250" y="6934200"/>
            <a:ext cx="29527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410700" y="6910792"/>
            <a:ext cx="11430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-15.7 bps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4900" y="737864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Chip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71800" y="748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6115050" y="737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5753100" y="7410450"/>
            <a:ext cx="3524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9410700" y="7387042"/>
            <a:ext cx="11430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-18.5 bps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44300" y="3105150"/>
            <a:ext cx="571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THREE READINGS · 三個關鍵解讀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544300" y="34861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11544300" y="3486150"/>
            <a:ext cx="58293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1772900" y="3657600"/>
            <a:ext cx="571500" cy="4030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382500" y="3695700"/>
            <a:ext cx="43815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Risk 一支獨大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382500" y="40386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2382500" y="4171950"/>
            <a:ext cx="47625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+138.6 bps · 占解釋力 ~50% · 風險特徵不可裁去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544300" y="491490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11544300" y="4914900"/>
            <a:ext cx="58293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1772900" y="5086350"/>
            <a:ext cx="571500" cy="4030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382500" y="5124450"/>
            <a:ext cx="43815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Trend 第二位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2382500" y="54673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12382500" y="5600700"/>
            <a:ext cx="47625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+64.9 bps · 動能 / 趨勢仍然顯著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544300" y="63436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11544300" y="6343650"/>
            <a:ext cx="58293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11772900" y="6515100"/>
            <a:ext cx="571500" cy="4030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382500" y="6553200"/>
            <a:ext cx="43815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文本是淨正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382500" y="68961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12382500" y="7029450"/>
            <a:ext cx="47625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+8.5 bps · 不貴的話應保留 · ~13% 邊際貢獻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IMPLICATION · 投資組合啟示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62050" y="8724900"/>
            <a:ext cx="15887700" cy="65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若被迫精簡，先砍 Chip / Event / Industry 三支 (合計 -49 bps，為負貢獻)；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保留 Risk + Trend + Valuation + Sentiment 四支已可貢獻 220+ bps 的 ΔAUC。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SHAP Top-20 +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TreeExplainer · |SHAP| mean across OOS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A.09 · SHAP Top-20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與支柱一致性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SHAP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與 </a:t>
            </a: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LOPO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共同確認模型判斷符合經濟直覺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解釋結果支持模型非黑箱判斷。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477500" cy="6286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7620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TOP 20 FEATURES BY MEAN |SHAP| · OOS aggregate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" y="347950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85900" y="349630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7111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volatility_20d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715500" y="347111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0.142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900" y="376525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485900" y="378205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05000" y="375686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downside_dev_60d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24500" y="3838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524500" y="3838575"/>
            <a:ext cx="3324225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715500" y="375686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0.118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4900" y="405100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485900" y="406780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5000" y="404261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beta_60d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24500" y="4124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524500" y="4124325"/>
            <a:ext cx="28956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715500" y="404261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0.103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4900" y="433675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485900" y="435355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05000" y="432836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macd_signal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24500" y="4410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5524500" y="4410075"/>
            <a:ext cx="26479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9715500" y="432836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4900" y="462250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485900" y="463930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05000" y="461411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sma_5_20_ratio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24500" y="4695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5524500" y="4695825"/>
            <a:ext cx="2447925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9715500" y="461411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490825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485900" y="4841960"/>
            <a:ext cx="304800" cy="3173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05000" y="489986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ret_20d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24500" y="4981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5524500" y="4981575"/>
            <a:ext cx="2305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9715500" y="489986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4900" y="519400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485900" y="521080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05000" y="518561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adx_14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24500" y="5267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5524500" y="5267325"/>
            <a:ext cx="21907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9715500" y="518561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4900" y="547975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485900" y="549655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RSK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05000" y="547136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maxdd_60d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24500" y="5553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5524500" y="5553075"/>
            <a:ext cx="2000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9715500" y="547136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4900" y="576550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1485900" y="578230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05000" y="575711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news_sent_5d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24500" y="5838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5524500" y="5838825"/>
            <a:ext cx="18002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9715500" y="575711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0.064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4900" y="605125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485900" y="606805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CHP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05000" y="604286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foreign_inv_buy_5d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24500" y="6124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5524500" y="6124575"/>
            <a:ext cx="17145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9715500" y="604286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0.061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4900" y="633700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485900" y="635380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VAL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05000" y="632861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524500" y="6410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5524500" y="6410325"/>
            <a:ext cx="1628775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9715500" y="632861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04900" y="662275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485900" y="6556460"/>
            <a:ext cx="304800" cy="3173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MOM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05000" y="661436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roc_10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524500" y="6696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524500" y="6696075"/>
            <a:ext cx="1543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9715500" y="661436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04900" y="690850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1485900" y="692530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FND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05000" y="690011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roe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524500" y="6981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5524500" y="6981825"/>
            <a:ext cx="145732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9715500" y="690011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4900" y="719425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1485900" y="721105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SNT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905000" y="718586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forum_sent_5d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524500" y="7267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5524500" y="7267575"/>
            <a:ext cx="13430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9715500" y="718586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4900" y="748000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15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1485900" y="749680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CHP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05000" y="747161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turnover_20d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524500" y="7553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5524500" y="7553325"/>
            <a:ext cx="12668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9715500" y="747161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0.045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04900" y="776575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1485900" y="778255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CHP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05000" y="775736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margin_balance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524500" y="7839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6" name="Rectangle 125"/>
          <p:cNvSpPr/>
          <p:nvPr/>
        </p:nvSpPr>
        <p:spPr>
          <a:xfrm>
            <a:off x="5524500" y="7839075"/>
            <a:ext cx="11525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9715500" y="775736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04900" y="805150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17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1485900" y="806830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VAL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905000" y="804311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pb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524500" y="8124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5524500" y="8124825"/>
            <a:ext cx="10668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9715500" y="804311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04900" y="833725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1485900" y="835405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SNT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05000" y="832886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q1_dummy_news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524500" y="8410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0" name="Rectangle 139"/>
          <p:cNvSpPr/>
          <p:nvPr/>
        </p:nvSpPr>
        <p:spPr>
          <a:xfrm>
            <a:off x="5524500" y="8410575"/>
            <a:ext cx="9525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9715500" y="832886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104900" y="862300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19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1485900" y="863980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FND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05000" y="861461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gross_margin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524500" y="8696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5524500" y="8696325"/>
            <a:ext cx="86677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8" name="TextBox 147"/>
          <p:cNvSpPr txBox="1"/>
          <p:nvPr/>
        </p:nvSpPr>
        <p:spPr>
          <a:xfrm>
            <a:off x="9715500" y="861461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0.031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04900" y="8908759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1485900" y="8925559"/>
            <a:ext cx="3048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VAL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05000" y="8900360"/>
            <a:ext cx="3429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earnings_yield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524500" y="8982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5524500" y="8982075"/>
            <a:ext cx="78105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9715500" y="8900360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1544300" y="3105150"/>
            <a:ext cx="571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PILLAR-WISE SHAP vs LOPO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1544300" y="3486150"/>
            <a:ext cx="58293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1715750" y="3555709"/>
            <a:ext cx="19050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PILLAR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4020800" y="3555709"/>
            <a:ext cx="1333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SHAP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5544800" y="3555709"/>
            <a:ext cx="1714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LOPO bps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1544300" y="37909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2" name="Rectangle 161"/>
          <p:cNvSpPr/>
          <p:nvPr/>
        </p:nvSpPr>
        <p:spPr>
          <a:xfrm>
            <a:off x="11544300" y="3790950"/>
            <a:ext cx="381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11715750" y="3844868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Risk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973050" y="3870034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RSK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020800" y="3844868"/>
            <a:ext cx="1333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0.434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44800" y="384486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+138.6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1544300" y="41338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8" name="Rectangle 167"/>
          <p:cNvSpPr/>
          <p:nvPr/>
        </p:nvSpPr>
        <p:spPr>
          <a:xfrm>
            <a:off x="11544300" y="4133850"/>
            <a:ext cx="38100" cy="3429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11715750" y="4187768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Trend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2973050" y="4212934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40A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020800" y="4187768"/>
            <a:ext cx="1333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0.259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5544800" y="418776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+64.9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1544300" y="44767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4" name="Rectangle 173"/>
          <p:cNvSpPr/>
          <p:nvPr/>
        </p:nvSpPr>
        <p:spPr>
          <a:xfrm>
            <a:off x="11544300" y="4476750"/>
            <a:ext cx="38100" cy="3429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11715750" y="4530668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Valuation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2973050" y="4555834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891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VAL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4020800" y="4530668"/>
            <a:ext cx="1333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0.124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5544800" y="453066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+9.5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11544300" y="48196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11544300" y="4819650"/>
            <a:ext cx="38100" cy="342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1" name="TextBox 180"/>
          <p:cNvSpPr txBox="1"/>
          <p:nvPr/>
        </p:nvSpPr>
        <p:spPr>
          <a:xfrm>
            <a:off x="11715750" y="4873568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Sentiment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973050" y="4898734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SNT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4020800" y="4873568"/>
            <a:ext cx="1333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0.146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544800" y="487356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+8.5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1544300" y="51625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6" name="Rectangle 185"/>
          <p:cNvSpPr/>
          <p:nvPr/>
        </p:nvSpPr>
        <p:spPr>
          <a:xfrm>
            <a:off x="11544300" y="5162550"/>
            <a:ext cx="38100" cy="3429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11715750" y="5216468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Chip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2973050" y="5241634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CHP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4020800" y="5216468"/>
            <a:ext cx="1333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0.147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5544800" y="521646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-18.5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1544300" y="55054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11544300" y="5505450"/>
            <a:ext cx="38100" cy="342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11715750" y="5559368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Industry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2973050" y="5584534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IND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4020800" y="5559368"/>
            <a:ext cx="1333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0.062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5544800" y="555936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-14.8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1544300" y="58483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8" name="Rectangle 197"/>
          <p:cNvSpPr/>
          <p:nvPr/>
        </p:nvSpPr>
        <p:spPr>
          <a:xfrm>
            <a:off x="11544300" y="5848350"/>
            <a:ext cx="38100" cy="342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9" name="TextBox 198"/>
          <p:cNvSpPr txBox="1"/>
          <p:nvPr/>
        </p:nvSpPr>
        <p:spPr>
          <a:xfrm>
            <a:off x="11715750" y="5902268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Event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2973050" y="5927434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C489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EVT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4020800" y="5902268"/>
            <a:ext cx="1333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0.034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5544800" y="590226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-15.7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1544300" y="61912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4" name="Rectangle 203"/>
          <p:cNvSpPr/>
          <p:nvPr/>
        </p:nvSpPr>
        <p:spPr>
          <a:xfrm>
            <a:off x="11544300" y="6191250"/>
            <a:ext cx="38100" cy="3429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5" name="TextBox 204"/>
          <p:cNvSpPr txBox="1"/>
          <p:nvPr/>
        </p:nvSpPr>
        <p:spPr>
          <a:xfrm>
            <a:off x="11715750" y="6245168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Fund.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2973050" y="6270334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FND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4020800" y="6245168"/>
            <a:ext cx="1333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0.083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5544800" y="624516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-2.6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11544300" y="6667500"/>
            <a:ext cx="5829300" cy="25146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0" name="Rectangle 209"/>
          <p:cNvSpPr/>
          <p:nvPr/>
        </p:nvSpPr>
        <p:spPr>
          <a:xfrm>
            <a:off x="11544300" y="6667500"/>
            <a:ext cx="57150" cy="2514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1" name="TextBox 210"/>
          <p:cNvSpPr txBox="1"/>
          <p:nvPr/>
        </p:nvSpPr>
        <p:spPr>
          <a:xfrm>
            <a:off x="11791950" y="68389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CROSS-METHOD CONSISTENCY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791950" y="7124700"/>
            <a:ext cx="5257800" cy="929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SHAP 與 LOPO 對 Risk / Trend / Valuation 三支柱結論一致；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Chip 在 SHAP 量值大 (0.147) 卻在 LOPO 為負 (-18.5)，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顯示 chip 特徵與其他支柱有相關性 → 集成中冗餘。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Top-10 Single Factors · 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Spearman IC over 4-fold OOS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A.10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單因子</a:t>
            </a: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IC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排行</a:t>
            </a: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Top-10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單因子訊號不足以形成可交易 </a:t>
            </a: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alpha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，必須仰賴多支柱交互作用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集成後的訊號品質高於單點因子。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3906500" cy="381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28700" y="3050884"/>
            <a:ext cx="342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#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050884"/>
            <a:ext cx="3390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9700" y="3050884"/>
            <a:ext cx="1104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PILLAR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200" y="3050884"/>
            <a:ext cx="16764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IC (Spearman)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050884"/>
            <a:ext cx="1866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ICIR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53700" y="3050884"/>
            <a:ext cx="1866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AUC (OOS, single)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49200" y="3050884"/>
            <a:ext cx="20574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NOTE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3147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914400" y="33147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28700" y="3444818"/>
            <a:ext cx="3429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3436418"/>
            <a:ext cx="3390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volatility_20d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9700" y="3453217"/>
            <a:ext cx="11049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200" y="3436418"/>
            <a:ext cx="16764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-0.082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4364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3700" y="34364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49200" y="3453217"/>
            <a:ext cx="20574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負相關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100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914400" y="38100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28700" y="3940118"/>
            <a:ext cx="3429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3931718"/>
            <a:ext cx="3390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downside_dev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9700" y="3948517"/>
            <a:ext cx="11049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3200" y="3931718"/>
            <a:ext cx="16764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-0.071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39317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0.064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53700" y="39317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649200" y="3948517"/>
            <a:ext cx="20574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負相關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43053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914400" y="43053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28700" y="4435418"/>
            <a:ext cx="3429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4427018"/>
            <a:ext cx="3390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macd_signal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9700" y="4443817"/>
            <a:ext cx="11049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53200" y="4427018"/>
            <a:ext cx="16764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+0.064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44270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0.058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53700" y="44270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649200" y="4443817"/>
            <a:ext cx="20574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正相關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8006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914400" y="48006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28700" y="4930718"/>
            <a:ext cx="3429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00200" y="4922318"/>
            <a:ext cx="3390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beta_60d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9700" y="4939117"/>
            <a:ext cx="11049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53200" y="4922318"/>
            <a:ext cx="16764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-0.061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58200" y="49223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53700" y="49223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649200" y="4939117"/>
            <a:ext cx="20574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負相關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52959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914400" y="52959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028700" y="5426018"/>
            <a:ext cx="3429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00200" y="5417618"/>
            <a:ext cx="3390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sma_5_20_ratio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19700" y="5434417"/>
            <a:ext cx="11049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53200" y="5417618"/>
            <a:ext cx="16764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+0.058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58200" y="54176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53700" y="54176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649200" y="5434417"/>
            <a:ext cx="20574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正相關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" y="57912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914400" y="5791200"/>
            <a:ext cx="38100" cy="495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1028700" y="5921318"/>
            <a:ext cx="3429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00200" y="5912918"/>
            <a:ext cx="3390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ret_20d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19700" y="5929717"/>
            <a:ext cx="11049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MOM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53200" y="5912918"/>
            <a:ext cx="16764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+0.055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58200" y="59129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0.049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53700" y="59129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0.609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49200" y="5929717"/>
            <a:ext cx="20574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正相關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14400" y="62865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914400" y="6286500"/>
            <a:ext cx="38100" cy="495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028700" y="6416618"/>
            <a:ext cx="3429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6408218"/>
            <a:ext cx="3390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news_sent_5d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19700" y="6425017"/>
            <a:ext cx="11049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53200" y="6408218"/>
            <a:ext cx="16764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+0.048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58200" y="64082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0.044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53700" y="64082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649200" y="6425017"/>
            <a:ext cx="20574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正相關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14400" y="67818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914400" y="6781800"/>
            <a:ext cx="38100" cy="4953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028700" y="6911918"/>
            <a:ext cx="3429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00200" y="6903518"/>
            <a:ext cx="3390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foreign_inv_buy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19700" y="6920317"/>
            <a:ext cx="11049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CHP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53200" y="6903518"/>
            <a:ext cx="16764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+0.045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58200" y="69035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0.041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53700" y="69035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0.598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49200" y="6920317"/>
            <a:ext cx="20574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正相關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14400" y="72771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914400" y="7277100"/>
            <a:ext cx="38100" cy="4953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28700" y="7407218"/>
            <a:ext cx="3429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0200" y="7398818"/>
            <a:ext cx="3390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219700" y="7415617"/>
            <a:ext cx="11049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891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553200" y="7398818"/>
            <a:ext cx="16764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-0.041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58200" y="73988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0.038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553700" y="73988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0.591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649200" y="7415617"/>
            <a:ext cx="20574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負相關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14400" y="77724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914400" y="77724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1028700" y="7902518"/>
            <a:ext cx="3429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00200" y="7894118"/>
            <a:ext cx="3390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adx_14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219700" y="7910917"/>
            <a:ext cx="11049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53200" y="7894118"/>
            <a:ext cx="16764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+0.039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58200" y="78941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0.036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53700" y="7894118"/>
            <a:ext cx="18669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0.587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49200" y="7910917"/>
            <a:ext cx="205740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正相關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INSIGHT · 單因子的天花板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62050" y="8877300"/>
            <a:ext cx="15887700" cy="3038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單因子 AUC 上限 ~0.642 · 集成後達 0.6490；</a:t>
            </a: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集成才是 alpha 的關鍵</a:t>
            </a: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——任何單一因子在 OOS 都不足以承擔倉位決策。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Model Comparison · 4 Algorithms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4-fold mean ± std · Optuna 150 trials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A.11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演算法四模型對照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altLang="zh-TW" sz="4000" b="1" spc="-80" dirty="0" err="1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XGBoost</a:t>
            </a: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勝出反映台股訊號具有非線性與交互作用特徵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en-US" altLang="zh-TW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Tree-based model </a:t>
            </a: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優於線性基準。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3820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OOS AUC · 4-fold mean (vs 0.5 baseline)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4724400"/>
            <a:ext cx="1333500" cy="2971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95400" y="442589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0.6490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400" y="781050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XGBoost 1.7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5650" y="4838700"/>
            <a:ext cx="1333500" cy="2857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105150" y="454019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0.6432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5150" y="781050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LightGBM 4.x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05400" y="5133975"/>
            <a:ext cx="1333500" cy="256222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914900" y="483546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0.6285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4900" y="781050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Random Forest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15150" y="5734050"/>
            <a:ext cx="1333500" cy="19621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724650" y="5435543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0.5984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4650" y="781050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Logistic L2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85900" y="7696200"/>
            <a:ext cx="7620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485900" y="8115300"/>
            <a:ext cx="952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0.5 baseline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63100" y="2933700"/>
            <a:ext cx="7810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753600" y="3105150"/>
            <a:ext cx="571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METRICS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53600" y="3429000"/>
            <a:ext cx="7810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867900" y="3517609"/>
            <a:ext cx="18669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63400" y="3517609"/>
            <a:ext cx="10096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AUC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01650" y="3517609"/>
            <a:ext cx="10096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ICIR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39900" y="3517609"/>
            <a:ext cx="10096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DSR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78150" y="3517609"/>
            <a:ext cx="17716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NOTE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53600" y="3771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753600" y="377190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9906000" y="3949643"/>
            <a:ext cx="18669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XGBoost 1.7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963400" y="3941243"/>
            <a:ext cx="100965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0.6490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01650" y="3949643"/>
            <a:ext cx="10096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0.743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439900" y="3949643"/>
            <a:ext cx="10096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12.12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678150" y="3966410"/>
            <a:ext cx="177165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WINNER · 採用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53600" y="4343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9753600" y="434340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9906000" y="4521143"/>
            <a:ext cx="18669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LightGBM 4.x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63400" y="4512743"/>
            <a:ext cx="100965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0.6432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201650" y="4521143"/>
            <a:ext cx="10096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0.721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439900" y="4521143"/>
            <a:ext cx="10096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10.84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678150" y="4537910"/>
            <a:ext cx="177165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差距 0.6 pp · 訓練快 30%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53600" y="4914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9753600" y="491490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906000" y="5092643"/>
            <a:ext cx="18669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Random Forest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963400" y="5084243"/>
            <a:ext cx="100965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0.6285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201650" y="5092643"/>
            <a:ext cx="10096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439900" y="5092643"/>
            <a:ext cx="10096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8.92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678150" y="5109410"/>
            <a:ext cx="177165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泛化稍弱 · 可解釋強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3600" y="5486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9753600" y="548640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9906000" y="5664143"/>
            <a:ext cx="18669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Logistic L2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963400" y="5655743"/>
            <a:ext cx="100965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0.5984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201650" y="5664143"/>
            <a:ext cx="10096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0.413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439900" y="5664143"/>
            <a:ext cx="10096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4.31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678150" y="5680910"/>
            <a:ext cx="177165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Linear baseline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WHY XGBOOST · 為何採用 XGBoost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62050" y="8877300"/>
            <a:ext cx="15887700" cy="3038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優勝差距僅 0.6 pp · 但其在 </a:t>
            </a: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minority class (Top 0.1%) 的 ICIR / DSR 顯著最佳</a:t>
            </a: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；後續所有指標均以 XGBoost 為主模型。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AUC by Fold + DSR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DSR per Bailey &amp; López de Prado (2014)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A.12 · 4-Fold AUC + DSR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多重檢定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DSR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將策略績效從試算結果提升為可辯護的統計結論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多重檢定修正後仍通過顯著門檻。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97536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OOS AUC BY FOLD · expanding window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66900" y="4648200"/>
            <a:ext cx="1333500" cy="3162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76400" y="435921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0.6582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6400" y="792480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Fold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6400" y="8184859"/>
            <a:ext cx="1714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2017-19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2400" y="4953000"/>
            <a:ext cx="1333500" cy="2857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771900" y="466401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0.6431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0" y="792480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Fold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1900" y="8184859"/>
            <a:ext cx="1714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2020-21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57900" y="4819650"/>
            <a:ext cx="1333500" cy="29908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867400" y="453066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0.6498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400" y="792480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Fold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8184859"/>
            <a:ext cx="1714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2022-23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53400" y="4914900"/>
            <a:ext cx="1333500" cy="2895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962900" y="4625918"/>
            <a:ext cx="1714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0.6450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792480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Fold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8184859"/>
            <a:ext cx="1714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2024-25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66900" y="4838700"/>
            <a:ext cx="6858000" cy="95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763000" y="4705350"/>
            <a:ext cx="190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mean 0.6490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66900" y="7810500"/>
            <a:ext cx="6858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866900" y="840105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0.5 baseline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896600" y="2933700"/>
            <a:ext cx="647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0896600" y="2933700"/>
            <a:ext cx="6477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1125200" y="3162300"/>
            <a:ext cx="571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DEFLATED SHARPE RATIO · 多重檢定校正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25200" y="3486150"/>
            <a:ext cx="6019800" cy="705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1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DSR 12.12 (p&lt;0.001)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125200" y="4210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1125200" y="4400550"/>
            <a:ext cx="6019800" cy="16292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DSR = (SR̂ − E[max SR_n]) × √(T−1) / √(1 − γ₃·SR̂ + (γ₄−1)/4·SR̂²)</a:t>
            </a:r>
          </a:p>
          <a:p>
            <a:pPr algn="l">
              <a:lnSpc>
                <a:spcPct val="16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SR̂</a:t>
            </a: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= 觀測 Sharpe Ratio = 2.41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</a:t>
            </a: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= 多重試驗 (Optuna trials) = 150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</a:t>
            </a: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= OOS 樣本期 (years) ≈ 8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γ₃, γ₄</a:t>
            </a: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= 報酬 skewness / kurtosis 校正項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125200" y="7219950"/>
            <a:ext cx="6019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125200" y="7334250"/>
            <a:ext cx="60198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解讀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25200" y="7600950"/>
            <a:ext cx="6019800" cy="5808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DSR &gt; 2 即顯著；本系統 12.12 為極強拒絕「運氣假說」的證據——150 次參數搜尋的選擇偏誤已被扣除。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STABILITY · 跨 fold 穩定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62050" y="9067800"/>
            <a:ext cx="158877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 fold AUC 標準差 0.005 · 最差 fold 0.6431 仍遠高於 0.5 baseline · </a:t>
            </a: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系統不靠單一年份。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</a:t>
            </a:r>
            <a:r>
              <a:rPr sz="1200" b="1" i="0" spc="14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· </a:t>
            </a:r>
            <a:r>
              <a:rPr sz="1200" b="1" i="0" spc="14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附錄</a:t>
            </a:r>
            <a:endParaRPr sz="1200" b="1" i="0" spc="14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Threshold Sweep · 0.40 / 0.50 / 0.60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40 thresholds × 4-fold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A.13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三情境門檻設計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Threshold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設計讓同一模型對應不同風險偏好的投資決策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高門檻追求確信，低門檻擴大覆蓋。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保守 · CONSERVATIVE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48050"/>
            <a:ext cx="4800600" cy="6043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 ≥ 0.60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43000" y="42672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SIGNAL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476750"/>
            <a:ext cx="4800600" cy="5373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0673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HIT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276850"/>
            <a:ext cx="4800600" cy="5373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52.4%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8674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vs baseline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076950"/>
            <a:ext cx="4800600" cy="5373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+22.4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6991350"/>
            <a:ext cx="4800600" cy="26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較少訊號 · 高勝率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平衡 · BALANCED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448050"/>
            <a:ext cx="4800600" cy="6043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 ≥ 0.50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629400" y="42672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SIGNAL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4476750"/>
            <a:ext cx="4800600" cy="5373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0673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HIT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5276850"/>
            <a:ext cx="4800600" cy="5373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46.1%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58674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vs baseline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6076950"/>
            <a:ext cx="4800600" cy="5373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+16.1 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6991350"/>
            <a:ext cx="4800600" cy="26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本系統預設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8872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攻擊 · AGGRESSIVE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115800" y="3448050"/>
            <a:ext cx="4800600" cy="6043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 ≥ 0.40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40195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2115800" y="42672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SIGNAL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15800" y="4476750"/>
            <a:ext cx="4800600" cy="5373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12.3%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115800" y="50673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HIT RATE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5276850"/>
            <a:ext cx="4800600" cy="5373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38.2%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15800" y="58674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vs baseline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115800" y="6076950"/>
            <a:ext cx="4800600" cy="5373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+8.2 pp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115800" y="6991350"/>
            <a:ext cx="4800600" cy="26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訊號多 · 勝率較低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76962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914400" y="76962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INTERPRETATION · 投資人對照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2050" y="8153400"/>
            <a:ext cx="15887700" cy="693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本系統的門檻是 </a:t>
            </a:r>
            <a:r>
              <a:rPr sz="16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可調節的策略開關</a:t>
            </a:r>
            <a:r>
              <a:rPr sz="16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；機構可挑保守、量化基金可挑攻擊。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6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三情境的 IC / hit rate / edge 全部在 OOS 取得，已扣 5 bps 滑價假設。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Hit Decile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OOS hit rate by predicted-prob decile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A.14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預測機率分位</a:t>
            </a: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×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命中率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Decile hit rate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遞增證明模型分數具有排序能力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分數越高，實際命中率越高。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571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HIT RATE BY PREDICTED-PROB DECILE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000750"/>
            <a:ext cx="1047750" cy="1619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95400" y="5720167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22.4%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400" y="7729943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09900" y="5829300"/>
            <a:ext cx="1047750" cy="1790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819400" y="5548717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24.8%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7729943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3900" y="5705475"/>
            <a:ext cx="1047750" cy="19145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343400" y="5424892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26.5%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7729943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57900" y="5591175"/>
            <a:ext cx="1047750" cy="20288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867400" y="5310592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28.1%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7729943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1900" y="5467350"/>
            <a:ext cx="1047750" cy="2152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391400" y="5186767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29.8%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1400" y="7729943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05900" y="5334000"/>
            <a:ext cx="1047750" cy="228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915400" y="5053417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31.6%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7729943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29900" y="5200650"/>
            <a:ext cx="1047750" cy="2419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439400" y="4920067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33.5%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39400" y="7729943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153900" y="4991100"/>
            <a:ext cx="1047750" cy="2628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1963400" y="4710517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36.4%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963400" y="7729943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677900" y="4638675"/>
            <a:ext cx="1047750" cy="29813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3487400" y="4358092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41.2%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487400" y="7729943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201900" y="4162425"/>
            <a:ext cx="1047750" cy="3457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5011400" y="3881842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47.8%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011400" y="7729943"/>
            <a:ext cx="1428750" cy="2182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5448300"/>
            <a:ext cx="1562100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5430500" y="523875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30% baseline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MONOTONICITY · 機率排序與真實命中一致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2050" y="8724900"/>
            <a:ext cx="15887700" cy="6297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十個分位無一破口 · 排序能力扎實；</a:t>
            </a: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D10 vs D1 spread = 25.4 pp</a:t>
            </a: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· 是策略中最關鍵的 alpha 來源。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此為 P.06 主簡報「47.8% hit @ D10」的詳細展開。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Equity Curve · Top 0.1% vs 0050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5 bps round-trip cost · 20-day rebalance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A.15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累積報酬曲線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Top-K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策略證明高分位訊號能轉化為投資組合績效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模型不只預測方向，也能形成組合。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85900" y="77343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85900" y="3219450"/>
            <a:ext cx="9525" cy="4514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14859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200150" y="7848600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147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429000" y="7848600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2019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57850" y="7848600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24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886700" y="7848600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013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115550" y="7848600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6301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2344400" y="7848600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590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4573250" y="7848600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0878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6802100" y="7848600"/>
            <a:ext cx="571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28750" y="77343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14400" y="7639050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28750" y="68389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14400" y="6743700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50%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85900" y="68389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428750" y="59340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14400" y="5838825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100%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85900" y="593407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1428750" y="5029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914400" y="4933950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150%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5900" y="50292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1428750" y="41243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14400" y="4029075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41243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428750" y="32194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914400" y="3124200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250%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85900" y="32194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50" name="Connector 49"/>
          <p:cNvCxnSpPr/>
          <p:nvPr/>
        </p:nvCxnSpPr>
        <p:spPr>
          <a:xfrm flipV="1">
            <a:off x="1485900" y="7410450"/>
            <a:ext cx="2228850" cy="3238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4750" y="6981825"/>
            <a:ext cx="2228850" cy="42862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943600" y="6334125"/>
            <a:ext cx="2228850" cy="6477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172450" y="5838825"/>
            <a:ext cx="2228850" cy="4953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0401300" y="5172075"/>
            <a:ext cx="2228850" cy="6667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2630150" y="4343400"/>
            <a:ext cx="2228850" cy="8286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4859000" y="3552825"/>
            <a:ext cx="2228850" cy="7905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485900" y="7524750"/>
            <a:ext cx="2228850" cy="2095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714750" y="7229475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943600" y="7048500"/>
            <a:ext cx="2228850" cy="1809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172450" y="7048500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0401300" y="7105650"/>
            <a:ext cx="2228850" cy="2381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2630150" y="6800850"/>
            <a:ext cx="2228850" cy="3048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4859000" y="6515100"/>
            <a:ext cx="2228850" cy="2857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438275" y="76866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3667125" y="736282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5895975" y="6934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8124825" y="62865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10353675" y="5791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12582525" y="51244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14811375" y="42957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17040225" y="3505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1447800" y="76962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3676650" y="74866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5905500" y="71913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134350" y="70104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10363200" y="73056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12592050" y="70675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14820900" y="67627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17049750" y="64770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5373350" y="3343275"/>
            <a:ext cx="19050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+232%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373350" y="6610350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+68%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714500" y="3448050"/>
            <a:ext cx="2286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2019300" y="3390900"/>
            <a:ext cx="3048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Top 0.1% portfolio (avg 4 stocks)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714500" y="3733800"/>
            <a:ext cx="22860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2019300" y="3676650"/>
            <a:ext cx="3048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0050 ETF (TWSE benchmark)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9144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085850" y="8382000"/>
            <a:ext cx="2286000" cy="167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CAGR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5850" y="8610600"/>
            <a:ext cx="1905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+16.4%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09900" y="86645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+6.7%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57650" y="8664518"/>
            <a:ext cx="8001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+9.7 pp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5850" y="8972550"/>
            <a:ext cx="1905000" cy="134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STRATEGY  /  0050  /  EDGE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863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863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5257800" y="8382000"/>
            <a:ext cx="2286000" cy="1678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SR̂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257800" y="8610600"/>
            <a:ext cx="1905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2.41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181850" y="86645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0.78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29600" y="8664518"/>
            <a:ext cx="8001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+1.63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57800" y="8972550"/>
            <a:ext cx="1905000" cy="134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STRATEGY  /  0050  /  EDGE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2583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92583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9429750" y="8382000"/>
            <a:ext cx="2286000" cy="167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MaxDD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29750" y="8610600"/>
            <a:ext cx="1905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-18.2%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53800" y="86645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-32.4%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401550" y="8664518"/>
            <a:ext cx="8001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+14.2 pp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29750" y="8972550"/>
            <a:ext cx="1905000" cy="134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STRATEGY  /  0050  /  EDGE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34302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134302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13601700" y="8382000"/>
            <a:ext cx="2286000" cy="167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HIT RATE (M)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601700" y="8610600"/>
            <a:ext cx="1905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64%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5525750" y="86645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52%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573500" y="8664518"/>
            <a:ext cx="8001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+12 pp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3601700" y="8972550"/>
            <a:ext cx="1905000" cy="134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STRATEGY  /  0050  /  EDGE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Drawdown &amp; Cost Sensitivity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round-trip cost from 0 to 30 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A.16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回撤與交易成本敏感度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成本壓力測試顯示 </a:t>
            </a: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D+20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策略仍具交易摩擦緩衝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短週期策略受成本侵蝕更明顯。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5 bps ·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48050"/>
            <a:ext cx="4800600" cy="772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+16.4%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019550"/>
            <a:ext cx="48006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CAGR · annualized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43434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143000" y="4533900"/>
            <a:ext cx="1905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SR̂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4514850"/>
            <a:ext cx="31623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2.41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181600"/>
            <a:ext cx="190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MaxDD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9400" y="5162550"/>
            <a:ext cx="31623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-18.2%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362700"/>
            <a:ext cx="4800600" cy="270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本系統預設 · 散戶券商一般成本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15 bps ·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448050"/>
            <a:ext cx="4800600" cy="772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+12.1%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19550"/>
            <a:ext cx="48006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CAGR · annualized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4343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629400" y="4533900"/>
            <a:ext cx="1905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SR̂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5800" y="4514850"/>
            <a:ext cx="31623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1.78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181600"/>
            <a:ext cx="190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MaxDD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5800" y="5162550"/>
            <a:ext cx="31623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-21.6%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6362700"/>
            <a:ext cx="4800600" cy="270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重稅 / 較高滑價 · 多空組合場景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30 bps · WORST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15800" y="3448050"/>
            <a:ext cx="4800600" cy="772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+5.8%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115800" y="4019550"/>
            <a:ext cx="48006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CAGR · annualized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115800" y="4343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2115800" y="4533900"/>
            <a:ext cx="1905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SR̂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92200" y="4514850"/>
            <a:ext cx="31623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15800" y="5181600"/>
            <a:ext cx="190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MaxDD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92200" y="5162550"/>
            <a:ext cx="31623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-25.4%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6362700"/>
            <a:ext cx="4800600" cy="270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極端 · 流動性低 / 散戶高週轉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7315200"/>
            <a:ext cx="16459200" cy="1866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914400" y="7315200"/>
            <a:ext cx="57150" cy="1866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62050" y="74866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COST RESILIENCE · 成本韌性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2050" y="7772400"/>
            <a:ext cx="15887700" cy="1333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即使在 30 bps 極端成本下，策略 </a:t>
            </a:r>
            <a:r>
              <a:rPr sz="16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仍維持 +5.8% CAGR · SR̂ 0.92</a:t>
            </a:r>
            <a:r>
              <a:rPr sz="16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；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6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5 bps base case 為散戶實際可達成之水準。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IMPLICATION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本策略不依賴零成本假設，</a:t>
            </a: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在合理交易成本下仍具實戰可用性。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Dashboard · 13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dashboard/ · Streamlit 1.31 · launch via `make serve`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A.17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互動儀表板</a:t>
            </a: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13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頁地圖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互動儀表板將研究結果轉化為跨角色共用的決策介面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研究員、</a:t>
            </a:r>
            <a:r>
              <a:rPr lang="en-US" altLang="zh-TW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PM </a:t>
            </a: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與治理角色可使用同一 </a:t>
            </a:r>
            <a:r>
              <a:rPr lang="en-US" altLang="zh-TW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truth source</a:t>
            </a: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85850" y="3105150"/>
            <a:ext cx="571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43250"/>
            <a:ext cx="30861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Overview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600200" y="3486150"/>
            <a:ext cx="3086100" cy="236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系統首頁 · KPI 速讀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292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200650" y="3105150"/>
            <a:ext cx="571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3143250"/>
            <a:ext cx="30861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Data Health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715000" y="3486150"/>
            <a:ext cx="3086100" cy="236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PSI / KS 漂移監控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1440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315450" y="3105150"/>
            <a:ext cx="571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143250"/>
            <a:ext cx="30861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Feature Catalog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298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829800" y="3486150"/>
            <a:ext cx="3086100" cy="236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91 features 速查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2588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13258800" y="293370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3430250" y="3105150"/>
            <a:ext cx="571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44600" y="3143250"/>
            <a:ext cx="30861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Model Performance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944600" y="340995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3944600" y="3486150"/>
            <a:ext cx="3086100" cy="236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AUC / ICIR / fold 切換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144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085850" y="4305300"/>
            <a:ext cx="571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4343400"/>
            <a:ext cx="30861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ICIR Heatmap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002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600200" y="4686300"/>
            <a:ext cx="3086100" cy="236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pillar × month 熱圖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50292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200650" y="4305300"/>
            <a:ext cx="571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15000" y="4343400"/>
            <a:ext cx="30861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SHAP Explorer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50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5715000" y="4686300"/>
            <a:ext cx="3086100" cy="236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Top-20 / 個股逐股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91440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315450" y="4305300"/>
            <a:ext cx="571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29800" y="4343400"/>
            <a:ext cx="30861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Decile Hit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298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829800" y="4686300"/>
            <a:ext cx="3086100" cy="236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D1-D10 命中率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2588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13258800" y="413385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3430250" y="4305300"/>
            <a:ext cx="571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944600" y="4343400"/>
            <a:ext cx="30861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Threshold Sweep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944600" y="461010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3944600" y="4686300"/>
            <a:ext cx="3086100" cy="236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40 門檻 sweep 曲線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9144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085850" y="5505450"/>
            <a:ext cx="571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00200" y="5543550"/>
            <a:ext cx="30861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Backtest Equity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6002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600200" y="5886450"/>
            <a:ext cx="3086100" cy="236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累積報酬 + 0050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50292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5200650" y="5505450"/>
            <a:ext cx="571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15000" y="5543550"/>
            <a:ext cx="30861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Drawdown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150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715000" y="5886450"/>
            <a:ext cx="3086100" cy="236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回撤期間 + Calmar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91440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9315450" y="5505450"/>
            <a:ext cx="571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29800" y="5543550"/>
            <a:ext cx="30861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Text Sentiment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8298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9829800" y="5886450"/>
            <a:ext cx="3086100" cy="236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500 keyword Lift × χ²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588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132588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13430250" y="5505450"/>
            <a:ext cx="571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944600" y="5543550"/>
            <a:ext cx="30861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Daily Watchlist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9446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3944600" y="5886450"/>
            <a:ext cx="3086100" cy="236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今日訊號股 + Q1 警示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65341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914400" y="6534150"/>
            <a:ext cx="39624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085850" y="6705600"/>
            <a:ext cx="571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C489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0200" y="6743700"/>
            <a:ext cx="30861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Governance Gates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600200" y="7010400"/>
            <a:ext cx="381000" cy="1905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1600200" y="7086600"/>
            <a:ext cx="3086100" cy="236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9/9 閘門即時狀態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OPERATIONAL READY · 上線即用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2050" y="8877300"/>
            <a:ext cx="15887700" cy="3038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Streamlit 部署，三秒切頁；</a:t>
            </a: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所有圖表皆可導出 PNG / 對應 JSON artifact</a:t>
            </a: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；研究員、PM、合規可同時使用同一頁面。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Sentiment Asset ·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sentiment lexicon under src/text/lexicon/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A.18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文本資產總覽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新聞與論壇文本已被轉化為可建模的台股情緒資產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en-US" altLang="zh-TW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1.12M articles </a:t>
            </a: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與 </a:t>
            </a:r>
            <a:r>
              <a:rPr lang="en-US" altLang="zh-TW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500 keywords </a:t>
            </a: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支撐文本訊號。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ARTICLES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1,125,134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2228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15 來源 · 2008+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KEYWORDS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940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2228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Bull 256 / Bear 244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ENTITY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940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2228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tickers 涵蓋率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DEDUP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940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2227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MinHash LSH J ≥ 0.85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19650"/>
            <a:ext cx="571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LEXICON CONSTRUCTION · 詞表建構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104900" y="5372100"/>
            <a:ext cx="7715250" cy="2420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500-keyword 台股情感詞表 · 三步驟</a:t>
            </a:r>
          </a:p>
          <a:p>
            <a:pPr algn="l">
              <a:lnSpc>
                <a:spcPct val="155000"/>
              </a:lnSpc>
            </a:pPr>
            <a:r>
              <a:rPr sz="1400" b="1" i="0" spc="16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  TF-IDF 候選 </a:t>
            </a: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從 400k+ 高品質新聞抽 5,000 候選詞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1" i="0" spc="16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  Lift × χ² 過濾 </a:t>
            </a: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計算每詞 Lift (vs neutral) 與卡方值 → 留 500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400" b="1" i="0" spc="16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  專家校驗 </a:t>
            </a: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兩位金融研究生雙盲標註 · κ = 0.78</a:t>
            </a:r>
          </a:p>
          <a:p>
            <a:pPr algn="l">
              <a:lnSpc>
                <a:spcPct val="155000"/>
              </a:lnSpc>
            </a:pPr>
            <a:r>
              <a:rPr sz="16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為何不直接用通用情感詞表？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LIWC / NTUSD 的「正面」≠ 股價的「正面」 (e.g. 「擴產」中性偏負，因稀釋EPS)</a:t>
            </a:r>
          </a:p>
          <a:p>
            <a:pPr algn="l">
              <a:lnSpc>
                <a:spcPct val="155000"/>
              </a:lnSpc>
            </a:pPr>
            <a:r>
              <a:rPr sz="12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完整詞表參考 src/text/lexicon/twstock500.csv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77350" y="4819650"/>
            <a:ext cx="571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SOURCE BREAKDOWN · 15 來源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7735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9277350" y="51435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9486900" y="5559368"/>
            <a:ext cx="3048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Anue 鉅亨網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6383000" y="5559368"/>
            <a:ext cx="762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86900" y="6016568"/>
            <a:ext cx="3048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PTT Stock 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763500" y="6096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2763500" y="6096000"/>
            <a:ext cx="2571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6383000" y="6016568"/>
            <a:ext cx="762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86900" y="6473768"/>
            <a:ext cx="3048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經濟日報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763500" y="65532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12763500" y="6553200"/>
            <a:ext cx="1714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6383000" y="6473768"/>
            <a:ext cx="762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6900" y="6930968"/>
            <a:ext cx="3048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工商時報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763500" y="70104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2763500" y="7010400"/>
            <a:ext cx="1571625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6383000" y="6930968"/>
            <a:ext cx="762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86900" y="7388168"/>
            <a:ext cx="3048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Money DJ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763500" y="74676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12763500" y="7467600"/>
            <a:ext cx="114300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6383000" y="7388168"/>
            <a:ext cx="762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86900" y="7845368"/>
            <a:ext cx="3048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Yahoo 股市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763500" y="7924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12763500" y="7924800"/>
            <a:ext cx="10001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6383000" y="7845368"/>
            <a:ext cx="762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7%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86900" y="8302568"/>
            <a:ext cx="3048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其他 9 來源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763500" y="8382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12763500" y="8382000"/>
            <a:ext cx="28575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6383000" y="8302568"/>
            <a:ext cx="762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91059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914400" y="91059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62050" y="9239250"/>
            <a:ext cx="15887700" cy="26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15 來源 · 前 6 大占 80% · </a:t>
            </a:r>
            <a:r>
              <a:rPr sz="13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經濟日報 / 工商時報 / Anue 為新聞主幹；PTT 為散戶情緒主軸。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Keyword Spectrum · Top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Lift = P(bull|word)/P(bull) · χ² independence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A.19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詞表光譜多空</a:t>
            </a: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Top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關鍵字篩選以統計檢定取代主觀詞表，降低文本因子偏誤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en-US" altLang="zh-TW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Lift</a:t>
            </a: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lang="en-US" altLang="zh-TW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χ² </a:t>
            </a: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與 </a:t>
            </a:r>
            <a:r>
              <a:rPr lang="en-US" altLang="zh-TW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IC </a:t>
            </a: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檢驗共同篩選語料特徵。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134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3105150"/>
            <a:ext cx="7677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BULL · 多方關鍵詞 (Lift &gt; 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257300" y="3498559"/>
            <a:ext cx="22860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KEYWORD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3250" y="3498559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6250" y="3498559"/>
            <a:ext cx="7620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χ² rank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38936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  創高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200400" y="3943350"/>
            <a:ext cx="3171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953250" y="39020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2.42×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6250" y="39187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1,842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43508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  營收創高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200400" y="4400550"/>
            <a:ext cx="30289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953250" y="43592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2.31×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6250" y="43759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1,654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7300" y="48080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  法說會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200400" y="4857750"/>
            <a:ext cx="26003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953250" y="48164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1.98×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6250" y="48331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1,428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57300" y="52652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04  擴產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200400" y="5314950"/>
            <a:ext cx="251460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953250" y="52736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1.92×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52903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1,322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7300" y="57224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05  受惠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3200400" y="5772150"/>
            <a:ext cx="2409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953250" y="57308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1.84×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6250" y="57475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57300" y="61796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06  重押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3200400" y="6229350"/>
            <a:ext cx="23336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953250" y="61880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1.78×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96250" y="62047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57300" y="66368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07  升級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3200400" y="6686550"/>
            <a:ext cx="22574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953250" y="66452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1.72×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96250" y="66619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1,186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57300" y="70940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08  看好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3200400" y="7143750"/>
            <a:ext cx="22002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6953250" y="71024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1.68×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96250" y="71191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2,842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57300" y="75512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09  題材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200400" y="7600950"/>
            <a:ext cx="21240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953250" y="75596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1.62×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96250" y="75763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1,942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57300" y="80084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10  新訂單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3200400" y="8058150"/>
            <a:ext cx="20764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6953250" y="80168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1.58×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96250" y="80335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784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925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9239250" y="2933700"/>
            <a:ext cx="81343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9467850" y="3105150"/>
            <a:ext cx="7677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BEAR · 空方關鍵詞 (Lift &gt; 1)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46785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582150" y="3498559"/>
            <a:ext cx="22860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KEYWORD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278100" y="3498559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6421100" y="3498559"/>
            <a:ext cx="7620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χ² rank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82150" y="38936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  砍單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52525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11525250" y="3943350"/>
            <a:ext cx="37528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5278100" y="39020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2.86×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421100" y="39187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1,124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82150" y="43508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  裁員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152525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11525250" y="4400550"/>
            <a:ext cx="3333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15278100" y="43592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2.54×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21100" y="43759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642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82150" y="48080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  下修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152525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11525250" y="4857750"/>
            <a:ext cx="3171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15278100" y="48164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2.42×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6421100" y="48331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1,844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82150" y="52652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04  警報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152525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11525250" y="5314950"/>
            <a:ext cx="28575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5278100" y="52736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2.18×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421100" y="52903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584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82150" y="57224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05  遞延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52525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11525250" y="5772150"/>
            <a:ext cx="26765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15278100" y="57308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2.04×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6421100" y="57475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728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82150" y="61796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06  衰退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152525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11525250" y="6229350"/>
            <a:ext cx="25146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15278100" y="61880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1.92×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421100" y="62047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1,462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582150" y="66368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07  低於預期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152525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0" name="Rectangle 109"/>
          <p:cNvSpPr/>
          <p:nvPr/>
        </p:nvSpPr>
        <p:spPr>
          <a:xfrm>
            <a:off x="11525250" y="6686550"/>
            <a:ext cx="2409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5278100" y="66452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1.84×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421100" y="66619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1,102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82150" y="70940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08  虧損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152525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11525250" y="7143750"/>
            <a:ext cx="23336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15278100" y="71024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1.78×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421100" y="71191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1,842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582150" y="75512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09  違約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152525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0" name="Rectangle 119"/>
          <p:cNvSpPr/>
          <p:nvPr/>
        </p:nvSpPr>
        <p:spPr>
          <a:xfrm>
            <a:off x="11525250" y="7600950"/>
            <a:ext cx="22574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15278100" y="75596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1.72×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6421100" y="75763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342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582150" y="80084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10  觀望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152525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11525250" y="8058150"/>
            <a:ext cx="212407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15278100" y="8016818"/>
            <a:ext cx="9525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1.62×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421100" y="8033585"/>
            <a:ext cx="7620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2,104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14400" y="89154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914400" y="89154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1162050" y="9048750"/>
            <a:ext cx="15887700" cy="26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空方 Lift 上限 (砍單 2.86×) &gt; 多方 (創高 2.42×) · </a:t>
            </a:r>
            <a:r>
              <a:rPr sz="13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空方詞訊號更強烈 · 解釋 Q1 contrarian 效應的源頭。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Sentiment Quintile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forward 20-day excess return by quintile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A.20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情感五分位詳解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情緒五分位呈 </a:t>
            </a: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U-shape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，顯示極端情緒比中性情緒更有資訊量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情緒不是單調買賣訊號。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28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FORWARD 20-DAY EXCESS RETURN BY SENTIMENT QUINTILE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953250"/>
            <a:ext cx="83820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1485900" y="4819650"/>
            <a:ext cx="1524000" cy="2133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295400" y="452226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8614369"/>
            <a:ext cx="1905000" cy="4877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Q1
極負面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6600" y="6953250"/>
            <a:ext cx="1524000" cy="12001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086100" y="8226368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6100" y="8614369"/>
            <a:ext cx="1905000" cy="4877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Q2
偏負面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7300" y="6953250"/>
            <a:ext cx="1524000" cy="2667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76800" y="7292918"/>
            <a:ext cx="190500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-0.4%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8614369"/>
            <a:ext cx="1905000" cy="4877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Q3
中性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6553200"/>
            <a:ext cx="1524000" cy="400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667500" y="625581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7500" y="8614369"/>
            <a:ext cx="1905000" cy="4877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Q4
偏正面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48700" y="5353050"/>
            <a:ext cx="1524000" cy="1600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458200" y="5055668"/>
            <a:ext cx="1905000" cy="2518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8614369"/>
            <a:ext cx="1905000" cy="4877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Q5
極正面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391900" y="29337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11391900" y="2933700"/>
            <a:ext cx="59817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1620500" y="3143250"/>
            <a:ext cx="38100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Q1 contrarian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20500" y="3486150"/>
            <a:ext cx="1905000" cy="436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+3.2%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68400" y="3678361"/>
            <a:ext cx="3429000" cy="263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極端壞消息 → 過度反應 → 反彈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391900" y="43434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1391900" y="4343400"/>
            <a:ext cx="59817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1620500" y="4552950"/>
            <a:ext cx="38100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Q5 momentum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20500" y="4895850"/>
            <a:ext cx="1905000" cy="436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+2.4%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868400" y="5088061"/>
            <a:ext cx="3429000" cy="263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極端好消息 → 慣性延續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391900" y="57531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11391900" y="5753100"/>
            <a:ext cx="5981700" cy="381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1620500" y="5962650"/>
            <a:ext cx="38100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Q3 中性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20500" y="6305550"/>
            <a:ext cx="1905000" cy="436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-0.4%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868400" y="6497761"/>
            <a:ext cx="3429000" cy="263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無方向 · 雜訊主導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391900" y="71628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1391900" y="7162800"/>
            <a:ext cx="59817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620500" y="7372350"/>
            <a:ext cx="3810000" cy="302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Spread Q1−Q3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20500" y="7715250"/>
            <a:ext cx="1905000" cy="436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+3.6 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868400" y="7907461"/>
            <a:ext cx="3429000" cy="263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對沖組合潛在 alpha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BEHAVIORAL FINANCE · 行為財務學印證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2050" y="9067800"/>
            <a:ext cx="158877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Q1 反向效應 = </a:t>
            </a: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過度反應假說 (DeBondt &amp; Thaler 1985)</a:t>
            </a: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在台股的數據驗證 · 詳見 A.21。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Q1 Contrarian · Elaboration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DeBondt &amp; Thaler (1985) · empirical: artifact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A.21 · Q1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反向效應完整解讀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極端悲觀對應過度反應後的修正空間，可作為反向訊號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恐慌情緒未必代表基本面惡化。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04900" y="3162300"/>
            <a:ext cx="160782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THE FINDING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" y="3429000"/>
            <a:ext cx="16078200" cy="420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當輿情極度負面時 (Q1)，未來 20 日「期望報酬」反而變正 +3.2%；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3886200"/>
            <a:ext cx="160782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空頭過度反應 → 賣壓出清 → 散戶恐慌底 → 機構接手反彈。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14400" y="46482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43000" y="4876800"/>
            <a:ext cx="762000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524500"/>
            <a:ext cx="190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791200"/>
            <a:ext cx="48006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空頭過度反應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1912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43000" y="6343650"/>
            <a:ext cx="4800600" cy="710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極負面新聞 (e.g. 砍單、警報) 在 1-3 日內形成集體恐慌，技術線型急殺 5-10%。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400800" y="46482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629400" y="4876800"/>
            <a:ext cx="762000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24500"/>
            <a:ext cx="190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791200"/>
            <a:ext cx="48006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賣壓快速出清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61912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29400" y="6343650"/>
            <a:ext cx="4800600" cy="710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散戶停損賣出殆盡 · 融資餘額大降 · 週轉率異常高（90 日均 1.5×+）。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8872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11887200" y="46482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2115800" y="4876800"/>
            <a:ext cx="762000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15800" y="5524500"/>
            <a:ext cx="190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15800" y="5791200"/>
            <a:ext cx="48006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機構低接 + 反彈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115800" y="61912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2115800" y="6343650"/>
            <a:ext cx="4800600" cy="710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若基本面未受結構性傷害，外資 / 投信於 5-10 日後低接 · T+20 平均 +3.2%。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EXECUTION CAVEAT · 執行注意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2050" y="8724900"/>
            <a:ext cx="15887700" cy="586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此效應僅限 </a:t>
            </a: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基本面未受結構性傷害的標的</a:t>
            </a: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；模型加入 ROE / debt 作 sanity guardrail，避免抄到「真的不行」的個股。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3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回測 OOS 8 年仍穩定，但個股級執行需研究員 final call。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U-shape Multi-Horizon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forward 1d/5d/20d excess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A.22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多時間視窗</a:t>
            </a: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U-shape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U-shape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在 </a:t>
            </a: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1d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5d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20d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重複出現，支持情緒訊號具時間穩定性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多持有期一致性降低噪聲疑慮。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31051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HORIZON · T+1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48006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一日內仍以慣性主導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447800" y="5219700"/>
            <a:ext cx="666750" cy="2000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257300" y="5470234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-0.6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664180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62200" y="5219700"/>
            <a:ext cx="666750" cy="4667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171700" y="5736934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71700" y="664180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086100" y="540355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-0.4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86100" y="664180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91000" y="5219700"/>
            <a:ext cx="666750" cy="666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000500" y="5336884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500" y="664180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05400" y="5153025"/>
            <a:ext cx="666750" cy="666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14900" y="4917784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14900" y="664180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543800"/>
            <a:ext cx="48006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單位 · % excess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629400" y="31051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HORIZON · T+5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3409950"/>
            <a:ext cx="48006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反向效應開始浮現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94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934200" y="4953000"/>
            <a:ext cx="666750" cy="266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743700" y="471775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43700" y="664180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48600" y="5219700"/>
            <a:ext cx="666750" cy="533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658100" y="580360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-1.6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58100" y="664180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7630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572500" y="540355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-0.4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0" y="664180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77400" y="5086350"/>
            <a:ext cx="66675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9486900" y="485110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86900" y="664180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591800" y="4686300"/>
            <a:ext cx="666750" cy="53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401300" y="445105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+1.6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1300" y="664180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29400" y="7543800"/>
            <a:ext cx="48006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單位 · % excess return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8872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2115800" y="31051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HORIZON · T+20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15800" y="3409950"/>
            <a:ext cx="4800600" cy="251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U-shape 完整成型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1158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12420600" y="4152900"/>
            <a:ext cx="666750" cy="1066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2230100" y="391765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+3.2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230100" y="664180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335000" y="5219700"/>
            <a:ext cx="666750" cy="6000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3144500" y="5870284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-1.8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144500" y="664180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42494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4058900" y="540355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-0.4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58900" y="664180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163800" y="5019675"/>
            <a:ext cx="666750" cy="2000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4973300" y="4784434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4973300" y="664180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6078200" y="4419600"/>
            <a:ext cx="666750" cy="800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15887700" y="418435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+2.4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887700" y="6641809"/>
            <a:ext cx="10477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Q5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15800" y="7543800"/>
            <a:ext cx="48006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單位 · % excess return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4400" y="81534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914400" y="81534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1162050" y="83248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TIME EVOLUTION · 時間演化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2050" y="8610600"/>
            <a:ext cx="15887700" cy="65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反向效應在 T+1 尚未顯現 (慣性主導) · 在 T+5 開始浮現 · 在 T+20 完整成型；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建議交易視窗為 </a:t>
            </a: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5-20 日期間</a:t>
            </a: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；亦支援 D20 為主標籤的設計選擇。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News × Forum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joint distribution news_sent × forum_sent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A.23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新聞</a:t>
            </a: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×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論壇</a:t>
            </a: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共識</a:t>
            </a: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2×2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新聞與論壇共識能提升情緒訊號的決策可信度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跨來源一致時，訊號品質最高。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685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64008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BOTH BULL · 共識多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67100"/>
            <a:ext cx="6400800" cy="1074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+4.1%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43624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43000" y="4552950"/>
            <a:ext cx="6400800" cy="3124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新聞正 + 論壇正 · 訊號最強烈 · 占樣本 18%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7900" y="3143250"/>
            <a:ext cx="1524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T+20 fwd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001000" y="2933700"/>
            <a:ext cx="6858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229600" y="3143250"/>
            <a:ext cx="64008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NEWS BULL / FORUM BEAR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467100"/>
            <a:ext cx="6400800" cy="1074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+0.4%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43624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229600" y="4552950"/>
            <a:ext cx="6400800" cy="3124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新聞正 / 論壇負 · 散戶觀望 · 機構默買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44500" y="3143250"/>
            <a:ext cx="1524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T+20 fwd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14400" y="5829300"/>
            <a:ext cx="68580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143000" y="6038850"/>
            <a:ext cx="64008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NEWS BEAR / FORUM BULL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6362700"/>
            <a:ext cx="6400800" cy="1074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-0.6%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2580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143000" y="7448550"/>
            <a:ext cx="6400800" cy="3124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新聞負 / 論壇正 · 散戶追高被套 · 警示區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7900" y="6038850"/>
            <a:ext cx="1524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T+20 fwd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8001000" y="5829300"/>
            <a:ext cx="6858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229600" y="6038850"/>
            <a:ext cx="64008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BOTH BEAR · 共識空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6362700"/>
            <a:ext cx="6400800" cy="1074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7258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229600" y="7448550"/>
            <a:ext cx="6400800" cy="3124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新聞負 + 論壇負 · 反向效應 · 占樣本 14%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144500" y="6038850"/>
            <a:ext cx="1524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T+20 fwd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859000" y="2933700"/>
            <a:ext cx="25146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DECISION RULES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59000" y="33147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14859000" y="3314700"/>
            <a:ext cx="2514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5030450" y="3448050"/>
            <a:ext cx="2286000" cy="167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CONSENSUS_BULL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030450" y="3676650"/>
            <a:ext cx="22860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+4.1%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30450" y="3943350"/>
            <a:ext cx="2286000" cy="2164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兩者皆 ≥ +1.5σ → 買進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859000" y="45720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14859000" y="4572000"/>
            <a:ext cx="25146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5030450" y="4705350"/>
            <a:ext cx="2286000" cy="167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CONTRARIAN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030450" y="4933950"/>
            <a:ext cx="22860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+1.8%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030450" y="5200650"/>
            <a:ext cx="2286000" cy="2164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兩者皆 ≤ -1.5σ → 反向買進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859000" y="58293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4859000" y="5829300"/>
            <a:ext cx="2514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5030450" y="5962650"/>
            <a:ext cx="2286000" cy="167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AVOID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030450" y="6191250"/>
            <a:ext cx="22860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030450" y="6457950"/>
            <a:ext cx="2286000" cy="2164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news+ × forum− → 觀望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859000" y="70866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14859000" y="7086600"/>
            <a:ext cx="25146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5030450" y="7219950"/>
            <a:ext cx="2286000" cy="167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SHORT-LIST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030450" y="7448550"/>
            <a:ext cx="22860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-0.6%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030450" y="7715250"/>
            <a:ext cx="2286000" cy="2164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news− × forum+ → 警示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CROSS-CHANNEL VALIDATION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" y="9067800"/>
            <a:ext cx="158877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兩源共識 (BOTH BULL) +4.1% &gt; 單源 ; </a:t>
            </a: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跨來源驗證</a:t>
            </a: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是訊號品質的關鍵濾網。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Coverage &amp; Daily Sentiment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1932 stocks × 4380 days panel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A.24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涵蓋率與每日情感序列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文本覆蓋率決定情緒因子的適用範圍與解讀強度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大型股可積極使用，小型股需保守解讀。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TOP 50 STOCK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940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2228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日均覆蓋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TOP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940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74%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2228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日均覆蓋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1500+ 小型股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940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38%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2228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日均覆蓋 · 警示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PEAK ARTICLES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940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4,210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2228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單日峰值 (2024-08)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19650"/>
            <a:ext cx="571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DAILY MARKET SENTIMENT INDEX (2018-2025)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43500"/>
            <a:ext cx="16459200" cy="3619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485900" y="5429250"/>
            <a:ext cx="9525" cy="2990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4859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200150" y="85344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147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429000" y="85344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657850" y="85344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24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886700" y="85344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013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0115550" y="85344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6301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2344400" y="85344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8590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4573250" y="85344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0878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6802100" y="85344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28750" y="84201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009650" y="8324850"/>
            <a:ext cx="381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1428750" y="76676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009650" y="7572375"/>
            <a:ext cx="381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-0.5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76676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1428750" y="69246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009650" y="6829425"/>
            <a:ext cx="381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485900" y="6924675"/>
            <a:ext cx="1560195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1428750" y="61817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009650" y="6086475"/>
            <a:ext cx="381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+0.5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485900" y="61817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1428750" y="54292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009650" y="5334000"/>
            <a:ext cx="381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+1.0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85900" y="54292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69" name="Connector 68"/>
          <p:cNvCxnSpPr/>
          <p:nvPr/>
        </p:nvCxnSpPr>
        <p:spPr>
          <a:xfrm>
            <a:off x="1485900" y="6553200"/>
            <a:ext cx="533400" cy="1047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019300" y="6657975"/>
            <a:ext cx="533400" cy="8858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552700" y="6448425"/>
            <a:ext cx="542925" cy="10953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095625" y="6210300"/>
            <a:ext cx="533400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629025" y="6210300"/>
            <a:ext cx="542925" cy="9810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171950" y="7191375"/>
            <a:ext cx="533400" cy="6572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705350" y="7400925"/>
            <a:ext cx="542925" cy="4476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5248275" y="6981825"/>
            <a:ext cx="533400" cy="4191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781675" y="6657975"/>
            <a:ext cx="542925" cy="3238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6324600" y="6391275"/>
            <a:ext cx="533400" cy="2667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6858000" y="6305550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7400925" y="6305550"/>
            <a:ext cx="533400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7934325" y="6515100"/>
            <a:ext cx="542925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8477250" y="6753225"/>
            <a:ext cx="533400" cy="5238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9010650" y="7191375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9553575" y="6810375"/>
            <a:ext cx="533400" cy="3810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0086975" y="6448425"/>
            <a:ext cx="542925" cy="3619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0629900" y="615315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1163300" y="6153150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1706225" y="636270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2239625" y="6657975"/>
            <a:ext cx="542925" cy="4381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2782550" y="7096125"/>
            <a:ext cx="533400" cy="3048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3315950" y="71913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858875" y="6600825"/>
            <a:ext cx="533400" cy="590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4392275" y="63912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4935200" y="6210300"/>
            <a:ext cx="533400" cy="1809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5468600" y="6210300"/>
            <a:ext cx="542925" cy="952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6011525" y="6305550"/>
            <a:ext cx="533400" cy="3524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6544925" y="66579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5943600" y="5524500"/>
            <a:ext cx="9525" cy="2895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5181600" y="5543550"/>
            <a:ext cx="1524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COVID-19 crash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14400" y="89154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914400" y="89154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1162050" y="9048750"/>
            <a:ext cx="158877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極端事件 (COVID-19 / 2022 升息) 情感指數皆出現 -0.6 級重挫，</a:t>
            </a: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系統能即時捕捉市場情緒拐點。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Signal Decay · PSI by Pillar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 · PSI computed on 30-day rolling window vs train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A.25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訊號衰減監控</a:t>
            </a: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9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支柱</a:t>
            </a: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PSI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PSI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監控將模型衰退從事後檢討轉為事前預警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en-US" altLang="zh-TW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Drift governance </a:t>
            </a: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是部署後的必要條件。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7620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POPULATION STABILITY INDEX BY PILLAR · 30-day rolling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160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71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82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94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205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17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28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40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51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62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74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85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97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08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20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31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42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354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365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77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388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00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411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422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34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45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457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68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480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91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502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514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525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537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48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560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715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5829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5943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6057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6172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6286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400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6515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6629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6743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6858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6972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086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7200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7315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7429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7543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7658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7772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7886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8001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8115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8229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8343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8458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8572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8686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8801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8915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9029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9144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9258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9372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9486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9601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9715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9829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9944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10058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10172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10287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10401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10515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10629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10744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10858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10972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11087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11201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2" name="Rectangle 101"/>
          <p:cNvSpPr/>
          <p:nvPr/>
        </p:nvSpPr>
        <p:spPr>
          <a:xfrm>
            <a:off x="11315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11430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11544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11658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6" name="Rectangle 105"/>
          <p:cNvSpPr/>
          <p:nvPr/>
        </p:nvSpPr>
        <p:spPr>
          <a:xfrm>
            <a:off x="11772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11887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12001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12115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0" name="Rectangle 109"/>
          <p:cNvSpPr/>
          <p:nvPr/>
        </p:nvSpPr>
        <p:spPr>
          <a:xfrm>
            <a:off x="12230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1" name="Rectangle 110"/>
          <p:cNvSpPr/>
          <p:nvPr/>
        </p:nvSpPr>
        <p:spPr>
          <a:xfrm>
            <a:off x="12344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12458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12573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4" name="Rectangle 113"/>
          <p:cNvSpPr/>
          <p:nvPr/>
        </p:nvSpPr>
        <p:spPr>
          <a:xfrm>
            <a:off x="12687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12801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6" name="Rectangle 115"/>
          <p:cNvSpPr/>
          <p:nvPr/>
        </p:nvSpPr>
        <p:spPr>
          <a:xfrm>
            <a:off x="1291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1303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8" name="Rectangle 117"/>
          <p:cNvSpPr/>
          <p:nvPr/>
        </p:nvSpPr>
        <p:spPr>
          <a:xfrm>
            <a:off x="1314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1325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0" name="Rectangle 119"/>
          <p:cNvSpPr/>
          <p:nvPr/>
        </p:nvSpPr>
        <p:spPr>
          <a:xfrm>
            <a:off x="1337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1348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2" name="Rectangle 121"/>
          <p:cNvSpPr/>
          <p:nvPr/>
        </p:nvSpPr>
        <p:spPr>
          <a:xfrm>
            <a:off x="1360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371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4" name="Rectangle 123"/>
          <p:cNvSpPr/>
          <p:nvPr/>
        </p:nvSpPr>
        <p:spPr>
          <a:xfrm>
            <a:off x="1383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1394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6" name="Rectangle 125"/>
          <p:cNvSpPr/>
          <p:nvPr/>
        </p:nvSpPr>
        <p:spPr>
          <a:xfrm>
            <a:off x="1405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1417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8" name="Rectangle 127"/>
          <p:cNvSpPr/>
          <p:nvPr/>
        </p:nvSpPr>
        <p:spPr>
          <a:xfrm>
            <a:off x="1428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1440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1451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1463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2" name="Rectangle 131"/>
          <p:cNvSpPr/>
          <p:nvPr/>
        </p:nvSpPr>
        <p:spPr>
          <a:xfrm>
            <a:off x="1474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1485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4" name="Rectangle 133"/>
          <p:cNvSpPr/>
          <p:nvPr/>
        </p:nvSpPr>
        <p:spPr>
          <a:xfrm>
            <a:off x="1497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1508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6" name="Rectangle 135"/>
          <p:cNvSpPr/>
          <p:nvPr/>
        </p:nvSpPr>
        <p:spPr>
          <a:xfrm>
            <a:off x="1520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1531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1543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1554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0" name="Rectangle 139"/>
          <p:cNvSpPr/>
          <p:nvPr/>
        </p:nvSpPr>
        <p:spPr>
          <a:xfrm>
            <a:off x="1565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1577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588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1600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4" name="Rectangle 143"/>
          <p:cNvSpPr/>
          <p:nvPr/>
        </p:nvSpPr>
        <p:spPr>
          <a:xfrm>
            <a:off x="1611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1623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1634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1645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1657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1668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0" name="Rectangle 149"/>
          <p:cNvSpPr/>
          <p:nvPr/>
        </p:nvSpPr>
        <p:spPr>
          <a:xfrm>
            <a:off x="1680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1691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1703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16192500" y="6515100"/>
            <a:ext cx="952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Warning 0.10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48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160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171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182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8" name="Rectangle 157"/>
          <p:cNvSpPr/>
          <p:nvPr/>
        </p:nvSpPr>
        <p:spPr>
          <a:xfrm>
            <a:off x="194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205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0" name="Rectangle 159"/>
          <p:cNvSpPr/>
          <p:nvPr/>
        </p:nvSpPr>
        <p:spPr>
          <a:xfrm>
            <a:off x="217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228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2" name="Rectangle 161"/>
          <p:cNvSpPr/>
          <p:nvPr/>
        </p:nvSpPr>
        <p:spPr>
          <a:xfrm>
            <a:off x="240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3" name="Rectangle 162"/>
          <p:cNvSpPr/>
          <p:nvPr/>
        </p:nvSpPr>
        <p:spPr>
          <a:xfrm>
            <a:off x="251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4" name="Rectangle 163"/>
          <p:cNvSpPr/>
          <p:nvPr/>
        </p:nvSpPr>
        <p:spPr>
          <a:xfrm>
            <a:off x="262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5" name="Rectangle 164"/>
          <p:cNvSpPr/>
          <p:nvPr/>
        </p:nvSpPr>
        <p:spPr>
          <a:xfrm>
            <a:off x="274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6" name="Rectangle 165"/>
          <p:cNvSpPr/>
          <p:nvPr/>
        </p:nvSpPr>
        <p:spPr>
          <a:xfrm>
            <a:off x="285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297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8" name="Rectangle 167"/>
          <p:cNvSpPr/>
          <p:nvPr/>
        </p:nvSpPr>
        <p:spPr>
          <a:xfrm>
            <a:off x="308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320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331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1" name="Rectangle 170"/>
          <p:cNvSpPr/>
          <p:nvPr/>
        </p:nvSpPr>
        <p:spPr>
          <a:xfrm>
            <a:off x="342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2" name="Rectangle 171"/>
          <p:cNvSpPr/>
          <p:nvPr/>
        </p:nvSpPr>
        <p:spPr>
          <a:xfrm>
            <a:off x="354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365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4" name="Rectangle 173"/>
          <p:cNvSpPr/>
          <p:nvPr/>
        </p:nvSpPr>
        <p:spPr>
          <a:xfrm>
            <a:off x="377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5" name="Rectangle 174"/>
          <p:cNvSpPr/>
          <p:nvPr/>
        </p:nvSpPr>
        <p:spPr>
          <a:xfrm>
            <a:off x="388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6" name="Rectangle 175"/>
          <p:cNvSpPr/>
          <p:nvPr/>
        </p:nvSpPr>
        <p:spPr>
          <a:xfrm>
            <a:off x="400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7" name="Rectangle 176"/>
          <p:cNvSpPr/>
          <p:nvPr/>
        </p:nvSpPr>
        <p:spPr>
          <a:xfrm>
            <a:off x="411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8" name="Rectangle 177"/>
          <p:cNvSpPr/>
          <p:nvPr/>
        </p:nvSpPr>
        <p:spPr>
          <a:xfrm>
            <a:off x="422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9" name="Rectangle 178"/>
          <p:cNvSpPr/>
          <p:nvPr/>
        </p:nvSpPr>
        <p:spPr>
          <a:xfrm>
            <a:off x="434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445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1" name="Rectangle 180"/>
          <p:cNvSpPr/>
          <p:nvPr/>
        </p:nvSpPr>
        <p:spPr>
          <a:xfrm>
            <a:off x="457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2" name="Rectangle 181"/>
          <p:cNvSpPr/>
          <p:nvPr/>
        </p:nvSpPr>
        <p:spPr>
          <a:xfrm>
            <a:off x="468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3" name="Rectangle 182"/>
          <p:cNvSpPr/>
          <p:nvPr/>
        </p:nvSpPr>
        <p:spPr>
          <a:xfrm>
            <a:off x="480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4" name="Rectangle 183"/>
          <p:cNvSpPr/>
          <p:nvPr/>
        </p:nvSpPr>
        <p:spPr>
          <a:xfrm>
            <a:off x="491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502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6" name="Rectangle 185"/>
          <p:cNvSpPr/>
          <p:nvPr/>
        </p:nvSpPr>
        <p:spPr>
          <a:xfrm>
            <a:off x="514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7" name="Rectangle 186"/>
          <p:cNvSpPr/>
          <p:nvPr/>
        </p:nvSpPr>
        <p:spPr>
          <a:xfrm>
            <a:off x="525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8" name="Rectangle 187"/>
          <p:cNvSpPr/>
          <p:nvPr/>
        </p:nvSpPr>
        <p:spPr>
          <a:xfrm>
            <a:off x="537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9" name="Rectangle 188"/>
          <p:cNvSpPr/>
          <p:nvPr/>
        </p:nvSpPr>
        <p:spPr>
          <a:xfrm>
            <a:off x="548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0" name="Rectangle 189"/>
          <p:cNvSpPr/>
          <p:nvPr/>
        </p:nvSpPr>
        <p:spPr>
          <a:xfrm>
            <a:off x="560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1" name="Rectangle 190"/>
          <p:cNvSpPr/>
          <p:nvPr/>
        </p:nvSpPr>
        <p:spPr>
          <a:xfrm>
            <a:off x="5715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5829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3" name="Rectangle 192"/>
          <p:cNvSpPr/>
          <p:nvPr/>
        </p:nvSpPr>
        <p:spPr>
          <a:xfrm>
            <a:off x="5943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4" name="Rectangle 193"/>
          <p:cNvSpPr/>
          <p:nvPr/>
        </p:nvSpPr>
        <p:spPr>
          <a:xfrm>
            <a:off x="6057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5" name="Rectangle 194"/>
          <p:cNvSpPr/>
          <p:nvPr/>
        </p:nvSpPr>
        <p:spPr>
          <a:xfrm>
            <a:off x="6172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6" name="Rectangle 195"/>
          <p:cNvSpPr/>
          <p:nvPr/>
        </p:nvSpPr>
        <p:spPr>
          <a:xfrm>
            <a:off x="6286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7" name="Rectangle 196"/>
          <p:cNvSpPr/>
          <p:nvPr/>
        </p:nvSpPr>
        <p:spPr>
          <a:xfrm>
            <a:off x="6400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8" name="Rectangle 197"/>
          <p:cNvSpPr/>
          <p:nvPr/>
        </p:nvSpPr>
        <p:spPr>
          <a:xfrm>
            <a:off x="6515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9" name="Rectangle 198"/>
          <p:cNvSpPr/>
          <p:nvPr/>
        </p:nvSpPr>
        <p:spPr>
          <a:xfrm>
            <a:off x="6629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0" name="Rectangle 199"/>
          <p:cNvSpPr/>
          <p:nvPr/>
        </p:nvSpPr>
        <p:spPr>
          <a:xfrm>
            <a:off x="6743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1" name="Rectangle 200"/>
          <p:cNvSpPr/>
          <p:nvPr/>
        </p:nvSpPr>
        <p:spPr>
          <a:xfrm>
            <a:off x="6858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2" name="Rectangle 201"/>
          <p:cNvSpPr/>
          <p:nvPr/>
        </p:nvSpPr>
        <p:spPr>
          <a:xfrm>
            <a:off x="6972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3" name="Rectangle 202"/>
          <p:cNvSpPr/>
          <p:nvPr/>
        </p:nvSpPr>
        <p:spPr>
          <a:xfrm>
            <a:off x="7086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4" name="Rectangle 203"/>
          <p:cNvSpPr/>
          <p:nvPr/>
        </p:nvSpPr>
        <p:spPr>
          <a:xfrm>
            <a:off x="7200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5" name="Rectangle 204"/>
          <p:cNvSpPr/>
          <p:nvPr/>
        </p:nvSpPr>
        <p:spPr>
          <a:xfrm>
            <a:off x="7315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6" name="Rectangle 205"/>
          <p:cNvSpPr/>
          <p:nvPr/>
        </p:nvSpPr>
        <p:spPr>
          <a:xfrm>
            <a:off x="7429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7" name="Rectangle 206"/>
          <p:cNvSpPr/>
          <p:nvPr/>
        </p:nvSpPr>
        <p:spPr>
          <a:xfrm>
            <a:off x="7543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8" name="Rectangle 207"/>
          <p:cNvSpPr/>
          <p:nvPr/>
        </p:nvSpPr>
        <p:spPr>
          <a:xfrm>
            <a:off x="7658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9" name="Rectangle 208"/>
          <p:cNvSpPr/>
          <p:nvPr/>
        </p:nvSpPr>
        <p:spPr>
          <a:xfrm>
            <a:off x="7772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0" name="Rectangle 209"/>
          <p:cNvSpPr/>
          <p:nvPr/>
        </p:nvSpPr>
        <p:spPr>
          <a:xfrm>
            <a:off x="7886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1" name="Rectangle 210"/>
          <p:cNvSpPr/>
          <p:nvPr/>
        </p:nvSpPr>
        <p:spPr>
          <a:xfrm>
            <a:off x="8001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2" name="Rectangle 211"/>
          <p:cNvSpPr/>
          <p:nvPr/>
        </p:nvSpPr>
        <p:spPr>
          <a:xfrm>
            <a:off x="8115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3" name="Rectangle 212"/>
          <p:cNvSpPr/>
          <p:nvPr/>
        </p:nvSpPr>
        <p:spPr>
          <a:xfrm>
            <a:off x="8229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4" name="Rectangle 213"/>
          <p:cNvSpPr/>
          <p:nvPr/>
        </p:nvSpPr>
        <p:spPr>
          <a:xfrm>
            <a:off x="8343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5" name="Rectangle 214"/>
          <p:cNvSpPr/>
          <p:nvPr/>
        </p:nvSpPr>
        <p:spPr>
          <a:xfrm>
            <a:off x="8458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6" name="Rectangle 215"/>
          <p:cNvSpPr/>
          <p:nvPr/>
        </p:nvSpPr>
        <p:spPr>
          <a:xfrm>
            <a:off x="8572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7" name="Rectangle 216"/>
          <p:cNvSpPr/>
          <p:nvPr/>
        </p:nvSpPr>
        <p:spPr>
          <a:xfrm>
            <a:off x="8686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8" name="Rectangle 217"/>
          <p:cNvSpPr/>
          <p:nvPr/>
        </p:nvSpPr>
        <p:spPr>
          <a:xfrm>
            <a:off x="8801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9" name="Rectangle 218"/>
          <p:cNvSpPr/>
          <p:nvPr/>
        </p:nvSpPr>
        <p:spPr>
          <a:xfrm>
            <a:off x="8915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0" name="Rectangle 219"/>
          <p:cNvSpPr/>
          <p:nvPr/>
        </p:nvSpPr>
        <p:spPr>
          <a:xfrm>
            <a:off x="9029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1" name="Rectangle 220"/>
          <p:cNvSpPr/>
          <p:nvPr/>
        </p:nvSpPr>
        <p:spPr>
          <a:xfrm>
            <a:off x="9144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2" name="Rectangle 221"/>
          <p:cNvSpPr/>
          <p:nvPr/>
        </p:nvSpPr>
        <p:spPr>
          <a:xfrm>
            <a:off x="9258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3" name="Rectangle 222"/>
          <p:cNvSpPr/>
          <p:nvPr/>
        </p:nvSpPr>
        <p:spPr>
          <a:xfrm>
            <a:off x="9372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4" name="Rectangle 223"/>
          <p:cNvSpPr/>
          <p:nvPr/>
        </p:nvSpPr>
        <p:spPr>
          <a:xfrm>
            <a:off x="9486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5" name="Rectangle 224"/>
          <p:cNvSpPr/>
          <p:nvPr/>
        </p:nvSpPr>
        <p:spPr>
          <a:xfrm>
            <a:off x="9601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6" name="Rectangle 225"/>
          <p:cNvSpPr/>
          <p:nvPr/>
        </p:nvSpPr>
        <p:spPr>
          <a:xfrm>
            <a:off x="9715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7" name="Rectangle 226"/>
          <p:cNvSpPr/>
          <p:nvPr/>
        </p:nvSpPr>
        <p:spPr>
          <a:xfrm>
            <a:off x="9829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8" name="Rectangle 227"/>
          <p:cNvSpPr/>
          <p:nvPr/>
        </p:nvSpPr>
        <p:spPr>
          <a:xfrm>
            <a:off x="9944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10058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10172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10287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10401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3" name="Rectangle 232"/>
          <p:cNvSpPr/>
          <p:nvPr/>
        </p:nvSpPr>
        <p:spPr>
          <a:xfrm>
            <a:off x="10515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4" name="Rectangle 233"/>
          <p:cNvSpPr/>
          <p:nvPr/>
        </p:nvSpPr>
        <p:spPr>
          <a:xfrm>
            <a:off x="10629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5" name="Rectangle 234"/>
          <p:cNvSpPr/>
          <p:nvPr/>
        </p:nvSpPr>
        <p:spPr>
          <a:xfrm>
            <a:off x="10744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6" name="Rectangle 235"/>
          <p:cNvSpPr/>
          <p:nvPr/>
        </p:nvSpPr>
        <p:spPr>
          <a:xfrm>
            <a:off x="10858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7" name="Rectangle 236"/>
          <p:cNvSpPr/>
          <p:nvPr/>
        </p:nvSpPr>
        <p:spPr>
          <a:xfrm>
            <a:off x="10972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8" name="Rectangle 237"/>
          <p:cNvSpPr/>
          <p:nvPr/>
        </p:nvSpPr>
        <p:spPr>
          <a:xfrm>
            <a:off x="11087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9" name="Rectangle 238"/>
          <p:cNvSpPr/>
          <p:nvPr/>
        </p:nvSpPr>
        <p:spPr>
          <a:xfrm>
            <a:off x="11201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0" name="Rectangle 239"/>
          <p:cNvSpPr/>
          <p:nvPr/>
        </p:nvSpPr>
        <p:spPr>
          <a:xfrm>
            <a:off x="11315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1" name="Rectangle 240"/>
          <p:cNvSpPr/>
          <p:nvPr/>
        </p:nvSpPr>
        <p:spPr>
          <a:xfrm>
            <a:off x="11430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2" name="Rectangle 241"/>
          <p:cNvSpPr/>
          <p:nvPr/>
        </p:nvSpPr>
        <p:spPr>
          <a:xfrm>
            <a:off x="11544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3" name="Rectangle 242"/>
          <p:cNvSpPr/>
          <p:nvPr/>
        </p:nvSpPr>
        <p:spPr>
          <a:xfrm>
            <a:off x="11658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4" name="Rectangle 243"/>
          <p:cNvSpPr/>
          <p:nvPr/>
        </p:nvSpPr>
        <p:spPr>
          <a:xfrm>
            <a:off x="11772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5" name="Rectangle 244"/>
          <p:cNvSpPr/>
          <p:nvPr/>
        </p:nvSpPr>
        <p:spPr>
          <a:xfrm>
            <a:off x="11887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6" name="Rectangle 245"/>
          <p:cNvSpPr/>
          <p:nvPr/>
        </p:nvSpPr>
        <p:spPr>
          <a:xfrm>
            <a:off x="12001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7" name="Rectangle 246"/>
          <p:cNvSpPr/>
          <p:nvPr/>
        </p:nvSpPr>
        <p:spPr>
          <a:xfrm>
            <a:off x="12115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8" name="Rectangle 247"/>
          <p:cNvSpPr/>
          <p:nvPr/>
        </p:nvSpPr>
        <p:spPr>
          <a:xfrm>
            <a:off x="12230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9" name="Rectangle 248"/>
          <p:cNvSpPr/>
          <p:nvPr/>
        </p:nvSpPr>
        <p:spPr>
          <a:xfrm>
            <a:off x="12344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0" name="Rectangle 249"/>
          <p:cNvSpPr/>
          <p:nvPr/>
        </p:nvSpPr>
        <p:spPr>
          <a:xfrm>
            <a:off x="12458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1" name="Rectangle 250"/>
          <p:cNvSpPr/>
          <p:nvPr/>
        </p:nvSpPr>
        <p:spPr>
          <a:xfrm>
            <a:off x="12573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2" name="Rectangle 251"/>
          <p:cNvSpPr/>
          <p:nvPr/>
        </p:nvSpPr>
        <p:spPr>
          <a:xfrm>
            <a:off x="12687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3" name="Rectangle 252"/>
          <p:cNvSpPr/>
          <p:nvPr/>
        </p:nvSpPr>
        <p:spPr>
          <a:xfrm>
            <a:off x="12801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4" name="Rectangle 253"/>
          <p:cNvSpPr/>
          <p:nvPr/>
        </p:nvSpPr>
        <p:spPr>
          <a:xfrm>
            <a:off x="1291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5" name="Rectangle 254"/>
          <p:cNvSpPr/>
          <p:nvPr/>
        </p:nvSpPr>
        <p:spPr>
          <a:xfrm>
            <a:off x="1303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6" name="Rectangle 255"/>
          <p:cNvSpPr/>
          <p:nvPr/>
        </p:nvSpPr>
        <p:spPr>
          <a:xfrm>
            <a:off x="1314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7" name="Rectangle 256"/>
          <p:cNvSpPr/>
          <p:nvPr/>
        </p:nvSpPr>
        <p:spPr>
          <a:xfrm>
            <a:off x="1325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8" name="Rectangle 257"/>
          <p:cNvSpPr/>
          <p:nvPr/>
        </p:nvSpPr>
        <p:spPr>
          <a:xfrm>
            <a:off x="1337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9" name="Rectangle 258"/>
          <p:cNvSpPr/>
          <p:nvPr/>
        </p:nvSpPr>
        <p:spPr>
          <a:xfrm>
            <a:off x="1348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0" name="Rectangle 259"/>
          <p:cNvSpPr/>
          <p:nvPr/>
        </p:nvSpPr>
        <p:spPr>
          <a:xfrm>
            <a:off x="1360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1" name="Rectangle 260"/>
          <p:cNvSpPr/>
          <p:nvPr/>
        </p:nvSpPr>
        <p:spPr>
          <a:xfrm>
            <a:off x="1371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2" name="Rectangle 261"/>
          <p:cNvSpPr/>
          <p:nvPr/>
        </p:nvSpPr>
        <p:spPr>
          <a:xfrm>
            <a:off x="1383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3" name="Rectangle 262"/>
          <p:cNvSpPr/>
          <p:nvPr/>
        </p:nvSpPr>
        <p:spPr>
          <a:xfrm>
            <a:off x="1394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4" name="Rectangle 263"/>
          <p:cNvSpPr/>
          <p:nvPr/>
        </p:nvSpPr>
        <p:spPr>
          <a:xfrm>
            <a:off x="1405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5" name="Rectangle 264"/>
          <p:cNvSpPr/>
          <p:nvPr/>
        </p:nvSpPr>
        <p:spPr>
          <a:xfrm>
            <a:off x="1417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6" name="Rectangle 265"/>
          <p:cNvSpPr/>
          <p:nvPr/>
        </p:nvSpPr>
        <p:spPr>
          <a:xfrm>
            <a:off x="1428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7" name="Rectangle 266"/>
          <p:cNvSpPr/>
          <p:nvPr/>
        </p:nvSpPr>
        <p:spPr>
          <a:xfrm>
            <a:off x="1440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8" name="Rectangle 267"/>
          <p:cNvSpPr/>
          <p:nvPr/>
        </p:nvSpPr>
        <p:spPr>
          <a:xfrm>
            <a:off x="1451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9" name="Rectangle 268"/>
          <p:cNvSpPr/>
          <p:nvPr/>
        </p:nvSpPr>
        <p:spPr>
          <a:xfrm>
            <a:off x="1463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0" name="Rectangle 269"/>
          <p:cNvSpPr/>
          <p:nvPr/>
        </p:nvSpPr>
        <p:spPr>
          <a:xfrm>
            <a:off x="1474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1" name="Rectangle 270"/>
          <p:cNvSpPr/>
          <p:nvPr/>
        </p:nvSpPr>
        <p:spPr>
          <a:xfrm>
            <a:off x="1485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2" name="Rectangle 271"/>
          <p:cNvSpPr/>
          <p:nvPr/>
        </p:nvSpPr>
        <p:spPr>
          <a:xfrm>
            <a:off x="1497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3" name="Rectangle 272"/>
          <p:cNvSpPr/>
          <p:nvPr/>
        </p:nvSpPr>
        <p:spPr>
          <a:xfrm>
            <a:off x="1508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4" name="Rectangle 273"/>
          <p:cNvSpPr/>
          <p:nvPr/>
        </p:nvSpPr>
        <p:spPr>
          <a:xfrm>
            <a:off x="1520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5" name="Rectangle 274"/>
          <p:cNvSpPr/>
          <p:nvPr/>
        </p:nvSpPr>
        <p:spPr>
          <a:xfrm>
            <a:off x="1531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6" name="Rectangle 275"/>
          <p:cNvSpPr/>
          <p:nvPr/>
        </p:nvSpPr>
        <p:spPr>
          <a:xfrm>
            <a:off x="1543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7" name="Rectangle 276"/>
          <p:cNvSpPr/>
          <p:nvPr/>
        </p:nvSpPr>
        <p:spPr>
          <a:xfrm>
            <a:off x="1554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8" name="Rectangle 277"/>
          <p:cNvSpPr/>
          <p:nvPr/>
        </p:nvSpPr>
        <p:spPr>
          <a:xfrm>
            <a:off x="1565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9" name="Rectangle 278"/>
          <p:cNvSpPr/>
          <p:nvPr/>
        </p:nvSpPr>
        <p:spPr>
          <a:xfrm>
            <a:off x="1577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0" name="Rectangle 279"/>
          <p:cNvSpPr/>
          <p:nvPr/>
        </p:nvSpPr>
        <p:spPr>
          <a:xfrm>
            <a:off x="1588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1" name="Rectangle 280"/>
          <p:cNvSpPr/>
          <p:nvPr/>
        </p:nvSpPr>
        <p:spPr>
          <a:xfrm>
            <a:off x="1600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2" name="Rectangle 281"/>
          <p:cNvSpPr/>
          <p:nvPr/>
        </p:nvSpPr>
        <p:spPr>
          <a:xfrm>
            <a:off x="1611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3" name="Rectangle 282"/>
          <p:cNvSpPr/>
          <p:nvPr/>
        </p:nvSpPr>
        <p:spPr>
          <a:xfrm>
            <a:off x="1623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4" name="Rectangle 283"/>
          <p:cNvSpPr/>
          <p:nvPr/>
        </p:nvSpPr>
        <p:spPr>
          <a:xfrm>
            <a:off x="1634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5" name="Rectangle 284"/>
          <p:cNvSpPr/>
          <p:nvPr/>
        </p:nvSpPr>
        <p:spPr>
          <a:xfrm>
            <a:off x="1645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6" name="Rectangle 285"/>
          <p:cNvSpPr/>
          <p:nvPr/>
        </p:nvSpPr>
        <p:spPr>
          <a:xfrm>
            <a:off x="1657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7" name="Rectangle 286"/>
          <p:cNvSpPr/>
          <p:nvPr/>
        </p:nvSpPr>
        <p:spPr>
          <a:xfrm>
            <a:off x="1668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8" name="Rectangle 287"/>
          <p:cNvSpPr/>
          <p:nvPr/>
        </p:nvSpPr>
        <p:spPr>
          <a:xfrm>
            <a:off x="1680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9" name="Rectangle 288"/>
          <p:cNvSpPr/>
          <p:nvPr/>
        </p:nvSpPr>
        <p:spPr>
          <a:xfrm>
            <a:off x="1691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0" name="Rectangle 289"/>
          <p:cNvSpPr/>
          <p:nvPr/>
        </p:nvSpPr>
        <p:spPr>
          <a:xfrm>
            <a:off x="1703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1" name="TextBox 290"/>
          <p:cNvSpPr txBox="1"/>
          <p:nvPr/>
        </p:nvSpPr>
        <p:spPr>
          <a:xfrm>
            <a:off x="16192500" y="4705350"/>
            <a:ext cx="952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Alert 0.25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485900" y="7334250"/>
            <a:ext cx="1238250" cy="476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3" name="TextBox 292"/>
          <p:cNvSpPr txBox="1"/>
          <p:nvPr/>
        </p:nvSpPr>
        <p:spPr>
          <a:xfrm>
            <a:off x="1295400" y="7045268"/>
            <a:ext cx="16192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0.04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295400" y="7937209"/>
            <a:ext cx="16192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Risk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6" name="TextBox 295"/>
          <p:cNvSpPr txBox="1"/>
          <p:nvPr/>
        </p:nvSpPr>
        <p:spPr>
          <a:xfrm>
            <a:off x="1800225" y="8193259"/>
            <a:ext cx="60960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OK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3200400" y="7210425"/>
            <a:ext cx="1238250" cy="6000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8" name="TextBox 297"/>
          <p:cNvSpPr txBox="1"/>
          <p:nvPr/>
        </p:nvSpPr>
        <p:spPr>
          <a:xfrm>
            <a:off x="3009900" y="6921443"/>
            <a:ext cx="16192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40A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0.05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3009900" y="7937209"/>
            <a:ext cx="16192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Trend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1" name="TextBox 300"/>
          <p:cNvSpPr txBox="1"/>
          <p:nvPr/>
        </p:nvSpPr>
        <p:spPr>
          <a:xfrm>
            <a:off x="3514725" y="8193259"/>
            <a:ext cx="60960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OK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4914900" y="7086600"/>
            <a:ext cx="1238250" cy="723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3" name="TextBox 302"/>
          <p:cNvSpPr txBox="1"/>
          <p:nvPr/>
        </p:nvSpPr>
        <p:spPr>
          <a:xfrm>
            <a:off x="4724400" y="6797618"/>
            <a:ext cx="16192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0.06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724400" y="7937209"/>
            <a:ext cx="16192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Momentum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6" name="TextBox 305"/>
          <p:cNvSpPr txBox="1"/>
          <p:nvPr/>
        </p:nvSpPr>
        <p:spPr>
          <a:xfrm>
            <a:off x="5229225" y="8193259"/>
            <a:ext cx="60960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OK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629400" y="6972300"/>
            <a:ext cx="1238250" cy="8382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8" name="TextBox 307"/>
          <p:cNvSpPr txBox="1"/>
          <p:nvPr/>
        </p:nvSpPr>
        <p:spPr>
          <a:xfrm>
            <a:off x="6438900" y="6683318"/>
            <a:ext cx="16192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891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0.07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6438900" y="7937209"/>
            <a:ext cx="16192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Valuation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1" name="TextBox 310"/>
          <p:cNvSpPr txBox="1"/>
          <p:nvPr/>
        </p:nvSpPr>
        <p:spPr>
          <a:xfrm>
            <a:off x="6943725" y="8193259"/>
            <a:ext cx="60960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OK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343900" y="7334250"/>
            <a:ext cx="1238250" cy="4762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3" name="TextBox 312"/>
          <p:cNvSpPr txBox="1"/>
          <p:nvPr/>
        </p:nvSpPr>
        <p:spPr>
          <a:xfrm>
            <a:off x="8153400" y="7045268"/>
            <a:ext cx="16192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0.04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8153400" y="7937209"/>
            <a:ext cx="16192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Fund.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6" name="TextBox 315"/>
          <p:cNvSpPr txBox="1"/>
          <p:nvPr/>
        </p:nvSpPr>
        <p:spPr>
          <a:xfrm>
            <a:off x="8658225" y="8193259"/>
            <a:ext cx="60960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OK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10058400" y="6848475"/>
            <a:ext cx="1238250" cy="9620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8" name="TextBox 317"/>
          <p:cNvSpPr txBox="1"/>
          <p:nvPr/>
        </p:nvSpPr>
        <p:spPr>
          <a:xfrm>
            <a:off x="9867900" y="6559493"/>
            <a:ext cx="16192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0.08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9867900" y="7937209"/>
            <a:ext cx="16192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Industry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1" name="TextBox 320"/>
          <p:cNvSpPr txBox="1"/>
          <p:nvPr/>
        </p:nvSpPr>
        <p:spPr>
          <a:xfrm>
            <a:off x="10372725" y="8193259"/>
            <a:ext cx="60960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OK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1772900" y="6724650"/>
            <a:ext cx="1238250" cy="10858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3" name="TextBox 322"/>
          <p:cNvSpPr txBox="1"/>
          <p:nvPr/>
        </p:nvSpPr>
        <p:spPr>
          <a:xfrm>
            <a:off x="11582400" y="6435668"/>
            <a:ext cx="16192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0.09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1582400" y="7937209"/>
            <a:ext cx="16192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Chip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6" name="TextBox 325"/>
          <p:cNvSpPr txBox="1"/>
          <p:nvPr/>
        </p:nvSpPr>
        <p:spPr>
          <a:xfrm>
            <a:off x="12087225" y="8193259"/>
            <a:ext cx="60960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OK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3487400" y="6248400"/>
            <a:ext cx="1238250" cy="1562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8" name="TextBox 327"/>
          <p:cNvSpPr txBox="1"/>
          <p:nvPr/>
        </p:nvSpPr>
        <p:spPr>
          <a:xfrm>
            <a:off x="13296900" y="5959418"/>
            <a:ext cx="16192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0.13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13296900" y="7937209"/>
            <a:ext cx="16192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Sentiment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1" name="TextBox 330"/>
          <p:cNvSpPr txBox="1"/>
          <p:nvPr/>
        </p:nvSpPr>
        <p:spPr>
          <a:xfrm>
            <a:off x="13801725" y="8193259"/>
            <a:ext cx="60960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WARN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5201900" y="7086600"/>
            <a:ext cx="1238250" cy="723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3" name="TextBox 332"/>
          <p:cNvSpPr txBox="1"/>
          <p:nvPr/>
        </p:nvSpPr>
        <p:spPr>
          <a:xfrm>
            <a:off x="15011400" y="6797618"/>
            <a:ext cx="1619250" cy="235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C489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0.06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15011400" y="7937209"/>
            <a:ext cx="161925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Event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6" name="TextBox 335"/>
          <p:cNvSpPr txBox="1"/>
          <p:nvPr/>
        </p:nvSpPr>
        <p:spPr>
          <a:xfrm>
            <a:off x="15516225" y="8193259"/>
            <a:ext cx="609600" cy="1679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OK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8" name="Rectangle 337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9" name="TextBox 338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EARLY WARNING · 早期警示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162050" y="9067800"/>
            <a:ext cx="158877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Sentiment 0.13 已過 0.10 警告線 · 仍低於 0.25 alert · </a:t>
            </a: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建議季度更新詞表 · 避免衰減</a:t>
            </a: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。其餘 8 支柱皆穩定。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Limitations &amp; 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Self-assessment per BCG due diligence template · open issues tracked at issues/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A.26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五大限制</a:t>
            </a: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+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五大未來方向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模型限制清楚揭露，才能使部署建議具備可信度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en-US" altLang="zh-TW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Intraday</a:t>
            </a: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、黑天鵝與跨市場外推仍需補強。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" y="2819400"/>
            <a:ext cx="7620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LIMITATIONS · 五大限制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14400" y="31623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04900" y="3333750"/>
            <a:ext cx="5715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5450" y="3333750"/>
            <a:ext cx="6286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日頻限制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5450" y="3657600"/>
            <a:ext cx="6286500" cy="255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無 intraday 微結構訊號 (tick / order book)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14400" y="42672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04900" y="4438650"/>
            <a:ext cx="5715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5450" y="4438650"/>
            <a:ext cx="6286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台股限制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5450" y="4762500"/>
            <a:ext cx="6286500" cy="255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未跨市場 (HK / SG / US ADR) · 政策外溢未建模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914400" y="53721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4900" y="5543550"/>
            <a:ext cx="5715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5450" y="5543550"/>
            <a:ext cx="6286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黑天鵝盲點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5450" y="5867400"/>
            <a:ext cx="6286500" cy="255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極端事件 (戰爭 / 疫情) 訓練樣本稀少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914400" y="6477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104900" y="6648450"/>
            <a:ext cx="5715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5450" y="6648450"/>
            <a:ext cx="6286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文本來源偏誤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5450" y="6972300"/>
            <a:ext cx="6286500" cy="255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40% 集中於 Top 5 熱門股 · 中小型股訊號薄弱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914400" y="75819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104900" y="7753350"/>
            <a:ext cx="5715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5450" y="7753350"/>
            <a:ext cx="6286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靜態詞表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5450" y="8077200"/>
            <a:ext cx="6286500" cy="255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500 詞表為 2024 校驗 · 半年衰減 PSI &gt; 0.1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7350" y="2819400"/>
            <a:ext cx="7620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FUTURE WORK · 五大未來方向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7735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9277350" y="31623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9467850" y="3333750"/>
            <a:ext cx="5715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3333750"/>
            <a:ext cx="6286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加入 Intraday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3657600"/>
            <a:ext cx="6286500" cy="255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tick / 1-min K · order flow imbalance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7735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9277350" y="42672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9467850" y="4438650"/>
            <a:ext cx="5715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4438650"/>
            <a:ext cx="6286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跨市場 portfolio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0" y="4762500"/>
            <a:ext cx="6286500" cy="255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TW + HK + ADR · 統一 9-pillar · ~5,000 stocks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735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9277350" y="53721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467850" y="5543550"/>
            <a:ext cx="5715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0" y="5543550"/>
            <a:ext cx="6286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線上學習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5867400"/>
            <a:ext cx="6286500" cy="255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EWMA + concept drift detection · 月更新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735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9277350" y="64770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9467850" y="6648450"/>
            <a:ext cx="5715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6648450"/>
            <a:ext cx="6286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LLM 輔助情感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6972300"/>
            <a:ext cx="6286500" cy="255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GPT / Llama embedding 取代部分詞表 · 強化中小型股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7735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9277350" y="75819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9467850" y="7753350"/>
            <a:ext cx="5715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7753350"/>
            <a:ext cx="628650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因果機制建模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8077200"/>
            <a:ext cx="6286500" cy="255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do-calculus + IV · 從相關走向因果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87630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914400" y="87630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162050" y="8896350"/>
            <a:ext cx="158877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系統設計時即承認自身邊界 · </a:t>
            </a: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誠實 &gt; 過譽 · 這是 v11.5.17 與一般學術原型最根本的差別。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Bibliography · 15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自行整理· all referenced in code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A.27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參考文獻四大領域</a:t>
            </a: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15 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文獻基礎支撐本研究在因子模型、行為財務與量化治理上的選擇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方法不是任意拼裝，而是有理論來源。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76390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METHODOLOGY · 方法論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51570"/>
            <a:ext cx="2286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3505200"/>
            <a:ext cx="741045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López de Prado (2018). Advances in Financial Machine Learning. Wiley.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965920"/>
            <a:ext cx="2286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4019550"/>
            <a:ext cx="741045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Bailey &amp; López de Prado (2014). The Deflated Sharpe Ratio. SSRN 2460551.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480270"/>
            <a:ext cx="2286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3500" y="4533900"/>
            <a:ext cx="741045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Harvey, Liu &amp; Zhu (2016). … and the Cross-Section of Expected Returns. RFS 29(1).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994620"/>
            <a:ext cx="2286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3500" y="5048250"/>
            <a:ext cx="741045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Lopez de Prado &amp; Lewis (2019). Detection of False Investment Strategies. JPM 45.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925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9239250" y="29337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467850" y="3143250"/>
            <a:ext cx="76390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FACTOR MODELS · 因子模型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7850" y="3451570"/>
            <a:ext cx="2286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8350" y="3505200"/>
            <a:ext cx="741045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Fama &amp; French (1993). Common Risk Factors in the Returns on Stocks and Bonds. JFE 33.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850" y="3965920"/>
            <a:ext cx="2286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8350" y="4019550"/>
            <a:ext cx="741045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Carhart (1997). On Persistence in Mutual Fund Performance. JF 52.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7850" y="4480270"/>
            <a:ext cx="2286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8350" y="4533900"/>
            <a:ext cx="741045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Asness, Moskowitz &amp; Pedersen (2013). Value and Momentum Everywhere. JF 68.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7850" y="4994620"/>
            <a:ext cx="2286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58350" y="5048250"/>
            <a:ext cx="741045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Hou, Xue &amp; Zhang (2015). Digesting Anomalies: An Investment Approach. RFS 28.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914400" y="6096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143000" y="6305550"/>
            <a:ext cx="76390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BEHAVIORAL FINANCE · 行為財務學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6613870"/>
            <a:ext cx="2286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33500" y="6667500"/>
            <a:ext cx="741045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DeBondt &amp; Thaler (1985). Does the Stock Market Overreact? JF 40.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128220"/>
            <a:ext cx="2286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33500" y="7181850"/>
            <a:ext cx="741045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Tetlock (2007). Giving Content to Investor Sentiment. JF 62.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7642570"/>
            <a:ext cx="2286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33500" y="7696200"/>
            <a:ext cx="741045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Loughran &amp; McDonald (2011). When Is a Liability Not a Liability? JF 66.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3925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9239250" y="6096000"/>
            <a:ext cx="80962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9467850" y="6305550"/>
            <a:ext cx="76390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ML &amp; TEXT · 機器學習與文本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67850" y="6613870"/>
            <a:ext cx="2286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8350" y="6667500"/>
            <a:ext cx="741045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Chen &amp; Guestrin (2016). XGBoost: A Scalable Tree Boosting System. KDD.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67850" y="7128220"/>
            <a:ext cx="2286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58350" y="7181850"/>
            <a:ext cx="741045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Lundberg &amp; Lee (2017). A Unified Approach to Interpreting Model Predictions. NeurIPS.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7850" y="7642570"/>
            <a:ext cx="2286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58350" y="7696200"/>
            <a:ext cx="741045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Ke et al. (2017). LightGBM: A Highly Efficient Gradient Boosting Decision Tree. NeurIPS.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67850" y="8156920"/>
            <a:ext cx="22860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58350" y="8210550"/>
            <a:ext cx="7410450" cy="229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Ardia et al. (2021). Sentometrics: Computing Time Series of Sentiment. JSS 99.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90678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914400" y="90678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162050" y="9201150"/>
            <a:ext cx="158877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所有方法論皆有同行審核之文獻支撐；</a:t>
            </a: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本系統為 50 年量化文獻在台股的工程實作</a:t>
            </a: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Tools · Python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requirements.txt · pyproject.toml · 5 functional groups × 3 libs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A.28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工具棧</a:t>
            </a: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15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個核心套件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Python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工具鏈已覆蓋資料工程、模型訓練、</a:t>
            </a: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NLP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與治理監控需求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技術選型足以支撐課堂專案交付。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3337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23950" y="3143250"/>
            <a:ext cx="29146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DATA · 資料層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23950" y="36766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238250" y="3600450"/>
            <a:ext cx="28003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pandas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250" y="3886200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8250" y="4095750"/>
            <a:ext cx="2800350" cy="210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panel data 主鍵對齊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23950" y="45529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238250" y="4476750"/>
            <a:ext cx="28003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numpy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4762500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4972050"/>
            <a:ext cx="2800350" cy="210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向量運算 / 統計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23950" y="54292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238250" y="5353050"/>
            <a:ext cx="28003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duckdb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5638800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v0.10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848350"/>
            <a:ext cx="2800350" cy="210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本地 OLAP · WAL off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624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362450" y="2933700"/>
            <a:ext cx="33337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572000" y="3143250"/>
            <a:ext cx="29146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ML · 模型層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6766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686300" y="3600450"/>
            <a:ext cx="28003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6300" y="3886200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v1.7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6300" y="4095750"/>
            <a:ext cx="2800350" cy="210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★ winner · D+20 AUC 0.6455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45529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686300" y="4476750"/>
            <a:ext cx="28003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lightgbm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86300" y="4762500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v4.x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6300" y="4972050"/>
            <a:ext cx="2800350" cy="210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次佳引擎 · D+20 AUC 0.6391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54292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686300" y="5353050"/>
            <a:ext cx="28003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scikit-learn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6300" y="5638800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v1.5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6300" y="5848350"/>
            <a:ext cx="2800350" cy="210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preprocess / metrics / split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105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7810500" y="2933700"/>
            <a:ext cx="33337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020050" y="3143250"/>
            <a:ext cx="29146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TUNE · 搜尋層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20050" y="36766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8134350" y="3600450"/>
            <a:ext cx="28003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optuna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4350" y="3886200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v3.6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4350" y="4095750"/>
            <a:ext cx="2800350" cy="210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TPE Sampler · 50 trials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20050" y="45529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134350" y="4476750"/>
            <a:ext cx="28003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shap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4350" y="4762500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v0.46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4350" y="4972050"/>
            <a:ext cx="2800350" cy="210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tree explainer · top-20 features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20050" y="54292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8134350" y="5353050"/>
            <a:ext cx="28003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joblib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4350" y="5638800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v1.4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4350" y="5848350"/>
            <a:ext cx="2800350" cy="210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model serialization · 6 horizons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2585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11258550" y="2933700"/>
            <a:ext cx="33337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1468100" y="3143250"/>
            <a:ext cx="29146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NLP · 文本層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68100" y="36766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1582400" y="3600450"/>
            <a:ext cx="28003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jieba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582400" y="3886200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v0.42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582400" y="4095750"/>
            <a:ext cx="2800350" cy="210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中文斷詞 · 自定義金融詞典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468100" y="45529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1582400" y="4476750"/>
            <a:ext cx="28003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snownlp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582400" y="4762500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v0.12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82400" y="4972050"/>
            <a:ext cx="2800350" cy="210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中文情緒五桶分位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468100" y="54292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582400" y="5353050"/>
            <a:ext cx="28003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wordcloud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82400" y="5638800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v1.9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582400" y="5848350"/>
            <a:ext cx="2800350" cy="210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視覺化 · Q1 vs Q5 對比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7066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14706600" y="2933700"/>
            <a:ext cx="33337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14916150" y="3143250"/>
            <a:ext cx="29146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VIZ + GOV · 服務層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4916150" y="36766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5030450" y="3600450"/>
            <a:ext cx="28003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streamlit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030450" y="3886200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v1.39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030450" y="4095750"/>
            <a:ext cx="2800350" cy="210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13 頁互動儀表板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916150" y="45529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15030450" y="4476750"/>
            <a:ext cx="28003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plotly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030450" y="4762500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v5.24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030450" y="4972050"/>
            <a:ext cx="2800350" cy="210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dark-glint chart 語言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4916150" y="54292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15030450" y="5353050"/>
            <a:ext cx="28003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matplotlib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030450" y="5638800"/>
            <a:ext cx="9525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v3.9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030450" y="5848350"/>
            <a:ext cx="2800350" cy="2101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static report figures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0" y="6667500"/>
            <a:ext cx="16459200" cy="2095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914400" y="6667500"/>
            <a:ext cx="57150" cy="2095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1162050" y="68389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WHY THIS STACK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62050" y="7124700"/>
            <a:ext cx="15887700" cy="12327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純 Python · MIT/Apache 授權 · 全部可在 </a:t>
            </a: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Streamlit Cloud / Docker / Conda</a:t>
            </a: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本地或雲端重現；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XGBoost + LightGBM 雙引擎並行 · </a:t>
            </a:r>
            <a:r>
              <a:rPr sz="1500" b="1" i="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Optuna 150 trials × 6 horizon × engine = 900 次搜尋</a:t>
            </a: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；SHAP 提供個股可解釋性、Streamlit 13 頁將模型結果暴露給研究員與經理人。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AUDIT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所有依賴版本鎖在 </a:t>
            </a:r>
            <a:r>
              <a:rPr sz="1300" b="1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requirements.txt</a:t>
            </a: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、commit hash + joblib 同步、</a:t>
            </a:r>
            <a:r>
              <a:rPr sz="13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任何一段績效都可從原始資料 → 重現到分數差 &lt; 1e-6。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Methodology · 5 Core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López de Prado (2018) · Bailey &amp; López de Prado (2014) · Lundberg &amp; Lee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A.29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方法論詳述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五大方法分別處理時序洩漏、過擬合、黑箱、歸因與漂移風險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en-US" altLang="zh-TW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WFPK</a:t>
            </a: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lang="en-US" altLang="zh-TW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DSR</a:t>
            </a: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lang="en-US" altLang="zh-TW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SHAP</a:t>
            </a: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lang="en-US" altLang="zh-TW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LOPO</a:t>
            </a: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、</a:t>
            </a:r>
            <a:r>
              <a:rPr lang="en-US" altLang="zh-TW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PSI </a:t>
            </a: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各自對應一類模型風險。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76200" cy="1028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200150" y="308610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600" y="3124200"/>
            <a:ext cx="2095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Purged WF-CV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2600" y="3390900"/>
            <a:ext cx="22860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時序交叉驗證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2600" y="3714750"/>
            <a:ext cx="3429000" cy="1678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López de Prado (2018) §7.4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5900" y="3086100"/>
            <a:ext cx="9525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FORMULA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95900" y="32956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29250" y="3444849"/>
            <a:ext cx="4857750" cy="2350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Fold k 之 train ∩ test̂(t±h) = 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30861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OUR APPLICATION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8000" y="3295650"/>
            <a:ext cx="6477000" cy="26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4 fold × 20 日 embargo · 防止 D+20 標籤跨期重疊洩漏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0386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914400" y="4038600"/>
            <a:ext cx="76200" cy="10287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200150" y="419100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2600" y="4229100"/>
            <a:ext cx="2095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Deflated Sharpe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2600" y="4495800"/>
            <a:ext cx="22860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多重檢定校正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52600" y="4819650"/>
            <a:ext cx="3429000" cy="1678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Bailey &amp; López de Prado (2014)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95900" y="4191000"/>
            <a:ext cx="9525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FORMULA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5900" y="44005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429250" y="4549749"/>
            <a:ext cx="4857750" cy="2350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DSR = (SR̂ − E[max SR_n]) · √(T−1) / Φ⁻¹(1−α)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68000" y="41910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OUR APPLICATION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8000" y="4400550"/>
            <a:ext cx="6477000" cy="2632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原始 SR̂ 2.41 → DSR 12.12 · 扣 150 trials skew/kurt 後 p ≪ 0.001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914400" y="5143500"/>
            <a:ext cx="76200" cy="1028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200150" y="529590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52600" y="5334000"/>
            <a:ext cx="2095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LOPO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52600" y="5600700"/>
            <a:ext cx="22860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支柱貢獻分析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2600" y="5924550"/>
            <a:ext cx="3429000" cy="1678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Custom · feature ablation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95900" y="5295900"/>
            <a:ext cx="9525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FORMULA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5900" y="55054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429250" y="5654649"/>
            <a:ext cx="4857750" cy="2350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ΔAUC_p = AUC(全 91) − AUC(91 \ pillar p)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68000" y="52959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OUR APPLICATION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68000" y="5505450"/>
            <a:ext cx="6477000" cy="2632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Risk +138.6 bps · Trend +64.9 · Chip / Event / Industry 共 −49 bps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62484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914400" y="6248400"/>
            <a:ext cx="7620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200150" y="640080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52600" y="6438900"/>
            <a:ext cx="2095500" cy="4935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SHAP TreeExplainer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52600" y="6705600"/>
            <a:ext cx="22860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個股可解釋性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52600" y="7029450"/>
            <a:ext cx="3429000" cy="1678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Lundberg &amp; Lee (2017)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95900" y="6400800"/>
            <a:ext cx="9525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FORMULA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95900" y="66103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429250" y="6759549"/>
            <a:ext cx="4857750" cy="2350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φ_i(x) = E[f(x) | x_i] − E[f(x)]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68000" y="64008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OUR APPLICATION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68000" y="6610350"/>
            <a:ext cx="6477000" cy="26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Top 20 全局特徵 · per-stock 解釋 → Streamlit 個股檢視頁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73533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914400" y="7353300"/>
            <a:ext cx="76200" cy="10287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200150" y="7505700"/>
            <a:ext cx="762000" cy="369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52600" y="7543800"/>
            <a:ext cx="2095500" cy="2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PSI / KS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52600" y="7810500"/>
            <a:ext cx="2286000" cy="335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漂移監控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52600" y="8134350"/>
            <a:ext cx="3429000" cy="1678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Basel III FRTB · industry standard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95900" y="7505700"/>
            <a:ext cx="9525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FORMULA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95900" y="77152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5429250" y="7864449"/>
            <a:ext cx="4857750" cy="2350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PSI = Σ (p_i − q_i) ln(p_i / q_i)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68000" y="75057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OUR APPLICATION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68000" y="7715250"/>
            <a:ext cx="6477000" cy="26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91 features 月測 · Text PSI 0.13 觸發 WARN · 對策每月詞向量重新訓練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83820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914400" y="83820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62050" y="85534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METHOD-TO-EVIDENCE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62050" y="8839200"/>
            <a:ext cx="15887700" cy="65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每個結論都可逆向追溯到一個方法、每個方法都有一篇引用文獻；</a:t>
            </a:r>
            <a:br>
              <a:rPr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這 5 大方法疊加 = </a:t>
            </a:r>
            <a:r>
              <a:rPr sz="15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從原始資料到 9 / 9 治理關卡 PASS 的審計鏈</a:t>
            </a:r>
            <a:r>
              <a:rPr sz="15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259"/>
            <a:ext cx="342900" cy="1511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404060"/>
            <a:ext cx="3619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404060"/>
            <a:ext cx="6667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Data Sources &amp; Extended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746959"/>
            <a:ext cx="12382500" cy="1847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Source · TWSE / TPEx · 公開資訊觀測站 · CMoney 文本 · 課程指定資料庫 BDA-2026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954500" y="9738560"/>
            <a:ext cx="571500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A.30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— A.30 ·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資料來源</a:t>
            </a:r>
            <a:r>
              <a:rPr sz="1400" b="1" i="0" spc="24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+ </a:t>
            </a:r>
            <a:r>
              <a:rPr sz="1400" b="1" i="0" spc="240" dirty="0" err="1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延伸期刊文獻</a:t>
            </a:r>
            <a:endParaRPr sz="1400" b="1" i="0" spc="24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157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資料來源與 </a:t>
            </a:r>
            <a:r>
              <a:rPr lang="en-US" altLang="zh-TW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lineage </a:t>
            </a:r>
            <a:r>
              <a:rPr lang="zh-TW" altLang="en-US" sz="4000" b="1" spc="-80" dirty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決定模型結果能否被複查與重現</a:t>
            </a:r>
            <a:endParaRPr lang="en-US" altLang="zh-TW" sz="4000" b="1" spc="-80" dirty="0">
              <a:solidFill>
                <a:srgbClr val="1E3A8A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  <a:p>
            <a:pPr>
              <a:lnSpc>
                <a:spcPct val="118000"/>
              </a:lnSpc>
            </a:pPr>
            <a:r>
              <a:rPr lang="zh-TW" altLang="en-US" sz="2600" b="1" spc="-80" dirty="0"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每一筆資料與每一個特徵都應可回溯。</a:t>
            </a:r>
            <a:endParaRPr lang="en-US" altLang="zh-TW" sz="2600" b="1" spc="-80" dirty="0">
              <a:latin typeface="微軟正黑體" panose="020B0604030504040204" pitchFamily="34" charset="-120"/>
              <a:ea typeface="微軟正黑體" panose="020B0604030504040204" pitchFamily="34" charset="-120"/>
              <a:cs typeface="Microsoft Jheng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" y="2819400"/>
            <a:ext cx="571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DATA SOURCES · 資料來源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1051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14400" y="310515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43000" y="3314700"/>
            <a:ext cx="76390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PRICE /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619500"/>
            <a:ext cx="76390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TWSE · TPEx · 公開資訊觀測站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19550"/>
            <a:ext cx="7639050" cy="26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1,930 檔股票 × 505 交易日 · OHLCV + 融資融券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14850"/>
            <a:ext cx="763905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data/raw/stock_prices.parquet · 4.2 GB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0482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14400" y="504825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43000" y="5257800"/>
            <a:ext cx="76390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FUNDAMENTALS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562600"/>
            <a:ext cx="76390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財報資料庫 · 季頻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962650"/>
            <a:ext cx="7639050" cy="26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IFRS 報表三表 · 主鍵 (stock_id, period) · lag 45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6457950"/>
            <a:ext cx="763905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data/raw/financial_statements.parquet · 312 MB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69913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914400" y="6991350"/>
            <a:ext cx="80962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763905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TEXT CORPUS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7505700"/>
            <a:ext cx="7639050" cy="302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CMoney 新聞 + PTT Stock 論壇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7905750"/>
            <a:ext cx="7639050" cy="26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948K 文本 · T 日 15:00 截止 · 自定義金融詞典 1,521 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8401050"/>
            <a:ext cx="763905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↪ data/raw/text/ · 8.7 GB · jieba 斷詞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34500" y="2819400"/>
            <a:ext cx="5715000" cy="184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EXTENDED REFERENCES · 延伸文獻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34500" y="31051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9334500" y="3105150"/>
            <a:ext cx="803910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544050" y="3276600"/>
            <a:ext cx="7620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7C3AED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TAIWAN MARKET · 台股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44050" y="3467100"/>
            <a:ext cx="1524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6450" y="3467100"/>
            <a:ext cx="7467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Lin &amp; Lee (2010). 台股報酬可預測性. 臺大管理論叢 21(1).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4050" y="3676650"/>
            <a:ext cx="1524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6450" y="3676650"/>
            <a:ext cx="7467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張 (2018). 台灣股市規模效應與動能效應. 中山管理評論 26(2).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516350" y="3752850"/>
            <a:ext cx="762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 spc="4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+ 1 more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4500" y="40386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9334500" y="4038600"/>
            <a:ext cx="80391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544050" y="4210050"/>
            <a:ext cx="7620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TIME-SERIES VALIDATION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44050" y="4400550"/>
            <a:ext cx="1524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6450" y="4400550"/>
            <a:ext cx="7467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Cerqueira et al. (2020). Evaluating time series forecasting models. ML 109.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44050" y="4610100"/>
            <a:ext cx="1524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6450" y="4610100"/>
            <a:ext cx="7467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Hyndman &amp; Athanasopoulos (2021). Forecasting: Principles and Practice (3e).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34500" y="49720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9334500" y="4972050"/>
            <a:ext cx="80391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9544050" y="5143500"/>
            <a:ext cx="7620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GOVERNANCE · 治理規範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44050" y="5334000"/>
            <a:ext cx="1524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6450" y="5334000"/>
            <a:ext cx="7467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Basel III · FRTB (2019). Minimum capital requirements for market risk.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4050" y="5543550"/>
            <a:ext cx="1524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6450" y="5543550"/>
            <a:ext cx="7467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EU AI Act (2024). High-risk AI systems Article 9 — risk management.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34500" y="59055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9334500" y="5905500"/>
            <a:ext cx="8039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9544050" y="6076950"/>
            <a:ext cx="7620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DATA &amp; TOOLING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4050" y="6267450"/>
            <a:ext cx="1524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96450" y="6267450"/>
            <a:ext cx="7467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McKinney (2011). pandas: a Foundational Python Library for DA. PyHPC.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44050" y="6477000"/>
            <a:ext cx="152400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96450" y="6477000"/>
            <a:ext cx="7467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Akiba et al. (2019). Optuna: A Next-generation Hyperparameter Optimization Framework. KDD.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516350" y="6553200"/>
            <a:ext cx="762000" cy="151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 spc="40">
                <a:solidFill>
                  <a:srgbClr val="94A3B8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+ 1 more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" y="882015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914400" y="882015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162050" y="899160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PROVENANCE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62050" y="9277350"/>
            <a:ext cx="15887700" cy="283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948,976 筆樣本 · 1,623 候選因子 · 91 篩選後特徵 · 全部</a:t>
            </a:r>
            <a:r>
              <a:rPr sz="1400" b="1" i="0">
                <a:solidFill>
                  <a:srgbClr val="1E3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 SQL 可回溯</a:t>
            </a:r>
            <a:r>
              <a:rPr sz="1400" b="0" i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Microsoft JhengHei"/>
              </a:rPr>
              <a:t>；本研究遵循 BDA-2026 課程資料規範、所有外部引用標明出處、所有方法論可獨立復現。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8152</Words>
  <Application>Microsoft Office PowerPoint</Application>
  <PresentationFormat>自訂</PresentationFormat>
  <Paragraphs>1942</Paragraphs>
  <Slides>41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41</vt:i4>
      </vt:variant>
    </vt:vector>
  </HeadingPairs>
  <TitlesOfParts>
    <vt:vector size="46" baseType="lpstr">
      <vt:lpstr>微軟正黑體</vt:lpstr>
      <vt:lpstr>Arial</vt:lpstr>
      <vt:lpstr>Calibri</vt:lpstr>
      <vt:lpstr>Times New Roman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陳柏寰</cp:lastModifiedBy>
  <cp:revision>29</cp:revision>
  <dcterms:created xsi:type="dcterms:W3CDTF">2013-01-27T09:14:16Z</dcterms:created>
  <dcterms:modified xsi:type="dcterms:W3CDTF">2026-04-26T08:52:29Z</dcterms:modified>
  <cp:category/>
</cp:coreProperties>
</file>