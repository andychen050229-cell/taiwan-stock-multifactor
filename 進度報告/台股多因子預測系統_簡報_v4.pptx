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2286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64592" cy="2286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64592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onsolas"/>
                <a:ea typeface="Microsoft JhengHei"/>
              </a:rPr>
              <a:t>BIG DATA &amp; BUSINESS ANALYTICS · FINAL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F172A"/>
                </a:solidFill>
                <a:latin typeface="Microsoft JhengHei"/>
                <a:ea typeface="Microsoft JhengHei"/>
              </a:rPr>
              <a:t>台股多因子預測決策輔助系統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475569"/>
                </a:solidFill>
                <a:latin typeface="Inter"/>
                <a:ea typeface="Microsoft JhengHei"/>
              </a:rPr>
              <a:t>以九支柱因子工程 + 雙引擎機器學習，嚴格驗證下的月度 Alpha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948K · samples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7128" y="4297680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7128" y="436168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Consolas"/>
                <a:ea typeface="Microsoft JhengHei"/>
              </a:rPr>
              <a:t>9 · pillars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2736" y="4297680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436168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  <a:latin typeface="Consolas"/>
                <a:ea typeface="Microsoft JhengHei"/>
              </a:rPr>
              <a:t>1,623 → 91 · feats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8344" y="4297680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8344" y="436168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Consolas"/>
                <a:ea typeface="Microsoft JhengHei"/>
              </a:rPr>
              <a:t>9 / 9 · gates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4297680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436168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43F5E"/>
                </a:solidFill>
                <a:latin typeface="Consolas"/>
                <a:ea typeface="Microsoft JhengHei"/>
              </a:rPr>
              <a:t>LOPO · validated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陳延逸  ·  大數據與商業分析  ·  2026-04-20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94A3B8"/>
                </a:solidFill>
                <a:latin typeface="Consolas"/>
                <a:ea typeface="Microsoft JhengHei"/>
              </a:rPr>
              <a:t>Streamlit Dashboard · https://github.com/andychen050229-cell/taiwan-stock-multifactor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Executive Summary · 專案 BLUF (Bottom Line Up Front)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S2 · 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月頻 D+20 是唯一通過「嚴格驗證」的可交易地平線；風險支柱貢獻最大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3698138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54480"/>
            <a:ext cx="3698138" cy="40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324093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onsolas"/>
                <a:ea typeface="Microsoft JhengHei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324093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JhengHei"/>
                <a:ea typeface="Microsoft JhengHei"/>
              </a:rPr>
              <a:t>台股散戶的決策落差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3240938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1,932 檔個股，資訊量 &gt;&gt; 決策能力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Inter"/>
                <a:ea typeface="Microsoft JhengHei"/>
              </a:rPr>
              <a:t>人工盯盤難跨 9 個因子面向整合判讀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Inter"/>
                <a:ea typeface="Microsoft JhengHei"/>
              </a:rPr>
              <a:t>基本面 / 技術面 / 籌碼 / 文本情緒分散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Inter"/>
                <a:ea typeface="Microsoft JhengHei"/>
              </a:rPr>
              <a:t>缺乏可回看、可解釋的驗證機制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5338" y="1554480"/>
            <a:ext cx="3698138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55338" y="1554480"/>
            <a:ext cx="3698138" cy="4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3938" y="1737360"/>
            <a:ext cx="324093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  <a:ea typeface="Microsoft JhengHei"/>
              </a:rPr>
              <a:t>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3938" y="2057400"/>
            <a:ext cx="324093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JhengHei"/>
                <a:ea typeface="Microsoft JhengHei"/>
              </a:rPr>
              <a:t>九支柱 + 雙引擎 + LOPO 驗證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3938" y="2788920"/>
            <a:ext cx="3240938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948K 樣本 × 1,623 候選 → 91 特徵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Inter"/>
                <a:ea typeface="Microsoft JhengHei"/>
              </a:rPr>
              <a:t>LightGBM + XGBoost 雙引擎 Ensemble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Inter"/>
                <a:ea typeface="Microsoft JhengHei"/>
              </a:rPr>
              <a:t>Purged Walk-Forward CV 4 折 · 20 日 Embargo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Inter"/>
                <a:ea typeface="Microsoft JhengHei"/>
              </a:rPr>
              <a:t>Phase 6 LOPO + Threshold + 個股三重驗證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44916" y="1554480"/>
            <a:ext cx="3698138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44916" y="1554480"/>
            <a:ext cx="3698138" cy="4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3516" y="1737360"/>
            <a:ext cx="324093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  <a:ea typeface="Microsoft JhengHei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516" y="2057400"/>
            <a:ext cx="324093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JhengHei"/>
                <a:ea typeface="Microsoft JhengHei"/>
              </a:rPr>
              <a:t>月頻 Alpha 穩定且可出手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3516" y="2788920"/>
            <a:ext cx="3240938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xgboost_D20 · AUC_macro 0.649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Inter"/>
                <a:ea typeface="Microsoft JhengHei"/>
              </a:rPr>
              <a:t>Top 0.1% 精度 45.8% · edge +19.5pp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Inter"/>
                <a:ea typeface="Microsoft JhengHei"/>
              </a:rPr>
              <a:t>閾值 t=0.40 · call 8.8% · edge +3.14pp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Inter"/>
                <a:ea typeface="Microsoft JhengHei"/>
              </a:rPr>
              <a:t>2454 聯發科 OOS 命中 58.6% vs 48.8%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715000"/>
            <a:ext cx="11460175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80644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JhengHei"/>
                <a:ea typeface="Microsoft JhengHei"/>
              </a:rPr>
              <a:t>✓  9/9 品質門控全通過   ✓  LOPO 顯示 risk/trend 支柱不可或缺   ✓  Streamlit 雙面板（投資解讀 + 量化工作台）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Agenda · 議程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S3 · 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今日議程：從「問題」出發，以「證據」收斂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  <a:ea typeface="Microsoft Jheng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  <a:ea typeface="Microsoft JhengHei"/>
              </a:rPr>
              <a:t>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JhengHei"/>
                <a:ea typeface="Microsoft JhengHei"/>
              </a:rPr>
              <a:t>問題背景與複雜性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5915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  <a:ea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5915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  <a:ea typeface="Microsoft JhengHei"/>
              </a:rPr>
              <a:t>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0487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JhengHei"/>
                <a:ea typeface="Microsoft JhengHei"/>
              </a:rPr>
              <a:t>六階段研究設計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072384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  <a:ea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7238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  <a:ea typeface="Microsoft JhengHei"/>
              </a:rPr>
              <a:t>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118104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JhengHei"/>
                <a:ea typeface="Microsoft JhengHei"/>
              </a:rPr>
              <a:t>Phase 1-6 方法論逐段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785616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  <a:ea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8561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  <a:ea typeface="Microsoft JhengHei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831336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JhengHei"/>
                <a:ea typeface="Microsoft JhengHei"/>
              </a:rPr>
              <a:t>LOPO · Threshold · 個股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498848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  <a:ea typeface="Microsoft Jheng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4988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  <a:ea typeface="Microsoft JhengHei"/>
              </a:rPr>
              <a:t>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54456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JhengHei"/>
                <a:ea typeface="Microsoft JhengHei"/>
              </a:rPr>
              <a:t>Streamlit 雙面板儀表板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  <a:ea typeface="Microsoft JhengHe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2120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  <a:ea typeface="Microsoft JhengHei"/>
              </a:rPr>
              <a:t>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257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JhengHei"/>
                <a:ea typeface="Microsoft JhengHei"/>
              </a:rPr>
              <a:t>治理、限制、下一步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§1 Situation · 問題背景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S4 · 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台股散戶面臨「資訊量 &gt;&gt; 決策能力」的結構性落差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1,932 家上市櫃 × 多面向因子 × 即時資訊 → 需要可解釋、可回看、可治理的決策輔助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3717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3637178" cy="35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308853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0">
                <a:solidFill>
                  <a:srgbClr val="2563EB"/>
                </a:solidFill>
                <a:latin typeface="Inter"/>
                <a:ea typeface="Microsoft JhengHe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308853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icrosoft JhengHei"/>
                <a:ea typeface="Microsoft JhengHei"/>
              </a:rPr>
              <a:t>資訊過載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30885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單一投資人難同時監控 1,932 檔、9 大因子面向、每日事件輿情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7258" y="1737360"/>
            <a:ext cx="363717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7258" y="1737360"/>
            <a:ext cx="3637178" cy="35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1578" y="1965960"/>
            <a:ext cx="308853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0">
                <a:solidFill>
                  <a:srgbClr val="7C3AED"/>
                </a:solidFill>
                <a:latin typeface="Inter"/>
                <a:ea typeface="Microsoft JhengHei"/>
              </a:rP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1578" y="2743200"/>
            <a:ext cx="308853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icrosoft JhengHei"/>
                <a:ea typeface="Microsoft JhengHei"/>
              </a:rPr>
              <a:t>無一致判讀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1578" y="3337560"/>
            <a:ext cx="30885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技術派 / 基本派 / 籌碼派 / 消息派各自為戰，難跨維度整合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1737360"/>
            <a:ext cx="363717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7316" y="1737360"/>
            <a:ext cx="3637178" cy="35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1636" y="1965960"/>
            <a:ext cx="308853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0">
                <a:solidFill>
                  <a:srgbClr val="F43F5E"/>
                </a:solidFill>
                <a:latin typeface="Inter"/>
                <a:ea typeface="Microsoft JhengHei"/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1636" y="2743200"/>
            <a:ext cx="308853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icrosoft JhengHei"/>
                <a:ea typeface="Microsoft JhengHei"/>
              </a:rPr>
              <a:t>缺驗證工具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1636" y="3337560"/>
            <a:ext cx="30885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市場流通策略多為「事後貼圖」，缺乏可回看、可解釋、可治理的證據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§2 Resolution · 研究設計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S5 ·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以六階段管線建立「可回看 + 可解釋 + 可治理」的研究框架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803349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62046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Consolas"/>
                <a:ea typeface="Microsoft JhengHei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162046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JhengHei"/>
                <a:ea typeface="Microsoft JhengHei"/>
              </a:rPr>
              <a:t>資料與特徵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60549" y="2441448"/>
            <a:ext cx="91440" cy="14630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51989" y="1828800"/>
            <a:ext cx="1803349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3429" y="1965960"/>
            <a:ext cx="162046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onsolas"/>
                <a:ea typeface="Microsoft JhengHei"/>
              </a:rP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3429" y="2423160"/>
            <a:ext cx="162046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JhengHei"/>
                <a:ea typeface="Microsoft JhengHei"/>
              </a:rPr>
              <a:t>模型與回測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55338" y="2441448"/>
            <a:ext cx="91440" cy="14630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6778" y="1828800"/>
            <a:ext cx="1803349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8218" y="1965960"/>
            <a:ext cx="162046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onsolas"/>
                <a:ea typeface="Microsoft JhengHei"/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8218" y="2423160"/>
            <a:ext cx="162046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JhengHei"/>
                <a:ea typeface="Microsoft JhengHei"/>
              </a:rPr>
              <a:t>擴充分析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50127" y="2441448"/>
            <a:ext cx="91440" cy="14630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1567" y="1828800"/>
            <a:ext cx="1803349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3007" y="1965960"/>
            <a:ext cx="162046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onsolas"/>
                <a:ea typeface="Microsoft JhengHei"/>
              </a:rPr>
              <a:t>P4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3007" y="2423160"/>
            <a:ext cx="162046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JhengHei"/>
                <a:ea typeface="Microsoft JhengHei"/>
              </a:rPr>
              <a:t>治理監控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44916" y="2441448"/>
            <a:ext cx="91440" cy="14630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36356" y="1828800"/>
            <a:ext cx="1803349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7796" y="1965960"/>
            <a:ext cx="162046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onsolas"/>
                <a:ea typeface="Microsoft JhengHei"/>
              </a:rPr>
              <a:t>P5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7796" y="2423160"/>
            <a:ext cx="162046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JhengHei"/>
                <a:ea typeface="Microsoft JhengHei"/>
              </a:rPr>
              <a:t>文本情緒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839705" y="2441448"/>
            <a:ext cx="91440" cy="14630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31145" y="1828800"/>
            <a:ext cx="1803349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22585" y="1965960"/>
            <a:ext cx="162046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3F5E"/>
                </a:solidFill>
                <a:latin typeface="Consolas"/>
                <a:ea typeface="Microsoft JhengHei"/>
              </a:rPr>
              <a:t>P6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2585" y="2423160"/>
            <a:ext cx="162046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JhengHei"/>
                <a:ea typeface="Microsoft JhengHei"/>
              </a:rPr>
              <a:t>深度驗證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657600"/>
            <a:ext cx="11277295" cy="1645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840480"/>
            <a:ext cx="1072865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onsolas"/>
                <a:ea typeface="Microsoft JhengHei"/>
              </a:rPr>
              <a:t>📦 成果交付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Streamlit 雙面板儀表板（投資解讀 / 量化工作台，共 11 頁）  ·  Phase 2-6 品質門控報告 JSON 20+ 份  ·  60+ 張視覺化圖表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終版研究報告 (docx · 70+ 頁)  ·  簡報 (本份)  ·  完整程式碼 GitHub 開源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§3.1 Phase 1 · 資料與特徵工程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S6 · 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以 9 支柱理論框架把 1,623 個候選因子收斂到 91 個可用特徵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FinMind API → 948K samples · 9 pillars · 1,623 → 91 features (IC/MI/VIF)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973912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Microsoft JhengHei"/>
                <a:ea typeface="Microsoft JhengHei"/>
              </a:rPr>
              <a:t>資料源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FinMind API + 選用資料集 · 1,930 家上市櫃 · 2023/3 – 2025/3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6B6D4"/>
                </a:solidFill>
                <a:latin typeface="Microsoft JhengHei"/>
                <a:ea typeface="Microsoft JhengHei"/>
              </a:rPr>
              <a:t>9 支柱架構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trend / fund / val / event / risk / chip / ind / txt / sent · 每支柱有清楚定義邊界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6B6D4"/>
                </a:solidFill>
                <a:latin typeface="Microsoft JhengHei"/>
                <a:ea typeface="Microsoft JhengHei"/>
              </a:rPr>
              <a:t>三階段篩選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① IC prescreen（去噪）② Chi²/MI（非線性關聯）③ VIF（去共線）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6B6D4"/>
                </a:solidFill>
                <a:latin typeface="Microsoft JhengHei"/>
                <a:ea typeface="Microsoft JhengHei"/>
              </a:rPr>
              <a:t>PIT 嚴格處理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財報與事件資料強制未來資訊封存，從 feature store 建構即避免洩漏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§3.2 Phase 2 · 模型訓練與回測驗證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S7 · PHASE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雙引擎 + 嚴格時序 CV 確保「未來不能看過去」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LightGBM + XGBoost · Purged Walk-Forward CV 4 folds · embargo 20d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973912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icrosoft JhengHei"/>
                <a:ea typeface="Microsoft JhengHei"/>
              </a:rPr>
              <a:t>雙引擎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LightGBM + XGBoost · 各自超參 Optuna HPO · 等權 Ensemble 融合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2563EB"/>
                </a:solidFill>
                <a:latin typeface="Microsoft JhengHei"/>
                <a:ea typeface="Microsoft JhengHei"/>
              </a:rPr>
              <a:t>三地平線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D+1 日度 · D+5 週度 · D+20 月度 · 共 6 模型對照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2563EB"/>
                </a:solidFill>
                <a:latin typeface="Microsoft JhengHei"/>
                <a:ea typeface="Microsoft JhengHei"/>
              </a:rPr>
              <a:t>Purged Walk-Forward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initial_train=252 · test=63 · step=63 · embargo=20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2563EB"/>
                </a:solidFill>
                <a:latin typeface="Microsoft JhengHei"/>
                <a:ea typeface="Microsoft JhengHei"/>
              </a:rPr>
              <a:t>Quality Gates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leakage_scan / walk_forward_cv / purge_embargo / baseline_compare 等 9 項全過</a:t>
            </a:r>
          </a:p>
        </p:txBody>
      </p:sp>
      <p:pic>
        <p:nvPicPr>
          <p:cNvPr id="11" name="Picture 10" descr="fold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2" y="1645920"/>
            <a:ext cx="493762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§3.3 Phase 3 · 擴充分析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8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S8 · 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在三種手續費情境下，D+20 是唯一「全情境皆正報酬」的地平線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4 分析 · 9 models × 3 cost scenarios · cross-horizon · pillar ·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973912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Microsoft JhengHei"/>
                <a:ea typeface="Microsoft JhengHei"/>
              </a:rPr>
              <a:t>成本敏感度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9 模型 × 3 情境（std 0.58% / disc 0.36% / cons 0.73%）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4F46E5"/>
                </a:solidFill>
                <a:latin typeface="Microsoft JhengHei"/>
                <a:ea typeface="Microsoft JhengHei"/>
              </a:rPr>
              <a:t>跨地平線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3 引擎 × 3 地平線 · D+20 皆正 Sharpe 0.70-0.81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4F46E5"/>
                </a:solidFill>
                <a:latin typeface="Microsoft JhengHei"/>
                <a:ea typeface="Microsoft JhengHei"/>
              </a:rPr>
              <a:t>支柱貢獻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normalized importance 跨 6 模型平均 · trend+risk 約 82%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4F46E5"/>
                </a:solidFill>
                <a:latin typeface="Microsoft JhengHei"/>
                <a:ea typeface="Microsoft JhengHei"/>
              </a:rPr>
              <a:t>個案研究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2330 / 2317 / 2454 / 2303 · 2454 最強命中 +17.13% edge</a:t>
            </a:r>
          </a:p>
        </p:txBody>
      </p:sp>
      <p:pic>
        <p:nvPicPr>
          <p:cNvPr id="11" name="Picture 10" descr="phase3_cost_sensitiv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2" y="1645920"/>
            <a:ext cx="493762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§3.4 Phase 4 · 模型治理與風控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S9 · PHASE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把黑盒打開：每個模型都有完整的 Model Card 與漂移監控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Model Card × 6 · Drift Monitoring · DSR · Signal Decay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973912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Microsoft JhengHei"/>
                <a:ea typeface="Microsoft JhengHei"/>
              </a:rPr>
              <a:t>Model Card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6 joblib (lgb/xgb × D1/D5/D20) · 每個都有 card JSON 描述訓練資料/超參/限制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7C3AED"/>
                </a:solidFill>
                <a:latin typeface="Microsoft JhengHei"/>
                <a:ea typeface="Microsoft JhengHei"/>
              </a:rPr>
              <a:t>Drift Detection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特徵漂移、標籤漂移、概念漂移 三層監控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7C3AED"/>
                </a:solidFill>
                <a:latin typeface="Microsoft JhengHei"/>
                <a:ea typeface="Microsoft JhengHei"/>
              </a:rPr>
              <a:t>DSR (Data Subject Rights)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完整資料來源紀錄 + 使用授權 + 資料保留政策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7C3AED"/>
                </a:solidFill>
                <a:latin typeface="Microsoft JhengHei"/>
                <a:ea typeface="Microsoft JhengHei"/>
              </a:rPr>
              <a:t>Signal Decay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OOS 期間訊號品質隨時間衰減的量化追蹤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§3.5 Phase 5 · 文本與情緒因子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10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S10 · PHASE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用中文 NLP 把新聞文本變成 37 個可用特徵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jieba + SnowNLP · 9,655 keywords → 500 · 30 txt + 7 sent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973912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icrosoft JhengHei"/>
                <a:ea typeface="Microsoft JhengHei"/>
              </a:rPr>
              <a:t>文本處理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jieba 分詞 · stopword 清理 · PMI 詞彙擴充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F59E0B"/>
                </a:solidFill>
                <a:latin typeface="Microsoft JhengHei"/>
                <a:ea typeface="Microsoft JhengHei"/>
              </a:rPr>
              <a:t>Chi²/MI/Lift 選詞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9,655 候選關鍵字 → 500 高訊號關鍵字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F59E0B"/>
                </a:solidFill>
                <a:latin typeface="Microsoft JhengHei"/>
                <a:ea typeface="Microsoft JhengHei"/>
              </a:rPr>
              <a:t>情緒因子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SnowNLP 情感分數 · 7 個聚合特徵（日/週/月三尺度）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F59E0B"/>
                </a:solidFill>
                <a:latin typeface="Microsoft JhengHei"/>
                <a:ea typeface="Microsoft JhengHei"/>
              </a:rPr>
              <a:t>結果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覆蓋率 heatmap / 平台佔比 / 詞雲 / 關鍵字 top</a:t>
            </a:r>
          </a:p>
        </p:txBody>
      </p:sp>
      <p:pic>
        <p:nvPicPr>
          <p:cNvPr id="11" name="Picture 10" descr="text_top_key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2" y="1645920"/>
            <a:ext cx="493762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§3.6 Phase 6 · 深度驗證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11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S11 · PHASE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三層深度驗證：從「支柱級」到「個股級」全部拆開看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LOPO (9 pillars) · Threshold sweep (21 points) · Single-stock 2454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973912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3F5E"/>
                </a:solidFill>
                <a:latin typeface="Microsoft JhengHei"/>
                <a:ea typeface="Microsoft JhengHei"/>
              </a:rPr>
              <a:t>LOPO 驗證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9 支柱逐一移除重訓 · 量化真實邊際貢獻（risk 最大 +1.39 bps）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F43F5E"/>
                </a:solidFill>
                <a:latin typeface="Microsoft JhengHei"/>
                <a:ea typeface="Microsoft JhengHei"/>
              </a:rPr>
              <a:t>閾值敏感度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t ∈ [0.30, 0.50] 21 點掃描 + Top-K precision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F43F5E"/>
                </a:solidFill>
                <a:latin typeface="Microsoft JhengHei"/>
                <a:ea typeface="Microsoft JhengHei"/>
              </a:rPr>
              <a:t>個股深案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2454 聯發科 OOS 213 日 · 月度命中拆解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F43F5E"/>
                </a:solidFill>
                <a:latin typeface="Microsoft JhengHei"/>
                <a:ea typeface="Microsoft JhengHei"/>
              </a:rPr>
              <a:t>補件驗證</a:t>
            </a:r>
          </a:p>
          <a:p>
            <a:pPr lvl="1">
              <a:spcBef>
                <a:spcPts val="200"/>
              </a:spcBef>
            </a:pPr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修復 Phase 2 feature_stability FAIL bug · 最終 9/9 gates</a:t>
            </a:r>
          </a:p>
        </p:txBody>
      </p:sp>
      <p:pic>
        <p:nvPicPr>
          <p:cNvPr id="11" name="Picture 10" descr="lopo_pillar_contribution_D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2" y="1645920"/>
            <a:ext cx="493762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§4.1 Evidence · LOPO 支柱貢獻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12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S12 · LOPO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風險支柱是最不可或缺的 ─ 拿掉會掉 +1.39 bps AUC_macro</a:t>
            </a:r>
          </a:p>
        </p:txBody>
      </p:sp>
      <p:pic>
        <p:nvPicPr>
          <p:cNvPr id="9" name="Picture 8" descr="lopo_pillar_contribution_D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669280" cy="3931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0" y="1554480"/>
            <a:ext cx="5333695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27632"/>
            <a:ext cx="50593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onsolas"/>
                <a:ea typeface="Microsoft JhengHei"/>
              </a:rPr>
              <a:t>LOPO Ranking · xgboost_D20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533369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onsolas"/>
                <a:ea typeface="Microsoft Jheng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05740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JhengHei"/>
                <a:ea typeface="Microsoft JhengHei"/>
              </a:rPr>
              <a:t>risk · 風險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205740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onsolas"/>
                <a:ea typeface="Microsoft JhengHei"/>
              </a:rPr>
              <a:t>+1.39 bps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50008"/>
            <a:ext cx="533369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3957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  <a:ea typeface="Microsoft Jheng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395728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JhengHei"/>
                <a:ea typeface="Microsoft JhengHei"/>
              </a:rPr>
              <a:t>trend · 趨勢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239572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Consolas"/>
                <a:ea typeface="Microsoft JhengHei"/>
              </a:rPr>
              <a:t>+0.65 bps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688336"/>
            <a:ext cx="533369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73405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Consolas"/>
                <a:ea typeface="Microsoft Jheng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734056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JhengHei"/>
                <a:ea typeface="Microsoft JhengHei"/>
              </a:rPr>
              <a:t>val · 估值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2734056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6B6D4"/>
                </a:solidFill>
                <a:latin typeface="Consolas"/>
                <a:ea typeface="Microsoft JhengHei"/>
              </a:rPr>
              <a:t>+0.09 bps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026664"/>
            <a:ext cx="533369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072384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Consolas"/>
                <a:ea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072384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JhengHei"/>
                <a:ea typeface="Microsoft JhengHei"/>
              </a:rPr>
              <a:t>txt · 文本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7215" y="3072384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Consolas"/>
                <a:ea typeface="Microsoft JhengHei"/>
              </a:rPr>
              <a:t>+0.08 bps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364992"/>
            <a:ext cx="533369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41071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onsolas"/>
                <a:ea typeface="Microsoft Jheng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41071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JhengHei"/>
                <a:ea typeface="Microsoft JhengHei"/>
              </a:rPr>
              <a:t>fund · 基本面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37215" y="341071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Consolas"/>
                <a:ea typeface="Microsoft JhengHei"/>
              </a:rPr>
              <a:t>-0.03 bps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533369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74904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onsolas"/>
                <a:ea typeface="Microsoft JhengHe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7490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JhengHei"/>
                <a:ea typeface="Microsoft JhengHei"/>
              </a:rPr>
              <a:t>sent · 情緒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37215" y="374904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Consolas"/>
                <a:ea typeface="Microsoft JhengHei"/>
              </a:rPr>
              <a:t>-0.03 bps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041648"/>
            <a:ext cx="533369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08736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onsolas"/>
                <a:ea typeface="Microsoft JhengHe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087368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JhengHei"/>
                <a:ea typeface="Microsoft JhengHei"/>
              </a:rPr>
              <a:t>ind · 產業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37215" y="408736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Consolas"/>
                <a:ea typeface="Microsoft JhengHei"/>
              </a:rPr>
              <a:t>-0.15 bps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379976"/>
            <a:ext cx="533369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42569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onsolas"/>
                <a:ea typeface="Microsoft JhengHe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4425696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JhengHei"/>
                <a:ea typeface="Microsoft JhengHei"/>
              </a:rPr>
              <a:t>event · 事件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37215" y="4425696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Consolas"/>
                <a:ea typeface="Microsoft JhengHei"/>
              </a:rPr>
              <a:t>-0.16 bps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718304"/>
            <a:ext cx="533369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764024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onsolas"/>
                <a:ea typeface="Microsoft JhengHei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764024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JhengHei"/>
                <a:ea typeface="Microsoft JhengHei"/>
              </a:rPr>
              <a:t>chip · 籌碼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37215" y="4764024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Consolas"/>
                <a:ea typeface="Microsoft JhengHei"/>
              </a:rPr>
              <a:t>-0.19 bps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60720"/>
            <a:ext cx="11277295" cy="5943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JhengHei"/>
                <a:ea typeface="Microsoft JhengHei"/>
              </a:rPr>
              <a:t>📌 風險僅 6 個特徵卻貢獻最大 ΔAUC_up +2.86 bps ─ 證明 downside 保護的邊際價值 &gt; 追 upside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§4.2 Evidence · 閾值敏感度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13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S13 · THRESHOLD SWEEP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Top 0.1% 最強訊號精度 45.8%，edge +19.5pp ─ 模型排序可信</a:t>
            </a:r>
          </a:p>
        </p:txBody>
      </p:sp>
      <p:pic>
        <p:nvPicPr>
          <p:cNvPr id="9" name="Picture 8" descr="threshold_sweep_xgb_D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943600" cy="3931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675120" y="1645920"/>
            <a:ext cx="505937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645920"/>
            <a:ext cx="5059375" cy="3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78308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</a:rPr>
              <a:t>Conservative · t=0.40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488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onsolas"/>
                <a:ea typeface="Microsoft JhengHei"/>
              </a:rPr>
              <a:t>call 8.8%   hit 29.4%   edge +3.14pp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5146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JhengHei"/>
                <a:ea typeface="Microsoft JhengHei"/>
              </a:rPr>
              <a:t>交易頻率低 · 訊號可靠度高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017520"/>
            <a:ext cx="505937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3017520"/>
            <a:ext cx="5059375" cy="30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15468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Microsoft JhengHei"/>
                <a:ea typeface="Microsoft JhengHei"/>
              </a:rPr>
              <a:t>Balanced · t=0.35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5204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onsolas"/>
                <a:ea typeface="Microsoft JhengHei"/>
              </a:rPr>
              <a:t>call 15.6%  hit 27.3%   edge +1.04pp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8862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JhengHei"/>
                <a:ea typeface="Microsoft JhengHei"/>
              </a:rPr>
              <a:t>取折中部位 · 日常可用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4389120"/>
            <a:ext cx="505937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4389120"/>
            <a:ext cx="5059375" cy="3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452628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Microsoft JhengHei"/>
                <a:ea typeface="Microsoft JhengHei"/>
              </a:rPr>
              <a:t>Top 0.1% · 精度峰值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8920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onsolas"/>
                <a:ea typeface="Microsoft JhengHei"/>
              </a:rPr>
              <a:t>n=404     hit 45.8%   edge +19.5pp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2578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JhengHei"/>
                <a:ea typeface="Microsoft JhengHei"/>
              </a:rPr>
              <a:t>模型最有把握的訊號 · 適合高信念部位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§4.3 Evidence · 2454 聯發科個股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14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S14 · SINGLE-STOCK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2454 聯發科 OOS 213 日：58 次出手、命中 58.6%（+9.8pp vs base）</a:t>
            </a:r>
          </a:p>
        </p:txBody>
      </p:sp>
      <p:pic>
        <p:nvPicPr>
          <p:cNvPr id="9" name="Picture 8" descr="single_stock_2454_mediat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412480" y="1645920"/>
            <a:ext cx="3322015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645920"/>
            <a:ext cx="3322015" cy="25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7373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Microsoft JhengHei"/>
                <a:ea typeface="Microsoft JhengHei"/>
              </a:rPr>
              <a:t>OOS 天數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94767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onsolas"/>
                <a:ea typeface="Microsoft JhengHei"/>
              </a:rPr>
              <a:t>213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313432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</a:rPr>
              <a:t>2024-04 → 2025-03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606040"/>
            <a:ext cx="3322015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2606040"/>
            <a:ext cx="3322015" cy="25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6974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Microsoft JhengHei"/>
                <a:ea typeface="Microsoft JhengHei"/>
              </a:rPr>
              <a:t>出手次數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90779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Consolas"/>
                <a:ea typeface="Microsoft JhengHei"/>
              </a:rPr>
              <a:t>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273552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</a:rPr>
              <a:t>@ t=0.35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566160"/>
            <a:ext cx="3322015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3566160"/>
            <a:ext cx="3322015" cy="25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3657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Microsoft JhengHei"/>
                <a:ea typeface="Microsoft JhengHei"/>
              </a:rPr>
              <a:t>命中率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86791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Consolas"/>
                <a:ea typeface="Microsoft JhengHei"/>
              </a:rPr>
              <a:t>58.6%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233672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</a:rPr>
              <a:t>+9.8pp vs 48.8%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4526280"/>
            <a:ext cx="3322015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0" y="4526280"/>
            <a:ext cx="3322015" cy="25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46177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Microsoft JhengHei"/>
                <a:ea typeface="Microsoft JhengHei"/>
              </a:rPr>
              <a:t>2025-01 熱區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82803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3F5E"/>
                </a:solidFill>
                <a:latin typeface="Consolas"/>
                <a:ea typeface="Microsoft JhengHei"/>
              </a:rPr>
              <a:t>81.8%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5193792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</a:rPr>
              <a:t>11 出手 · 9 命中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§5 Product · Streamlit 雙面板儀表板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15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S15 ·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雙面板設計：一套研究引擎，兩種閱讀模式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501487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501487" cy="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513572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Microsoft JhengHei"/>
                <a:ea typeface="Microsoft JhengHei"/>
              </a:rPr>
              <a:t>🌱  投資解讀面板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94A3B8"/>
                </a:solidFill>
                <a:latin typeface="Inter"/>
                <a:ea typeface="Microsoft JhengHei"/>
              </a:rPr>
              <a:t>For 投資人 · 行銷 · 商管讀者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將研究結果翻譯成可理解的決策資訊：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0F172A"/>
                </a:solidFill>
                <a:latin typeface="Microsoft JhengHei"/>
                <a:ea typeface="Microsoft JhengHei"/>
              </a:rPr>
              <a:t>✓  今日/回看歷史任一日的模型看好名單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0F172A"/>
                </a:solidFill>
                <a:latin typeface="Microsoft JhengHei"/>
                <a:ea typeface="Microsoft JhengHei"/>
              </a:rPr>
              <a:t>✓  公司基本面 / 產業分析 / 成本試算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0F172A"/>
                </a:solidFill>
                <a:latin typeface="Microsoft JhengHei"/>
                <a:ea typeface="Microsoft JhengHei"/>
              </a:rPr>
              <a:t>✓  風險提示 / 技術指標視覺化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0F172A"/>
                </a:solidFill>
                <a:latin typeface="Microsoft JhengHei"/>
                <a:ea typeface="Microsoft JhengHei"/>
              </a:rPr>
              <a:t>✓  五層資訊架構 · 漸進式揭露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0F172A"/>
                </a:solidFill>
                <a:latin typeface="Microsoft JhengHei"/>
                <a:ea typeface="Microsoft JhengHei"/>
              </a:rPr>
              <a:t>✓  4 個 tab（模型判讀 / 公司輪廓 / 成本 / 市場）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737360"/>
            <a:ext cx="5501487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737360"/>
            <a:ext cx="5501487" cy="4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965960"/>
            <a:ext cx="513572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Microsoft JhengHei"/>
                <a:ea typeface="Microsoft JhengHei"/>
              </a:rPr>
              <a:t>⚙️  量化研究工作台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94A3B8"/>
                </a:solidFill>
                <a:latin typeface="Inter"/>
                <a:ea typeface="Microsoft JhengHei"/>
              </a:rPr>
              <a:t>For 教授 · 評審 · 量化研究者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完整呈現方法論、證據、治理：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0F172A"/>
                </a:solidFill>
                <a:latin typeface="Microsoft JhengHei"/>
                <a:ea typeface="Microsoft JhengHei"/>
              </a:rPr>
              <a:t>✓  Model Metrics · ICIR 分析 · Backtest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0F172A"/>
                </a:solidFill>
                <a:latin typeface="Microsoft JhengHei"/>
                <a:ea typeface="Microsoft JhengHei"/>
              </a:rPr>
              <a:t>✓  Feature Analysis · Data Explorer · Text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0F172A"/>
                </a:solidFill>
                <a:latin typeface="Microsoft JhengHei"/>
                <a:ea typeface="Microsoft JhengHei"/>
              </a:rPr>
              <a:t>✓  Model Governance · Signal Monitor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0F172A"/>
                </a:solidFill>
                <a:latin typeface="Microsoft JhengHei"/>
                <a:ea typeface="Microsoft JhengHei"/>
              </a:rPr>
              <a:t>✓  Extended Analytics（Phase 3 四項）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0F172A"/>
                </a:solidFill>
                <a:latin typeface="Microsoft JhengHei"/>
                <a:ea typeface="Microsoft JhengHei"/>
              </a:rPr>
              <a:t>✓  🔭 Phase 6 深度驗證（LOPO/Threshold/2454）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035040"/>
            <a:ext cx="11277295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1091153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JhengHei"/>
                <a:ea typeface="Microsoft JhengHei"/>
              </a:rPr>
              <a:t>🎨  設計語言：glint-light · Inter + JetBrains Mono · 電光藍/紫漸變 · 資料密度 + 亮色科技感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§6 Governance · 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16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S16 ·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9 項品質門控全數通過 ─ 研究可信度的硬證據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69813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Inter"/>
                <a:ea typeface="Microsoft JhengHe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74520"/>
            <a:ext cx="287517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JhengHei"/>
                <a:ea typeface="Microsoft JhengHei"/>
              </a:rPr>
              <a:t>零洩漏掃描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12848"/>
            <a:ext cx="287517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  <a:ea typeface="Microsoft JhengHei"/>
              </a:rPr>
              <a:t>leakage_scan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6778" y="1737360"/>
            <a:ext cx="369813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3938" y="192024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Inter"/>
                <a:ea typeface="Microsoft Jheng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6858" y="1874520"/>
            <a:ext cx="287517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JhengHei"/>
                <a:ea typeface="Microsoft JhengHei"/>
              </a:rPr>
              <a:t>時序交叉驗證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6858" y="2212848"/>
            <a:ext cx="287517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  <a:ea typeface="Microsoft JhengHei"/>
              </a:rPr>
              <a:t>walk_forward_cv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6356" y="1737360"/>
            <a:ext cx="369813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3516" y="192024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Inter"/>
                <a:ea typeface="Microsoft Jheng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6436" y="1874520"/>
            <a:ext cx="287517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JhengHei"/>
                <a:ea typeface="Microsoft JhengHei"/>
              </a:rPr>
              <a:t>Purge + Embargo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6436" y="2212848"/>
            <a:ext cx="287517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  <a:ea typeface="Microsoft JhengHei"/>
              </a:rPr>
              <a:t>purge_embargo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43200"/>
            <a:ext cx="369813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92608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Inter"/>
                <a:ea typeface="Microsoft JhengHe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880360"/>
            <a:ext cx="287517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JhengHei"/>
                <a:ea typeface="Microsoft JhengHei"/>
              </a:rPr>
              <a:t>雙引擎對照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218688"/>
            <a:ext cx="287517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  <a:ea typeface="Microsoft JhengHei"/>
              </a:rPr>
              <a:t>model_comparison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6778" y="2743200"/>
            <a:ext cx="369813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3938" y="292608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Inter"/>
                <a:ea typeface="Microsoft Jheng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86858" y="2880360"/>
            <a:ext cx="287517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JhengHei"/>
                <a:ea typeface="Microsoft JhengHei"/>
              </a:rPr>
              <a:t>特徵穩定性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86858" y="3218688"/>
            <a:ext cx="287517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  <a:ea typeface="Microsoft JhengHei"/>
              </a:rPr>
              <a:t>feature_stability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6356" y="2743200"/>
            <a:ext cx="369813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3516" y="292608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Inter"/>
                <a:ea typeface="Microsoft Jheng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76436" y="2880360"/>
            <a:ext cx="287517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JhengHei"/>
                <a:ea typeface="Microsoft JhengHei"/>
              </a:rPr>
              <a:t>基準對照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76436" y="3218688"/>
            <a:ext cx="287517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  <a:ea typeface="Microsoft JhengHei"/>
              </a:rPr>
              <a:t>baseline_compare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749040"/>
            <a:ext cx="369813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393192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Inter"/>
                <a:ea typeface="Microsoft JhengHe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3886200"/>
            <a:ext cx="287517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JhengHei"/>
                <a:ea typeface="Microsoft JhengHei"/>
              </a:rPr>
              <a:t>樣本外績效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224528"/>
            <a:ext cx="287517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  <a:ea typeface="Microsoft JhengHei"/>
              </a:rPr>
              <a:t>oos_performance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46778" y="3749040"/>
            <a:ext cx="369813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3938" y="393192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Inter"/>
                <a:ea typeface="Microsoft JhengHe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86858" y="3886200"/>
            <a:ext cx="287517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JhengHei"/>
                <a:ea typeface="Microsoft JhengHei"/>
              </a:rPr>
              <a:t>成本敏感度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86858" y="4224528"/>
            <a:ext cx="287517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  <a:ea typeface="Microsoft JhengHei"/>
              </a:rPr>
              <a:t>cost_sensitivity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6356" y="3749040"/>
            <a:ext cx="369813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73516" y="393192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Inter"/>
                <a:ea typeface="Microsoft JhengHe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76436" y="3886200"/>
            <a:ext cx="287517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JhengHei"/>
                <a:ea typeface="Microsoft JhengHei"/>
              </a:rPr>
              <a:t>LOPO 驗證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76436" y="4224528"/>
            <a:ext cx="287517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  <a:ea typeface="Microsoft JhengHei"/>
              </a:rPr>
              <a:t>lopo_validation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§7 Limitations · 限制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17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S17 ·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誠實的邊界：我們不聲稱「賺錢機器」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547207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000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51814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JhengHei"/>
                <a:ea typeface="Microsoft JhengHei"/>
              </a:rPr>
              <a:t>資料期間僅 2 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518144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2023/3-2025/3 僅涵蓋 AI 牛市段落，未經歷完整空頭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1737360"/>
            <a:ext cx="5547207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7287" y="1737360"/>
            <a:ext cx="5000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1920240"/>
            <a:ext cx="51814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JhengHei"/>
                <a:ea typeface="Microsoft JhengHei"/>
              </a:rPr>
              <a:t>Rank IC 絕對值偏低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2331720"/>
            <a:ext cx="518144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D+20 Rank IC +0.015，統計顯著但經濟可用空間需搭配閾值過濾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5547207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5000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37560"/>
            <a:ext cx="51814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JhengHei"/>
                <a:ea typeface="Microsoft JhengHei"/>
              </a:rPr>
              <a:t>文本/情緒貢獻有限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49040"/>
            <a:ext cx="518144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LOPO 顯示 txt/sent 近零，可能受資料量與中文處理限制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7287" y="3154680"/>
            <a:ext cx="5547207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7287" y="3154680"/>
            <a:ext cx="50000" cy="128016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5887" y="3337560"/>
            <a:ext cx="51814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JhengHei"/>
                <a:ea typeface="Microsoft JhengHei"/>
              </a:rPr>
              <a:t>未接盤後即時流程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3749040"/>
            <a:ext cx="518144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屬歷史快照研究平台，非即時交易系統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5547207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50000" cy="128016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754880"/>
            <a:ext cx="51814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JhengHei"/>
                <a:ea typeface="Microsoft JhengHei"/>
              </a:rPr>
              <a:t>交易成本假設保守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166360"/>
            <a:ext cx="518144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0.36%-0.73% 手續費已含稅，未考慮滑價與流動性衝擊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87287" y="4572000"/>
            <a:ext cx="5547207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7287" y="4572000"/>
            <a:ext cx="50000" cy="128016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5887" y="4754880"/>
            <a:ext cx="51814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JhengHei"/>
                <a:ea typeface="Microsoft JhengHei"/>
              </a:rPr>
              <a:t>回測不等於實戰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5887" y="5166360"/>
            <a:ext cx="518144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JhengHei"/>
                <a:ea typeface="Microsoft JhengHei"/>
              </a:rPr>
              <a:t>過去回測績效不代表未來報酬，無投資建議意涵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§8 Next Steps · 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18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S18 ·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下一步：擴資料 × 強文本 × 落地回測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69813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98138" cy="4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3323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icrosoft JhengHei"/>
                <a:ea typeface="Microsoft JhengHei"/>
              </a:rPr>
              <a:t>Short · 0-3 個月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3332378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▸  擴充資料至 5 年含空頭段落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▸  補 D+1 model cards 完整 6 份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▸  建立 shadow mode 盤後跑線上對照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498" y="1737360"/>
            <a:ext cx="369813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2498" y="1737360"/>
            <a:ext cx="3698138" cy="40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1098" y="1920240"/>
            <a:ext cx="33323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Microsoft JhengHei"/>
                <a:ea typeface="Microsoft JhengHei"/>
              </a:rPr>
              <a:t>Medium · 3-6 個月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098" y="2423160"/>
            <a:ext cx="3332378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▸  換用 CKIP 或 BERT 重做文本向量化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▸  接入籌碼盤中資料（外資/投信）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▸  加入產業中性化與流動性過濾器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7796" y="1737360"/>
            <a:ext cx="369813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7796" y="1737360"/>
            <a:ext cx="3698138" cy="40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396" y="1920240"/>
            <a:ext cx="33323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3F5E"/>
                </a:solidFill>
                <a:latin typeface="Microsoft JhengHei"/>
                <a:ea typeface="Microsoft JhengHei"/>
              </a:rPr>
              <a:t>Long · 6-12 個月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2423160"/>
            <a:ext cx="3332378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▸  與券商 API 整合為可執行信號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▸  導入 regime detection（多頭/空頭切換）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▸  建立付費訂閱模式的 MVP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  <a:ea typeface="Microsoft JhengHei"/>
              </a:rPr>
              <a:t>§9 Takeaways · 3 句話帶走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28816"/>
            <a:ext cx="7315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  <a:ea typeface="Microsoft JhengHei"/>
              </a:rPr>
              <a:t>19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228600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Consolas"/>
                <a:ea typeface="Microsoft JhengHei"/>
              </a:rPr>
              <a:t>S19 ·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JhengHei"/>
                <a:ea typeface="Microsoft JhengHei"/>
              </a:rPr>
              <a:t>三句話帶走這份研究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0972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solidFill>
                  <a:srgbClr val="2563EB"/>
                </a:solidFill>
                <a:latin typeface="Consolas"/>
                <a:ea typeface="Microsoft JhengHe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828800"/>
            <a:ext cx="990569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37360" y="1828800"/>
            <a:ext cx="50000" cy="1234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2011680"/>
            <a:ext cx="96313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Microsoft JhengHei"/>
                <a:ea typeface="Microsoft JhengHei"/>
              </a:rPr>
              <a:t>月頻 D+20 是唯一「嚴格驗證後仍可用」的地平線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514600"/>
            <a:ext cx="96313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AUC 0.649 · Top 0.1% 精度 45.8% · 9/9 品質門控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10972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solidFill>
                  <a:srgbClr val="7C3AED"/>
                </a:solidFill>
                <a:latin typeface="Consolas"/>
                <a:ea typeface="Microsoft JhengHe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3337560"/>
            <a:ext cx="990569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3337560"/>
            <a:ext cx="5000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3520440"/>
            <a:ext cx="96313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Microsoft JhengHei"/>
                <a:ea typeface="Microsoft JhengHei"/>
              </a:rPr>
              <a:t>風險支柱比 AI 熱門話題更有說服力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4023360"/>
            <a:ext cx="96313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LOPO 顯示 risk 僅 6 個特徵卻貢獻最大 ΔAUC_up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10972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solidFill>
                  <a:srgbClr val="10B981"/>
                </a:solidFill>
                <a:latin typeface="Consolas"/>
                <a:ea typeface="Microsoft JhengHe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846320"/>
            <a:ext cx="990569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37360" y="4846320"/>
            <a:ext cx="5000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5029200"/>
            <a:ext cx="96313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Microsoft JhengHei"/>
                <a:ea typeface="Microsoft JhengHei"/>
              </a:rPr>
              <a:t>研究的價值在「可回看、可解釋、可治理」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532120"/>
            <a:ext cx="96313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</a:rPr>
              <a:t>雙面板儀表板 + Model Card + LOPO 把黑盒變成白盒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0F172A"/>
                </a:solidFill>
                <a:latin typeface="Inter"/>
                <a:ea typeface="Microsoft JhengHei"/>
              </a:rPr>
              <a:t>Thank You</a:t>
            </a:r>
          </a:p>
          <a:p>
            <a:pPr algn="ctr">
              <a:spcBef>
                <a:spcPts val="1000"/>
              </a:spcBef>
            </a:pPr>
            <a:r>
              <a:rPr sz="2200" b="0">
                <a:solidFill>
                  <a:srgbClr val="475569"/>
                </a:solidFill>
                <a:latin typeface="Microsoft JhengHei"/>
                <a:ea typeface="Microsoft JhengHei"/>
              </a:rPr>
              <a:t>歡迎指教 · 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949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onsolas"/>
                <a:ea typeface="Microsoft JhengHei"/>
              </a:rPr>
              <a:t>📊  Dashboard · streamlit run 程式碼/儀表板/app.py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Consolas"/>
                <a:ea typeface="Microsoft JhengHei"/>
              </a:rPr>
              <a:t>📄  Final Report · 進度報告/專案報告_最新版_v4.docx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2563EB"/>
                </a:solidFill>
                <a:latin typeface="Consolas"/>
                <a:ea typeface="Microsoft JhengHei"/>
              </a:rPr>
              <a:t>🔗  GitHub · andychen050229-cell/taiwan-stock-multifactor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