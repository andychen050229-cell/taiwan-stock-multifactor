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18288000" cy="10287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B9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44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419100"/>
            <a:ext cx="66675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TAIWAN EQUITY · QUANT RESEARCH TERMINAL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9500" y="419100"/>
            <a:ext cx="62865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i="0" spc="24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NTU · BIG DATA &amp; BUSINESS ANALYTICS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600200"/>
            <a:ext cx="57150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1790700"/>
            <a:ext cx="666750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b="1" i="0" spc="24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Strategic Research Deck </a:t>
            </a:r>
            <a:r>
              <a:rPr lang="zh-TW" altLang="en-US" b="1" i="0" spc="24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─</a:t>
            </a:r>
            <a:r>
              <a:rPr lang="en-US" b="1" i="0" spc="24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v11.5.18</a:t>
            </a:r>
            <a:endParaRPr b="1" i="0" spc="240" dirty="0">
              <a:solidFill>
                <a:srgbClr val="06B6D4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2190750"/>
            <a:ext cx="9525000" cy="24352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800" b="1" i="0" spc="-20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台股多因子</a:t>
            </a:r>
            <a:br>
              <a:rPr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sz="7800" b="1" i="0" spc="-20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預測系統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648200"/>
            <a:ext cx="95250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4857750"/>
            <a:ext cx="9906000" cy="9789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lang="en-US" altLang="zh-TW" sz="2800" b="1" i="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D+20 </a:t>
            </a:r>
            <a:r>
              <a:rPr lang="zh-TW" altLang="en-US" sz="2800" b="1" i="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是台股多因子預測從研究走向可部署原型的可行切入點</a:t>
            </a:r>
            <a:b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b="1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以 </a:t>
            </a:r>
            <a:r>
              <a:rPr lang="en-US" altLang="zh-TW" b="1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948K </a:t>
            </a:r>
            <a:r>
              <a:rPr lang="zh-TW" altLang="en-US" b="1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樣本、</a:t>
            </a:r>
            <a:r>
              <a:rPr lang="en-US" altLang="zh-TW" b="1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91 </a:t>
            </a:r>
            <a:r>
              <a:rPr lang="zh-TW" altLang="en-US" b="1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個生產特徵與四重檢驗，驗證中長線選股訊號的穩定性。</a:t>
            </a:r>
            <a:endParaRPr sz="1600" b="1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14400" y="6572250"/>
            <a:ext cx="95250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14400" y="6572250"/>
            <a:ext cx="95250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81100" y="6781800"/>
            <a:ext cx="2905125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OOS AUC · D+20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1100" y="7078640"/>
            <a:ext cx="2905125" cy="738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 i="0" spc="-16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0.6455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1100" y="7860262"/>
            <a:ext cx="2905125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400" b="0" i="0" spc="40" dirty="0" err="1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XGBoost</a:t>
            </a:r>
            <a:r>
              <a:rPr lang="en-US" sz="1400" b="0" i="0" spc="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· WFPK OOS</a:t>
            </a:r>
            <a:endParaRPr sz="1400" b="0" i="0" spc="4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086225" y="6781800"/>
            <a:ext cx="9525" cy="8191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352925" y="6781800"/>
            <a:ext cx="2905125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DSR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52925" y="7078640"/>
            <a:ext cx="2905125" cy="738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 i="0" spc="-16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12.12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52925" y="7860262"/>
            <a:ext cx="2905125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TW" altLang="en-US" sz="1400" b="0" i="0" spc="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閾值 </a:t>
            </a:r>
            <a:r>
              <a:rPr lang="en-US" altLang="zh-TW" sz="1400" b="0" i="0" spc="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3.0 </a:t>
            </a:r>
            <a:r>
              <a:rPr lang="zh-TW" altLang="en-US" sz="1400" b="0" i="0" spc="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，多重檢定後通過</a:t>
            </a:r>
            <a:endParaRPr sz="1400" b="0" i="0" spc="4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7258050" y="6781800"/>
            <a:ext cx="9525" cy="8191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524750" y="6781800"/>
            <a:ext cx="2905125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CAGR </a:t>
            </a:r>
            <a:r>
              <a:rPr lang="zh-TW" altLang="en-US" sz="1400" b="1" spc="2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─ </a:t>
            </a:r>
            <a:r>
              <a:rPr lang="en-US" altLang="zh-TW" sz="1400" b="1" spc="2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TOP 1% HIT</a:t>
            </a:r>
            <a:endParaRPr sz="1400" b="1" i="0" spc="20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524750" y="7078640"/>
            <a:ext cx="2905125" cy="738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 i="0" spc="-160" dirty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+36.8</a:t>
            </a:r>
            <a:r>
              <a:rPr lang="en-US" sz="4400" b="1" i="0" spc="-160" dirty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 </a:t>
            </a:r>
            <a:r>
              <a:rPr sz="4400" b="1" i="0" spc="-160" dirty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24750" y="7860262"/>
            <a:ext cx="2905125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400" b="0" i="0" spc="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+10.53 pp vs. base</a:t>
            </a:r>
            <a:endParaRPr sz="1400" b="0" i="0" spc="4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1029950" y="1790700"/>
            <a:ext cx="3048000" cy="1905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1029950" y="1790700"/>
            <a:ext cx="30480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239500" y="2000250"/>
            <a:ext cx="26289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100" b="1" i="0" spc="2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Features</a:t>
            </a:r>
            <a:endParaRPr sz="1100" b="1" i="0" spc="24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1239500" y="2266950"/>
            <a:ext cx="2628900" cy="5709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i="0" spc="-10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91 / 1,623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39500" y="3105150"/>
            <a:ext cx="2628900" cy="268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TW" altLang="en-US" sz="1600" b="0" i="0" spc="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三層特徵漏斗</a:t>
            </a:r>
            <a:r>
              <a:rPr lang="zh-TW" altLang="en-US" sz="1600" spc="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，</a:t>
            </a:r>
            <a:r>
              <a:rPr lang="zh-TW" altLang="en-US" sz="1600" b="0" i="0" spc="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保留 </a:t>
            </a:r>
            <a:r>
              <a:rPr lang="en-US" altLang="zh-TW" sz="1600" b="0" i="0" spc="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5.6%</a:t>
            </a:r>
            <a:endParaRPr sz="1600" b="0" i="0" spc="4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14154150" y="1790700"/>
            <a:ext cx="3048000" cy="1905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14154150" y="1790700"/>
            <a:ext cx="304800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4363700" y="2000250"/>
            <a:ext cx="26289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ICIR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363700" y="2266950"/>
            <a:ext cx="2628900" cy="5709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i="0" spc="-10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0.7431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363700" y="3105150"/>
            <a:ext cx="2628900" cy="268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600" b="0" i="0" spc="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4-fold IC </a:t>
            </a:r>
            <a:r>
              <a:rPr lang="zh-TW" altLang="en-US" sz="1600" b="0" i="0" spc="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穩定性</a:t>
            </a:r>
            <a:endParaRPr sz="1600" b="0" i="0" spc="4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11029950" y="3771900"/>
            <a:ext cx="3048000" cy="1905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11029950" y="3771900"/>
            <a:ext cx="30480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1239500" y="3981450"/>
            <a:ext cx="26289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100" b="1" i="0" spc="2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Gates</a:t>
            </a:r>
            <a:endParaRPr sz="1100" b="1" i="0" spc="24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1239500" y="4248150"/>
            <a:ext cx="2628900" cy="5709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i="0" spc="-10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9 / 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39500" y="5086350"/>
            <a:ext cx="2628900" cy="268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TW" sz="1600" b="0" i="0" spc="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9 </a:t>
            </a:r>
            <a:r>
              <a:rPr lang="zh-TW" altLang="en-US" sz="1600" b="0" i="0" spc="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項治理關卡全數通過</a:t>
            </a:r>
            <a:endParaRPr sz="1600" b="0" i="0" spc="4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14154150" y="3771900"/>
            <a:ext cx="3048000" cy="1905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14154150" y="3771900"/>
            <a:ext cx="30480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4363700" y="3981450"/>
            <a:ext cx="26289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100" b="1" i="0" spc="2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Samples</a:t>
            </a:r>
            <a:endParaRPr sz="1100" b="1" i="0" spc="24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4363700" y="4248150"/>
            <a:ext cx="2628900" cy="5709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i="0" spc="-10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948,976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363700" y="5086350"/>
            <a:ext cx="2628900" cy="268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TW" sz="1600" b="0" i="0" spc="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1,930 </a:t>
            </a:r>
            <a:r>
              <a:rPr lang="zh-TW" altLang="en-US" sz="1600" b="0" i="0" spc="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檔個股 </a:t>
            </a:r>
            <a:r>
              <a:rPr lang="en-US" altLang="zh-TW" sz="1600" b="0" i="0" spc="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× 505 </a:t>
            </a:r>
            <a:r>
              <a:rPr lang="zh-TW" altLang="en-US" sz="1600" b="0" i="0" spc="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交易日</a:t>
            </a:r>
            <a:endParaRPr sz="1600" b="0" i="0" spc="4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11029950" y="6572250"/>
            <a:ext cx="6286500" cy="12382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11029950" y="6572250"/>
            <a:ext cx="628650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1239500" y="6781800"/>
            <a:ext cx="59055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W</a:t>
            </a:r>
            <a:r>
              <a:rPr lang="en-US" sz="1100" b="1" i="0" spc="24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hat</a:t>
            </a:r>
            <a:r>
              <a:rPr sz="1100" b="1" i="0" spc="24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en-US" sz="1100" b="1" spc="24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you will hear in</a:t>
            </a:r>
            <a:r>
              <a:rPr sz="1100" b="1" i="0" spc="24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12 </a:t>
            </a:r>
            <a:r>
              <a:rPr lang="en-US" sz="1100" b="1" spc="24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min</a:t>
            </a:r>
            <a:r>
              <a:rPr lang="zh-TW" altLang="en-US" sz="1100" b="1" spc="24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？</a:t>
            </a:r>
            <a:endParaRPr sz="1100" b="1" i="0" spc="240" dirty="0">
              <a:solidFill>
                <a:srgbClr val="06B6D4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1239500" y="7067550"/>
            <a:ext cx="5905500" cy="5878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lang="zh-TW" altLang="en-US" sz="1400" b="1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一個結論：台股 </a:t>
            </a:r>
            <a:r>
              <a:rPr lang="en-US" altLang="zh-TW" sz="1400" b="1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D+20 alpha </a:t>
            </a:r>
            <a:r>
              <a:rPr lang="zh-TW" altLang="en-US" sz="1400" b="1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具備可預測、可驗證、可原型部署的條件。</a:t>
            </a:r>
            <a:b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1400" b="1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三段路徑：問題切角 → 方法驗證 → 落地邊界。</a:t>
            </a:r>
            <a:endParaRPr sz="14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914400" y="8172450"/>
            <a:ext cx="16459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914400" y="8343900"/>
            <a:ext cx="3429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000" b="1" i="0" spc="260" dirty="0">
                <a:solidFill>
                  <a:srgbClr val="94A3B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Team </a:t>
            </a:r>
            <a:r>
              <a:rPr lang="zh-TW" altLang="en-US" sz="1000" b="1" i="0" spc="260" dirty="0">
                <a:solidFill>
                  <a:srgbClr val="94A3B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─</a:t>
            </a:r>
            <a:r>
              <a:rPr lang="en-US" sz="1000" b="1" i="0" spc="260" dirty="0">
                <a:solidFill>
                  <a:srgbClr val="94A3B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6 Members</a:t>
            </a:r>
            <a:endParaRPr sz="1000" b="1" i="0" spc="260" dirty="0">
              <a:solidFill>
                <a:srgbClr val="94A3B8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14400" y="8591550"/>
            <a:ext cx="85725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4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R13724054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8591550"/>
            <a:ext cx="1143000" cy="218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陳柏寰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990850" y="8591550"/>
            <a:ext cx="85725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4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R13724035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905250" y="8591550"/>
            <a:ext cx="1143000" cy="218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陳又萍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67300" y="8591550"/>
            <a:ext cx="85725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4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R13724051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81700" y="8591550"/>
            <a:ext cx="1143000" cy="218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謝瑞洋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4400" y="8839200"/>
            <a:ext cx="85725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4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R13724056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828800" y="8839200"/>
            <a:ext cx="1143000" cy="218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李泰坤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990850" y="8839200"/>
            <a:ext cx="85725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B12302131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05250" y="8839200"/>
            <a:ext cx="1143000" cy="218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林芮靚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67300" y="8839200"/>
            <a:ext cx="85725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4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B13102133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981700" y="8839200"/>
            <a:ext cx="1143000" cy="218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沈承寬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20000" y="8343900"/>
            <a:ext cx="2286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60" dirty="0">
                <a:solidFill>
                  <a:srgbClr val="94A3B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C</a:t>
            </a:r>
            <a:r>
              <a:rPr lang="en-US" sz="1000" b="1" spc="260" dirty="0">
                <a:solidFill>
                  <a:srgbClr val="94A3B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ourse</a:t>
            </a:r>
            <a:endParaRPr sz="1000" b="1" i="0" spc="260" dirty="0">
              <a:solidFill>
                <a:srgbClr val="94A3B8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7620000" y="8591550"/>
            <a:ext cx="36195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NTU · Big Data &amp; Business Analytics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620000" y="8839200"/>
            <a:ext cx="36195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大數據與商業分析專案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620500" y="8343900"/>
            <a:ext cx="1905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000" b="1" i="0" spc="260" dirty="0">
                <a:solidFill>
                  <a:srgbClr val="94A3B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Version</a:t>
            </a:r>
            <a:endParaRPr sz="1000" b="1" i="0" spc="260" dirty="0">
              <a:solidFill>
                <a:srgbClr val="94A3B8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11620500" y="8591550"/>
            <a:ext cx="1905000" cy="218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v11.5.18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4097000" y="8343900"/>
            <a:ext cx="32766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sz="1000" b="1" spc="260" dirty="0">
                <a:solidFill>
                  <a:srgbClr val="94A3B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Date</a:t>
            </a:r>
            <a:endParaRPr sz="1000" b="1" i="0" spc="260" dirty="0">
              <a:solidFill>
                <a:srgbClr val="94A3B8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14097000" y="8591550"/>
            <a:ext cx="3276600" cy="218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3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April 2026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4097000" y="8839200"/>
            <a:ext cx="32766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Academic Project · 課堂簡報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6954500" y="9738560"/>
            <a:ext cx="571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285750" cy="2857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412459"/>
            <a:ext cx="28575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6350" y="404060"/>
            <a:ext cx="3619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多因子股票預測系統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39500" y="404060"/>
            <a:ext cx="6667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Problem Framing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9746959"/>
            <a:ext cx="12382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Source · 自行整理 · López de Prado (2018) §7.4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287500" y="9753600"/>
            <a:ext cx="15240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0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SETUP</a:t>
            </a:r>
          </a:p>
        </p:txBody>
      </p:sp>
      <p:sp>
        <p:nvSpPr>
          <p:cNvPr id="10" name="Oval 9"/>
          <p:cNvSpPr/>
          <p:nvPr/>
        </p:nvSpPr>
        <p:spPr>
          <a:xfrm>
            <a:off x="15954375" y="9791700"/>
            <a:ext cx="95250" cy="9525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16173450" y="9801225"/>
            <a:ext cx="76200" cy="76200"/>
          </a:xfrm>
          <a:prstGeom prst="ellipse">
            <a:avLst/>
          </a:prstGeom>
          <a:noFill/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16383000" y="9801225"/>
            <a:ext cx="76200" cy="76200"/>
          </a:xfrm>
          <a:prstGeom prst="ellipse">
            <a:avLst/>
          </a:prstGeom>
          <a:noFill/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6954500" y="9738560"/>
            <a:ext cx="571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066800"/>
            <a:ext cx="666750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b="1" i="0" spc="24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P</a:t>
            </a:r>
            <a:r>
              <a:rPr lang="en-US" b="1" spc="24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roblem</a:t>
            </a:r>
            <a:r>
              <a:rPr lang="en-US" b="1" i="0" spc="24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zh-TW" altLang="en-US" b="1" i="0" spc="24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→</a:t>
            </a:r>
            <a:r>
              <a:rPr lang="en-US" b="1" i="0" spc="24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zh-TW" altLang="en-US" b="1" i="0" spc="24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為何鎖定 </a:t>
            </a:r>
            <a:r>
              <a:rPr lang="en-US" b="1" i="0" spc="24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D+20</a:t>
            </a:r>
            <a:endParaRPr b="1" i="0" spc="240" dirty="0">
              <a:solidFill>
                <a:srgbClr val="06B6D4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14400" y="1352550"/>
            <a:ext cx="16459200" cy="12052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lang="zh-TW" altLang="en-US" sz="3600" b="1" i="0" spc="-8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台股 </a:t>
            </a:r>
            <a:r>
              <a:rPr lang="en-US" altLang="zh-TW" sz="3600" b="1" i="0" spc="-8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alpha </a:t>
            </a:r>
            <a:r>
              <a:rPr lang="zh-TW" altLang="en-US" sz="3600" b="1" i="0" spc="-8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並非不存在，而是被錯誤時序與單一因子框架遮蔽</a:t>
            </a:r>
            <a:br>
              <a:rPr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sz="2800" b="1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D+20 </a:t>
            </a:r>
            <a:r>
              <a:rPr lang="zh-TW" altLang="en-US" sz="2800" b="1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讓基本面、文本與籌碼訊號完成收斂。</a:t>
            </a:r>
            <a:endParaRPr sz="2000" b="1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914400" y="2667000"/>
            <a:ext cx="76200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914400" y="2933700"/>
            <a:ext cx="5257800" cy="3962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14400" y="2933700"/>
            <a:ext cx="52578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81100" y="3162300"/>
            <a:ext cx="472440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400" b="1" i="0" spc="24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Evidence </a:t>
            </a:r>
            <a:r>
              <a:rPr lang="zh-TW" altLang="en-US" sz="1400" b="1" i="0" spc="24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→</a:t>
            </a:r>
            <a:r>
              <a:rPr lang="en-US" sz="1400" b="1" i="0" spc="24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zh-TW" altLang="en-US" sz="1400" b="1" i="0" spc="24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短線訊號不穩</a:t>
            </a:r>
            <a:endParaRPr sz="1400" b="1" i="0" spc="240" dirty="0">
              <a:solidFill>
                <a:srgbClr val="F43F5E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181100" y="3448050"/>
            <a:ext cx="4724400" cy="775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TW" altLang="en-US" sz="22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日頻 </a:t>
            </a:r>
            <a:r>
              <a:rPr lang="en-US" sz="22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edge </a:t>
            </a:r>
            <a:r>
              <a:rPr lang="zh-TW" altLang="en-US" sz="22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僅約 </a:t>
            </a:r>
            <a:r>
              <a:rPr lang="en-US" altLang="zh-TW" sz="22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</a:t>
            </a:r>
            <a:r>
              <a:rPr lang="zh-TW" altLang="en-US" sz="22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en-US" altLang="zh-TW" sz="22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~</a:t>
            </a:r>
            <a:r>
              <a:rPr lang="zh-TW" altLang="en-US" sz="22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en-US" altLang="zh-TW" sz="22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5 </a:t>
            </a:r>
            <a:r>
              <a:rPr lang="en-US" sz="22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pp</a:t>
            </a:r>
            <a:r>
              <a:rPr lang="zh-TW" altLang="en-US" sz="22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，</a:t>
            </a:r>
            <a:br>
              <a:rPr lang="en-US" altLang="zh-TW" sz="22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</a:br>
            <a:r>
              <a:rPr lang="en-US" sz="22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IC </a:t>
            </a:r>
            <a:r>
              <a:rPr lang="zh-TW" altLang="en-US" sz="22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方向跨 </a:t>
            </a:r>
            <a:r>
              <a:rPr lang="en-US" sz="22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fold </a:t>
            </a:r>
            <a:r>
              <a:rPr lang="zh-TW" altLang="en-US" sz="22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反覆</a:t>
            </a:r>
            <a:endParaRPr sz="2200" b="1" i="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181100" y="4248150"/>
            <a:ext cx="571500" cy="2857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181100" y="4364465"/>
            <a:ext cx="4724400" cy="6632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5000"/>
              </a:lnSpc>
            </a:pP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日頻價格受 </a:t>
            </a:r>
            <a:r>
              <a:rPr lang="en-US" altLang="zh-TW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HFT</a:t>
            </a: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、散戶情緒與短期事件主導，模型訊號容易被雜訊稀釋。</a:t>
            </a:r>
            <a:endParaRPr sz="1400" b="1" i="0" dirty="0">
              <a:solidFill>
                <a:srgbClr val="0F172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515100" y="2933700"/>
            <a:ext cx="5257800" cy="3962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515100" y="2933700"/>
            <a:ext cx="525780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781800" y="3162300"/>
            <a:ext cx="472440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4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O</a:t>
            </a:r>
            <a:r>
              <a:rPr lang="en-US" sz="1400" b="1" i="0" spc="24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ur</a:t>
            </a:r>
            <a:r>
              <a:rPr sz="1400" b="1" i="0" spc="24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en-US" sz="1400" b="1" i="0" spc="24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angle</a:t>
            </a:r>
            <a:r>
              <a:rPr sz="1400" b="1" i="0" spc="24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zh-TW" altLang="en-US" sz="1400" b="1" i="0" spc="24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→</a:t>
            </a:r>
            <a:r>
              <a:rPr sz="1400" b="1" i="0" spc="24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sz="1400" b="1" i="0" spc="240" dirty="0" err="1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三軸對齊</a:t>
            </a:r>
            <a:endParaRPr sz="1400" b="1" i="0" spc="240" dirty="0">
              <a:solidFill>
                <a:srgbClr val="06B6D4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781800" y="3448050"/>
            <a:ext cx="4724400" cy="775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TW" altLang="en-US" sz="22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基本面 </a:t>
            </a:r>
            <a:r>
              <a:rPr lang="en-US" altLang="zh-TW" sz="22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× </a:t>
            </a:r>
            <a:r>
              <a:rPr lang="zh-TW" altLang="en-US" sz="22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文本 </a:t>
            </a:r>
            <a:r>
              <a:rPr lang="en-US" altLang="zh-TW" sz="22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× </a:t>
            </a:r>
            <a:r>
              <a:rPr lang="zh-TW" altLang="en-US" sz="22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籌碼，</a:t>
            </a:r>
            <a:br>
              <a:rPr lang="en-US" altLang="zh-TW" sz="22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</a:br>
            <a:r>
              <a:rPr lang="zh-TW" altLang="en-US" sz="22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於 </a:t>
            </a:r>
            <a:r>
              <a:rPr lang="en-US" altLang="zh-TW" sz="22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D+20 </a:t>
            </a:r>
            <a:r>
              <a:rPr lang="zh-TW" altLang="en-US" sz="22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形成共振訊號</a:t>
            </a:r>
            <a:endParaRPr sz="2200" b="1" i="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781800" y="4248150"/>
            <a:ext cx="571500" cy="28575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781800" y="4364465"/>
            <a:ext cx="4724400" cy="6632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5000"/>
              </a:lnSpc>
            </a:pP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以 </a:t>
            </a:r>
            <a:r>
              <a:rPr lang="en-US" altLang="zh-TW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(</a:t>
            </a:r>
            <a:r>
              <a:rPr lang="en-US" altLang="zh-TW" sz="1400" b="0" i="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stock_id</a:t>
            </a:r>
            <a:r>
              <a:rPr lang="en-US" altLang="zh-TW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, date) </a:t>
            </a: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將財報、文本與籌碼訊號壓回同一決策日，避免資料時點錯配。</a:t>
            </a:r>
            <a:endParaRPr sz="1400" b="1" i="0" dirty="0">
              <a:solidFill>
                <a:srgbClr val="0F172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12115800" y="2933700"/>
            <a:ext cx="5257800" cy="3962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12115800" y="2933700"/>
            <a:ext cx="52578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2382500" y="3162300"/>
            <a:ext cx="472440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400" b="1" i="0" spc="24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Horizon </a:t>
            </a:r>
            <a:r>
              <a:rPr lang="zh-TW" altLang="en-US" sz="1400" b="1" i="0" spc="24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→</a:t>
            </a:r>
            <a:r>
              <a:rPr lang="en-US" sz="1400" b="1" i="0" spc="24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zh-TW" altLang="en-US" sz="1400" b="1" i="0" spc="24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為何 </a:t>
            </a:r>
            <a:r>
              <a:rPr lang="en-US" sz="1400" b="1" i="0" spc="24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D+20</a:t>
            </a:r>
            <a:endParaRPr sz="1400" b="1" i="0" spc="24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2382500" y="3448050"/>
            <a:ext cx="4724400" cy="775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TW" sz="22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D+20 </a:t>
            </a:r>
            <a:r>
              <a:rPr lang="zh-TW" altLang="en-US" sz="22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在訊號強度與雜訊衰退間取得最佳平衡</a:t>
            </a:r>
            <a:endParaRPr sz="2200" b="1" i="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12382500" y="4248150"/>
            <a:ext cx="571500" cy="28575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12382500" y="4438650"/>
            <a:ext cx="4724400" cy="123825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2496800" y="4533900"/>
            <a:ext cx="44958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ICIR vs HORIZON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687300" y="5381625"/>
            <a:ext cx="533400" cy="104775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2611100" y="5229225"/>
            <a:ext cx="6858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94A3B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0.18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611100" y="5524500"/>
            <a:ext cx="685800" cy="1679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D+1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716000" y="5286375"/>
            <a:ext cx="533400" cy="200025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3639800" y="5133975"/>
            <a:ext cx="6858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94A3B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0.32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639800" y="5524500"/>
            <a:ext cx="685800" cy="1679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D+5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4744700" y="5029200"/>
            <a:ext cx="533400" cy="4572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4668500" y="4876800"/>
            <a:ext cx="6858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0.74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4668500" y="5524500"/>
            <a:ext cx="685800" cy="1679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D+20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5773400" y="5210175"/>
            <a:ext cx="533400" cy="276225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5697200" y="5057775"/>
            <a:ext cx="6858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94A3B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0.45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5697200" y="5524500"/>
            <a:ext cx="685800" cy="1679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D+60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382500" y="5759500"/>
            <a:ext cx="4724400" cy="6255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lang="en-US" altLang="zh-TW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D+20 ICIR 0.7431</a:t>
            </a: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，明顯高於 </a:t>
            </a:r>
            <a:r>
              <a:rPr lang="en-US" altLang="zh-TW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D+1 / D+5</a:t>
            </a: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；</a:t>
            </a:r>
            <a:r>
              <a:rPr lang="en-US" altLang="zh-TW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D+60 </a:t>
            </a: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則出現訊號衰退。</a:t>
            </a:r>
            <a:endParaRPr sz="1400" b="1" i="0" dirty="0">
              <a:solidFill>
                <a:srgbClr val="0F172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914400" y="7696200"/>
            <a:ext cx="16459200" cy="1524000"/>
          </a:xfrm>
          <a:prstGeom prst="rect">
            <a:avLst/>
          </a:prstGeom>
          <a:solidFill>
            <a:srgbClr val="ECF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914400" y="7696200"/>
            <a:ext cx="57150" cy="1524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162050" y="7867650"/>
            <a:ext cx="5715000" cy="26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600" b="1" spc="26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So</a:t>
            </a:r>
            <a:r>
              <a:rPr sz="1600" b="1" i="0" spc="26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en-US" sz="1600" b="1" spc="26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what</a:t>
            </a:r>
            <a:r>
              <a:rPr lang="zh-TW" altLang="en-US" sz="1600" b="1" spc="26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？</a:t>
            </a:r>
            <a:endParaRPr sz="1600" b="1" i="0" spc="260" dirty="0">
              <a:solidFill>
                <a:srgbClr val="06B6D4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181100" y="8235656"/>
            <a:ext cx="15887700" cy="2835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台股 </a:t>
            </a:r>
            <a:r>
              <a:rPr lang="en-US" altLang="zh-TW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alpha </a:t>
            </a: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不是不存在，而是容易被短線雜訊與單一因子框架遮蔽。</a:t>
            </a:r>
            <a:endParaRPr sz="1400" b="0" i="0" dirty="0">
              <a:solidFill>
                <a:srgbClr val="0F172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6" name="TextBox 29">
            <a:extLst>
              <a:ext uri="{FF2B5EF4-FFF2-40B4-BE49-F238E27FC236}">
                <a16:creationId xmlns:a16="http://schemas.microsoft.com/office/drawing/2014/main" id="{453D84C1-C620-DA77-FED3-072E3936A896}"/>
              </a:ext>
            </a:extLst>
          </p:cNvPr>
          <p:cNvSpPr txBox="1"/>
          <p:nvPr/>
        </p:nvSpPr>
        <p:spPr>
          <a:xfrm>
            <a:off x="6781800" y="5345271"/>
            <a:ext cx="4724400" cy="6632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5000"/>
              </a:lnSpc>
            </a:pP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以財報 </a:t>
            </a:r>
            <a:r>
              <a:rPr lang="en-US" altLang="zh-TW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lag 45 </a:t>
            </a: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天、文本僅取 </a:t>
            </a:r>
            <a:r>
              <a:rPr lang="en-US" altLang="zh-TW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 </a:t>
            </a: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日 </a:t>
            </a:r>
            <a:r>
              <a:rPr lang="en-US" altLang="zh-TW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15:00 </a:t>
            </a: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前資訊，全面落實 </a:t>
            </a:r>
            <a:r>
              <a:rPr lang="en-US" altLang="zh-TW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point-in-time </a:t>
            </a: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規範。</a:t>
            </a:r>
            <a:endParaRPr sz="1400" b="1" i="0" dirty="0">
              <a:solidFill>
                <a:srgbClr val="0F172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56" name="TextBox 29">
            <a:extLst>
              <a:ext uri="{FF2B5EF4-FFF2-40B4-BE49-F238E27FC236}">
                <a16:creationId xmlns:a16="http://schemas.microsoft.com/office/drawing/2014/main" id="{17448A35-72E9-C76B-DC15-4F4B4893F082}"/>
              </a:ext>
            </a:extLst>
          </p:cNvPr>
          <p:cNvSpPr txBox="1"/>
          <p:nvPr/>
        </p:nvSpPr>
        <p:spPr>
          <a:xfrm>
            <a:off x="6781800" y="6411216"/>
            <a:ext cx="47244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5000"/>
              </a:lnSpc>
            </a:pPr>
            <a:r>
              <a:rPr lang="zh-TW" altLang="en-US" sz="1400" b="1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→ 每個決策日只使用當下可見資訊。</a:t>
            </a:r>
            <a:endParaRPr sz="1400" b="1" i="0" dirty="0">
              <a:solidFill>
                <a:srgbClr val="0F172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57" name="TextBox 22">
            <a:extLst>
              <a:ext uri="{FF2B5EF4-FFF2-40B4-BE49-F238E27FC236}">
                <a16:creationId xmlns:a16="http://schemas.microsoft.com/office/drawing/2014/main" id="{5A82269C-A624-7435-7155-9EE008E28FB8}"/>
              </a:ext>
            </a:extLst>
          </p:cNvPr>
          <p:cNvSpPr txBox="1"/>
          <p:nvPr/>
        </p:nvSpPr>
        <p:spPr>
          <a:xfrm>
            <a:off x="1181100" y="6419499"/>
            <a:ext cx="47244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5000"/>
              </a:lnSpc>
            </a:pPr>
            <a:r>
              <a:rPr lang="zh-TW" altLang="en-US" sz="1400" b="1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→ 不應在日頻層作為主要下注決策。</a:t>
            </a:r>
            <a:endParaRPr sz="1400" b="1" i="0" dirty="0">
              <a:solidFill>
                <a:srgbClr val="0F172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58" name="TextBox 22">
            <a:extLst>
              <a:ext uri="{FF2B5EF4-FFF2-40B4-BE49-F238E27FC236}">
                <a16:creationId xmlns:a16="http://schemas.microsoft.com/office/drawing/2014/main" id="{12B667B7-7A1C-D356-3E60-D07D9D82F55A}"/>
              </a:ext>
            </a:extLst>
          </p:cNvPr>
          <p:cNvSpPr txBox="1"/>
          <p:nvPr/>
        </p:nvSpPr>
        <p:spPr>
          <a:xfrm>
            <a:off x="1181100" y="5380357"/>
            <a:ext cx="4724400" cy="6632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5000"/>
              </a:lnSpc>
            </a:pP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在 </a:t>
            </a:r>
            <a:r>
              <a:rPr lang="en-US" altLang="zh-TW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Walk-Forward </a:t>
            </a: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驗證下，短線預測難以穩定複現；回測亮眼結果更可能來自過擬合。</a:t>
            </a:r>
            <a:endParaRPr sz="1400" b="1" i="0" dirty="0">
              <a:solidFill>
                <a:srgbClr val="0F172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59" name="TextBox 50">
            <a:extLst>
              <a:ext uri="{FF2B5EF4-FFF2-40B4-BE49-F238E27FC236}">
                <a16:creationId xmlns:a16="http://schemas.microsoft.com/office/drawing/2014/main" id="{8A376311-772A-6956-80C5-451EE3AC4D07}"/>
              </a:ext>
            </a:extLst>
          </p:cNvPr>
          <p:cNvSpPr txBox="1"/>
          <p:nvPr/>
        </p:nvSpPr>
        <p:spPr>
          <a:xfrm>
            <a:off x="12382500" y="6416342"/>
            <a:ext cx="4724400" cy="2916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lang="zh-TW" altLang="en-US" sz="1400" b="1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→ </a:t>
            </a:r>
            <a:r>
              <a:rPr lang="en-US" altLang="zh-TW" sz="1400" b="1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D+20 </a:t>
            </a:r>
            <a:r>
              <a:rPr lang="zh-TW" altLang="en-US" sz="1400" b="1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是訊號已收斂、雜訊已降低的主分析視窗。</a:t>
            </a:r>
            <a:endParaRPr sz="1400" b="1" i="0" dirty="0">
              <a:solidFill>
                <a:srgbClr val="0F172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60" name="TextBox 54">
            <a:extLst>
              <a:ext uri="{FF2B5EF4-FFF2-40B4-BE49-F238E27FC236}">
                <a16:creationId xmlns:a16="http://schemas.microsoft.com/office/drawing/2014/main" id="{48ACA9C8-B570-DD23-0A65-4AFB3BC9C568}"/>
              </a:ext>
            </a:extLst>
          </p:cNvPr>
          <p:cNvSpPr txBox="1"/>
          <p:nvPr/>
        </p:nvSpPr>
        <p:spPr>
          <a:xfrm>
            <a:off x="1181100" y="8643480"/>
            <a:ext cx="15887700" cy="2835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因此，本研究以 </a:t>
            </a:r>
            <a:r>
              <a:rPr lang="en-US" altLang="zh-TW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D+20 </a:t>
            </a: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作為核心視窗，結合基本面、文本與籌碼訊號，並透過 </a:t>
            </a:r>
            <a:r>
              <a:rPr lang="en-US" altLang="zh-TW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Walk-Forward </a:t>
            </a: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驗證建立完整的資料、模型與回測框架。</a:t>
            </a:r>
            <a:endParaRPr sz="1400" b="0" i="0" dirty="0">
              <a:solidFill>
                <a:srgbClr val="0F172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285750" cy="2857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412459"/>
            <a:ext cx="28575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6350" y="404060"/>
            <a:ext cx="3619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多因子股票預測系統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39500" y="404060"/>
            <a:ext cx="6667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Methodology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9746959"/>
            <a:ext cx="12382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Source · 自行整理 · López de Prado (2018) §7.4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287500" y="9753600"/>
            <a:ext cx="15240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0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SETUP</a:t>
            </a:r>
          </a:p>
        </p:txBody>
      </p:sp>
      <p:sp>
        <p:nvSpPr>
          <p:cNvPr id="10" name="Oval 9"/>
          <p:cNvSpPr/>
          <p:nvPr/>
        </p:nvSpPr>
        <p:spPr>
          <a:xfrm>
            <a:off x="15954375" y="9791700"/>
            <a:ext cx="95250" cy="9525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16173450" y="9801225"/>
            <a:ext cx="76200" cy="76200"/>
          </a:xfrm>
          <a:prstGeom prst="ellipse">
            <a:avLst/>
          </a:prstGeom>
          <a:noFill/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16383000" y="9801225"/>
            <a:ext cx="76200" cy="76200"/>
          </a:xfrm>
          <a:prstGeom prst="ellipse">
            <a:avLst/>
          </a:prstGeom>
          <a:noFill/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6954500" y="9738560"/>
            <a:ext cx="571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066800"/>
            <a:ext cx="666750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 i="0" spc="24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</a:t>
            </a:r>
            <a:r>
              <a:rPr lang="en-US" b="1" i="0" spc="24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Methodology </a:t>
            </a:r>
            <a:r>
              <a:rPr lang="zh-TW" altLang="en-US" b="1" i="0" spc="24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→</a:t>
            </a:r>
            <a:r>
              <a:rPr lang="en-US" b="1" i="0" spc="24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zh-TW" altLang="en-US" b="1" i="0" spc="24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時序驗證設計</a:t>
            </a:r>
            <a:endParaRPr b="1" i="0" spc="240" dirty="0">
              <a:solidFill>
                <a:srgbClr val="06B6D4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14400" y="1352550"/>
            <a:ext cx="16459200" cy="10791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TW" altLang="en-US" sz="3600" b="1" i="0" spc="-8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模型能力必須先通過時序紀律檢驗，才有資格被解讀為 </a:t>
            </a:r>
            <a:r>
              <a:rPr lang="en-US" altLang="zh-TW" sz="3600" b="1" i="0" spc="-8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alpha</a:t>
            </a:r>
          </a:p>
          <a:p>
            <a:pPr algn="l">
              <a:lnSpc>
                <a:spcPct val="130000"/>
              </a:lnSpc>
            </a:pPr>
            <a:r>
              <a:rPr lang="en-US" altLang="zh-TW" sz="2000" b="1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PIT</a:t>
            </a:r>
            <a:r>
              <a:rPr lang="zh-TW" altLang="en-US" sz="2000" b="1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、</a:t>
            </a:r>
            <a:r>
              <a:rPr lang="en-US" altLang="zh-TW" sz="2000" b="1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WFPK </a:t>
            </a:r>
            <a:r>
              <a:rPr lang="zh-TW" altLang="en-US" sz="2000" b="1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與 </a:t>
            </a:r>
            <a:r>
              <a:rPr lang="en-US" altLang="zh-TW" sz="2000" b="1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20 </a:t>
            </a:r>
            <a:r>
              <a:rPr lang="zh-TW" altLang="en-US" sz="2000" b="1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日 </a:t>
            </a:r>
            <a:r>
              <a:rPr lang="en-US" altLang="zh-TW" sz="2000" b="1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embargo </a:t>
            </a:r>
            <a:r>
              <a:rPr lang="zh-TW" altLang="en-US" sz="2000" b="1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阻斷前視偏誤。</a:t>
            </a:r>
            <a:endParaRPr sz="2000" b="1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914400" y="2667000"/>
            <a:ext cx="76200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914400" y="2971800"/>
            <a:ext cx="5410200" cy="36957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14400" y="2971800"/>
            <a:ext cx="54102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79224" y="3050844"/>
            <a:ext cx="3415352" cy="2360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4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01 </a:t>
            </a:r>
            <a:r>
              <a:rPr lang="zh-TW" altLang="en-US" sz="1400" b="1" i="0" spc="24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─</a:t>
            </a:r>
            <a:r>
              <a:rPr sz="1400" b="1" i="0" spc="24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en-US" sz="1400" b="1" i="0" spc="24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Feature funnel</a:t>
            </a:r>
            <a:endParaRPr sz="1400" b="1" i="0" spc="24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57275" y="3388145"/>
            <a:ext cx="495300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TW" sz="4000" b="1" i="0" spc="-16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1,623</a:t>
            </a:r>
            <a:r>
              <a:rPr lang="zh-TW" altLang="en-US" sz="4000" b="0" i="0" dirty="0">
                <a:solidFill>
                  <a:srgbClr val="94A3B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 →  </a:t>
            </a:r>
            <a:r>
              <a:rPr lang="en-US" altLang="zh-TW" sz="4000" b="1" i="0" spc="-1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91</a:t>
            </a:r>
            <a:endParaRPr sz="4000" b="1" i="0" spc="-18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57275" y="4077349"/>
            <a:ext cx="4953000" cy="2358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TW" altLang="en-US" sz="1400" b="0" i="0" spc="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保留 </a:t>
            </a:r>
            <a:r>
              <a:rPr lang="en-US" altLang="zh-TW" sz="1400" b="0" i="0" spc="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5.6% · </a:t>
            </a:r>
            <a:r>
              <a:rPr lang="en-US" sz="1400" b="0" i="0" spc="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Corr → MI → VIF </a:t>
            </a:r>
            <a:r>
              <a:rPr lang="zh-TW" altLang="en-US" sz="1400" b="0" i="0" spc="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三層篩選</a:t>
            </a:r>
            <a:endParaRPr sz="1400" b="0" i="0" spc="4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43000" y="4588206"/>
            <a:ext cx="2724150" cy="2021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TW" altLang="en-US" sz="1200" b="1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候選特徵</a:t>
            </a:r>
            <a:endParaRPr sz="1200" b="1" i="0" dirty="0">
              <a:solidFill>
                <a:srgbClr val="0F172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867150" y="4588206"/>
            <a:ext cx="1238250" cy="1768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 spc="40" dirty="0">
                <a:solidFill>
                  <a:srgbClr val="94A3B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跨 9 </a:t>
            </a:r>
            <a:r>
              <a:rPr sz="1050" b="0" i="0" spc="40" dirty="0" err="1">
                <a:solidFill>
                  <a:srgbClr val="94A3B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支柱</a:t>
            </a:r>
            <a:endParaRPr sz="1050" b="0" i="0" spc="40" dirty="0">
              <a:solidFill>
                <a:srgbClr val="94A3B8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048250" y="4588206"/>
            <a:ext cx="1047750" cy="2360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 dirty="0">
                <a:solidFill>
                  <a:srgbClr val="94A3B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1,623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4838700"/>
            <a:ext cx="495300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143000" y="4838700"/>
            <a:ext cx="4953000" cy="762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143000" y="5089194"/>
            <a:ext cx="2724150" cy="202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Corr ≤ 0.85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67150" y="5089194"/>
            <a:ext cx="1238250" cy="1768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TW" altLang="en-US" sz="1050" b="0" i="0" spc="40" dirty="0">
                <a:solidFill>
                  <a:srgbClr val="94A3B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移除高共線</a:t>
            </a:r>
            <a:endParaRPr sz="1050" b="0" i="0" spc="40" dirty="0">
              <a:solidFill>
                <a:srgbClr val="94A3B8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048250" y="5089194"/>
            <a:ext cx="1047750" cy="2360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870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5339688"/>
            <a:ext cx="495300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1143000" y="5339688"/>
            <a:ext cx="2667000" cy="76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143000" y="5508294"/>
            <a:ext cx="2724150" cy="202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MI top-K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67150" y="5508294"/>
            <a:ext cx="1238250" cy="1768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TW" altLang="en-US" sz="1050" b="0" i="0" spc="40" dirty="0">
                <a:solidFill>
                  <a:srgbClr val="94A3B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保留高資訊量</a:t>
            </a:r>
            <a:endParaRPr sz="1050" b="0" i="0" spc="40" dirty="0">
              <a:solidFill>
                <a:srgbClr val="94A3B8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048250" y="5508294"/>
            <a:ext cx="1047750" cy="2360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287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43000" y="5758788"/>
            <a:ext cx="495300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1143000" y="5758788"/>
            <a:ext cx="885825" cy="762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143000" y="5927394"/>
            <a:ext cx="2724150" cy="2021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VIF &lt; 5 · </a:t>
            </a:r>
            <a:r>
              <a:rPr sz="1200" b="1" i="0" dirty="0" err="1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業務檢查</a:t>
            </a:r>
            <a:endParaRPr sz="1200" b="1" i="0" dirty="0">
              <a:solidFill>
                <a:srgbClr val="0F172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867150" y="5927394"/>
            <a:ext cx="1238250" cy="1768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TW" altLang="en-US" sz="1050" b="0" i="0" spc="40" dirty="0">
                <a:solidFill>
                  <a:srgbClr val="94A3B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生產特徵</a:t>
            </a:r>
            <a:endParaRPr sz="1050" b="0" i="0" spc="40" dirty="0">
              <a:solidFill>
                <a:srgbClr val="94A3B8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048250" y="5913746"/>
            <a:ext cx="1047750" cy="2360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 dirty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91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43000" y="6177888"/>
            <a:ext cx="495300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1143000" y="6177888"/>
            <a:ext cx="276225" cy="76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6438900" y="2971800"/>
            <a:ext cx="5410200" cy="36957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6438900" y="2971800"/>
            <a:ext cx="541020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503724" y="3050844"/>
            <a:ext cx="1905000" cy="2360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4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02 </a:t>
            </a:r>
            <a:r>
              <a:rPr lang="zh-TW" altLang="en-US" sz="1400" b="1" i="0" spc="24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─</a:t>
            </a:r>
            <a:r>
              <a:rPr sz="1400" b="1" i="0" spc="24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M</a:t>
            </a:r>
            <a:r>
              <a:rPr lang="en-US" sz="1400" b="1" i="0" spc="24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odel</a:t>
            </a:r>
            <a:endParaRPr sz="1400" b="1" i="0" spc="240" dirty="0">
              <a:solidFill>
                <a:srgbClr val="06B6D4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677025" y="3322539"/>
            <a:ext cx="4953000" cy="6742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1" i="0" spc="-140" dirty="0" err="1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XGBoost</a:t>
            </a:r>
            <a:endParaRPr sz="4000" b="1" i="0" spc="-14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667500" y="4072916"/>
            <a:ext cx="4953000" cy="2358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400" b="0" i="0" spc="40" dirty="0" err="1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Optuna</a:t>
            </a:r>
            <a:r>
              <a:rPr lang="en-US" sz="1400" b="0" i="0" spc="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150 trials · early stopping · 4-fold WFPK</a:t>
            </a:r>
            <a:endParaRPr sz="1400" b="0" i="0" spc="4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667500" y="4580532"/>
            <a:ext cx="2857500" cy="2021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200" b="1" i="0" spc="2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OOS AUC </a:t>
            </a:r>
            <a:r>
              <a:rPr lang="zh-TW" altLang="en-US" sz="1200" b="1" i="0" spc="2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→</a:t>
            </a:r>
            <a:r>
              <a:rPr lang="en-US" sz="1200" b="1" i="0" spc="2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zh-TW" altLang="en-US" sz="1200" b="1" i="0" spc="2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模型對照</a:t>
            </a:r>
            <a:endParaRPr sz="1200" b="1" i="0" spc="20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667500" y="4872190"/>
            <a:ext cx="2228850" cy="23583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dirty="0" err="1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XGBoost</a:t>
            </a:r>
            <a:r>
              <a:rPr sz="1400" b="1" i="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★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943975" y="4942482"/>
            <a:ext cx="207645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8943975" y="4942482"/>
            <a:ext cx="1800225" cy="762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0763250" y="4872094"/>
            <a:ext cx="857250" cy="2360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0.6455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67500" y="5234044"/>
            <a:ext cx="2228850" cy="2360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LightGBM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943975" y="5304432"/>
            <a:ext cx="207645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8943975" y="5304432"/>
            <a:ext cx="1657350" cy="76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0763250" y="5234044"/>
            <a:ext cx="857250" cy="2360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0.6381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67500" y="5595994"/>
            <a:ext cx="2228850" cy="2360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Random Forest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943975" y="5666382"/>
            <a:ext cx="207645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8943975" y="5666382"/>
            <a:ext cx="1257300" cy="762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0763250" y="5595994"/>
            <a:ext cx="857250" cy="2360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0.6168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667500" y="5957944"/>
            <a:ext cx="2228850" cy="2360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400" b="1" i="0" dirty="0">
                <a:solidFill>
                  <a:srgbClr val="94A3B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Logistic Regression</a:t>
            </a:r>
            <a:endParaRPr sz="1400" b="1" i="0" dirty="0">
              <a:solidFill>
                <a:srgbClr val="94A3B8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8943975" y="6028332"/>
            <a:ext cx="207645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8943975" y="6028332"/>
            <a:ext cx="704850" cy="762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0763250" y="5957944"/>
            <a:ext cx="857250" cy="2360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94A3B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0.5874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1963400" y="2971800"/>
            <a:ext cx="5410200" cy="36957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11963400" y="2971800"/>
            <a:ext cx="54102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12028224" y="3050844"/>
            <a:ext cx="228600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4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03 </a:t>
            </a:r>
            <a:r>
              <a:rPr lang="zh-TW" altLang="en-US" sz="1400" b="1" i="0" spc="24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─</a:t>
            </a:r>
            <a:r>
              <a:rPr sz="1400" b="1" i="0" spc="24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V</a:t>
            </a:r>
            <a:r>
              <a:rPr lang="en-US" sz="1400" b="1" i="0" spc="24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alidation</a:t>
            </a:r>
            <a:endParaRPr sz="1400" b="1" i="0" spc="240" dirty="0">
              <a:solidFill>
                <a:srgbClr val="F43F5E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12192000" y="3391784"/>
            <a:ext cx="4953000" cy="5393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3200" b="1" i="0" spc="-10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WFPK · 4-fold OOS</a:t>
            </a:r>
            <a:endParaRPr sz="3200" b="1" i="0" spc="-10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12192000" y="4077349"/>
            <a:ext cx="4953000" cy="2358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s-ES" sz="1400" b="0" i="0" spc="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20 日 embargo · D+20 label horizon</a:t>
            </a:r>
            <a:endParaRPr sz="1400" b="0" i="0" spc="4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12192000" y="4589625"/>
            <a:ext cx="2476500" cy="2021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TW" altLang="en-US" sz="1200" b="1" i="0" spc="2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時序驗證結構</a:t>
            </a:r>
            <a:endParaRPr sz="1200" b="1" i="0" spc="20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12192000" y="4894425"/>
            <a:ext cx="571500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2801600" y="4932525"/>
            <a:ext cx="962025" cy="1333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13763625" y="4932525"/>
            <a:ext cx="247650" cy="1333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14011275" y="4932525"/>
            <a:ext cx="495300" cy="13335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12192000" y="5237325"/>
            <a:ext cx="571500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F1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2801600" y="5275425"/>
            <a:ext cx="1257300" cy="1333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14058900" y="5275425"/>
            <a:ext cx="247650" cy="1333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14306550" y="5275425"/>
            <a:ext cx="581025" cy="13335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12192000" y="5580225"/>
            <a:ext cx="571500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F2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2801600" y="5618325"/>
            <a:ext cx="1590675" cy="1333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14392275" y="5618325"/>
            <a:ext cx="247650" cy="1333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1" name="Rectangle 80"/>
          <p:cNvSpPr/>
          <p:nvPr/>
        </p:nvSpPr>
        <p:spPr>
          <a:xfrm>
            <a:off x="14639925" y="5618325"/>
            <a:ext cx="581025" cy="13335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12192000" y="5923125"/>
            <a:ext cx="571500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F3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2801600" y="5961225"/>
            <a:ext cx="1924050" cy="1333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14725650" y="5961225"/>
            <a:ext cx="247650" cy="1333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14973300" y="5961225"/>
            <a:ext cx="581025" cy="13335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6" name="Rectangle 85"/>
          <p:cNvSpPr/>
          <p:nvPr/>
        </p:nvSpPr>
        <p:spPr>
          <a:xfrm>
            <a:off x="12192000" y="6313650"/>
            <a:ext cx="95250" cy="76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12344400" y="6263264"/>
            <a:ext cx="1238250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 spc="4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Train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3430250" y="6313650"/>
            <a:ext cx="9525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13582650" y="6263264"/>
            <a:ext cx="1238250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050" b="0" i="0" spc="4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20d Embargo</a:t>
            </a:r>
            <a:endParaRPr sz="1050" b="0" i="0" spc="4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90" name="Rectangle 89"/>
          <p:cNvSpPr/>
          <p:nvPr/>
        </p:nvSpPr>
        <p:spPr>
          <a:xfrm>
            <a:off x="15091588" y="6313650"/>
            <a:ext cx="95250" cy="762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15243988" y="6263264"/>
            <a:ext cx="1238250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 spc="4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Test OOS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14400" y="6781800"/>
            <a:ext cx="16459200" cy="10668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1104900" y="6934200"/>
            <a:ext cx="3810000" cy="2360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6-P</a:t>
            </a:r>
            <a:r>
              <a:rPr lang="en-US" sz="1400" b="1" i="0" spc="2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hase pipeline</a:t>
            </a:r>
            <a:endParaRPr sz="1400" b="1" i="0" spc="24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1104900" y="7200900"/>
            <a:ext cx="2533650" cy="26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14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01 </a:t>
            </a:r>
            <a:r>
              <a:rPr lang="zh-TW" altLang="en-US" sz="1600" b="1" i="0" spc="14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─</a:t>
            </a:r>
            <a:r>
              <a:rPr sz="1600" b="1" i="0" spc="14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Ingest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104900" y="7511388"/>
            <a:ext cx="2533650" cy="2694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TW" sz="1600" b="0" i="0" spc="4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7 </a:t>
            </a:r>
            <a:r>
              <a:rPr lang="zh-TW" altLang="en-US" sz="1600" b="0" i="0" spc="4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表 </a:t>
            </a:r>
            <a:r>
              <a:rPr lang="en-US" altLang="zh-TW" sz="1600" b="0" i="0" spc="4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· 3.48</a:t>
            </a:r>
            <a:r>
              <a:rPr lang="en-US" sz="1600" b="0" i="0" spc="4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M rows</a:t>
            </a:r>
            <a:endParaRPr sz="1600" b="0" i="0" spc="4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3657600" y="7200900"/>
            <a:ext cx="114300" cy="251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94A3B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›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733800" y="7200900"/>
            <a:ext cx="2533650" cy="26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14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02 </a:t>
            </a:r>
            <a:r>
              <a:rPr lang="zh-TW" altLang="en-US" sz="1600" b="1" i="0" spc="14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─</a:t>
            </a:r>
            <a:r>
              <a:rPr sz="1600" b="1" i="0" spc="14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Feature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733800" y="7511388"/>
            <a:ext cx="2533650" cy="26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600" b="0" i="0" spc="4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1,623 → 91 features</a:t>
            </a:r>
            <a:endParaRPr sz="1600" b="0" i="0" spc="4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6286500" y="7200900"/>
            <a:ext cx="114300" cy="251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94A3B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›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362700" y="7200900"/>
            <a:ext cx="2533650" cy="26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14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03 </a:t>
            </a:r>
            <a:r>
              <a:rPr lang="zh-TW" altLang="en-US" sz="1600" b="1" i="0" spc="14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─</a:t>
            </a:r>
            <a:r>
              <a:rPr sz="1600" b="1" i="0" spc="14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Model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362700" y="7511388"/>
            <a:ext cx="2533650" cy="268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600" b="0" i="0" spc="4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XGBoost</a:t>
            </a:r>
            <a:r>
              <a:rPr lang="en-US" sz="1600" b="0" i="0" spc="4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zh-TW" altLang="en-US" sz="1600" b="0" i="0" spc="4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─</a:t>
            </a:r>
            <a:r>
              <a:rPr lang="en-US" sz="1600" b="0" i="0" spc="4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en-US" sz="1600" b="0" i="0" spc="4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Optuna</a:t>
            </a:r>
            <a:r>
              <a:rPr lang="en-US" sz="1600" b="0" i="0" spc="4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150</a:t>
            </a:r>
            <a:endParaRPr sz="1600" b="0" i="0" spc="4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8924925" y="7200900"/>
            <a:ext cx="114300" cy="251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94A3B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›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001125" y="7200900"/>
            <a:ext cx="2533650" cy="26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14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04 </a:t>
            </a:r>
            <a:r>
              <a:rPr lang="zh-TW" altLang="en-US" sz="1600" b="1" i="0" spc="14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─</a:t>
            </a:r>
            <a:r>
              <a:rPr sz="1600" b="1" i="0" spc="14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Explain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001125" y="7511388"/>
            <a:ext cx="2533650" cy="26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 spc="4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SHAP </a:t>
            </a:r>
            <a:r>
              <a:rPr lang="zh-TW" altLang="en-US" sz="1600" b="0" i="0" spc="4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─</a:t>
            </a:r>
            <a:r>
              <a:rPr sz="1600" b="0" i="0" spc="4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LOPO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553825" y="7200900"/>
            <a:ext cx="114300" cy="251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94A3B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›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1630025" y="7200900"/>
            <a:ext cx="2533650" cy="26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14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05 </a:t>
            </a:r>
            <a:r>
              <a:rPr lang="zh-TW" altLang="en-US" sz="1600" b="1" i="0" spc="14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─</a:t>
            </a:r>
            <a:r>
              <a:rPr sz="1600" b="1" i="0" spc="14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sz="1600" b="1" i="0" spc="140" dirty="0" err="1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Backtest</a:t>
            </a:r>
            <a:endParaRPr sz="1600" b="1" i="0" spc="14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11630025" y="7511388"/>
            <a:ext cx="2533650" cy="2694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600" b="0" i="0" spc="4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40 thresholds · OOS</a:t>
            </a:r>
            <a:endParaRPr sz="1600" b="0" i="0" spc="4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14182725" y="7200900"/>
            <a:ext cx="114300" cy="251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94A3B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›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4258925" y="7200900"/>
            <a:ext cx="2533650" cy="26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14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06 </a:t>
            </a:r>
            <a:r>
              <a:rPr lang="zh-TW" altLang="en-US" sz="1600" b="1" i="0" spc="14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─</a:t>
            </a:r>
            <a:r>
              <a:rPr sz="1600" b="1" i="0" spc="14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Govern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4258925" y="7511388"/>
            <a:ext cx="2533650" cy="26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600" b="0" i="0" spc="4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9/9 gates PASS</a:t>
            </a:r>
            <a:endParaRPr sz="1600" b="0" i="0" spc="4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11" name="Rectangle 110"/>
          <p:cNvSpPr/>
          <p:nvPr/>
        </p:nvSpPr>
        <p:spPr>
          <a:xfrm>
            <a:off x="914400" y="7924799"/>
            <a:ext cx="16459200" cy="1614986"/>
          </a:xfrm>
          <a:prstGeom prst="rect">
            <a:avLst/>
          </a:prstGeom>
          <a:solidFill>
            <a:srgbClr val="ECF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2" name="Rectangle 111"/>
          <p:cNvSpPr/>
          <p:nvPr/>
        </p:nvSpPr>
        <p:spPr>
          <a:xfrm>
            <a:off x="914400" y="7924799"/>
            <a:ext cx="57150" cy="161498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1162050" y="8096250"/>
            <a:ext cx="5715000" cy="26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26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</a:t>
            </a:r>
            <a:r>
              <a:rPr lang="en-US" sz="1600" b="1" i="0" spc="26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oint</a:t>
            </a:r>
            <a:r>
              <a:rPr sz="1600" b="1" i="0" spc="26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-</a:t>
            </a:r>
            <a:r>
              <a:rPr lang="en-US" sz="1600" b="1" i="0" spc="26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in</a:t>
            </a:r>
            <a:r>
              <a:rPr sz="1600" b="1" i="0" spc="26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-</a:t>
            </a:r>
            <a:r>
              <a:rPr lang="en-US" sz="1600" b="1" i="0" spc="26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time</a:t>
            </a:r>
            <a:r>
              <a:rPr sz="1600" b="1" i="0" spc="26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en-US" sz="1600" b="1" i="0" spc="26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discipline</a:t>
            </a:r>
            <a:endParaRPr sz="1600" b="1" i="0" spc="260" dirty="0">
              <a:solidFill>
                <a:srgbClr val="06B6D4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1162050" y="8409296"/>
            <a:ext cx="15887700" cy="2835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財報 </a:t>
            </a:r>
            <a:r>
              <a:rPr lang="en-US" altLang="zh-TW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lag 45 </a:t>
            </a: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天、文本僅取 </a:t>
            </a:r>
            <a:r>
              <a:rPr lang="en-US" altLang="zh-TW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 </a:t>
            </a: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日 </a:t>
            </a:r>
            <a:r>
              <a:rPr lang="en-US" altLang="zh-TW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15:00 </a:t>
            </a: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前資訊，並以 </a:t>
            </a:r>
            <a:r>
              <a:rPr lang="en-US" altLang="zh-TW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(</a:t>
            </a:r>
            <a:r>
              <a:rPr lang="en-US" altLang="zh-TW" sz="1400" b="0" i="0" dirty="0" err="1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stock_id</a:t>
            </a:r>
            <a:r>
              <a:rPr lang="en-US" altLang="zh-TW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, date) </a:t>
            </a: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主鍵對齊。</a:t>
            </a:r>
            <a:endParaRPr sz="1400" b="0" i="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28" name="TextBox 113">
            <a:extLst>
              <a:ext uri="{FF2B5EF4-FFF2-40B4-BE49-F238E27FC236}">
                <a16:creationId xmlns:a16="http://schemas.microsoft.com/office/drawing/2014/main" id="{99A6D03F-8290-525C-D125-C5F795513A8B}"/>
              </a:ext>
            </a:extLst>
          </p:cNvPr>
          <p:cNvSpPr txBox="1"/>
          <p:nvPr/>
        </p:nvSpPr>
        <p:spPr>
          <a:xfrm>
            <a:off x="1143000" y="8755498"/>
            <a:ext cx="15887700" cy="2835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TW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20 </a:t>
            </a: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日 </a:t>
            </a:r>
            <a:r>
              <a:rPr lang="en-US" altLang="zh-TW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embargo </a:t>
            </a: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阻斷 </a:t>
            </a:r>
            <a:r>
              <a:rPr lang="en-US" altLang="zh-TW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D+20 </a:t>
            </a: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標籤跨期重疊，是 </a:t>
            </a:r>
            <a:r>
              <a:rPr lang="en-US" altLang="zh-TW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DSR 12.12 </a:t>
            </a: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通過多重檢定後仍顯著的關鍵前提。</a:t>
            </a:r>
            <a:endParaRPr sz="1400" b="0" i="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29" name="TextBox 113">
            <a:extLst>
              <a:ext uri="{FF2B5EF4-FFF2-40B4-BE49-F238E27FC236}">
                <a16:creationId xmlns:a16="http://schemas.microsoft.com/office/drawing/2014/main" id="{89E5882C-70D1-B9B6-74F8-4A0920333761}"/>
              </a:ext>
            </a:extLst>
          </p:cNvPr>
          <p:cNvSpPr txBox="1"/>
          <p:nvPr/>
        </p:nvSpPr>
        <p:spPr>
          <a:xfrm>
            <a:off x="1143000" y="9086667"/>
            <a:ext cx="15887700" cy="2835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→ 詳見 </a:t>
            </a:r>
            <a:r>
              <a:rPr lang="en-US" altLang="zh-TW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Appendix A.04 / A.05</a:t>
            </a:r>
            <a:endParaRPr sz="1400" b="0" i="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285750" cy="2857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412459"/>
            <a:ext cx="28575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6350" y="404060"/>
            <a:ext cx="3619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多因子股票預測系統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39500" y="404060"/>
            <a:ext cx="6667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Headline 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9746959"/>
            <a:ext cx="12382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Source · 自行整理 · DSR per Bailey &amp; López de Prado (2014)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287500" y="9753600"/>
            <a:ext cx="15240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0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FINDINGS</a:t>
            </a:r>
          </a:p>
        </p:txBody>
      </p:sp>
      <p:sp>
        <p:nvSpPr>
          <p:cNvPr id="10" name="Oval 9"/>
          <p:cNvSpPr/>
          <p:nvPr/>
        </p:nvSpPr>
        <p:spPr>
          <a:xfrm>
            <a:off x="15963900" y="9801225"/>
            <a:ext cx="76200" cy="76200"/>
          </a:xfrm>
          <a:prstGeom prst="ellipse">
            <a:avLst/>
          </a:prstGeom>
          <a:noFill/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16163925" y="9791700"/>
            <a:ext cx="95250" cy="9525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16383000" y="9801225"/>
            <a:ext cx="76200" cy="76200"/>
          </a:xfrm>
          <a:prstGeom prst="ellipse">
            <a:avLst/>
          </a:prstGeom>
          <a:noFill/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6954500" y="9738560"/>
            <a:ext cx="571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066800"/>
            <a:ext cx="666750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b="1" i="0" spc="24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HEADLINE </a:t>
            </a:r>
            <a:r>
              <a:rPr lang="zh-TW" altLang="en-US" b="1" i="0" spc="24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→</a:t>
            </a:r>
            <a:r>
              <a:rPr lang="en-US" b="1" i="0" spc="24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zh-TW" altLang="en-US" b="1" i="0" spc="24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四項指標收斂</a:t>
            </a:r>
            <a:endParaRPr b="1" i="0" spc="240" dirty="0">
              <a:solidFill>
                <a:srgbClr val="06B6D4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14400" y="1352550"/>
            <a:ext cx="16459200" cy="10791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TW" altLang="en-US" sz="3600" b="1" i="0" spc="-6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四項獨立指標收斂，證明 </a:t>
            </a:r>
            <a:r>
              <a:rPr lang="en-US" altLang="zh-TW" sz="3600" b="1" i="0" spc="-6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D+20 </a:t>
            </a:r>
            <a:r>
              <a:rPr lang="zh-TW" altLang="en-US" sz="3600" b="1" i="0" spc="-6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訊號具樣本外穩定性</a:t>
            </a:r>
            <a:br>
              <a:rPr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sz="2000" b="1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AUC</a:t>
            </a:r>
            <a:r>
              <a:rPr lang="zh-TW" altLang="en-US" sz="2000" b="1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、</a:t>
            </a:r>
            <a:r>
              <a:rPr lang="en-US" altLang="zh-TW" sz="2000" b="1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ICIR</a:t>
            </a:r>
            <a:r>
              <a:rPr lang="zh-TW" altLang="en-US" sz="2000" b="1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、</a:t>
            </a:r>
            <a:r>
              <a:rPr lang="en-US" altLang="zh-TW" sz="2000" b="1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DSR</a:t>
            </a:r>
            <a:r>
              <a:rPr lang="zh-TW" altLang="en-US" sz="2000" b="1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、</a:t>
            </a:r>
            <a:r>
              <a:rPr lang="en-US" altLang="zh-TW" sz="2000" b="1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Top 1% hit rate </a:t>
            </a:r>
            <a:r>
              <a:rPr lang="zh-TW" altLang="en-US" sz="2000" b="1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同步成立。</a:t>
            </a:r>
            <a:endParaRPr sz="2000" b="1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914400" y="2667000"/>
            <a:ext cx="76200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914400" y="2971800"/>
            <a:ext cx="4019550" cy="24574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14400" y="2971800"/>
            <a:ext cx="401955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57275" y="3109740"/>
            <a:ext cx="356235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 i="0" spc="2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OOS AUC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86200" y="3143250"/>
            <a:ext cx="857250" cy="2286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913496" y="3123220"/>
            <a:ext cx="857250" cy="26866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TW" altLang="en-US" sz="1600" b="1" i="0" spc="16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預測力</a:t>
            </a:r>
            <a:endParaRPr sz="1600" b="1" i="0" spc="16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43000" y="3524250"/>
            <a:ext cx="3562350" cy="12091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200" b="1" i="0" spc="-20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0.6455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4591050"/>
            <a:ext cx="571500" cy="28575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43000" y="4743450"/>
            <a:ext cx="3562350" cy="2835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1400" b="0" i="0" spc="2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XGBoost</a:t>
            </a:r>
            <a:r>
              <a:rPr lang="en-US" sz="1400" b="0" i="0" spc="2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zh-TW" altLang="en-US" sz="1400" b="0" i="0" spc="2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→</a:t>
            </a:r>
            <a:r>
              <a:rPr lang="en-US" sz="1400" b="0" i="0" spc="2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D+20 OOS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67300" y="2971800"/>
            <a:ext cx="4019550" cy="24574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067300" y="2971800"/>
            <a:ext cx="401955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229225" y="3100749"/>
            <a:ext cx="3562350" cy="268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2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ICIR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0" y="3143250"/>
            <a:ext cx="1123950" cy="224215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799696" y="3130705"/>
            <a:ext cx="1123950" cy="26866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 spc="16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IC </a:t>
            </a:r>
            <a:r>
              <a:rPr sz="1600" b="1" i="0" spc="160" dirty="0" err="1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穩定性</a:t>
            </a:r>
            <a:endParaRPr sz="1600" b="1" i="0" spc="160" dirty="0">
              <a:solidFill>
                <a:srgbClr val="06B6D4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295900" y="3524250"/>
            <a:ext cx="3562350" cy="12091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200" b="1" i="0" spc="-20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0.7431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295900" y="4591050"/>
            <a:ext cx="571500" cy="28575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295900" y="4743450"/>
            <a:ext cx="3562350" cy="2835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1400" b="0" i="0" spc="2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Mean IC / </a:t>
            </a:r>
            <a:r>
              <a:rPr lang="el-GR" sz="1400" b="0" i="0" spc="2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σ</a:t>
            </a:r>
            <a:r>
              <a:rPr lang="en-US" sz="1400" b="0" i="0" spc="2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IC</a:t>
            </a:r>
            <a:endParaRPr sz="1400" b="0" i="0" spc="2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9220200" y="2971799"/>
            <a:ext cx="4019550" cy="245745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9220200" y="2971800"/>
            <a:ext cx="401955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344025" y="3141287"/>
            <a:ext cx="3562350" cy="268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2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DSR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2001500" y="3143250"/>
            <a:ext cx="1047750" cy="2286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2015148" y="3123220"/>
            <a:ext cx="1047750" cy="26866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 spc="160" dirty="0" err="1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統計穩健</a:t>
            </a:r>
            <a:endParaRPr sz="1600" b="1" i="0" spc="16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9448800" y="3524250"/>
            <a:ext cx="3562350" cy="12091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200" b="1" i="0" spc="-20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12.12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448800" y="4591050"/>
            <a:ext cx="571500" cy="28575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448800" y="4743450"/>
            <a:ext cx="3562350" cy="2835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TW" altLang="en-US" sz="1400" b="0" i="0" spc="2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已扣除 </a:t>
            </a:r>
            <a:r>
              <a:rPr lang="en-US" altLang="zh-TW" sz="1400" b="0" i="0" spc="2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150 </a:t>
            </a:r>
            <a:r>
              <a:rPr lang="en-US" sz="1400" b="0" i="0" spc="2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trials </a:t>
            </a:r>
            <a:r>
              <a:rPr lang="zh-TW" altLang="en-US" sz="1400" b="0" i="0" spc="2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多重檢定</a:t>
            </a:r>
            <a:endParaRPr sz="1400" b="0" i="0" spc="2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13373100" y="2971800"/>
            <a:ext cx="4019550" cy="24574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13373100" y="2971800"/>
            <a:ext cx="401955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3525500" y="3126990"/>
            <a:ext cx="3562350" cy="268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2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</a:t>
            </a:r>
            <a:r>
              <a:rPr lang="en-US" sz="1600" b="1" i="0" spc="2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op</a:t>
            </a:r>
            <a:r>
              <a:rPr sz="1600" b="1" i="0" spc="2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1% </a:t>
            </a:r>
            <a:r>
              <a:rPr lang="en-US" sz="1600" b="1" spc="2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hit</a:t>
            </a:r>
            <a:endParaRPr sz="1600" b="1" i="0" spc="24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15976189" y="3143250"/>
            <a:ext cx="1225961" cy="2535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5963901" y="3113389"/>
            <a:ext cx="1266826" cy="26866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TW" altLang="en-US" sz="1600" b="1" i="0" spc="16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高分位命中</a:t>
            </a:r>
            <a:endParaRPr sz="1600" b="1" i="0" spc="160" dirty="0">
              <a:solidFill>
                <a:srgbClr val="F43F5E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3601700" y="3524250"/>
            <a:ext cx="3562350" cy="12091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200" b="1" i="0" spc="-20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36.81%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3601700" y="4591050"/>
            <a:ext cx="571500" cy="2857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3601700" y="4743450"/>
            <a:ext cx="3562350" cy="2835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fr-FR" sz="1400" b="0" i="0" spc="2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+10.53 pp vs. base 26.28%</a:t>
            </a:r>
            <a:endParaRPr sz="1400" b="0" i="0" spc="2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914400" y="5486400"/>
            <a:ext cx="16459200" cy="18669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104900" y="5657850"/>
            <a:ext cx="5715000" cy="2358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400" b="1" i="0" spc="2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CONSISTENCY · 4-fold OOS AUC</a:t>
            </a:r>
            <a:endParaRPr sz="1400" b="1" i="0" spc="24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104900" y="5973740"/>
            <a:ext cx="8572500" cy="2694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TW" altLang="en-US" sz="16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四折落於 </a:t>
            </a:r>
            <a:r>
              <a:rPr lang="en-US" altLang="zh-TW" sz="16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0.633</a:t>
            </a:r>
            <a:r>
              <a:rPr lang="zh-TW" altLang="en-US" sz="16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en-US" altLang="zh-TW" sz="16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~</a:t>
            </a:r>
            <a:r>
              <a:rPr lang="zh-TW" altLang="en-US" sz="16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en-US" altLang="zh-TW" sz="16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0.656</a:t>
            </a:r>
            <a:r>
              <a:rPr lang="zh-TW" altLang="en-US" sz="16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，跨 </a:t>
            </a:r>
            <a:r>
              <a:rPr lang="en-US" altLang="zh-TW" sz="16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fold </a:t>
            </a:r>
            <a:r>
              <a:rPr lang="zh-TW" altLang="en-US" sz="16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標準差僅 </a:t>
            </a:r>
            <a:r>
              <a:rPr lang="en-US" altLang="zh-TW" sz="16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0.0089</a:t>
            </a:r>
            <a:r>
              <a:rPr lang="zh-TW" altLang="en-US" sz="16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，降低單期過擬合疑慮。</a:t>
            </a:r>
            <a:endParaRPr sz="16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104900" y="6400800"/>
            <a:ext cx="952500" cy="26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1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</a:t>
            </a:r>
            <a:r>
              <a:rPr lang="en-US" sz="1600" b="1" i="0" spc="1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old</a:t>
            </a:r>
            <a:r>
              <a:rPr sz="1600" b="1" i="0" spc="1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04900" y="6667500"/>
            <a:ext cx="2095500" cy="26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 spc="4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2023 Q4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95650" y="6515100"/>
            <a:ext cx="247650" cy="952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3295650" y="6515100"/>
            <a:ext cx="190500" cy="952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3810000" y="6400800"/>
            <a:ext cx="1143000" cy="337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 spc="-2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0.6481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67300" y="6400800"/>
            <a:ext cx="952500" cy="26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1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</a:t>
            </a:r>
            <a:r>
              <a:rPr lang="en-US" sz="1600" b="1" i="0" spc="1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old</a:t>
            </a:r>
            <a:r>
              <a:rPr sz="1600" b="1" i="0" spc="1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67300" y="6667500"/>
            <a:ext cx="2095500" cy="26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 spc="4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2024 Q1</a:t>
            </a:r>
            <a:r>
              <a:rPr lang="zh-TW" altLang="en-US" sz="1600" b="0" i="0" spc="4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en-US" altLang="zh-TW" sz="1600" b="0" i="0" spc="4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~</a:t>
            </a:r>
            <a:r>
              <a:rPr lang="zh-TW" altLang="en-US" sz="1600" b="0" i="0" spc="4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sz="1600" b="0" i="0" spc="4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Q2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258050" y="6515100"/>
            <a:ext cx="247650" cy="952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7258050" y="6515100"/>
            <a:ext cx="190500" cy="952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7772400" y="6400800"/>
            <a:ext cx="1143000" cy="337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 spc="-2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0.6463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29700" y="6400800"/>
            <a:ext cx="952500" cy="26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1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</a:t>
            </a:r>
            <a:r>
              <a:rPr lang="en-US" sz="1600" b="1" i="0" spc="1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old</a:t>
            </a:r>
            <a:r>
              <a:rPr sz="1600" b="1" i="0" spc="1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029700" y="6667500"/>
            <a:ext cx="2095500" cy="26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 spc="4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2024 Q2</a:t>
            </a:r>
            <a:r>
              <a:rPr lang="zh-TW" altLang="en-US" sz="1600" b="0" i="0" spc="4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en-US" altLang="zh-TW" sz="1600" b="0" i="0" spc="4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~</a:t>
            </a:r>
            <a:r>
              <a:rPr lang="zh-TW" altLang="en-US" sz="1600" b="0" i="0" spc="4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sz="1600" b="0" i="0" spc="4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Q3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1220450" y="6515100"/>
            <a:ext cx="247650" cy="952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11220450" y="6515100"/>
            <a:ext cx="133350" cy="952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11734800" y="6400800"/>
            <a:ext cx="1143000" cy="337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 spc="-2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0.6332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2992100" y="6400800"/>
            <a:ext cx="952500" cy="26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1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</a:t>
            </a:r>
            <a:r>
              <a:rPr lang="en-US" sz="1600" b="1" i="0" spc="1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old</a:t>
            </a:r>
            <a:r>
              <a:rPr sz="1600" b="1" i="0" spc="1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2992100" y="6667500"/>
            <a:ext cx="2095500" cy="26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 spc="4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2024 Q4</a:t>
            </a:r>
            <a:r>
              <a:rPr lang="zh-TW" altLang="en-US" sz="1600" b="0" i="0" spc="4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en-US" altLang="zh-TW" sz="1600" b="0" i="0" spc="4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~</a:t>
            </a:r>
            <a:r>
              <a:rPr lang="zh-TW" altLang="en-US" sz="1600" b="0" i="0" spc="4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sz="1600" b="0" i="0" spc="4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25 Q1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5182850" y="6515100"/>
            <a:ext cx="247650" cy="952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15182850" y="6515100"/>
            <a:ext cx="219075" cy="9525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15697200" y="6400800"/>
            <a:ext cx="1143000" cy="337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 spc="-2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0.6543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14400" y="7620000"/>
            <a:ext cx="16459200" cy="1600200"/>
          </a:xfrm>
          <a:prstGeom prst="rect">
            <a:avLst/>
          </a:prstGeom>
          <a:solidFill>
            <a:srgbClr val="ECF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914400" y="7620000"/>
            <a:ext cx="45719" cy="16002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1162050" y="7791450"/>
            <a:ext cx="5715000" cy="26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26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B</a:t>
            </a:r>
            <a:r>
              <a:rPr lang="en-US" sz="1600" b="1" i="0" spc="26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ottom line</a:t>
            </a:r>
            <a:endParaRPr sz="1600" b="1" i="0" spc="260" dirty="0">
              <a:solidFill>
                <a:srgbClr val="06B6D4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1162050" y="8104496"/>
            <a:ext cx="15887700" cy="2835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同一結論在四項獨立指標下成立，且於四個 </a:t>
            </a:r>
            <a:r>
              <a:rPr lang="en-US" altLang="zh-TW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OOS fold </a:t>
            </a: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重複出現，降低 </a:t>
            </a:r>
            <a:r>
              <a:rPr lang="en-US" altLang="zh-TW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p-hacking </a:t>
            </a: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與單期僥倖疑慮。</a:t>
            </a:r>
            <a:endParaRPr sz="1400" b="0" i="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6" name="TextBox 23">
            <a:extLst>
              <a:ext uri="{FF2B5EF4-FFF2-40B4-BE49-F238E27FC236}">
                <a16:creationId xmlns:a16="http://schemas.microsoft.com/office/drawing/2014/main" id="{8205FE32-6697-48CE-C664-540207861AF5}"/>
              </a:ext>
            </a:extLst>
          </p:cNvPr>
          <p:cNvSpPr txBox="1"/>
          <p:nvPr/>
        </p:nvSpPr>
        <p:spPr>
          <a:xfrm>
            <a:off x="1143000" y="5075119"/>
            <a:ext cx="3562350" cy="2835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1400" b="0" i="0" spc="2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4-fold </a:t>
            </a:r>
            <a:r>
              <a:rPr lang="zh-TW" altLang="en-US" sz="1400" b="0" i="0" spc="2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一致 </a:t>
            </a:r>
            <a:r>
              <a:rPr lang="zh-TW" altLang="en-US" sz="1400" spc="2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→</a:t>
            </a:r>
            <a:r>
              <a:rPr lang="en-US" altLang="zh-TW" sz="1400" b="0" i="0" spc="2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el-GR" sz="1400" b="0" i="0" spc="2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σ = 0.0089</a:t>
            </a:r>
            <a:endParaRPr sz="1400" b="0" i="0" spc="2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76" name="TextBox 31">
            <a:extLst>
              <a:ext uri="{FF2B5EF4-FFF2-40B4-BE49-F238E27FC236}">
                <a16:creationId xmlns:a16="http://schemas.microsoft.com/office/drawing/2014/main" id="{D39D4A76-DD9C-88F1-B319-685F8B6C1397}"/>
              </a:ext>
            </a:extLst>
          </p:cNvPr>
          <p:cNvSpPr txBox="1"/>
          <p:nvPr/>
        </p:nvSpPr>
        <p:spPr>
          <a:xfrm>
            <a:off x="5295900" y="5075119"/>
            <a:ext cx="3562350" cy="2835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TW" altLang="en-US" sz="1400" b="0" i="0" spc="2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跨 </a:t>
            </a:r>
            <a:r>
              <a:rPr lang="en-US" sz="1400" b="0" i="0" spc="2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fold </a:t>
            </a:r>
            <a:r>
              <a:rPr lang="zh-TW" altLang="en-US" sz="1400" b="0" i="0" spc="2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方向穩定</a:t>
            </a:r>
            <a:endParaRPr sz="1400" b="0" i="0" spc="2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77" name="TextBox 39">
            <a:extLst>
              <a:ext uri="{FF2B5EF4-FFF2-40B4-BE49-F238E27FC236}">
                <a16:creationId xmlns:a16="http://schemas.microsoft.com/office/drawing/2014/main" id="{888E17AF-548F-6C9F-20D7-BEF584A7C2DD}"/>
              </a:ext>
            </a:extLst>
          </p:cNvPr>
          <p:cNvSpPr txBox="1"/>
          <p:nvPr/>
        </p:nvSpPr>
        <p:spPr>
          <a:xfrm>
            <a:off x="9458467" y="5073129"/>
            <a:ext cx="3562350" cy="2835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TW" altLang="en-US" sz="1400" b="0" i="0" spc="2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閾值 </a:t>
            </a:r>
            <a:r>
              <a:rPr lang="en-US" altLang="zh-TW" sz="1400" b="0" i="0" spc="2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3.0 </a:t>
            </a:r>
            <a:r>
              <a:rPr lang="zh-TW" altLang="en-US" sz="1400" b="0" i="0" spc="2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─</a:t>
            </a:r>
            <a:r>
              <a:rPr lang="en-US" altLang="zh-TW" sz="1400" b="0" i="0" spc="2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zh-TW" altLang="en-US" sz="1400" b="0" i="0" spc="2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通過顯著性門檻</a:t>
            </a:r>
            <a:endParaRPr sz="1400" b="0" i="0" spc="2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78" name="TextBox 47">
            <a:extLst>
              <a:ext uri="{FF2B5EF4-FFF2-40B4-BE49-F238E27FC236}">
                <a16:creationId xmlns:a16="http://schemas.microsoft.com/office/drawing/2014/main" id="{1C1CCEF5-E9A2-FA4F-2933-599121384D3A}"/>
              </a:ext>
            </a:extLst>
          </p:cNvPr>
          <p:cNvSpPr txBox="1"/>
          <p:nvPr/>
        </p:nvSpPr>
        <p:spPr>
          <a:xfrm>
            <a:off x="13601700" y="5073129"/>
            <a:ext cx="3562350" cy="2835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TW" altLang="en-US" sz="1400" b="0" i="0" spc="2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相對提升 </a:t>
            </a:r>
            <a:r>
              <a:rPr lang="en-US" altLang="zh-TW" sz="1400" b="0" i="0" spc="2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40.1%</a:t>
            </a:r>
            <a:endParaRPr sz="1400" b="0" i="0" spc="2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79" name="TextBox 74">
            <a:extLst>
              <a:ext uri="{FF2B5EF4-FFF2-40B4-BE49-F238E27FC236}">
                <a16:creationId xmlns:a16="http://schemas.microsoft.com/office/drawing/2014/main" id="{49B17493-F631-21CC-9F27-2553AF5C9974}"/>
              </a:ext>
            </a:extLst>
          </p:cNvPr>
          <p:cNvSpPr txBox="1"/>
          <p:nvPr/>
        </p:nvSpPr>
        <p:spPr>
          <a:xfrm>
            <a:off x="1162050" y="8455624"/>
            <a:ext cx="15887700" cy="2835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TW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Top 1% </a:t>
            </a: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命中率 </a:t>
            </a:r>
            <a:r>
              <a:rPr lang="en-US" altLang="zh-TW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36.81%</a:t>
            </a: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，較基準高 </a:t>
            </a:r>
            <a:r>
              <a:rPr lang="en-US" altLang="zh-TW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+10.53 pp</a:t>
            </a: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，代表模型分數具備可排序的選股研究價值。</a:t>
            </a:r>
            <a:endParaRPr sz="1400" b="0" i="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80" name="TextBox 74">
            <a:extLst>
              <a:ext uri="{FF2B5EF4-FFF2-40B4-BE49-F238E27FC236}">
                <a16:creationId xmlns:a16="http://schemas.microsoft.com/office/drawing/2014/main" id="{D048F3A7-0F3A-C926-5A2B-A9D60BF54971}"/>
              </a:ext>
            </a:extLst>
          </p:cNvPr>
          <p:cNvSpPr txBox="1"/>
          <p:nvPr/>
        </p:nvSpPr>
        <p:spPr>
          <a:xfrm>
            <a:off x="1162050" y="8816570"/>
            <a:ext cx="15887700" cy="2835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→ 下一頁檢驗統計穩健性，詳見 </a:t>
            </a:r>
            <a:r>
              <a:rPr lang="en-US" altLang="zh-TW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Appendix A.11 / A.12</a:t>
            </a:r>
            <a:endParaRPr sz="1400" b="0" i="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285750" cy="2857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412459"/>
            <a:ext cx="28575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6350" y="404060"/>
            <a:ext cx="3619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多因子股票預測系統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39500" y="404060"/>
            <a:ext cx="6667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Statistical Rigor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9746959"/>
            <a:ext cx="12382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Source · 自行整理 · DSR per Bailey &amp; López de Prado (2014) · PSI per Basel III FRTB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287500" y="9753600"/>
            <a:ext cx="15240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0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FINDINGS</a:t>
            </a:r>
          </a:p>
        </p:txBody>
      </p:sp>
      <p:sp>
        <p:nvSpPr>
          <p:cNvPr id="10" name="Oval 9"/>
          <p:cNvSpPr/>
          <p:nvPr/>
        </p:nvSpPr>
        <p:spPr>
          <a:xfrm>
            <a:off x="15963900" y="9801225"/>
            <a:ext cx="76200" cy="76200"/>
          </a:xfrm>
          <a:prstGeom prst="ellipse">
            <a:avLst/>
          </a:prstGeom>
          <a:noFill/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16163925" y="9791700"/>
            <a:ext cx="95250" cy="9525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16383000" y="9801225"/>
            <a:ext cx="76200" cy="76200"/>
          </a:xfrm>
          <a:prstGeom prst="ellipse">
            <a:avLst/>
          </a:prstGeom>
          <a:noFill/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6954500" y="9738560"/>
            <a:ext cx="571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104900"/>
            <a:ext cx="857250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TW" b="1" i="0" spc="24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Rigor </a:t>
            </a:r>
            <a:r>
              <a:rPr lang="zh-TW" altLang="en-US" b="1" i="0" spc="24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→</a:t>
            </a:r>
            <a:r>
              <a:rPr lang="en-US" altLang="zh-TW" b="1" i="0" spc="24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zh-TW" altLang="en-US" b="1" i="0" spc="24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統計穩健與模型治理</a:t>
            </a:r>
            <a:endParaRPr b="1" i="0" spc="240" dirty="0">
              <a:solidFill>
                <a:srgbClr val="06B6D4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14400" y="1371600"/>
            <a:ext cx="16668750" cy="10791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TW" altLang="en-US" sz="3600" b="1" i="0" spc="-10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統計修正後仍顯著，模型結果已越過「回測漂亮」的最低門檻</a:t>
            </a:r>
            <a:br>
              <a:rPr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sz="2000" b="1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DSR 12.12 </a:t>
            </a:r>
            <a:r>
              <a:rPr lang="zh-TW" altLang="en-US" sz="2000" b="1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與 </a:t>
            </a:r>
            <a:r>
              <a:rPr lang="en-US" altLang="zh-TW" sz="2000" b="1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9/9 gates </a:t>
            </a:r>
            <a:r>
              <a:rPr lang="zh-TW" altLang="en-US" sz="2000" b="1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支撐可稽核性。</a:t>
            </a:r>
            <a:endParaRPr sz="2000" b="1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914400" y="2724150"/>
            <a:ext cx="76200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914400" y="2990850"/>
            <a:ext cx="514350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14400" y="2990850"/>
            <a:ext cx="51435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23950" y="3200400"/>
            <a:ext cx="457200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400" b="1" i="0" spc="2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DEFLATED SHARPE </a:t>
            </a:r>
            <a:r>
              <a:rPr lang="zh-TW" altLang="en-US" sz="1400" b="1" i="0" spc="2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─</a:t>
            </a:r>
            <a:r>
              <a:rPr lang="en-US" sz="1400" b="1" i="0" spc="2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zh-TW" altLang="en-US" sz="1400" b="1" i="0" spc="2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多重檢定後的統計檢驗</a:t>
            </a:r>
            <a:endParaRPr sz="1400" b="1" i="0" spc="24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123950" y="3543300"/>
            <a:ext cx="476250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Bailey &amp; López de Prado (2014)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3950" y="3879945"/>
            <a:ext cx="4762500" cy="10113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6000" b="1" i="0" spc="-24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12.12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3950" y="5067300"/>
            <a:ext cx="476250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TW" sz="1400" b="1" i="0" spc="16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DSR </a:t>
            </a:r>
            <a:r>
              <a:rPr lang="zh-TW" altLang="en-US" sz="1400" b="1" i="0" spc="16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→</a:t>
            </a:r>
            <a:r>
              <a:rPr lang="en-US" altLang="zh-TW" sz="1400" b="1" i="0" spc="16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zh-TW" altLang="en-US" sz="1400" b="1" i="0" spc="16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多重檢定修正後仍顯著</a:t>
            </a:r>
            <a:endParaRPr sz="1400" b="1" i="0" spc="16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123950" y="5448300"/>
            <a:ext cx="4724400" cy="1333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123950" y="5448300"/>
            <a:ext cx="1181100" cy="133350"/>
          </a:xfrm>
          <a:prstGeom prst="rect">
            <a:avLst/>
          </a:prstGeom>
          <a:solidFill>
            <a:srgbClr val="FE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305050" y="5448300"/>
            <a:ext cx="3543300" cy="133350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2295525" y="5410200"/>
            <a:ext cx="19050" cy="2095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019300" y="5638800"/>
            <a:ext cx="762000" cy="176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1" i="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3.0</a:t>
            </a:r>
            <a:endParaRPr sz="1000" b="1" i="0" dirty="0">
              <a:solidFill>
                <a:srgbClr val="F43F5E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828800" y="5810250"/>
            <a:ext cx="1143000" cy="176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TW" altLang="en-US" sz="1050" spc="4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門檻</a:t>
            </a:r>
            <a:r>
              <a:rPr sz="1050" b="0" i="0" spc="4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值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10250" y="5391150"/>
            <a:ext cx="38100" cy="2476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276850" y="5638800"/>
            <a:ext cx="7620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12.12</a:t>
            </a:r>
            <a:endParaRPr sz="1000" b="1" i="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123950" y="6134100"/>
            <a:ext cx="4762500" cy="201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TW" altLang="en-US" sz="1200" b="1" i="0" spc="20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修正流程</a:t>
            </a:r>
            <a:endParaRPr sz="1200" b="1" i="0" spc="20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1123950" y="6524625"/>
            <a:ext cx="57150" cy="571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276350" y="6438900"/>
            <a:ext cx="209550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-2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150 trials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19400" y="6438900"/>
            <a:ext cx="3333750" cy="2482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TW" altLang="en-US" sz="13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修正 </a:t>
            </a:r>
            <a:r>
              <a:rPr lang="en-US" sz="13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hyperparameter / threshold search</a:t>
            </a:r>
            <a:endParaRPr sz="13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1123950" y="6886575"/>
            <a:ext cx="57150" cy="571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276350" y="6800850"/>
            <a:ext cx="209550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-20" dirty="0" err="1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skew、kurt</a:t>
            </a:r>
            <a:r>
              <a:rPr sz="1400" b="1" i="0" spc="-2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sz="1400" b="1" i="0" spc="-20" dirty="0" err="1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校正</a:t>
            </a:r>
            <a:endParaRPr sz="1400" b="1" i="0" spc="-2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819400" y="6800850"/>
            <a:ext cx="3333750" cy="2482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TW" altLang="en-US" sz="13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修正非常態分布偏誤</a:t>
            </a:r>
            <a:endParaRPr sz="13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1123950" y="7248525"/>
            <a:ext cx="57150" cy="571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276350" y="7162800"/>
            <a:ext cx="209550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-2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多重檢定 deflate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19400" y="7162800"/>
            <a:ext cx="3333750" cy="2482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TW" altLang="en-US" sz="13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達 </a:t>
            </a:r>
            <a:r>
              <a:rPr lang="en-US" sz="13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 &lt; 0.001</a:t>
            </a:r>
            <a:endParaRPr sz="13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6248400" y="2990850"/>
            <a:ext cx="3657600" cy="1447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6248400" y="2990850"/>
            <a:ext cx="36576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400800" y="3143250"/>
            <a:ext cx="381000" cy="26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-20" dirty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4650" y="3162300"/>
            <a:ext cx="1714500" cy="1854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180" dirty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DSR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3409950"/>
            <a:ext cx="3352800" cy="337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Deflated Sharpe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3796638"/>
            <a:ext cx="3352800" cy="26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-2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SR̂ 2.41 → DSR 12.12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53450" y="4076700"/>
            <a:ext cx="1219200" cy="228600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8553450" y="4098283"/>
            <a:ext cx="1219200" cy="1854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 spc="18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PASS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020300" y="2990850"/>
            <a:ext cx="3657600" cy="1447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10020300" y="2990850"/>
            <a:ext cx="36576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0172700" y="3143250"/>
            <a:ext cx="381000" cy="26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-2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496550" y="3162300"/>
            <a:ext cx="1714500" cy="1854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18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Worst Fold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172700" y="3409950"/>
            <a:ext cx="3352800" cy="3368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TW" altLang="en-US" sz="20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最差 </a:t>
            </a:r>
            <a:r>
              <a:rPr lang="en-US" sz="20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fold AUC</a:t>
            </a:r>
            <a:endParaRPr sz="2000" b="1" i="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0172700" y="3796638"/>
            <a:ext cx="3352800" cy="26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-2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Fold 2 = 0.6332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2325350" y="4076700"/>
            <a:ext cx="1219200" cy="228600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2325350" y="4098283"/>
            <a:ext cx="1219200" cy="1854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 spc="180" dirty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PASS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3792200" y="2990850"/>
            <a:ext cx="3657600" cy="1447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13792200" y="2990850"/>
            <a:ext cx="36576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3944600" y="3143250"/>
            <a:ext cx="381000" cy="26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-2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4268450" y="3162300"/>
            <a:ext cx="1714500" cy="1854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18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Embargo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3944600" y="3409950"/>
            <a:ext cx="3352800" cy="3368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時序隔離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3944600" y="3796638"/>
            <a:ext cx="3352800" cy="2694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600" b="1" i="0" spc="-2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D+20 </a:t>
            </a:r>
            <a:r>
              <a:rPr lang="zh-TW" altLang="en-US" sz="1600" b="1" i="0" spc="-2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─</a:t>
            </a:r>
            <a:r>
              <a:rPr lang="en-US" sz="1600" b="1" i="0" spc="-2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20d embargo</a:t>
            </a:r>
            <a:endParaRPr sz="1600" b="1" i="0" spc="-20" dirty="0">
              <a:solidFill>
                <a:srgbClr val="0F172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16097250" y="4076700"/>
            <a:ext cx="1219200" cy="228600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16097250" y="4098283"/>
            <a:ext cx="1219200" cy="1854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 spc="180" dirty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PASS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248400" y="4552950"/>
            <a:ext cx="3657600" cy="1447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6248400" y="4552950"/>
            <a:ext cx="36576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6400800" y="4705350"/>
            <a:ext cx="381000" cy="26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-2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724650" y="4724400"/>
            <a:ext cx="1714500" cy="1854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180" dirty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Leakage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0" y="4972050"/>
            <a:ext cx="3352800" cy="3368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 dirty="0" err="1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洩漏掃描</a:t>
            </a:r>
            <a:endParaRPr sz="2000" b="1" i="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6400800" y="5358738"/>
            <a:ext cx="3352800" cy="26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-2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 / 91 features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553450" y="5638800"/>
            <a:ext cx="1219200" cy="228600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8553450" y="5660383"/>
            <a:ext cx="1219200" cy="1854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 spc="18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PASS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020300" y="4552950"/>
            <a:ext cx="3657600" cy="1447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10020300" y="4552950"/>
            <a:ext cx="36576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10172700" y="4705350"/>
            <a:ext cx="381000" cy="26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-20" dirty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496550" y="4724400"/>
            <a:ext cx="1714500" cy="1854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180" dirty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PSI</a:t>
            </a:r>
            <a:r>
              <a:rPr sz="1100" b="1" i="0" spc="180" dirty="0">
                <a:solidFill>
                  <a:srgbClr val="F59E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sz="1100" b="1" i="0" spc="180" dirty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Drift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172700" y="4972050"/>
            <a:ext cx="3352800" cy="3368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FRTB 漂移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172700" y="5358738"/>
            <a:ext cx="3352800" cy="26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600" b="1" i="0" spc="-2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Max PSI = 0.13 (txt)</a:t>
            </a:r>
            <a:endParaRPr sz="1600" b="1" i="0" spc="-20" dirty="0">
              <a:solidFill>
                <a:srgbClr val="0F172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81" name="Rectangle 80"/>
          <p:cNvSpPr/>
          <p:nvPr/>
        </p:nvSpPr>
        <p:spPr>
          <a:xfrm>
            <a:off x="13792200" y="4552950"/>
            <a:ext cx="3657600" cy="1447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13792200" y="4552950"/>
            <a:ext cx="36576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13944600" y="4705350"/>
            <a:ext cx="381000" cy="26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-2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4268450" y="4724400"/>
            <a:ext cx="1714500" cy="1854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18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KS Test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3944600" y="4972050"/>
            <a:ext cx="3352800" cy="3368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20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Train vs. Test</a:t>
            </a:r>
            <a:endParaRPr sz="2000" b="1" i="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13944600" y="5358738"/>
            <a:ext cx="3352800" cy="26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-2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min p = 0.037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6097250" y="5638800"/>
            <a:ext cx="1219200" cy="228600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16097250" y="5660383"/>
            <a:ext cx="1219200" cy="1854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 spc="180" dirty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PASS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248400" y="6115050"/>
            <a:ext cx="3657600" cy="1447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0" name="Rectangle 89"/>
          <p:cNvSpPr/>
          <p:nvPr/>
        </p:nvSpPr>
        <p:spPr>
          <a:xfrm>
            <a:off x="6248400" y="6115050"/>
            <a:ext cx="36576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6400800" y="6267450"/>
            <a:ext cx="381000" cy="26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-2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07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724650" y="6286500"/>
            <a:ext cx="1714500" cy="1854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18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Lineage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400800" y="6534150"/>
            <a:ext cx="3352800" cy="3368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TW" altLang="en-US" sz="20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特徵 </a:t>
            </a:r>
            <a:r>
              <a:rPr lang="en-US" sz="20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lineage</a:t>
            </a:r>
            <a:endParaRPr sz="2000" b="1" i="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6400800" y="6920838"/>
            <a:ext cx="3352800" cy="268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600" b="1" i="0" spc="-2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91/91 features</a:t>
            </a:r>
            <a:endParaRPr sz="1600" b="1" i="0" spc="-20" dirty="0">
              <a:solidFill>
                <a:srgbClr val="0F172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95" name="Rectangle 94"/>
          <p:cNvSpPr/>
          <p:nvPr/>
        </p:nvSpPr>
        <p:spPr>
          <a:xfrm>
            <a:off x="8553450" y="7200900"/>
            <a:ext cx="1219200" cy="228600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8553450" y="7222483"/>
            <a:ext cx="1219200" cy="1854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 spc="18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PASS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0020300" y="6115050"/>
            <a:ext cx="3657600" cy="1447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8" name="Rectangle 97"/>
          <p:cNvSpPr/>
          <p:nvPr/>
        </p:nvSpPr>
        <p:spPr>
          <a:xfrm>
            <a:off x="10020300" y="6115050"/>
            <a:ext cx="36576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10172700" y="6267450"/>
            <a:ext cx="381000" cy="26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-2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08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496550" y="6286500"/>
            <a:ext cx="1714500" cy="1854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18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Repro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172700" y="6534150"/>
            <a:ext cx="3352800" cy="3368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可重現性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172700" y="6920838"/>
            <a:ext cx="3352800" cy="26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-2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SD &lt; 1e-6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2325350" y="7200900"/>
            <a:ext cx="1219200" cy="228600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12325350" y="7222483"/>
            <a:ext cx="1219200" cy="1854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 spc="180" dirty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PASS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3792200" y="6115050"/>
            <a:ext cx="3657600" cy="1447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6" name="Rectangle 105"/>
          <p:cNvSpPr/>
          <p:nvPr/>
        </p:nvSpPr>
        <p:spPr>
          <a:xfrm>
            <a:off x="13792200" y="6115050"/>
            <a:ext cx="36576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13944600" y="6267450"/>
            <a:ext cx="381000" cy="218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 spc="-2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09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4268450" y="6286500"/>
            <a:ext cx="1714500" cy="1854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18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Pipeline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3944600" y="6534150"/>
            <a:ext cx="3352800" cy="3368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TW" altLang="en-US" sz="20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預測流水線</a:t>
            </a:r>
            <a:endParaRPr sz="2000" b="1" i="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13944600" y="6920838"/>
            <a:ext cx="3352800" cy="2694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600" b="1" i="0" spc="-2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6/6 models PASS</a:t>
            </a:r>
            <a:endParaRPr sz="1600" b="1" i="0" spc="-20" dirty="0">
              <a:solidFill>
                <a:srgbClr val="0F172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11" name="Rectangle 110"/>
          <p:cNvSpPr/>
          <p:nvPr/>
        </p:nvSpPr>
        <p:spPr>
          <a:xfrm>
            <a:off x="16097250" y="7200900"/>
            <a:ext cx="1219200" cy="228600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16097250" y="7222483"/>
            <a:ext cx="1219200" cy="1854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 spc="18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PASS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914400" y="7696200"/>
            <a:ext cx="16459200" cy="1924050"/>
          </a:xfrm>
          <a:prstGeom prst="rect">
            <a:avLst/>
          </a:prstGeom>
          <a:solidFill>
            <a:srgbClr val="ECF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4" name="Rectangle 113"/>
          <p:cNvSpPr/>
          <p:nvPr/>
        </p:nvSpPr>
        <p:spPr>
          <a:xfrm>
            <a:off x="914400" y="7696200"/>
            <a:ext cx="57150" cy="192405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1162050" y="7867650"/>
            <a:ext cx="5715000" cy="26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600" b="1" i="0" spc="26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Why this matters</a:t>
            </a:r>
            <a:r>
              <a:rPr lang="zh-TW" altLang="en-US" sz="1600" b="1" i="0" spc="26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？</a:t>
            </a:r>
            <a:endParaRPr sz="1600" b="1" i="0" spc="260" dirty="0">
              <a:solidFill>
                <a:srgbClr val="06B6D4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1162050" y="8153400"/>
            <a:ext cx="15887700" cy="6067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TW" sz="14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AUC 0.6455 </a:t>
            </a:r>
            <a:r>
              <a:rPr lang="zh-TW" altLang="en-US" sz="14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並非偶然：</a:t>
            </a:r>
            <a:r>
              <a:rPr lang="en-US" altLang="zh-TW" sz="14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DSR </a:t>
            </a:r>
            <a:r>
              <a:rPr lang="zh-TW" altLang="en-US" sz="14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通過多重檢定修正，</a:t>
            </a:r>
            <a:r>
              <a:rPr lang="en-US" altLang="zh-TW" sz="14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9/9 </a:t>
            </a:r>
            <a:r>
              <a:rPr lang="zh-TW" altLang="en-US" sz="14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治理關卡全數通過；</a:t>
            </a:r>
            <a:endParaRPr lang="en-US" altLang="zh-TW" sz="1400" b="1" i="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  <a:p>
            <a:pPr algn="l">
              <a:lnSpc>
                <a:spcPct val="150000"/>
              </a:lnSpc>
            </a:pPr>
            <a:r>
              <a:rPr lang="zh-TW" altLang="en-US" sz="1400" b="1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　</a:t>
            </a:r>
            <a:r>
              <a:rPr lang="en-US" altLang="zh-TW" sz="14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Text PSI </a:t>
            </a:r>
            <a:r>
              <a:rPr lang="zh-TW" altLang="en-US" sz="14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觸發 </a:t>
            </a:r>
            <a:r>
              <a:rPr lang="en-US" altLang="zh-TW" sz="14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WARN</a:t>
            </a:r>
            <a:r>
              <a:rPr lang="zh-TW" altLang="en-US" sz="14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，對應每月詞向量重訓。</a:t>
            </a:r>
            <a:endParaRPr sz="1400" b="0" i="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18" name="Rectangle 62">
            <a:extLst>
              <a:ext uri="{FF2B5EF4-FFF2-40B4-BE49-F238E27FC236}">
                <a16:creationId xmlns:a16="http://schemas.microsoft.com/office/drawing/2014/main" id="{93336479-DFA0-9F46-279F-AC5D1E45424A}"/>
              </a:ext>
            </a:extLst>
          </p:cNvPr>
          <p:cNvSpPr/>
          <p:nvPr/>
        </p:nvSpPr>
        <p:spPr>
          <a:xfrm>
            <a:off x="12344684" y="5661297"/>
            <a:ext cx="1219200" cy="228600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9" name="TextBox 63">
            <a:extLst>
              <a:ext uri="{FF2B5EF4-FFF2-40B4-BE49-F238E27FC236}">
                <a16:creationId xmlns:a16="http://schemas.microsoft.com/office/drawing/2014/main" id="{C643789D-FB65-42D5-4A95-3B265F768CFC}"/>
              </a:ext>
            </a:extLst>
          </p:cNvPr>
          <p:cNvSpPr txBox="1"/>
          <p:nvPr/>
        </p:nvSpPr>
        <p:spPr>
          <a:xfrm>
            <a:off x="12344684" y="5682880"/>
            <a:ext cx="1219200" cy="1854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 spc="180" dirty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PASS</a:t>
            </a:r>
          </a:p>
        </p:txBody>
      </p:sp>
      <p:sp>
        <p:nvSpPr>
          <p:cNvPr id="6" name="TextBox 115">
            <a:extLst>
              <a:ext uri="{FF2B5EF4-FFF2-40B4-BE49-F238E27FC236}">
                <a16:creationId xmlns:a16="http://schemas.microsoft.com/office/drawing/2014/main" id="{3F3C47BE-2E07-069E-E627-FCDE9FFBF4ED}"/>
              </a:ext>
            </a:extLst>
          </p:cNvPr>
          <p:cNvSpPr txBox="1"/>
          <p:nvPr/>
        </p:nvSpPr>
        <p:spPr>
          <a:xfrm>
            <a:off x="1123950" y="8849830"/>
            <a:ext cx="15887700" cy="2835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TW" altLang="en-US" sz="14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下一頁進一步拆解：哪些因子真正驅動這個 </a:t>
            </a:r>
            <a:r>
              <a:rPr lang="en-US" altLang="zh-TW" sz="14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AUC</a:t>
            </a:r>
            <a:r>
              <a:rPr lang="zh-TW" altLang="en-US" sz="14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。</a:t>
            </a:r>
            <a:endParaRPr sz="1400" b="0" i="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79" name="TextBox 115">
            <a:extLst>
              <a:ext uri="{FF2B5EF4-FFF2-40B4-BE49-F238E27FC236}">
                <a16:creationId xmlns:a16="http://schemas.microsoft.com/office/drawing/2014/main" id="{B7F9BFD0-C4A7-8E60-0352-35148B7858E2}"/>
              </a:ext>
            </a:extLst>
          </p:cNvPr>
          <p:cNvSpPr txBox="1"/>
          <p:nvPr/>
        </p:nvSpPr>
        <p:spPr>
          <a:xfrm>
            <a:off x="1123950" y="9139549"/>
            <a:ext cx="15887700" cy="2835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TW" altLang="en-US" sz="14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→ 詳見 </a:t>
            </a:r>
            <a:r>
              <a:rPr lang="en-US" altLang="zh-TW" sz="14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Appendix A.05 / A.12</a:t>
            </a:r>
            <a:endParaRPr sz="1400" b="0" i="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285750" cy="2857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412459"/>
            <a:ext cx="28575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6350" y="404060"/>
            <a:ext cx="3619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多因子股票預測系統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39500" y="404060"/>
            <a:ext cx="6667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Factor Attribution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9746959"/>
            <a:ext cx="12382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Source · 自行整理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287500" y="9753600"/>
            <a:ext cx="15240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0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FINDINGS</a:t>
            </a:r>
          </a:p>
        </p:txBody>
      </p:sp>
      <p:sp>
        <p:nvSpPr>
          <p:cNvPr id="10" name="Oval 9"/>
          <p:cNvSpPr/>
          <p:nvPr/>
        </p:nvSpPr>
        <p:spPr>
          <a:xfrm>
            <a:off x="15963900" y="9801225"/>
            <a:ext cx="76200" cy="76200"/>
          </a:xfrm>
          <a:prstGeom prst="ellipse">
            <a:avLst/>
          </a:prstGeom>
          <a:noFill/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16163925" y="9791700"/>
            <a:ext cx="95250" cy="9525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16383000" y="9801225"/>
            <a:ext cx="76200" cy="76200"/>
          </a:xfrm>
          <a:prstGeom prst="ellipse">
            <a:avLst/>
          </a:prstGeom>
          <a:noFill/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6954500" y="9738560"/>
            <a:ext cx="571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066800"/>
            <a:ext cx="666750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b="1" i="0" spc="24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Factor attribution </a:t>
            </a:r>
            <a:r>
              <a:rPr lang="zh-TW" altLang="en-US" b="1" i="0" spc="24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→</a:t>
            </a:r>
            <a:r>
              <a:rPr lang="en-US" b="1" i="0" spc="24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zh-TW" altLang="en-US" b="1" i="0" spc="24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支柱貢獻拆解</a:t>
            </a:r>
            <a:endParaRPr b="1" i="0" spc="240" dirty="0">
              <a:solidFill>
                <a:srgbClr val="06B6D4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14400" y="1352550"/>
            <a:ext cx="16459200" cy="10791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TW" altLang="en-US" sz="3600" b="1" i="0" spc="-6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真正驅動模型的不是特徵數量，而是 </a:t>
            </a:r>
            <a:r>
              <a:rPr lang="en-US" altLang="zh-TW" sz="3600" b="1" i="0" spc="-6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Risk × Trend × Text </a:t>
            </a:r>
            <a:r>
              <a:rPr lang="zh-TW" altLang="en-US" sz="3600" b="1" i="0" spc="-6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的訊號協同</a:t>
            </a:r>
            <a:br>
              <a:rPr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sz="2000" b="1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Risk </a:t>
            </a:r>
            <a:r>
              <a:rPr lang="zh-TW" altLang="en-US" sz="2000" b="1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是地基，低品質支柱應進入下一輪精簡。</a:t>
            </a:r>
            <a:endParaRPr sz="2000" b="1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914400" y="2667000"/>
            <a:ext cx="76200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14400" y="2860630"/>
            <a:ext cx="5715000" cy="268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600" b="1" i="0" spc="2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9 PILLARS · 91 FEATURES</a:t>
            </a:r>
            <a:endParaRPr sz="1600" b="1" i="0" spc="24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14400" y="3313000"/>
            <a:ext cx="272415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914400" y="3313000"/>
            <a:ext cx="272415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66800" y="3446350"/>
            <a:ext cx="381000" cy="26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-4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47800" y="3465400"/>
            <a:ext cx="1905000" cy="26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16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Trend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6800" y="3732100"/>
            <a:ext cx="1771650" cy="4042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TW" altLang="en-US" sz="24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趨勢</a:t>
            </a:r>
            <a:endParaRPr sz="2400" b="1" i="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895600" y="3636850"/>
            <a:ext cx="685800" cy="671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4000" b="1" i="0" spc="-10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95600" y="4247022"/>
            <a:ext cx="571500" cy="1854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i="0" spc="1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feat.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14750" y="3313000"/>
            <a:ext cx="272415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714750" y="3313000"/>
            <a:ext cx="272415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867150" y="3446350"/>
            <a:ext cx="381000" cy="26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-4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48150" y="3465400"/>
            <a:ext cx="1905000" cy="26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160" dirty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Fundamental</a:t>
            </a:r>
            <a:r>
              <a:rPr lang="en-US" sz="1600" b="1" i="0" spc="160" dirty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</a:t>
            </a:r>
            <a:endParaRPr sz="1600" b="1" i="0" spc="160" dirty="0">
              <a:solidFill>
                <a:srgbClr val="10B98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867150" y="3732100"/>
            <a:ext cx="1771650" cy="4042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基本面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95950" y="3636850"/>
            <a:ext cx="685800" cy="671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4000" b="1" i="0" spc="-100" dirty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95950" y="4247022"/>
            <a:ext cx="571500" cy="1854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i="0" spc="1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feat.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15100" y="3313000"/>
            <a:ext cx="272415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6515100" y="3313000"/>
            <a:ext cx="2724150" cy="381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667500" y="3446350"/>
            <a:ext cx="381000" cy="26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-40">
                <a:solidFill>
                  <a:srgbClr val="7C3AE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8500" y="3465400"/>
            <a:ext cx="1905000" cy="26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160">
                <a:solidFill>
                  <a:srgbClr val="7C3AE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Valuation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67500" y="3732100"/>
            <a:ext cx="1771650" cy="4042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估值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96300" y="3636850"/>
            <a:ext cx="571500" cy="6742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4000" b="1" i="0" spc="-100" dirty="0">
                <a:solidFill>
                  <a:srgbClr val="7C3AE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96300" y="4247022"/>
            <a:ext cx="571500" cy="1854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i="0" spc="1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feat.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" y="4570300"/>
            <a:ext cx="272415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914400" y="4570300"/>
            <a:ext cx="272415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66800" y="4703650"/>
            <a:ext cx="381000" cy="26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-4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47800" y="4722700"/>
            <a:ext cx="1905000" cy="26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16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Industry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6800" y="4989400"/>
            <a:ext cx="1771650" cy="4042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產業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95600" y="4894150"/>
            <a:ext cx="571500" cy="6742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4000" b="1" i="0" spc="-10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95600" y="5504322"/>
            <a:ext cx="571500" cy="1854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i="0" spc="1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feat.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714750" y="4570300"/>
            <a:ext cx="272415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3714750" y="4570300"/>
            <a:ext cx="272415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3867150" y="4703650"/>
            <a:ext cx="381000" cy="26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-40">
                <a:solidFill>
                  <a:srgbClr val="F59E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48150" y="4722700"/>
            <a:ext cx="1905000" cy="26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160">
                <a:solidFill>
                  <a:srgbClr val="F59E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Event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67150" y="4989400"/>
            <a:ext cx="1771650" cy="4042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事件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95950" y="4894150"/>
            <a:ext cx="571500" cy="6742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4000" b="1" i="0" spc="-100" dirty="0">
                <a:solidFill>
                  <a:srgbClr val="F59E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95950" y="5504322"/>
            <a:ext cx="571500" cy="1854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i="0" spc="1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feat.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15100" y="4570300"/>
            <a:ext cx="272415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6515100" y="4570300"/>
            <a:ext cx="272415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6667500" y="4703650"/>
            <a:ext cx="381000" cy="26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-4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48500" y="4722700"/>
            <a:ext cx="1905000" cy="2694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16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Risk ★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667500" y="4989400"/>
            <a:ext cx="1771650" cy="4042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風險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96300" y="4894150"/>
            <a:ext cx="571500" cy="6742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4000" b="1" i="0" spc="-10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96300" y="5504322"/>
            <a:ext cx="571500" cy="1854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i="0" spc="1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feat.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14400" y="5827600"/>
            <a:ext cx="272415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914400" y="5827600"/>
            <a:ext cx="2724150" cy="381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1066800" y="5960950"/>
            <a:ext cx="381000" cy="26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-40">
                <a:solidFill>
                  <a:srgbClr val="4F46E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07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447800" y="5980000"/>
            <a:ext cx="1905000" cy="26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160">
                <a:solidFill>
                  <a:srgbClr val="4F46E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Chip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66800" y="6246700"/>
            <a:ext cx="1771650" cy="4042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籌碼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895600" y="6151450"/>
            <a:ext cx="571500" cy="6742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4000" b="1" i="0" spc="-100" dirty="0">
                <a:solidFill>
                  <a:srgbClr val="4F46E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895600" y="6761622"/>
            <a:ext cx="571500" cy="1854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i="0" spc="1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feat.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714750" y="5827600"/>
            <a:ext cx="272415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3714750" y="5827600"/>
            <a:ext cx="2724150" cy="381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3867150" y="5960950"/>
            <a:ext cx="381000" cy="26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-40">
                <a:solidFill>
                  <a:srgbClr val="EC489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248150" y="5980000"/>
            <a:ext cx="1905000" cy="26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160">
                <a:solidFill>
                  <a:srgbClr val="EC489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Sentiment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867150" y="6246700"/>
            <a:ext cx="1771650" cy="4042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TW" altLang="en-US" sz="24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情緒</a:t>
            </a:r>
            <a:endParaRPr sz="2400" b="1" i="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5695950" y="6151450"/>
            <a:ext cx="571500" cy="6742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4000" b="1" i="0" spc="-100" dirty="0">
                <a:solidFill>
                  <a:srgbClr val="EC489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7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695950" y="6761622"/>
            <a:ext cx="571500" cy="1854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i="0" spc="1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feat.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515100" y="5827600"/>
            <a:ext cx="272415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6515100" y="5827600"/>
            <a:ext cx="2724150" cy="381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6667500" y="5960950"/>
            <a:ext cx="381000" cy="26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-40">
                <a:solidFill>
                  <a:srgbClr val="A855F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09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048500" y="5980000"/>
            <a:ext cx="1905000" cy="2694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160">
                <a:solidFill>
                  <a:srgbClr val="A855F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Text ★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667500" y="6246700"/>
            <a:ext cx="1771650" cy="4042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TW" altLang="en-US" sz="24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文本</a:t>
            </a:r>
            <a:endParaRPr sz="2400" b="1" i="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8496300" y="6151450"/>
            <a:ext cx="647700" cy="671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4000" b="1" i="0" spc="-100" dirty="0">
                <a:solidFill>
                  <a:srgbClr val="A855F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30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496300" y="6761622"/>
            <a:ext cx="571500" cy="1854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i="0" spc="1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feat.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620250" y="2860630"/>
            <a:ext cx="7753350" cy="4167119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9848850" y="3032079"/>
            <a:ext cx="5715000" cy="268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2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LOPO ΔAUC </a:t>
            </a:r>
            <a:r>
              <a:rPr lang="zh-TW" altLang="en-US" sz="1600" b="1" spc="2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→</a:t>
            </a:r>
            <a:r>
              <a:rPr sz="1600" b="1" i="0" spc="2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Leave-One-Pillar-Out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848850" y="3369863"/>
            <a:ext cx="7105650" cy="268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6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Baseline AUC = 0.6486 · 1 bps = </a:t>
            </a:r>
            <a:r>
              <a:rPr lang="el-GR" sz="16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Δ</a:t>
            </a:r>
            <a:r>
              <a:rPr lang="en-US" sz="16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AUC × 10,000 · </a:t>
            </a:r>
            <a:r>
              <a:rPr lang="zh-TW" altLang="en-US" sz="16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正值代表該支柱貢獻訊號</a:t>
            </a:r>
            <a:endParaRPr sz="1600" b="0" i="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9848850" y="3797279"/>
            <a:ext cx="1238250" cy="26968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Risk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1239500" y="3922599"/>
            <a:ext cx="45720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6" name="Rectangle 85"/>
          <p:cNvSpPr/>
          <p:nvPr/>
        </p:nvSpPr>
        <p:spPr>
          <a:xfrm>
            <a:off x="13525500" y="3865449"/>
            <a:ext cx="9525" cy="1333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13535025" y="3846399"/>
            <a:ext cx="2038350" cy="1714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15963900" y="3814110"/>
            <a:ext cx="1238250" cy="2360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+138.6 bps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848850" y="4121129"/>
            <a:ext cx="1238250" cy="26968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Trend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1239500" y="4246449"/>
            <a:ext cx="45720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13525500" y="4189299"/>
            <a:ext cx="9525" cy="1333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13535025" y="4170249"/>
            <a:ext cx="952500" cy="1714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15963900" y="4137960"/>
            <a:ext cx="1238250" cy="2360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+64.9 bps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848850" y="4444979"/>
            <a:ext cx="1238250" cy="26968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Valuation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1239500" y="4570299"/>
            <a:ext cx="45720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6" name="Rectangle 95"/>
          <p:cNvSpPr/>
          <p:nvPr/>
        </p:nvSpPr>
        <p:spPr>
          <a:xfrm>
            <a:off x="13525500" y="4513149"/>
            <a:ext cx="9525" cy="1333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7" name="Rectangle 96"/>
          <p:cNvSpPr/>
          <p:nvPr/>
        </p:nvSpPr>
        <p:spPr>
          <a:xfrm>
            <a:off x="13535025" y="4494099"/>
            <a:ext cx="133350" cy="1714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15963900" y="4461810"/>
            <a:ext cx="1238250" cy="2360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+9.5 bps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848850" y="4768829"/>
            <a:ext cx="1238250" cy="26968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Text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1239500" y="4894149"/>
            <a:ext cx="45720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1" name="Rectangle 100"/>
          <p:cNvSpPr/>
          <p:nvPr/>
        </p:nvSpPr>
        <p:spPr>
          <a:xfrm>
            <a:off x="13525500" y="4836999"/>
            <a:ext cx="9525" cy="1333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2" name="Rectangle 101"/>
          <p:cNvSpPr/>
          <p:nvPr/>
        </p:nvSpPr>
        <p:spPr>
          <a:xfrm>
            <a:off x="13535025" y="4817949"/>
            <a:ext cx="123825" cy="1714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15963900" y="4785660"/>
            <a:ext cx="1238250" cy="2360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+8.5 bps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848850" y="5093192"/>
            <a:ext cx="1371600" cy="26866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Fundamental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1239500" y="5217999"/>
            <a:ext cx="45720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6" name="Rectangle 105"/>
          <p:cNvSpPr/>
          <p:nvPr/>
        </p:nvSpPr>
        <p:spPr>
          <a:xfrm>
            <a:off x="13525500" y="5160849"/>
            <a:ext cx="9525" cy="1333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7" name="Rectangle 106"/>
          <p:cNvSpPr/>
          <p:nvPr/>
        </p:nvSpPr>
        <p:spPr>
          <a:xfrm>
            <a:off x="13477875" y="5141799"/>
            <a:ext cx="38100" cy="1714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15963900" y="5109510"/>
            <a:ext cx="1238250" cy="2360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-2.6 bps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848850" y="5416529"/>
            <a:ext cx="1238250" cy="26968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Sentiment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1239500" y="5541849"/>
            <a:ext cx="45720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1" name="Rectangle 110"/>
          <p:cNvSpPr/>
          <p:nvPr/>
        </p:nvSpPr>
        <p:spPr>
          <a:xfrm>
            <a:off x="13525500" y="5484699"/>
            <a:ext cx="9525" cy="1333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2" name="Rectangle 111"/>
          <p:cNvSpPr/>
          <p:nvPr/>
        </p:nvSpPr>
        <p:spPr>
          <a:xfrm>
            <a:off x="13477875" y="5465649"/>
            <a:ext cx="38100" cy="1714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15963900" y="5433360"/>
            <a:ext cx="1238250" cy="2360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-2.8 bps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848850" y="5740379"/>
            <a:ext cx="1238250" cy="26968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Industry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1239500" y="5865699"/>
            <a:ext cx="45720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6" name="Rectangle 115"/>
          <p:cNvSpPr/>
          <p:nvPr/>
        </p:nvSpPr>
        <p:spPr>
          <a:xfrm>
            <a:off x="13525500" y="5808549"/>
            <a:ext cx="9525" cy="1333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7" name="Rectangle 116"/>
          <p:cNvSpPr/>
          <p:nvPr/>
        </p:nvSpPr>
        <p:spPr>
          <a:xfrm>
            <a:off x="13306425" y="5789499"/>
            <a:ext cx="209550" cy="1714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15963900" y="5757210"/>
            <a:ext cx="1238250" cy="2360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-14.8 bps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848850" y="6064229"/>
            <a:ext cx="1238250" cy="26968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Event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1239500" y="6189549"/>
            <a:ext cx="45720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1" name="Rectangle 120"/>
          <p:cNvSpPr/>
          <p:nvPr/>
        </p:nvSpPr>
        <p:spPr>
          <a:xfrm>
            <a:off x="13525500" y="6132399"/>
            <a:ext cx="9525" cy="1333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2" name="Rectangle 121"/>
          <p:cNvSpPr/>
          <p:nvPr/>
        </p:nvSpPr>
        <p:spPr>
          <a:xfrm>
            <a:off x="13287375" y="6113349"/>
            <a:ext cx="228600" cy="1714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3" name="TextBox 122"/>
          <p:cNvSpPr txBox="1"/>
          <p:nvPr/>
        </p:nvSpPr>
        <p:spPr>
          <a:xfrm>
            <a:off x="15963900" y="6081060"/>
            <a:ext cx="1238250" cy="2360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-15.7 bps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9848850" y="6388079"/>
            <a:ext cx="1238250" cy="26968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Chip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11239500" y="6513399"/>
            <a:ext cx="45720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6" name="Rectangle 125"/>
          <p:cNvSpPr/>
          <p:nvPr/>
        </p:nvSpPr>
        <p:spPr>
          <a:xfrm>
            <a:off x="13525500" y="6456249"/>
            <a:ext cx="9525" cy="1333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7" name="Rectangle 126"/>
          <p:cNvSpPr/>
          <p:nvPr/>
        </p:nvSpPr>
        <p:spPr>
          <a:xfrm>
            <a:off x="13249275" y="6437199"/>
            <a:ext cx="266700" cy="1714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15963900" y="6404910"/>
            <a:ext cx="1238250" cy="2360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-18.5 bps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914400" y="7390271"/>
            <a:ext cx="16459200" cy="1710687"/>
          </a:xfrm>
          <a:prstGeom prst="rect">
            <a:avLst/>
          </a:prstGeom>
          <a:solidFill>
            <a:srgbClr val="ECF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0" name="Rectangle 129"/>
          <p:cNvSpPr/>
          <p:nvPr/>
        </p:nvSpPr>
        <p:spPr>
          <a:xfrm>
            <a:off x="914400" y="7390271"/>
            <a:ext cx="57150" cy="1710687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1" name="TextBox 130"/>
          <p:cNvSpPr txBox="1"/>
          <p:nvPr/>
        </p:nvSpPr>
        <p:spPr>
          <a:xfrm>
            <a:off x="1162050" y="7561722"/>
            <a:ext cx="5715000" cy="268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600" b="1" spc="26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Why</a:t>
            </a:r>
            <a:r>
              <a:rPr lang="zh-TW" altLang="en-US" sz="1600" b="1" spc="26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en-US" altLang="zh-TW" sz="1600" b="1" spc="26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this</a:t>
            </a:r>
            <a:r>
              <a:rPr lang="zh-TW" altLang="en-US" sz="1600" b="1" spc="26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en-US" altLang="zh-TW" sz="1600" b="1" spc="26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matters</a:t>
            </a:r>
            <a:r>
              <a:rPr lang="zh-TW" altLang="en-US" sz="1600" b="1" spc="26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？</a:t>
            </a:r>
            <a:endParaRPr sz="1600" b="1" i="0" spc="260" dirty="0">
              <a:solidFill>
                <a:srgbClr val="06B6D4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32" name="TextBox 131"/>
          <p:cNvSpPr txBox="1"/>
          <p:nvPr/>
        </p:nvSpPr>
        <p:spPr>
          <a:xfrm>
            <a:off x="1162050" y="7847472"/>
            <a:ext cx="15887700" cy="3240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16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Risk × Trend × Text </a:t>
            </a:r>
            <a:r>
              <a:rPr lang="zh-TW" altLang="en-US" sz="16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是三元協同核心，移除 </a:t>
            </a:r>
            <a:r>
              <a:rPr lang="en-US" sz="16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Risk </a:t>
            </a:r>
            <a:r>
              <a:rPr lang="zh-TW" altLang="en-US" sz="16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後，模型區分雜訊日與訊號日的能力明顯下降，</a:t>
            </a:r>
            <a:r>
              <a:rPr lang="en-US" sz="16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AUC </a:t>
            </a:r>
            <a:r>
              <a:rPr lang="zh-TW" altLang="en-US" sz="16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減少 </a:t>
            </a:r>
            <a:r>
              <a:rPr lang="en-US" altLang="zh-TW" sz="16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0.01386</a:t>
            </a:r>
            <a:r>
              <a:rPr lang="zh-TW" altLang="en-US" sz="16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。</a:t>
            </a:r>
            <a:endParaRPr sz="1300" b="0" i="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6" name="TextBox 131">
            <a:extLst>
              <a:ext uri="{FF2B5EF4-FFF2-40B4-BE49-F238E27FC236}">
                <a16:creationId xmlns:a16="http://schemas.microsoft.com/office/drawing/2014/main" id="{65216722-8FD4-E24A-3E94-0D9F8A493306}"/>
              </a:ext>
            </a:extLst>
          </p:cNvPr>
          <p:cNvSpPr txBox="1"/>
          <p:nvPr/>
        </p:nvSpPr>
        <p:spPr>
          <a:xfrm>
            <a:off x="1162050" y="8220120"/>
            <a:ext cx="15887700" cy="3240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TW" sz="16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Chip / Event / Industry </a:t>
            </a:r>
            <a:r>
              <a:rPr lang="zh-TW" altLang="en-US" sz="16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合計貢獻為 −</a:t>
            </a:r>
            <a:r>
              <a:rPr lang="en-US" altLang="zh-TW" sz="16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49 bps</a:t>
            </a:r>
            <a:r>
              <a:rPr lang="zh-TW" altLang="en-US" sz="16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，應列為下一輪特徵精簡與再檢驗對象。</a:t>
            </a:r>
            <a:endParaRPr sz="1300" b="0" i="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33" name="TextBox 131">
            <a:extLst>
              <a:ext uri="{FF2B5EF4-FFF2-40B4-BE49-F238E27FC236}">
                <a16:creationId xmlns:a16="http://schemas.microsoft.com/office/drawing/2014/main" id="{07D0949E-1411-C392-A74C-02470E8F072E}"/>
              </a:ext>
            </a:extLst>
          </p:cNvPr>
          <p:cNvSpPr txBox="1"/>
          <p:nvPr/>
        </p:nvSpPr>
        <p:spPr>
          <a:xfrm>
            <a:off x="1162050" y="8603959"/>
            <a:ext cx="15887700" cy="2835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TW" altLang="en-US" sz="1400" i="0" dirty="0">
                <a:solidFill>
                  <a:schemeClr val="tx1">
                    <a:lumMod val="50000"/>
                    <a:lumOff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→ 詳見 </a:t>
            </a:r>
            <a:r>
              <a:rPr lang="en-US" altLang="zh-TW" sz="1400" i="0" dirty="0">
                <a:solidFill>
                  <a:schemeClr val="tx1">
                    <a:lumMod val="50000"/>
                    <a:lumOff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Appendix A.07 / A.08 / A.09</a:t>
            </a:r>
            <a:endParaRPr sz="1200" i="0" dirty="0">
              <a:solidFill>
                <a:schemeClr val="tx1">
                  <a:lumMod val="50000"/>
                  <a:lumOff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285750" cy="2857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412459"/>
            <a:ext cx="28575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6350" y="404060"/>
            <a:ext cx="3619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多因子股票預測系統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39500" y="404060"/>
            <a:ext cx="6667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Sentiment U-Shape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9746959"/>
            <a:ext cx="12382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Source · 自行整理 · sent_polarity_5d 五桶 · OOS 2024-Q4 – 2025-Q1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287500" y="9753600"/>
            <a:ext cx="15240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0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FINDINGS</a:t>
            </a:r>
          </a:p>
        </p:txBody>
      </p:sp>
      <p:sp>
        <p:nvSpPr>
          <p:cNvPr id="10" name="Oval 9"/>
          <p:cNvSpPr/>
          <p:nvPr/>
        </p:nvSpPr>
        <p:spPr>
          <a:xfrm>
            <a:off x="15963900" y="9801225"/>
            <a:ext cx="76200" cy="76200"/>
          </a:xfrm>
          <a:prstGeom prst="ellipse">
            <a:avLst/>
          </a:prstGeom>
          <a:noFill/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16163925" y="9791700"/>
            <a:ext cx="95250" cy="9525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16383000" y="9801225"/>
            <a:ext cx="76200" cy="76200"/>
          </a:xfrm>
          <a:prstGeom prst="ellipse">
            <a:avLst/>
          </a:prstGeom>
          <a:noFill/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6954500" y="9738560"/>
            <a:ext cx="571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104900"/>
            <a:ext cx="857250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b="1" i="0" spc="24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Sentiment </a:t>
            </a:r>
            <a:r>
              <a:rPr lang="zh-TW" altLang="en-US" b="1" i="0" spc="24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→</a:t>
            </a:r>
            <a:r>
              <a:rPr lang="en-US" b="1" i="0" spc="24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zh-TW" altLang="en-US" b="1" i="0" spc="24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情緒 </a:t>
            </a:r>
            <a:r>
              <a:rPr lang="en-US" b="1" i="0" spc="24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U </a:t>
            </a:r>
            <a:r>
              <a:rPr lang="zh-TW" altLang="en-US" b="1" i="0" spc="24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型訊號</a:t>
            </a:r>
            <a:endParaRPr b="1" i="0" spc="240" dirty="0">
              <a:solidFill>
                <a:srgbClr val="06B6D4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14400" y="1371600"/>
            <a:ext cx="16668750" cy="10791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TW" altLang="en-US" sz="3600" b="1" i="0" spc="-10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極端情緒提供反向交易訊號，成為主模型之外的 </a:t>
            </a:r>
            <a:r>
              <a:rPr lang="en-US" altLang="zh-TW" sz="3600" b="1" i="0" spc="-10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alpha filter</a:t>
            </a:r>
            <a:br>
              <a:rPr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sz="2000" b="1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Q1 </a:t>
            </a:r>
            <a:r>
              <a:rPr lang="zh-TW" altLang="en-US" sz="2000" b="1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悲觀分位的反彈 </a:t>
            </a:r>
            <a:r>
              <a:rPr lang="en-US" altLang="zh-TW" sz="2000" b="1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edge </a:t>
            </a:r>
            <a:r>
              <a:rPr lang="zh-TW" altLang="en-US" sz="2000" b="1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最明顯。</a:t>
            </a:r>
            <a:endParaRPr sz="2000" b="1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914400" y="2724150"/>
            <a:ext cx="76200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914400" y="2990850"/>
            <a:ext cx="10477500" cy="452149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43000" y="3162300"/>
            <a:ext cx="6667500" cy="268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fr-FR" sz="1600" b="1" i="0" spc="2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SENTIMENT QUINTILE EDGE </a:t>
            </a:r>
            <a:r>
              <a:rPr lang="zh-TW" altLang="en-US" sz="1600" b="1" i="0" spc="2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─</a:t>
            </a:r>
            <a:r>
              <a:rPr lang="fr-FR" sz="1600" b="1" i="0" spc="2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sent_polarity_5d</a:t>
            </a:r>
            <a:endParaRPr sz="1600" b="1" i="0" spc="24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43000" y="3532782"/>
            <a:ext cx="7620000" cy="2350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4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Edge = </a:t>
            </a:r>
            <a:r>
              <a:rPr lang="zh-TW" altLang="en-US" sz="14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該分位命中率 − </a:t>
            </a:r>
            <a:r>
              <a:rPr lang="en-US" sz="14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baseline 26.28% · pp = percentage points</a:t>
            </a:r>
            <a:endParaRPr sz="1400" b="0" i="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771650" y="5562600"/>
            <a:ext cx="9239250" cy="190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771650" y="4038600"/>
            <a:ext cx="9239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43000" y="3945109"/>
            <a:ext cx="571500" cy="1679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94A3B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+4 pp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771650" y="4800600"/>
            <a:ext cx="9239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43000" y="4707109"/>
            <a:ext cx="571500" cy="1679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94A3B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+2 pp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771650" y="6324600"/>
            <a:ext cx="9239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43000" y="6231109"/>
            <a:ext cx="571500" cy="1679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94A3B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-2 pp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5469109"/>
            <a:ext cx="571500" cy="1679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94A3B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57400" y="4343400"/>
            <a:ext cx="1333500" cy="1219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866900" y="4054418"/>
            <a:ext cx="1714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 spc="-2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+3.2 pp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66900" y="6816668"/>
            <a:ext cx="1714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Q1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71650" y="7067550"/>
            <a:ext cx="1905000" cy="4554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0" spc="40" dirty="0" err="1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最悲觀</a:t>
            </a:r>
            <a:r>
              <a:rPr sz="1200" b="0" i="0" spc="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
sent &lt; 20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029075" y="5486400"/>
            <a:ext cx="1333500" cy="76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838575" y="5197418"/>
            <a:ext cx="1714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 spc="-2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+0.2 pp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38575" y="6816668"/>
            <a:ext cx="1714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Q2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43325" y="7067550"/>
            <a:ext cx="1905000" cy="215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0" spc="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20</a:t>
            </a:r>
            <a:r>
              <a:rPr lang="zh-TW" altLang="en-US" sz="1200" spc="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en-US" altLang="zh-TW" sz="1200" spc="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~</a:t>
            </a:r>
            <a:r>
              <a:rPr lang="zh-TW" altLang="en-US" sz="1200" spc="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sz="1200" b="0" i="0" spc="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40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10275" y="5562600"/>
            <a:ext cx="1333500" cy="6096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819775" y="6207068"/>
            <a:ext cx="1714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 spc="-2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-1.6 pp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19775" y="6816668"/>
            <a:ext cx="1714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Q3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24525" y="7067550"/>
            <a:ext cx="1905000" cy="4554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0" spc="40" dirty="0" err="1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中性</a:t>
            </a:r>
            <a:r>
              <a:rPr sz="1200" b="0" i="0" spc="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
40</a:t>
            </a:r>
            <a:r>
              <a:rPr lang="zh-TW" altLang="en-US" sz="1200" b="0" i="0" spc="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en-US" altLang="zh-TW" sz="1200" b="0" i="0" spc="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~</a:t>
            </a:r>
            <a:r>
              <a:rPr lang="zh-TW" altLang="en-US" sz="1200" b="0" i="0" spc="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sz="1200" b="0" i="0" spc="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60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81950" y="5448300"/>
            <a:ext cx="1333500" cy="1143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791450" y="5159318"/>
            <a:ext cx="1714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 spc="-2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+0.3 pp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91450" y="6816668"/>
            <a:ext cx="1714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Q4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96200" y="7067550"/>
            <a:ext cx="1905000" cy="215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0" spc="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60</a:t>
            </a:r>
            <a:r>
              <a:rPr lang="zh-TW" altLang="en-US" sz="1200" b="0" i="0" spc="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en-US" altLang="zh-TW" sz="1200" b="0" i="0" spc="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~</a:t>
            </a:r>
            <a:r>
              <a:rPr lang="zh-TW" altLang="en-US" sz="1200" b="0" i="0" spc="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sz="1200" b="0" i="0" spc="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80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963150" y="5334000"/>
            <a:ext cx="1333500" cy="2286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9772650" y="5045018"/>
            <a:ext cx="1714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 spc="-2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+0.6 pp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72650" y="6816668"/>
            <a:ext cx="1714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Q5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77400" y="7067550"/>
            <a:ext cx="1905000" cy="4554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0" spc="40" dirty="0" err="1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最樂觀</a:t>
            </a:r>
            <a:r>
              <a:rPr sz="1200" b="0" i="0" spc="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
sent &gt; 80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1582400" y="2990849"/>
            <a:ext cx="5791200" cy="14463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11582400" y="2990850"/>
            <a:ext cx="57912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1772900" y="3200400"/>
            <a:ext cx="5524500" cy="268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TW" altLang="en-US" sz="1600" b="1" i="0" dirty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① </a:t>
            </a:r>
            <a:r>
              <a:rPr lang="en-US" altLang="zh-TW" sz="1600" b="1" i="0" dirty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Q1 </a:t>
            </a:r>
            <a:r>
              <a:rPr lang="zh-TW" altLang="en-US" sz="1600" b="1" i="0" dirty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反彈 </a:t>
            </a:r>
            <a:r>
              <a:rPr lang="zh-TW" altLang="en-US" sz="1600" b="1" dirty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→</a:t>
            </a:r>
            <a:r>
              <a:rPr lang="en-US" altLang="zh-TW" sz="1600" b="1" i="0" dirty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zh-TW" altLang="en-US" sz="1600" b="1" i="0" dirty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過度悲觀修正</a:t>
            </a:r>
            <a:endParaRPr sz="1600" b="1" i="0" dirty="0">
              <a:solidFill>
                <a:srgbClr val="10B98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1772900" y="3505200"/>
            <a:ext cx="5524500" cy="275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極度悲觀分位出現 </a:t>
            </a:r>
            <a:r>
              <a:rPr lang="en-US" altLang="zh-TW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+3.2 pp edge</a:t>
            </a: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，與過度反應假說方向一致。</a:t>
            </a:r>
            <a:endParaRPr sz="14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11582400" y="4476749"/>
            <a:ext cx="5791200" cy="1449763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11582400" y="4476750"/>
            <a:ext cx="57912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1772900" y="4686300"/>
            <a:ext cx="5524500" cy="268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TW" altLang="en-US" sz="16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② </a:t>
            </a:r>
            <a:r>
              <a:rPr lang="en-US" altLang="zh-TW" sz="16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Q5 </a:t>
            </a:r>
            <a:r>
              <a:rPr lang="zh-TW" altLang="en-US" sz="16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弱勢 </a:t>
            </a:r>
            <a:r>
              <a:rPr lang="zh-TW" altLang="en-US" sz="1600" b="1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→</a:t>
            </a:r>
            <a:r>
              <a:rPr lang="en-US" altLang="zh-TW" sz="16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zh-TW" altLang="en-US" sz="16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利多已被消化</a:t>
            </a:r>
            <a:endParaRPr sz="1600" b="1" i="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1772900" y="4991100"/>
            <a:ext cx="5524500" cy="275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lang="en-US" altLang="zh-TW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Q5 </a:t>
            </a: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僅 </a:t>
            </a:r>
            <a:r>
              <a:rPr lang="en-US" altLang="zh-TW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+0.6 pp</a:t>
            </a: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，明顯低於 </a:t>
            </a:r>
            <a:r>
              <a:rPr lang="en-US" altLang="zh-TW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Q1</a:t>
            </a: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，顯示過度樂觀未帶來等幅 </a:t>
            </a:r>
            <a:r>
              <a:rPr lang="en-US" altLang="zh-TW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alpha</a:t>
            </a: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。</a:t>
            </a:r>
            <a:endParaRPr sz="14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11582400" y="5962650"/>
            <a:ext cx="5791200" cy="155589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11582400" y="5962650"/>
            <a:ext cx="579120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1772900" y="6172200"/>
            <a:ext cx="5524500" cy="268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③ News × Forum 互補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772900" y="6477000"/>
            <a:ext cx="5524500" cy="275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新聞與論壇相關僅 </a:t>
            </a:r>
            <a:r>
              <a:rPr lang="en-US" altLang="zh-TW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0.20</a:t>
            </a: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，代表兩者提供不同情緒來源。</a:t>
            </a:r>
            <a:endParaRPr sz="14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914400" y="7696200"/>
            <a:ext cx="16459200" cy="1640550"/>
          </a:xfrm>
          <a:prstGeom prst="rect">
            <a:avLst/>
          </a:prstGeom>
          <a:solidFill>
            <a:srgbClr val="ECF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914400" y="7696200"/>
            <a:ext cx="57150" cy="164055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1162050" y="7867650"/>
            <a:ext cx="5715000" cy="268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600" b="1" spc="26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Strategic insight</a:t>
            </a:r>
            <a:endParaRPr sz="1600" b="1" i="0" spc="260" dirty="0">
              <a:solidFill>
                <a:srgbClr val="06B6D4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162050" y="8153400"/>
            <a:ext cx="15887700" cy="2835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文本情緒並非單調訊號，反向 </a:t>
            </a:r>
            <a:r>
              <a:rPr lang="en-US" altLang="zh-TW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U </a:t>
            </a: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型顯示極端情緒更可能蘊含可交易資訊。</a:t>
            </a:r>
            <a:endParaRPr sz="1400" b="0" i="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64" name="TextBox 50">
            <a:extLst>
              <a:ext uri="{FF2B5EF4-FFF2-40B4-BE49-F238E27FC236}">
                <a16:creationId xmlns:a16="http://schemas.microsoft.com/office/drawing/2014/main" id="{1747794A-AEBB-F4FF-3A22-265428A9E64B}"/>
              </a:ext>
            </a:extLst>
          </p:cNvPr>
          <p:cNvSpPr txBox="1"/>
          <p:nvPr/>
        </p:nvSpPr>
        <p:spPr>
          <a:xfrm>
            <a:off x="11772900" y="3916688"/>
            <a:ext cx="5524500" cy="275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可作為主模型之外的逆向情緒 </a:t>
            </a:r>
            <a:r>
              <a:rPr lang="en-US" altLang="zh-TW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filter</a:t>
            </a: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。</a:t>
            </a:r>
            <a:endParaRPr sz="14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65" name="TextBox 54">
            <a:extLst>
              <a:ext uri="{FF2B5EF4-FFF2-40B4-BE49-F238E27FC236}">
                <a16:creationId xmlns:a16="http://schemas.microsoft.com/office/drawing/2014/main" id="{57B62C62-F584-10D1-E034-CBE4DF6E7910}"/>
              </a:ext>
            </a:extLst>
          </p:cNvPr>
          <p:cNvSpPr txBox="1"/>
          <p:nvPr/>
        </p:nvSpPr>
        <p:spPr>
          <a:xfrm>
            <a:off x="11772900" y="5403815"/>
            <a:ext cx="5524500" cy="275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利多可能已被價格與討論熱度提前反映。</a:t>
            </a:r>
            <a:endParaRPr sz="14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66" name="TextBox 58">
            <a:extLst>
              <a:ext uri="{FF2B5EF4-FFF2-40B4-BE49-F238E27FC236}">
                <a16:creationId xmlns:a16="http://schemas.microsoft.com/office/drawing/2014/main" id="{C837E7C7-64E4-2E32-A6C1-AC75B66ABC31}"/>
              </a:ext>
            </a:extLst>
          </p:cNvPr>
          <p:cNvSpPr txBox="1"/>
          <p:nvPr/>
        </p:nvSpPr>
        <p:spPr>
          <a:xfrm>
            <a:off x="11772900" y="6886884"/>
            <a:ext cx="5524500" cy="275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lang="en-US" altLang="zh-TW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1d / 5d / 20d </a:t>
            </a: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三期方向一致，可納入 </a:t>
            </a:r>
            <a:r>
              <a:rPr lang="en-US" altLang="zh-TW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sentiment overlay</a:t>
            </a: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。</a:t>
            </a:r>
            <a:endParaRPr sz="14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67" name="TextBox 62">
            <a:extLst>
              <a:ext uri="{FF2B5EF4-FFF2-40B4-BE49-F238E27FC236}">
                <a16:creationId xmlns:a16="http://schemas.microsoft.com/office/drawing/2014/main" id="{A5D9688D-C96F-BB82-2B04-CC8B35FE9B46}"/>
              </a:ext>
            </a:extLst>
          </p:cNvPr>
          <p:cNvSpPr txBox="1"/>
          <p:nvPr/>
        </p:nvSpPr>
        <p:spPr>
          <a:xfrm>
            <a:off x="1162050" y="8509233"/>
            <a:ext cx="15887700" cy="2835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TW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Q1 + Q5 </a:t>
            </a: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貢獻 </a:t>
            </a:r>
            <a:r>
              <a:rPr lang="en-US" altLang="zh-TW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sentiment LOPO +8.5 bps </a:t>
            </a: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的主要來源，可作為主模型之外的 </a:t>
            </a:r>
            <a:r>
              <a:rPr lang="en-US" altLang="zh-TW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alpha filter</a:t>
            </a: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。</a:t>
            </a:r>
            <a:endParaRPr sz="1400" b="0" i="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68" name="TextBox 62">
            <a:extLst>
              <a:ext uri="{FF2B5EF4-FFF2-40B4-BE49-F238E27FC236}">
                <a16:creationId xmlns:a16="http://schemas.microsoft.com/office/drawing/2014/main" id="{9B4D6C48-4688-5F1E-906A-5F28FC7A1033}"/>
              </a:ext>
            </a:extLst>
          </p:cNvPr>
          <p:cNvSpPr txBox="1"/>
          <p:nvPr/>
        </p:nvSpPr>
        <p:spPr>
          <a:xfrm>
            <a:off x="1162050" y="8867202"/>
            <a:ext cx="15887700" cy="2835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→ 詳見 </a:t>
            </a:r>
            <a:r>
              <a:rPr lang="en-US" altLang="zh-TW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Appendix A.18–A.23</a:t>
            </a:r>
            <a:endParaRPr sz="1400" b="0" i="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285750" cy="2857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412459"/>
            <a:ext cx="28575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6350" y="404060"/>
            <a:ext cx="3619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多因子股票預測系統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39500" y="404060"/>
            <a:ext cx="6667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Deployment Edge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9746959"/>
            <a:ext cx="12382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Source · 自行整理 · 40 檔門檻 × OOS 404,724 樣本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287500" y="9753600"/>
            <a:ext cx="15240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0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ACTION</a:t>
            </a:r>
          </a:p>
        </p:txBody>
      </p:sp>
      <p:sp>
        <p:nvSpPr>
          <p:cNvPr id="10" name="Oval 9"/>
          <p:cNvSpPr/>
          <p:nvPr/>
        </p:nvSpPr>
        <p:spPr>
          <a:xfrm>
            <a:off x="15963900" y="9801225"/>
            <a:ext cx="76200" cy="76200"/>
          </a:xfrm>
          <a:prstGeom prst="ellipse">
            <a:avLst/>
          </a:prstGeom>
          <a:noFill/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16173450" y="9801225"/>
            <a:ext cx="76200" cy="76200"/>
          </a:xfrm>
          <a:prstGeom prst="ellipse">
            <a:avLst/>
          </a:prstGeom>
          <a:noFill/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16373475" y="9791700"/>
            <a:ext cx="95250" cy="9525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6954500" y="9738560"/>
            <a:ext cx="571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066800"/>
            <a:ext cx="666750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b="1" i="0" spc="24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Deployment </a:t>
            </a:r>
            <a:r>
              <a:rPr lang="zh-TW" altLang="en-US" b="1" i="0" spc="24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→</a:t>
            </a:r>
            <a:r>
              <a:rPr lang="en-US" b="1" i="0" spc="24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zh-TW" altLang="en-US" b="1" i="0" spc="24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從模型分數到研究清單</a:t>
            </a:r>
            <a:endParaRPr b="1" i="0" spc="240" dirty="0">
              <a:solidFill>
                <a:srgbClr val="06B6D4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14400" y="1352550"/>
            <a:ext cx="16459200" cy="10791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TW" altLang="en-US" sz="3600" b="1" i="0" spc="-6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模型分數已能被產品化為每日可追蹤的投資研究清單</a:t>
            </a:r>
            <a:br>
              <a:rPr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sz="2000" b="1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Threshold </a:t>
            </a:r>
            <a:r>
              <a:rPr lang="zh-TW" altLang="en-US" sz="2000" b="1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決定是高確信訊號或研究 </a:t>
            </a:r>
            <a:r>
              <a:rPr lang="en-US" altLang="zh-TW" sz="2000" b="1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coverage</a:t>
            </a:r>
            <a:r>
              <a:rPr lang="zh-TW" altLang="en-US" sz="2000" b="1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。</a:t>
            </a:r>
            <a:endParaRPr sz="2000" b="1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914400" y="2667000"/>
            <a:ext cx="76200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914400" y="2971800"/>
            <a:ext cx="8382000" cy="44577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04900" y="3089901"/>
            <a:ext cx="6667500" cy="268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600" b="1" i="0" spc="2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Top-% hit rate </a:t>
            </a:r>
            <a:r>
              <a:rPr lang="zh-TW" altLang="en-US" sz="1600" b="1" i="0" spc="2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→</a:t>
            </a:r>
            <a:r>
              <a:rPr lang="en-US" sz="1600" b="1" i="0" spc="2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zh-TW" altLang="en-US" sz="1600" b="1" i="0" spc="2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分數越高，命中率越高</a:t>
            </a:r>
            <a:endParaRPr sz="1600" b="1" i="0" spc="24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04900" y="3491506"/>
            <a:ext cx="6667500" cy="268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TW" altLang="en-US" sz="16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樣本越集中，</a:t>
            </a:r>
            <a:r>
              <a:rPr lang="en-US" sz="16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edge </a:t>
            </a:r>
            <a:r>
              <a:rPr lang="zh-TW" altLang="en-US" sz="16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越明顯 </a:t>
            </a:r>
            <a:r>
              <a:rPr lang="zh-TW" altLang="en-US" sz="16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→</a:t>
            </a:r>
            <a:r>
              <a:rPr lang="en-US" altLang="zh-TW" sz="16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en-US" sz="16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base = 26.28%</a:t>
            </a:r>
            <a:endParaRPr sz="1600" b="0" i="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104900" y="3962113"/>
            <a:ext cx="106680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TW" altLang="en-US" sz="1400" b="1" i="0" spc="16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篩選門檻</a:t>
            </a:r>
            <a:endParaRPr sz="1400" b="1" i="0" spc="16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859065" y="3962112"/>
            <a:ext cx="447675" cy="2436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 spc="16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64958" y="3962113"/>
            <a:ext cx="78105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 spc="160" dirty="0" err="1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命中率</a:t>
            </a:r>
            <a:endParaRPr sz="1400" b="1" i="0" spc="16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257800" y="3962113"/>
            <a:ext cx="152400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400" b="1" i="0" spc="16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Edge vs. base</a:t>
            </a:r>
            <a:endParaRPr sz="1400" b="1" i="0" spc="16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972300" y="3962113"/>
            <a:ext cx="209550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160" dirty="0" err="1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相對提升</a:t>
            </a:r>
            <a:endParaRPr sz="1400" b="1" i="0" spc="16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104900" y="4281992"/>
            <a:ext cx="8096250" cy="190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104900" y="4843967"/>
            <a:ext cx="8096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1104900" y="4377242"/>
            <a:ext cx="8096250" cy="476250"/>
          </a:xfrm>
          <a:prstGeom prst="rect">
            <a:avLst/>
          </a:prstGeom>
          <a:solidFill>
            <a:srgbClr val="FE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1104900" y="4377242"/>
            <a:ext cx="38100" cy="4762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181100" y="4497835"/>
            <a:ext cx="1714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400" b="1" i="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Threshold 0.50 ★</a:t>
            </a:r>
            <a:endParaRPr sz="1400" b="1" i="0" dirty="0">
              <a:solidFill>
                <a:srgbClr val="F43F5E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819400" y="4497835"/>
            <a:ext cx="123825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2,836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57650" y="4489435"/>
            <a:ext cx="142875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 spc="-2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37.98%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4497835"/>
            <a:ext cx="15240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+11.70 pp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10400" y="4497835"/>
            <a:ext cx="2095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+44.5%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04900" y="5320217"/>
            <a:ext cx="8096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181100" y="4974085"/>
            <a:ext cx="1714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400" b="1" i="0" dirty="0">
                <a:solidFill>
                  <a:srgbClr val="F59E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Threshold 0.49</a:t>
            </a:r>
            <a:endParaRPr sz="1400" b="1" i="0" dirty="0">
              <a:solidFill>
                <a:srgbClr val="F59E0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819400" y="4974085"/>
            <a:ext cx="123825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4,149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57650" y="4965685"/>
            <a:ext cx="142875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 spc="-20">
                <a:solidFill>
                  <a:srgbClr val="F59E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36.64%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4974085"/>
            <a:ext cx="15240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+10.36 pp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10400" y="4974085"/>
            <a:ext cx="2095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+39.4%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04900" y="5796467"/>
            <a:ext cx="8096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181100" y="5450335"/>
            <a:ext cx="1714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Top 1%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19400" y="5450335"/>
            <a:ext cx="123825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4,047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57650" y="5441935"/>
            <a:ext cx="142875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 spc="-2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36.81%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0" y="5450335"/>
            <a:ext cx="15240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+10.53 pp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10400" y="5450335"/>
            <a:ext cx="2095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+40.1%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104900" y="6272717"/>
            <a:ext cx="8096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181100" y="5926585"/>
            <a:ext cx="1714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Top 5%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819400" y="5926585"/>
            <a:ext cx="123825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20,236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57650" y="5918185"/>
            <a:ext cx="142875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 spc="-2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31.44%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5926585"/>
            <a:ext cx="15240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+5.16 pp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10400" y="5926585"/>
            <a:ext cx="2095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+19.6%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104900" y="6748967"/>
            <a:ext cx="8096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181100" y="6402835"/>
            <a:ext cx="1714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Top 10%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819400" y="6402835"/>
            <a:ext cx="123825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40,472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057650" y="6394435"/>
            <a:ext cx="142875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 spc="-2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28.88%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0" y="6402835"/>
            <a:ext cx="15240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+2.60 pp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010400" y="6402835"/>
            <a:ext cx="2095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+9.9%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81100" y="6879085"/>
            <a:ext cx="1714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Base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819400" y="6879085"/>
            <a:ext cx="123825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404,724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057650" y="6870685"/>
            <a:ext cx="142875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 spc="-20">
                <a:solidFill>
                  <a:srgbClr val="94A3B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26.28%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86400" y="6879085"/>
            <a:ext cx="15240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010400" y="6879085"/>
            <a:ext cx="2095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620250" y="2971800"/>
            <a:ext cx="7620000" cy="268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600" b="1" i="0" spc="2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DUAL TRACK </a:t>
            </a:r>
            <a:r>
              <a:rPr lang="zh-TW" altLang="en-US" sz="1600" b="1" i="0" spc="2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→</a:t>
            </a:r>
            <a:r>
              <a:rPr lang="en-US" sz="1600" b="1" i="0" spc="2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zh-TW" altLang="en-US" sz="1600" b="1" i="0" spc="2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雙軌研究清單</a:t>
            </a:r>
            <a:endParaRPr sz="1600" b="1" i="0" spc="24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9620250" y="3222294"/>
            <a:ext cx="762000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TW" altLang="en-US" sz="14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依決策目的分流，共用同一模型分數。</a:t>
            </a:r>
            <a:endParaRPr sz="1400" b="0" i="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9620250" y="3467100"/>
            <a:ext cx="7620000" cy="1905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9620250" y="3467100"/>
            <a:ext cx="76200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9810750" y="3676650"/>
            <a:ext cx="857250" cy="8732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200" b="1" i="0" spc="-16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648950" y="3676650"/>
            <a:ext cx="5715000" cy="2854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7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 · High </a:t>
            </a:r>
            <a:r>
              <a:rPr lang="en-US" sz="1700" b="1" i="0" dirty="0" err="1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Conviction｜Threshold</a:t>
            </a:r>
            <a:r>
              <a:rPr lang="en-US" sz="17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0.50</a:t>
            </a:r>
            <a:endParaRPr sz="1700" b="1" i="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10648950" y="4054234"/>
            <a:ext cx="1905000" cy="1679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CALL RATE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648950" y="4225684"/>
            <a:ext cx="19050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0.70%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2553950" y="4054234"/>
            <a:ext cx="1905000" cy="1679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HIT RATE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2553950" y="4225684"/>
            <a:ext cx="19050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37.98%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4458950" y="4054234"/>
            <a:ext cx="2286000" cy="1679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EDGE vs BASE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4458950" y="4225684"/>
            <a:ext cx="22860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+11.70 pp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648950" y="4698304"/>
            <a:ext cx="6477000" cy="2673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適合作為高確信觀察名單，僅保留模型分數最高標的</a:t>
            </a:r>
            <a:endParaRPr sz="14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10662598" y="5032765"/>
            <a:ext cx="6477000" cy="2722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40000"/>
              </a:lnSpc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每日約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~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檔，供研究員進一步人工覆核</a:t>
            </a:r>
            <a:endParaRPr sz="14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9620250" y="5524500"/>
            <a:ext cx="7620000" cy="1905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9620250" y="5524500"/>
            <a:ext cx="76200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9810750" y="5734050"/>
            <a:ext cx="857250" cy="8732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200" b="1" i="0" spc="-160">
                <a:solidFill>
                  <a:srgbClr val="F59E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B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48950" y="5734050"/>
            <a:ext cx="5715000" cy="2854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7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B · Broad </a:t>
            </a:r>
            <a:r>
              <a:rPr lang="en-US" sz="1700" b="1" i="0" dirty="0" err="1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Coverage｜Threshold</a:t>
            </a:r>
            <a:r>
              <a:rPr lang="en-US" sz="17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0.40</a:t>
            </a:r>
            <a:endParaRPr sz="1700" b="1" i="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10648950" y="6084338"/>
            <a:ext cx="1905000" cy="1679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CALL RATE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648950" y="6255788"/>
            <a:ext cx="19050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 dirty="0">
                <a:solidFill>
                  <a:srgbClr val="F59E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8.83%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2553950" y="6084338"/>
            <a:ext cx="1905000" cy="1679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HIT RATE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2553950" y="6255788"/>
            <a:ext cx="19050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F59E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29.41%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4458950" y="6084338"/>
            <a:ext cx="2286000" cy="1679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EDGE vs BASE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4458950" y="6255788"/>
            <a:ext cx="22860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F59E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+3.14 pp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648950" y="6674556"/>
            <a:ext cx="6477000" cy="2673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適合作為廣覆蓋研究池，以較低 </a:t>
            </a:r>
            <a:r>
              <a:rPr lang="en-US" altLang="zh-TW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edge </a:t>
            </a: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換取標的多樣性</a:t>
            </a:r>
            <a:endParaRPr sz="14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10662598" y="7007364"/>
            <a:ext cx="6477000" cy="2673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每日約 </a:t>
            </a:r>
            <a:r>
              <a:rPr lang="en-US" altLang="zh-TW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30</a:t>
            </a: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en-US" altLang="zh-TW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~</a:t>
            </a: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en-US" altLang="zh-TW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40 </a:t>
            </a: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檔，供後續基本面與風險條件篩選</a:t>
            </a:r>
            <a:endParaRPr sz="14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93" name="Rectangle 92"/>
          <p:cNvSpPr/>
          <p:nvPr/>
        </p:nvSpPr>
        <p:spPr>
          <a:xfrm>
            <a:off x="914400" y="7543800"/>
            <a:ext cx="16459200" cy="1542178"/>
          </a:xfrm>
          <a:prstGeom prst="rect">
            <a:avLst/>
          </a:prstGeom>
          <a:solidFill>
            <a:srgbClr val="ECF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4" name="Rectangle 93"/>
          <p:cNvSpPr/>
          <p:nvPr/>
        </p:nvSpPr>
        <p:spPr>
          <a:xfrm>
            <a:off x="914400" y="7543800"/>
            <a:ext cx="57150" cy="154217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1162050" y="7715250"/>
            <a:ext cx="5715000" cy="268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600" b="1" i="0" spc="26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Net edge </a:t>
            </a:r>
            <a:r>
              <a:rPr lang="zh-TW" altLang="en-US" sz="1600" b="1" i="0" spc="26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─</a:t>
            </a:r>
            <a:r>
              <a:rPr lang="en-US" sz="1600" b="1" i="0" spc="26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zh-TW" altLang="en-US" sz="1600" b="1" i="0" spc="26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扣除 </a:t>
            </a:r>
            <a:r>
              <a:rPr lang="en-US" altLang="zh-TW" sz="1600" b="1" i="0" spc="26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20 </a:t>
            </a:r>
            <a:r>
              <a:rPr lang="en-US" sz="1600" b="1" i="0" spc="26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bps </a:t>
            </a:r>
            <a:r>
              <a:rPr lang="zh-TW" altLang="en-US" sz="1600" b="1" i="0" spc="26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成本後</a:t>
            </a:r>
            <a:endParaRPr sz="1600" b="1" i="0" spc="260" dirty="0">
              <a:solidFill>
                <a:srgbClr val="06B6D4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1162050" y="8001000"/>
            <a:ext cx="15887700" cy="929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TW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0.50 </a:t>
            </a: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軌 </a:t>
            </a:r>
            <a:r>
              <a:rPr 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net edge </a:t>
            </a: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約 </a:t>
            </a:r>
            <a:r>
              <a:rPr lang="en-US" altLang="zh-TW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+11.5 </a:t>
            </a:r>
            <a:r>
              <a:rPr 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pp；0.40 </a:t>
            </a: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軌 </a:t>
            </a:r>
            <a:r>
              <a:rPr 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net edge </a:t>
            </a: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約 </a:t>
            </a:r>
            <a:r>
              <a:rPr lang="en-US" altLang="zh-TW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+2.9 </a:t>
            </a:r>
            <a:r>
              <a:rPr 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pp。</a:t>
            </a: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兩軌共用同一模型分數，差異僅在 </a:t>
            </a:r>
            <a:r>
              <a:rPr 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threshold。</a:t>
            </a:r>
            <a:br>
              <a:rPr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14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本研究為學術回測與研究原型，不構成任何投資建議。</a:t>
            </a:r>
            <a:endParaRPr lang="en-US" altLang="zh-TW" sz="1400" b="0" i="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  <a:p>
            <a:pPr algn="l">
              <a:lnSpc>
                <a:spcPct val="150000"/>
              </a:lnSpc>
            </a:pPr>
            <a:r>
              <a:rPr sz="14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→ 詳</a:t>
            </a:r>
            <a:r>
              <a:rPr lang="zh-TW" altLang="en-US" sz="14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見</a:t>
            </a:r>
            <a:r>
              <a:rPr sz="14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Appendix A.13 / A.14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285750" cy="2857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412459"/>
            <a:ext cx="28575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6350" y="404060"/>
            <a:ext cx="3619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多因子股票預測系統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39500" y="404060"/>
            <a:ext cx="6667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Strategy Backtest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9746959"/>
            <a:ext cx="12382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Source · 自行整理 · 月再平衡 · 手續費 0.3% 內含 · 滑價 0.1%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287500" y="9753600"/>
            <a:ext cx="15240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0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ACTION</a:t>
            </a:r>
          </a:p>
        </p:txBody>
      </p:sp>
      <p:sp>
        <p:nvSpPr>
          <p:cNvPr id="10" name="Oval 9"/>
          <p:cNvSpPr/>
          <p:nvPr/>
        </p:nvSpPr>
        <p:spPr>
          <a:xfrm>
            <a:off x="15963900" y="9801225"/>
            <a:ext cx="76200" cy="76200"/>
          </a:xfrm>
          <a:prstGeom prst="ellipse">
            <a:avLst/>
          </a:prstGeom>
          <a:noFill/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16173450" y="9801225"/>
            <a:ext cx="76200" cy="76200"/>
          </a:xfrm>
          <a:prstGeom prst="ellipse">
            <a:avLst/>
          </a:prstGeom>
          <a:noFill/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16373475" y="9791700"/>
            <a:ext cx="95250" cy="9525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6954500" y="9738560"/>
            <a:ext cx="571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066800"/>
            <a:ext cx="666750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b="1" i="0" spc="24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</a:t>
            </a:r>
            <a:r>
              <a:rPr lang="en-US" b="1" i="0" spc="240" dirty="0" err="1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Backtest</a:t>
            </a:r>
            <a:r>
              <a:rPr lang="en-US" b="1" i="0" spc="24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zh-TW" altLang="en-US" b="1" i="0" spc="24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→</a:t>
            </a:r>
            <a:r>
              <a:rPr lang="en-US" b="1" i="0" spc="24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Top 1% </a:t>
            </a:r>
            <a:r>
              <a:rPr lang="zh-TW" altLang="en-US" b="1" i="0" spc="24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策略回測</a:t>
            </a:r>
            <a:endParaRPr b="1" i="0" spc="240" dirty="0">
              <a:solidFill>
                <a:srgbClr val="06B6D4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14400" y="1352550"/>
            <a:ext cx="16459200" cy="10791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altLang="zh-TW" sz="3600" b="1" i="0" spc="-6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Top 1% </a:t>
            </a:r>
            <a:r>
              <a:rPr lang="zh-TW" altLang="en-US" sz="3600" b="1" i="0" spc="-6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高信心訊號能把預測優勢轉化為策略績效</a:t>
            </a:r>
            <a:br>
              <a:rPr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2000" b="1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回測顯示模型具經濟性，但須以一致成本口徑解讀績效。</a:t>
            </a:r>
            <a:endParaRPr sz="2000" b="1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914400" y="2762250"/>
            <a:ext cx="7620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914400" y="3028950"/>
            <a:ext cx="11239500" cy="4800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43000" y="3219079"/>
            <a:ext cx="6667500" cy="268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600" b="1" i="0" spc="2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CUMULATIVE NAV · </a:t>
            </a:r>
            <a:r>
              <a:rPr lang="zh-TW" altLang="en-US" sz="1600" b="1" i="0" spc="2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起始淨值 </a:t>
            </a:r>
            <a:r>
              <a:rPr lang="en-US" altLang="zh-TW" sz="1600" b="1" i="0" spc="2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100</a:t>
            </a:r>
            <a:endParaRPr sz="1600" b="1" i="0" spc="24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43000" y="3667079"/>
            <a:ext cx="7620000" cy="268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6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Strategy = </a:t>
            </a:r>
            <a:r>
              <a:rPr lang="en-US" sz="1600" b="0" i="0" dirty="0" err="1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XGBoost</a:t>
            </a:r>
            <a:r>
              <a:rPr lang="en-US" sz="16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D+20 Top 1% · Monthly rebalance</a:t>
            </a:r>
            <a:endParaRPr sz="1600" b="0" i="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714500" y="6524490"/>
            <a:ext cx="57150" cy="9525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219200" y="6429240"/>
            <a:ext cx="476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14500" y="6076815"/>
            <a:ext cx="57150" cy="9525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219200" y="5981565"/>
            <a:ext cx="476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120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71650" y="6076815"/>
            <a:ext cx="1000125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714500" y="5629140"/>
            <a:ext cx="57150" cy="9525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219200" y="5533890"/>
            <a:ext cx="476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140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771650" y="5629140"/>
            <a:ext cx="1000125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1714500" y="5190990"/>
            <a:ext cx="57150" cy="9525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219200" y="5095740"/>
            <a:ext cx="476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160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771650" y="5190990"/>
            <a:ext cx="1000125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1714500" y="4743315"/>
            <a:ext cx="57150" cy="9525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219200" y="4648065"/>
            <a:ext cx="476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180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771650" y="4743315"/>
            <a:ext cx="1000125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1714500" y="4295640"/>
            <a:ext cx="57150" cy="9525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219200" y="4200390"/>
            <a:ext cx="476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771650" y="4295640"/>
            <a:ext cx="1000125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1771650" y="6524490"/>
            <a:ext cx="10001250" cy="9525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1771650" y="6962640"/>
            <a:ext cx="9525" cy="571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352550" y="7076940"/>
            <a:ext cx="857250" cy="176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2024-Q2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67200" y="6962640"/>
            <a:ext cx="9525" cy="571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848100" y="7076940"/>
            <a:ext cx="857250" cy="176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2024-Q4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772275" y="6962640"/>
            <a:ext cx="9525" cy="571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353175" y="7076940"/>
            <a:ext cx="857250" cy="176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2025-Q2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267825" y="6962640"/>
            <a:ext cx="9525" cy="571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848725" y="7076940"/>
            <a:ext cx="857250" cy="176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2025-Q4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1772900" y="6962640"/>
            <a:ext cx="9525" cy="571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1353800" y="7076940"/>
            <a:ext cx="857250" cy="176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2026-Q1</a:t>
            </a:r>
          </a:p>
        </p:txBody>
      </p:sp>
      <p:cxnSp>
        <p:nvCxnSpPr>
          <p:cNvPr id="48" name="Connector 47"/>
          <p:cNvCxnSpPr/>
          <p:nvPr/>
        </p:nvCxnSpPr>
        <p:spPr>
          <a:xfrm flipV="1">
            <a:off x="1771650" y="6476865"/>
            <a:ext cx="428625" cy="47625"/>
          </a:xfrm>
          <a:prstGeom prst="line">
            <a:avLst/>
          </a:prstGeom>
          <a:ln w="2540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2200275" y="6429240"/>
            <a:ext cx="438150" cy="47625"/>
          </a:xfrm>
          <a:prstGeom prst="line">
            <a:avLst/>
          </a:prstGeom>
          <a:ln w="2540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2638425" y="6410190"/>
            <a:ext cx="428625" cy="19050"/>
          </a:xfrm>
          <a:prstGeom prst="line">
            <a:avLst/>
          </a:prstGeom>
          <a:ln w="2540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3067050" y="6391140"/>
            <a:ext cx="438150" cy="19050"/>
          </a:xfrm>
          <a:prstGeom prst="line">
            <a:avLst/>
          </a:prstGeom>
          <a:ln w="2540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3505200" y="6362565"/>
            <a:ext cx="438150" cy="28575"/>
          </a:xfrm>
          <a:prstGeom prst="line">
            <a:avLst/>
          </a:prstGeom>
          <a:ln w="2540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3943350" y="6343515"/>
            <a:ext cx="428625" cy="19050"/>
          </a:xfrm>
          <a:prstGeom prst="line">
            <a:avLst/>
          </a:prstGeom>
          <a:ln w="2540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4371975" y="6324465"/>
            <a:ext cx="438150" cy="19050"/>
          </a:xfrm>
          <a:prstGeom prst="line">
            <a:avLst/>
          </a:prstGeom>
          <a:ln w="2540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4810125" y="6295890"/>
            <a:ext cx="438150" cy="28575"/>
          </a:xfrm>
          <a:prstGeom prst="line">
            <a:avLst/>
          </a:prstGeom>
          <a:ln w="2540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248275" y="6276840"/>
            <a:ext cx="428625" cy="19050"/>
          </a:xfrm>
          <a:prstGeom prst="line">
            <a:avLst/>
          </a:prstGeom>
          <a:ln w="2540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676900" y="6257790"/>
            <a:ext cx="438150" cy="19050"/>
          </a:xfrm>
          <a:prstGeom prst="line">
            <a:avLst/>
          </a:prstGeom>
          <a:ln w="2540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6115050" y="6229215"/>
            <a:ext cx="438150" cy="28575"/>
          </a:xfrm>
          <a:prstGeom prst="line">
            <a:avLst/>
          </a:prstGeom>
          <a:ln w="2540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6553200" y="6191115"/>
            <a:ext cx="428625" cy="38100"/>
          </a:xfrm>
          <a:prstGeom prst="line">
            <a:avLst/>
          </a:prstGeom>
          <a:ln w="2540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6981825" y="6143490"/>
            <a:ext cx="438150" cy="47625"/>
          </a:xfrm>
          <a:prstGeom prst="line">
            <a:avLst/>
          </a:prstGeom>
          <a:ln w="2540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7419975" y="6095865"/>
            <a:ext cx="438150" cy="47625"/>
          </a:xfrm>
          <a:prstGeom prst="line">
            <a:avLst/>
          </a:prstGeom>
          <a:ln w="2540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7858125" y="6076815"/>
            <a:ext cx="428625" cy="19050"/>
          </a:xfrm>
          <a:prstGeom prst="line">
            <a:avLst/>
          </a:prstGeom>
          <a:ln w="2540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8286750" y="6057765"/>
            <a:ext cx="438150" cy="19050"/>
          </a:xfrm>
          <a:prstGeom prst="line">
            <a:avLst/>
          </a:prstGeom>
          <a:ln w="2540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8724900" y="6029190"/>
            <a:ext cx="438150" cy="28575"/>
          </a:xfrm>
          <a:prstGeom prst="line">
            <a:avLst/>
          </a:prstGeom>
          <a:ln w="2540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9163050" y="6010140"/>
            <a:ext cx="428625" cy="19050"/>
          </a:xfrm>
          <a:prstGeom prst="line">
            <a:avLst/>
          </a:prstGeom>
          <a:ln w="2540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9591675" y="5991090"/>
            <a:ext cx="438150" cy="19050"/>
          </a:xfrm>
          <a:prstGeom prst="line">
            <a:avLst/>
          </a:prstGeom>
          <a:ln w="2540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10029825" y="5962515"/>
            <a:ext cx="438150" cy="28575"/>
          </a:xfrm>
          <a:prstGeom prst="line">
            <a:avLst/>
          </a:prstGeom>
          <a:ln w="2540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10467975" y="5962515"/>
            <a:ext cx="428625" cy="28575"/>
          </a:xfrm>
          <a:prstGeom prst="line">
            <a:avLst/>
          </a:prstGeom>
          <a:ln w="2540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10896600" y="5962515"/>
            <a:ext cx="438150" cy="28575"/>
          </a:xfrm>
          <a:prstGeom prst="line">
            <a:avLst/>
          </a:prstGeom>
          <a:ln w="2540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11334750" y="5962515"/>
            <a:ext cx="438150" cy="0"/>
          </a:xfrm>
          <a:prstGeom prst="line">
            <a:avLst/>
          </a:prstGeom>
          <a:ln w="2540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1771650" y="6429240"/>
            <a:ext cx="428625" cy="95250"/>
          </a:xfrm>
          <a:prstGeom prst="line">
            <a:avLst/>
          </a:prstGeom>
          <a:ln w="38100">
            <a:solidFill>
              <a:srgbClr val="10B9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2200275" y="6324465"/>
            <a:ext cx="438150" cy="104775"/>
          </a:xfrm>
          <a:prstGeom prst="line">
            <a:avLst/>
          </a:prstGeom>
          <a:ln w="38100">
            <a:solidFill>
              <a:srgbClr val="10B9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2638425" y="6162540"/>
            <a:ext cx="428625" cy="161925"/>
          </a:xfrm>
          <a:prstGeom prst="line">
            <a:avLst/>
          </a:prstGeom>
          <a:ln w="38100">
            <a:solidFill>
              <a:srgbClr val="10B9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3067050" y="6029190"/>
            <a:ext cx="438150" cy="133350"/>
          </a:xfrm>
          <a:prstGeom prst="line">
            <a:avLst/>
          </a:prstGeom>
          <a:ln w="38100">
            <a:solidFill>
              <a:srgbClr val="10B9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3505200" y="5895840"/>
            <a:ext cx="438150" cy="133350"/>
          </a:xfrm>
          <a:prstGeom prst="line">
            <a:avLst/>
          </a:prstGeom>
          <a:ln w="38100">
            <a:solidFill>
              <a:srgbClr val="10B9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3943350" y="5762490"/>
            <a:ext cx="428625" cy="133350"/>
          </a:xfrm>
          <a:prstGeom prst="line">
            <a:avLst/>
          </a:prstGeom>
          <a:ln w="38100">
            <a:solidFill>
              <a:srgbClr val="10B9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4371975" y="5676765"/>
            <a:ext cx="438150" cy="85725"/>
          </a:xfrm>
          <a:prstGeom prst="line">
            <a:avLst/>
          </a:prstGeom>
          <a:ln w="38100">
            <a:solidFill>
              <a:srgbClr val="10B9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4810125" y="5591040"/>
            <a:ext cx="438150" cy="85725"/>
          </a:xfrm>
          <a:prstGeom prst="line">
            <a:avLst/>
          </a:prstGeom>
          <a:ln w="38100">
            <a:solidFill>
              <a:srgbClr val="10B9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5248275" y="5495790"/>
            <a:ext cx="428625" cy="95250"/>
          </a:xfrm>
          <a:prstGeom prst="line">
            <a:avLst/>
          </a:prstGeom>
          <a:ln w="38100">
            <a:solidFill>
              <a:srgbClr val="10B9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5676900" y="5362440"/>
            <a:ext cx="438150" cy="133350"/>
          </a:xfrm>
          <a:prstGeom prst="line">
            <a:avLst/>
          </a:prstGeom>
          <a:ln w="38100">
            <a:solidFill>
              <a:srgbClr val="10B9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6115050" y="5229090"/>
            <a:ext cx="438150" cy="133350"/>
          </a:xfrm>
          <a:prstGeom prst="line">
            <a:avLst/>
          </a:prstGeom>
          <a:ln w="38100">
            <a:solidFill>
              <a:srgbClr val="10B9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6553200" y="5162415"/>
            <a:ext cx="428625" cy="66675"/>
          </a:xfrm>
          <a:prstGeom prst="line">
            <a:avLst/>
          </a:prstGeom>
          <a:ln w="38100">
            <a:solidFill>
              <a:srgbClr val="10B9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6981825" y="5076690"/>
            <a:ext cx="438150" cy="85725"/>
          </a:xfrm>
          <a:prstGeom prst="line">
            <a:avLst/>
          </a:prstGeom>
          <a:ln w="38100">
            <a:solidFill>
              <a:srgbClr val="10B9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7419975" y="5010015"/>
            <a:ext cx="438150" cy="66675"/>
          </a:xfrm>
          <a:prstGeom prst="line">
            <a:avLst/>
          </a:prstGeom>
          <a:ln w="38100">
            <a:solidFill>
              <a:srgbClr val="10B9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7858125" y="4924290"/>
            <a:ext cx="428625" cy="85725"/>
          </a:xfrm>
          <a:prstGeom prst="line">
            <a:avLst/>
          </a:prstGeom>
          <a:ln w="38100">
            <a:solidFill>
              <a:srgbClr val="10B9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8286750" y="4829040"/>
            <a:ext cx="438150" cy="95250"/>
          </a:xfrm>
          <a:prstGeom prst="line">
            <a:avLst/>
          </a:prstGeom>
          <a:ln w="38100">
            <a:solidFill>
              <a:srgbClr val="10B9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8724900" y="4790940"/>
            <a:ext cx="438150" cy="38100"/>
          </a:xfrm>
          <a:prstGeom prst="line">
            <a:avLst/>
          </a:prstGeom>
          <a:ln w="38100">
            <a:solidFill>
              <a:srgbClr val="10B9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9163050" y="4743315"/>
            <a:ext cx="428625" cy="47625"/>
          </a:xfrm>
          <a:prstGeom prst="line">
            <a:avLst/>
          </a:prstGeom>
          <a:ln w="38100">
            <a:solidFill>
              <a:srgbClr val="10B9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9591675" y="4676640"/>
            <a:ext cx="438150" cy="66675"/>
          </a:xfrm>
          <a:prstGeom prst="line">
            <a:avLst/>
          </a:prstGeom>
          <a:ln w="38100">
            <a:solidFill>
              <a:srgbClr val="10B9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10029825" y="4629015"/>
            <a:ext cx="438150" cy="47625"/>
          </a:xfrm>
          <a:prstGeom prst="line">
            <a:avLst/>
          </a:prstGeom>
          <a:ln w="38100">
            <a:solidFill>
              <a:srgbClr val="10B9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10467975" y="4609965"/>
            <a:ext cx="428625" cy="19050"/>
          </a:xfrm>
          <a:prstGeom prst="line">
            <a:avLst/>
          </a:prstGeom>
          <a:ln w="38100">
            <a:solidFill>
              <a:srgbClr val="10B9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10896600" y="4590915"/>
            <a:ext cx="438150" cy="19050"/>
          </a:xfrm>
          <a:prstGeom prst="line">
            <a:avLst/>
          </a:prstGeom>
          <a:ln w="38100">
            <a:solidFill>
              <a:srgbClr val="10B9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11334750" y="4562340"/>
            <a:ext cx="438150" cy="28575"/>
          </a:xfrm>
          <a:prstGeom prst="line">
            <a:avLst/>
          </a:prstGeom>
          <a:ln w="38100">
            <a:solidFill>
              <a:srgbClr val="10B9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Oval 93"/>
          <p:cNvSpPr/>
          <p:nvPr/>
        </p:nvSpPr>
        <p:spPr>
          <a:xfrm>
            <a:off x="11715750" y="4505190"/>
            <a:ext cx="114300" cy="1143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5" name="Oval 94"/>
          <p:cNvSpPr/>
          <p:nvPr/>
        </p:nvSpPr>
        <p:spPr>
          <a:xfrm>
            <a:off x="11725275" y="5914890"/>
            <a:ext cx="95250" cy="95250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10725150" y="4314690"/>
            <a:ext cx="1047750" cy="3358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1" i="0" spc="-4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188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915650" y="6057765"/>
            <a:ext cx="95250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125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943100" y="4467090"/>
            <a:ext cx="20955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2228850" y="4409940"/>
            <a:ext cx="388620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400" b="1" i="0" dirty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Strategy · Top 1% · +88% / +36.8% CAGR</a:t>
            </a:r>
            <a:endParaRPr sz="1400" b="1" i="0" dirty="0">
              <a:solidFill>
                <a:srgbClr val="10B98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00" name="Rectangle 99"/>
          <p:cNvSpPr/>
          <p:nvPr/>
        </p:nvSpPr>
        <p:spPr>
          <a:xfrm>
            <a:off x="1943100" y="4714740"/>
            <a:ext cx="209550" cy="190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2228849" y="4657590"/>
            <a:ext cx="3653335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4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TAIEX · Benchmark · +25% / +12.4% CAGR</a:t>
            </a:r>
            <a:endParaRPr sz="1400" b="0" i="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02" name="Rectangle 101"/>
          <p:cNvSpPr/>
          <p:nvPr/>
        </p:nvSpPr>
        <p:spPr>
          <a:xfrm>
            <a:off x="12344400" y="3028950"/>
            <a:ext cx="50292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3" name="Rectangle 102"/>
          <p:cNvSpPr/>
          <p:nvPr/>
        </p:nvSpPr>
        <p:spPr>
          <a:xfrm>
            <a:off x="12344400" y="3028950"/>
            <a:ext cx="50292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12553950" y="3200400"/>
            <a:ext cx="4610100" cy="2056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b="1" i="0" spc="22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CAGR </a:t>
            </a:r>
            <a:r>
              <a:rPr lang="zh-TW" altLang="en-US" sz="1200" b="1" i="0" spc="22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─</a:t>
            </a:r>
            <a:r>
              <a:rPr lang="en-US" sz="1200" b="1" i="0" spc="22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Annualized</a:t>
            </a:r>
            <a:endParaRPr sz="1200" b="1" i="0" spc="22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12553950" y="3429000"/>
            <a:ext cx="4610100" cy="5373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 spc="-100" dirty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+36.8%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2553950" y="3924300"/>
            <a:ext cx="4610100" cy="201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200" b="0" i="0" spc="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vs. TAIEX +12.4%</a:t>
            </a:r>
            <a:endParaRPr sz="1200" b="0" i="0" spc="4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07" name="Rectangle 106"/>
          <p:cNvSpPr/>
          <p:nvPr/>
        </p:nvSpPr>
        <p:spPr>
          <a:xfrm>
            <a:off x="12344400" y="4248150"/>
            <a:ext cx="50292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8" name="Rectangle 107"/>
          <p:cNvSpPr/>
          <p:nvPr/>
        </p:nvSpPr>
        <p:spPr>
          <a:xfrm>
            <a:off x="12344400" y="4248150"/>
            <a:ext cx="50292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12553950" y="4419600"/>
            <a:ext cx="4610100" cy="201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200" b="1" spc="22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Cumulative return</a:t>
            </a:r>
            <a:endParaRPr sz="1200" b="1" i="0" spc="22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12553950" y="4648200"/>
            <a:ext cx="4610100" cy="5373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 spc="-10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+88%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2553950" y="5143500"/>
            <a:ext cx="4610100" cy="201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200" b="0" i="0" spc="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24 months · Monthly rebalance</a:t>
            </a:r>
            <a:endParaRPr sz="1200" b="0" i="0" spc="4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12" name="Rectangle 111"/>
          <p:cNvSpPr/>
          <p:nvPr/>
        </p:nvSpPr>
        <p:spPr>
          <a:xfrm>
            <a:off x="12344400" y="5467350"/>
            <a:ext cx="50292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3" name="Rectangle 112"/>
          <p:cNvSpPr/>
          <p:nvPr/>
        </p:nvSpPr>
        <p:spPr>
          <a:xfrm>
            <a:off x="12344400" y="5467350"/>
            <a:ext cx="50292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12553950" y="5638800"/>
            <a:ext cx="4610100" cy="201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2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M</a:t>
            </a:r>
            <a:r>
              <a:rPr lang="en-US" sz="1200" b="1" i="0" spc="22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ax</a:t>
            </a:r>
            <a:r>
              <a:rPr sz="1200" b="1" i="0" spc="22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D</a:t>
            </a:r>
            <a:r>
              <a:rPr lang="en-US" sz="1200" b="1" i="0" spc="22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rawdown</a:t>
            </a:r>
            <a:endParaRPr sz="1200" b="1" i="0" spc="22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12553950" y="5867400"/>
            <a:ext cx="4610100" cy="5373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 spc="-100">
                <a:solidFill>
                  <a:srgbClr val="F59E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-14.2%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2553950" y="6362700"/>
            <a:ext cx="4610100" cy="201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200" b="0" i="0" spc="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vs. TAIEX -22.4%</a:t>
            </a:r>
            <a:endParaRPr sz="1200" b="0" i="0" spc="4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17" name="Rectangle 116"/>
          <p:cNvSpPr/>
          <p:nvPr/>
        </p:nvSpPr>
        <p:spPr>
          <a:xfrm>
            <a:off x="12344400" y="6686550"/>
            <a:ext cx="50292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8" name="Rectangle 117"/>
          <p:cNvSpPr/>
          <p:nvPr/>
        </p:nvSpPr>
        <p:spPr>
          <a:xfrm>
            <a:off x="12344400" y="6686550"/>
            <a:ext cx="50292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12553950" y="6858000"/>
            <a:ext cx="4610100" cy="201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2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</a:t>
            </a:r>
            <a:r>
              <a:rPr lang="en-US" sz="1200" b="1" i="0" spc="22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harpe</a:t>
            </a:r>
            <a:r>
              <a:rPr sz="1200" b="1" i="0" spc="22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zh-TW" altLang="en-US" sz="1200" b="1" spc="22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─</a:t>
            </a:r>
            <a:r>
              <a:rPr sz="1200" b="1" i="0" spc="22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C</a:t>
            </a:r>
            <a:r>
              <a:rPr lang="en-US" sz="1200" b="1" i="0" spc="22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almar</a:t>
            </a:r>
            <a:endParaRPr sz="1200" b="1" i="0" spc="22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12553950" y="7086600"/>
            <a:ext cx="4610100" cy="5373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 spc="-10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0.81 · 2.59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2553950" y="7581900"/>
            <a:ext cx="4610100" cy="201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200" b="0" i="0" spc="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vs. TAIEX 0.42 · 0.55</a:t>
            </a:r>
            <a:endParaRPr sz="1200" b="0" i="0" spc="4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22" name="Rectangle 121"/>
          <p:cNvSpPr/>
          <p:nvPr/>
        </p:nvSpPr>
        <p:spPr>
          <a:xfrm>
            <a:off x="914400" y="7941863"/>
            <a:ext cx="16459200" cy="1805095"/>
          </a:xfrm>
          <a:prstGeom prst="rect">
            <a:avLst/>
          </a:prstGeom>
          <a:solidFill>
            <a:srgbClr val="ECF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3" name="Rectangle 122"/>
          <p:cNvSpPr/>
          <p:nvPr/>
        </p:nvSpPr>
        <p:spPr>
          <a:xfrm>
            <a:off x="914400" y="7941863"/>
            <a:ext cx="57150" cy="1805095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1162050" y="8113314"/>
            <a:ext cx="5715000" cy="268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600" b="1" i="0" spc="26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Strategy readout</a:t>
            </a:r>
            <a:endParaRPr sz="1600" b="1" i="0" spc="260" dirty="0">
              <a:solidFill>
                <a:srgbClr val="06B6D4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1162050" y="8399064"/>
            <a:ext cx="15887700" cy="12530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將 </a:t>
            </a:r>
            <a:r>
              <a:rPr lang="en-US" altLang="zh-TW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AUC 0.6455 </a:t>
            </a: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轉化為 </a:t>
            </a:r>
            <a:r>
              <a:rPr lang="en-US" altLang="zh-TW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Top 1% </a:t>
            </a: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月再平衡策略，</a:t>
            </a:r>
            <a:r>
              <a:rPr lang="en-US" altLang="zh-TW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24 </a:t>
            </a: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個月內淨值 </a:t>
            </a:r>
            <a:r>
              <a:rPr lang="en-US" altLang="zh-TW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100 → 188</a:t>
            </a: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，</a:t>
            </a:r>
            <a:r>
              <a:rPr lang="en-US" altLang="zh-TW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CAGR +36.8%</a:t>
            </a: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，最大回撤 </a:t>
            </a:r>
            <a:r>
              <a:rPr lang="en-US" altLang="zh-TW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-14.2%</a:t>
            </a: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。</a:t>
            </a:r>
            <a:endParaRPr lang="en-US" altLang="zh-TW" sz="1400" b="0" i="0" dirty="0">
              <a:solidFill>
                <a:srgbClr val="0F172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  <a:p>
            <a:pPr algn="l">
              <a:lnSpc>
                <a:spcPct val="150000"/>
              </a:lnSpc>
            </a:pPr>
            <a:r>
              <a:rPr lang="zh-TW" altLang="en-US" sz="1400" b="0" i="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相較 </a:t>
            </a:r>
            <a:r>
              <a:rPr lang="en-US" altLang="zh-TW" sz="1400" b="0" i="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TAIEX </a:t>
            </a:r>
            <a:r>
              <a:rPr lang="zh-TW" altLang="en-US" sz="1400" b="0" i="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同期 </a:t>
            </a:r>
            <a:r>
              <a:rPr lang="en-US" altLang="zh-TW" sz="1400" b="0" i="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+25% / </a:t>
            </a:r>
            <a:r>
              <a:rPr lang="zh-TW" altLang="en-US" sz="1400" b="0" i="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最大回撤 </a:t>
            </a:r>
            <a:r>
              <a:rPr lang="en-US" altLang="zh-TW" sz="1400" b="0" i="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-22.4%</a:t>
            </a:r>
            <a:r>
              <a:rPr lang="zh-TW" altLang="en-US" sz="1400" b="0" i="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，策略在相同回測口徑下展現超額績效。</a:t>
            </a:r>
            <a:endParaRPr lang="en-US" altLang="zh-TW" sz="1400" b="0" i="0" dirty="0"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  <a:p>
            <a:pPr algn="l">
              <a:lnSpc>
                <a:spcPct val="150000"/>
              </a:lnSpc>
            </a:pPr>
            <a:r>
              <a:rPr lang="zh-TW" altLang="en-US" sz="14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本研究為學術回測與研究原型，不構成任何投資建議。</a:t>
            </a:r>
            <a:endParaRPr lang="en-US" altLang="zh-TW" sz="140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  <a:p>
            <a:pPr algn="l">
              <a:lnSpc>
                <a:spcPct val="150000"/>
              </a:lnSpc>
            </a:pPr>
            <a:r>
              <a:rPr lang="zh-TW" altLang="en-US" sz="14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→ 詳 </a:t>
            </a:r>
            <a:r>
              <a:rPr lang="en-US" sz="14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Appendix A.15 / A.16</a:t>
            </a:r>
            <a:endParaRPr sz="1400" b="0" i="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285750" cy="2857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412459"/>
            <a:ext cx="28575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6350" y="404060"/>
            <a:ext cx="3619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多因子股票預測系統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39500" y="404060"/>
            <a:ext cx="6667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Limits &amp; 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9746959"/>
            <a:ext cx="12382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Source · 自行整理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287500" y="9753600"/>
            <a:ext cx="15240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0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ACTION</a:t>
            </a:r>
          </a:p>
        </p:txBody>
      </p:sp>
      <p:sp>
        <p:nvSpPr>
          <p:cNvPr id="10" name="Oval 9"/>
          <p:cNvSpPr/>
          <p:nvPr/>
        </p:nvSpPr>
        <p:spPr>
          <a:xfrm>
            <a:off x="15963900" y="9801225"/>
            <a:ext cx="76200" cy="76200"/>
          </a:xfrm>
          <a:prstGeom prst="ellipse">
            <a:avLst/>
          </a:prstGeom>
          <a:noFill/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16173450" y="9801225"/>
            <a:ext cx="76200" cy="76200"/>
          </a:xfrm>
          <a:prstGeom prst="ellipse">
            <a:avLst/>
          </a:prstGeom>
          <a:noFill/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16373475" y="9791700"/>
            <a:ext cx="95250" cy="9525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6954500" y="9738560"/>
            <a:ext cx="571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104900"/>
            <a:ext cx="857250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b="1" i="0" spc="24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Action </a:t>
            </a:r>
            <a:r>
              <a:rPr lang="zh-TW" altLang="en-US" b="1" i="0" spc="24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→</a:t>
            </a:r>
            <a:r>
              <a:rPr lang="en-US" b="1" i="0" spc="24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zh-TW" altLang="en-US" b="1" i="0" spc="24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部署邊界與落地節奏</a:t>
            </a:r>
            <a:endParaRPr b="1" i="0" spc="240" dirty="0">
              <a:solidFill>
                <a:srgbClr val="06B6D4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14400" y="1371600"/>
            <a:ext cx="16668750" cy="10791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TW" altLang="en-US" sz="3600" b="1" i="0" spc="-10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部署不是上線模型，而是建立可監控、可重訓、可停損的研究系統</a:t>
            </a:r>
            <a:br>
              <a:rPr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sz="2000" b="1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POC</a:t>
            </a:r>
            <a:r>
              <a:rPr lang="zh-TW" altLang="en-US" sz="2000" b="1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、</a:t>
            </a:r>
            <a:r>
              <a:rPr lang="en-US" altLang="zh-TW" sz="2000" b="1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Risk overlay</a:t>
            </a:r>
            <a:r>
              <a:rPr lang="zh-TW" altLang="en-US" sz="2000" b="1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、</a:t>
            </a:r>
            <a:r>
              <a:rPr lang="en-US" altLang="zh-TW" sz="2000" b="1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PSI drift </a:t>
            </a:r>
            <a:r>
              <a:rPr lang="zh-TW" altLang="en-US" sz="2000" b="1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是 </a:t>
            </a:r>
            <a:r>
              <a:rPr lang="en-US" altLang="zh-TW" sz="2000" b="1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6 </a:t>
            </a:r>
            <a:r>
              <a:rPr lang="zh-TW" altLang="en-US" sz="2000" b="1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個月落地重點。</a:t>
            </a:r>
            <a:endParaRPr sz="2000" b="1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914400" y="2724150"/>
            <a:ext cx="76200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914400" y="2990850"/>
            <a:ext cx="541020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14400" y="2990850"/>
            <a:ext cx="54102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43000" y="3200400"/>
            <a:ext cx="571500" cy="4030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 spc="-40" dirty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19249" y="3276600"/>
            <a:ext cx="2529669" cy="228600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619249" y="3302735"/>
            <a:ext cx="2529669" cy="1763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050" b="1" i="0" spc="200" dirty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01 Deployment </a:t>
            </a:r>
            <a:r>
              <a:rPr lang="zh-TW" altLang="en-US" sz="1050" b="1" i="0" spc="200" dirty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─</a:t>
            </a:r>
            <a:r>
              <a:rPr lang="en-US" sz="1050" b="1" i="0" spc="200" dirty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ready</a:t>
            </a:r>
            <a:endParaRPr sz="1050" b="1" i="0" spc="200" dirty="0">
              <a:solidFill>
                <a:srgbClr val="10B98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43000" y="3676650"/>
            <a:ext cx="4953000" cy="4030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24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POC </a:t>
            </a:r>
            <a:r>
              <a:rPr lang="zh-TW" altLang="en-US" sz="24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條件已具備</a:t>
            </a:r>
            <a:endParaRPr sz="2400" b="1" i="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143000" y="4087790"/>
            <a:ext cx="571500" cy="2857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143000" y="4305300"/>
            <a:ext cx="38100" cy="152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257300" y="4210050"/>
            <a:ext cx="1143000" cy="201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0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AUC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57300" y="4419600"/>
            <a:ext cx="483870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AUC 0.6455 OOS · 4-fold </a:t>
            </a: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一致</a:t>
            </a:r>
            <a:endParaRPr sz="14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1143000" y="4876800"/>
            <a:ext cx="38100" cy="152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257300" y="4781550"/>
            <a:ext cx="1143000" cy="201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0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DSR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57300" y="4991100"/>
            <a:ext cx="4838700" cy="2350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TW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12.12 ≫ 3.0 · </a:t>
            </a: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多重檢定後通過</a:t>
            </a:r>
            <a:endParaRPr sz="14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1143000" y="5448300"/>
            <a:ext cx="38100" cy="152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257300" y="5353050"/>
            <a:ext cx="1143000" cy="201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0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Top 1% Hit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57300" y="5562600"/>
            <a:ext cx="483870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36.81% · +10.53 pp</a:t>
            </a:r>
            <a:endParaRPr sz="14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1143000" y="6019800"/>
            <a:ext cx="38100" cy="152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257300" y="5924550"/>
            <a:ext cx="1143000" cy="201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0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Gates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57300" y="6134100"/>
            <a:ext cx="483870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9/9 governance gates PASS</a:t>
            </a:r>
            <a:endParaRPr sz="14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1143000" y="6591300"/>
            <a:ext cx="38100" cy="152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257300" y="6496050"/>
            <a:ext cx="1143000" cy="201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0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Lineage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57300" y="6705600"/>
            <a:ext cx="483870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91/91 features </a:t>
            </a: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可回溯</a:t>
            </a:r>
            <a:endParaRPr sz="14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438900" y="2990850"/>
            <a:ext cx="541020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6438900" y="2990850"/>
            <a:ext cx="54102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667500" y="3200400"/>
            <a:ext cx="571500" cy="4030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 spc="-40">
                <a:solidFill>
                  <a:srgbClr val="F59E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143750" y="3276600"/>
            <a:ext cx="1905000" cy="2286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143750" y="3302735"/>
            <a:ext cx="1905000" cy="1763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1" i="0" spc="200" dirty="0">
                <a:solidFill>
                  <a:srgbClr val="F59E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L</a:t>
            </a:r>
            <a:r>
              <a:rPr lang="en-US" sz="1050" b="1" i="0" spc="200" dirty="0">
                <a:solidFill>
                  <a:srgbClr val="F59E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imits</a:t>
            </a:r>
            <a:r>
              <a:rPr sz="1050" b="1" i="0" spc="200" dirty="0">
                <a:solidFill>
                  <a:srgbClr val="F59E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zh-TW" altLang="en-US" sz="1050" b="1" i="0" spc="200" dirty="0">
                <a:solidFill>
                  <a:srgbClr val="F59E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─</a:t>
            </a:r>
            <a:r>
              <a:rPr sz="1050" b="1" i="0" spc="200" dirty="0">
                <a:solidFill>
                  <a:srgbClr val="F59E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en-US" sz="1050" b="1" i="0" spc="200" dirty="0">
                <a:solidFill>
                  <a:srgbClr val="F59E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bounded</a:t>
            </a:r>
            <a:endParaRPr sz="1050" b="1" i="0" spc="200" dirty="0">
              <a:solidFill>
                <a:srgbClr val="F59E0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667500" y="3676650"/>
            <a:ext cx="4953000" cy="4030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TW" altLang="en-US" sz="24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三項部署邊界</a:t>
            </a:r>
            <a:endParaRPr sz="2400" b="1" i="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6667500" y="4087790"/>
            <a:ext cx="571500" cy="2857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6667500" y="4210050"/>
            <a:ext cx="38100" cy="7239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781800" y="4210050"/>
            <a:ext cx="483870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TW" sz="1400" b="1" i="0" spc="160" dirty="0">
                <a:solidFill>
                  <a:srgbClr val="F59E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SCOPE </a:t>
            </a:r>
            <a:r>
              <a:rPr lang="zh-TW" altLang="en-US" sz="1400" b="1" i="0" spc="160" dirty="0">
                <a:solidFill>
                  <a:srgbClr val="F59E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→</a:t>
            </a:r>
            <a:r>
              <a:rPr lang="en-US" altLang="zh-TW" sz="1400" b="1" i="0" spc="160" dirty="0">
                <a:solidFill>
                  <a:srgbClr val="F59E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zh-TW" altLang="en-US" sz="1400" b="1" i="0" spc="160" dirty="0">
                <a:solidFill>
                  <a:srgbClr val="F59E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僅適用 </a:t>
            </a:r>
            <a:r>
              <a:rPr lang="en-US" altLang="zh-TW" sz="1400" b="1" i="0" spc="160" dirty="0">
                <a:solidFill>
                  <a:srgbClr val="F59E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D+20 </a:t>
            </a:r>
            <a:r>
              <a:rPr lang="zh-TW" altLang="en-US" sz="1400" b="1" i="0" spc="160" dirty="0">
                <a:solidFill>
                  <a:srgbClr val="F59E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中長線</a:t>
            </a:r>
            <a:endParaRPr sz="1400" b="1" i="0" spc="160" dirty="0">
              <a:solidFill>
                <a:srgbClr val="F59E0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781800" y="4476750"/>
            <a:ext cx="4838700" cy="2835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不適用 </a:t>
            </a:r>
            <a:r>
              <a:rPr 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intraday；</a:t>
            </a: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短於 </a:t>
            </a:r>
            <a:r>
              <a:rPr lang="en-US" altLang="zh-TW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5 </a:t>
            </a: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日的訊號半衰期不足。</a:t>
            </a:r>
            <a:endParaRPr sz="14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6667500" y="5162550"/>
            <a:ext cx="38100" cy="7239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781800" y="5162550"/>
            <a:ext cx="483870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160" dirty="0">
                <a:solidFill>
                  <a:srgbClr val="F59E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TEXT </a:t>
            </a:r>
            <a:r>
              <a:rPr lang="zh-TW" altLang="en-US" sz="1400" b="1" i="0" spc="160" dirty="0">
                <a:solidFill>
                  <a:srgbClr val="F59E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→</a:t>
            </a:r>
            <a:r>
              <a:rPr sz="1400" b="1" i="0" spc="160" dirty="0">
                <a:solidFill>
                  <a:srgbClr val="F59E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PSI 0.13 WARN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81800" y="5429250"/>
            <a:ext cx="4838700" cy="2835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語言演化與新題材更替，需每月詞向量重訓。</a:t>
            </a:r>
            <a:endParaRPr sz="14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667500" y="6115050"/>
            <a:ext cx="38100" cy="7239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781800" y="6115050"/>
            <a:ext cx="483870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400" b="1" i="0" spc="160" dirty="0">
                <a:solidFill>
                  <a:srgbClr val="F59E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REGIME </a:t>
            </a:r>
            <a:r>
              <a:rPr lang="zh-TW" altLang="en-US" sz="1400" b="1" i="0" spc="160" dirty="0">
                <a:solidFill>
                  <a:srgbClr val="F59E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→</a:t>
            </a:r>
            <a:r>
              <a:rPr lang="en-US" sz="1400" b="1" i="0" spc="160" dirty="0">
                <a:solidFill>
                  <a:srgbClr val="F59E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zh-TW" altLang="en-US" sz="1400" b="1" i="0" spc="160" dirty="0">
                <a:solidFill>
                  <a:srgbClr val="F59E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多頭樣本窗口</a:t>
            </a:r>
            <a:endParaRPr sz="1400" b="1" i="0" spc="160" dirty="0">
              <a:solidFill>
                <a:srgbClr val="F59E0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781800" y="6381750"/>
            <a:ext cx="4838700" cy="2835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TW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2024 Q4–2025 Q1 </a:t>
            </a: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偏多頭；極端市場事件尚未充分覆蓋。</a:t>
            </a:r>
            <a:endParaRPr sz="14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11963400" y="2990850"/>
            <a:ext cx="541020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11963400" y="2990850"/>
            <a:ext cx="541020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2192000" y="3200400"/>
            <a:ext cx="571500" cy="4030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 spc="-4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03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2668249" y="3276600"/>
            <a:ext cx="3143249" cy="247650"/>
          </a:xfrm>
          <a:prstGeom prst="rect">
            <a:avLst/>
          </a:prstGeom>
          <a:solidFill>
            <a:srgbClr val="ECF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2668249" y="3302736"/>
            <a:ext cx="3143251" cy="1763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050" b="1" spc="200" dirty="0">
                <a:solidFill>
                  <a:srgbClr val="0891B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Roadmap</a:t>
            </a:r>
            <a:r>
              <a:rPr sz="1050" b="1" i="0" spc="200" dirty="0">
                <a:solidFill>
                  <a:srgbClr val="0891B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zh-TW" altLang="en-US" sz="1050" b="1" i="0" spc="200" dirty="0">
                <a:solidFill>
                  <a:srgbClr val="0891B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─</a:t>
            </a:r>
            <a:r>
              <a:rPr sz="1050" b="1" i="0" spc="200" dirty="0">
                <a:solidFill>
                  <a:srgbClr val="0891B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6</a:t>
            </a:r>
            <a:r>
              <a:rPr lang="en-US" altLang="zh-TW" sz="1050" b="1" i="0" spc="200" dirty="0">
                <a:solidFill>
                  <a:srgbClr val="0891B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-</a:t>
            </a:r>
            <a:r>
              <a:rPr lang="en-US" altLang="zh-TW" sz="1050" b="1" spc="200" dirty="0">
                <a:solidFill>
                  <a:srgbClr val="0891B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month plan</a:t>
            </a:r>
            <a:endParaRPr sz="1050" b="1" i="0" spc="200" dirty="0">
              <a:solidFill>
                <a:srgbClr val="0891B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12192000" y="3676650"/>
            <a:ext cx="4953000" cy="4030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TW" sz="24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6 </a:t>
            </a:r>
            <a:r>
              <a:rPr lang="zh-TW" altLang="en-US" sz="24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個月三步落地</a:t>
            </a:r>
            <a:endParaRPr sz="2400" b="1" i="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12192000" y="4087790"/>
            <a:ext cx="571500" cy="28575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12192000" y="4210050"/>
            <a:ext cx="342900" cy="3429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2192000" y="4213570"/>
            <a:ext cx="342900" cy="33586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649200" y="4210050"/>
            <a:ext cx="449580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160">
                <a:solidFill>
                  <a:srgbClr val="0891B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Q2 · POC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2649200" y="4476750"/>
            <a:ext cx="4628866" cy="2835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每日 </a:t>
            </a:r>
            <a:r>
              <a:rPr lang="en-US" altLang="zh-TW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Top 1% </a:t>
            </a: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研究清單服務化，</a:t>
            </a:r>
            <a:r>
              <a:rPr lang="en-US" altLang="zh-TW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API </a:t>
            </a: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試接 </a:t>
            </a:r>
            <a:r>
              <a:rPr lang="en-US" altLang="zh-TW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 </a:t>
            </a: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個內部使用情境。</a:t>
            </a:r>
            <a:endParaRPr sz="14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12192000" y="5162550"/>
            <a:ext cx="342900" cy="3429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12192000" y="5166070"/>
            <a:ext cx="342900" cy="33586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2649200" y="5162550"/>
            <a:ext cx="449580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160">
                <a:solidFill>
                  <a:srgbClr val="0891B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Q2 – Q3 · OVERLAY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649200" y="5429250"/>
            <a:ext cx="4495800" cy="2835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建立 </a:t>
            </a:r>
            <a:r>
              <a:rPr lang="en-US" altLang="zh-TW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Risk </a:t>
            </a: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支柱風控 </a:t>
            </a:r>
            <a:r>
              <a:rPr lang="en-US" altLang="zh-TW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overlay</a:t>
            </a: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，補強可解釋與降載機制。</a:t>
            </a:r>
            <a:endParaRPr sz="14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12192000" y="6115050"/>
            <a:ext cx="342900" cy="3429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12192000" y="6118570"/>
            <a:ext cx="342900" cy="33586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2649200" y="6115050"/>
            <a:ext cx="449580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160">
                <a:solidFill>
                  <a:srgbClr val="0891B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Q3 – Q4 · DRIFT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2649200" y="6381750"/>
            <a:ext cx="4495800" cy="2835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每月詞向量重訓，</a:t>
            </a:r>
            <a:r>
              <a:rPr lang="en-US" altLang="zh-TW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PSI </a:t>
            </a: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自動回報；</a:t>
            </a:r>
            <a:r>
              <a:rPr lang="en-US" altLang="zh-TW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drift &gt; 0.20 </a:t>
            </a: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時啟動降載。</a:t>
            </a:r>
            <a:endParaRPr sz="14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914400" y="7696200"/>
            <a:ext cx="16459200" cy="1485900"/>
          </a:xfrm>
          <a:prstGeom prst="rect">
            <a:avLst/>
          </a:prstGeom>
          <a:solidFill>
            <a:srgbClr val="ECF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914400" y="7696200"/>
            <a:ext cx="57150" cy="14859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1162050" y="7867650"/>
            <a:ext cx="5715000" cy="268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600" b="1" spc="26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Sequencing</a:t>
            </a:r>
            <a:endParaRPr sz="1600" b="1" i="0" spc="260" dirty="0">
              <a:solidFill>
                <a:srgbClr val="06B6D4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1162050" y="8153400"/>
            <a:ext cx="15887700" cy="929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TW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D+20 </a:t>
            </a: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中長線預測已通過四項獨立檢驗，且部署邊界與重訓節奏明確；下一步應以 </a:t>
            </a:r>
            <a:r>
              <a:rPr lang="en-US" altLang="zh-TW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POC </a:t>
            </a: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試運行與 </a:t>
            </a:r>
            <a:r>
              <a:rPr lang="en-US" altLang="zh-TW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PSI </a:t>
            </a: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自動回報推進工程落地。</a:t>
            </a:r>
            <a:endParaRPr lang="en-US" altLang="zh-TW" sz="1400" b="0" i="0" dirty="0">
              <a:solidFill>
                <a:srgbClr val="0F172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  <a:p>
            <a:pPr algn="l">
              <a:lnSpc>
                <a:spcPct val="150000"/>
              </a:lnSpc>
            </a:pPr>
            <a:r>
              <a:rPr lang="zh-TW" altLang="en-US" sz="14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本研究為學術回測與研究原型，不構成任何投資建議。</a:t>
            </a:r>
            <a:endParaRPr lang="en-US" altLang="zh-TW" sz="1400" b="0" i="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  <a:p>
            <a:pPr algn="l">
              <a:lnSpc>
                <a:spcPct val="150000"/>
              </a:lnSpc>
            </a:pPr>
            <a:r>
              <a:rPr lang="zh-TW" altLang="en-US" sz="14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限制與後續延伸詳 </a:t>
            </a:r>
            <a:r>
              <a:rPr lang="en-US" altLang="zh-TW" sz="14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Appendix A.26</a:t>
            </a:r>
            <a:r>
              <a:rPr lang="zh-TW" altLang="en-US" sz="14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。</a:t>
            </a:r>
            <a:endParaRPr sz="1400" b="0" i="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8288000" cy="9525"/>
          </a:xfrm>
          <a:prstGeom prst="rect">
            <a:avLst/>
          </a:prstGeom>
          <a:solidFill>
            <a:srgbClr val="1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1828800"/>
            <a:ext cx="18288000" cy="9525"/>
          </a:xfrm>
          <a:prstGeom prst="rect">
            <a:avLst/>
          </a:prstGeom>
          <a:solidFill>
            <a:srgbClr val="1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743200"/>
            <a:ext cx="18288000" cy="9525"/>
          </a:xfrm>
          <a:prstGeom prst="rect">
            <a:avLst/>
          </a:prstGeom>
          <a:solidFill>
            <a:srgbClr val="1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3657600"/>
            <a:ext cx="18288000" cy="9525"/>
          </a:xfrm>
          <a:prstGeom prst="rect">
            <a:avLst/>
          </a:prstGeom>
          <a:solidFill>
            <a:srgbClr val="1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4572000"/>
            <a:ext cx="18288000" cy="9525"/>
          </a:xfrm>
          <a:prstGeom prst="rect">
            <a:avLst/>
          </a:prstGeom>
          <a:solidFill>
            <a:srgbClr val="1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8288000" cy="9525"/>
          </a:xfrm>
          <a:prstGeom prst="rect">
            <a:avLst/>
          </a:prstGeom>
          <a:solidFill>
            <a:srgbClr val="1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6400800"/>
            <a:ext cx="18288000" cy="9525"/>
          </a:xfrm>
          <a:prstGeom prst="rect">
            <a:avLst/>
          </a:prstGeom>
          <a:solidFill>
            <a:srgbClr val="1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7315200"/>
            <a:ext cx="18288000" cy="9525"/>
          </a:xfrm>
          <a:prstGeom prst="rect">
            <a:avLst/>
          </a:prstGeom>
          <a:solidFill>
            <a:srgbClr val="1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0" y="8229600"/>
            <a:ext cx="18288000" cy="9525"/>
          </a:xfrm>
          <a:prstGeom prst="rect">
            <a:avLst/>
          </a:prstGeom>
          <a:solidFill>
            <a:srgbClr val="1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0" y="9144000"/>
            <a:ext cx="18288000" cy="9525"/>
          </a:xfrm>
          <a:prstGeom prst="rect">
            <a:avLst/>
          </a:prstGeom>
          <a:solidFill>
            <a:srgbClr val="1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10058400"/>
            <a:ext cx="18288000" cy="9525"/>
          </a:xfrm>
          <a:prstGeom prst="rect">
            <a:avLst/>
          </a:prstGeom>
          <a:solidFill>
            <a:srgbClr val="1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14400" y="0"/>
            <a:ext cx="9525" cy="10287000"/>
          </a:xfrm>
          <a:prstGeom prst="rect">
            <a:avLst/>
          </a:prstGeom>
          <a:solidFill>
            <a:srgbClr val="1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7373600" y="0"/>
            <a:ext cx="9525" cy="10287000"/>
          </a:xfrm>
          <a:prstGeom prst="rect">
            <a:avLst/>
          </a:prstGeom>
          <a:solidFill>
            <a:srgbClr val="1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4097000" y="0"/>
            <a:ext cx="3429000" cy="38100"/>
          </a:xfrm>
          <a:prstGeom prst="rect">
            <a:avLst/>
          </a:prstGeom>
          <a:solidFill>
            <a:srgbClr val="67E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7487900" y="0"/>
            <a:ext cx="38100" cy="762000"/>
          </a:xfrm>
          <a:prstGeom prst="rect">
            <a:avLst/>
          </a:prstGeom>
          <a:solidFill>
            <a:srgbClr val="67E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914400" y="1874296"/>
            <a:ext cx="57150" cy="4381500"/>
          </a:xfrm>
          <a:prstGeom prst="rect">
            <a:avLst/>
          </a:prstGeom>
          <a:solidFill>
            <a:srgbClr val="67E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143000" y="361950"/>
            <a:ext cx="285750" cy="2857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43000" y="412459"/>
            <a:ext cx="28575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4950" y="403771"/>
            <a:ext cx="3429000" cy="2021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 dirty="0" err="1">
                <a:solidFill>
                  <a:srgbClr val="F5F1E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多因子股票預測系統</a:t>
            </a:r>
            <a:r>
              <a:rPr sz="1200" b="1" i="0" spc="140" dirty="0">
                <a:solidFill>
                  <a:srgbClr val="F5F1E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325850" y="428625"/>
            <a:ext cx="9525" cy="152400"/>
          </a:xfrm>
          <a:prstGeom prst="rect">
            <a:avLst/>
          </a:prstGeom>
          <a:solidFill>
            <a:srgbClr val="1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6421100" y="404060"/>
            <a:ext cx="952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F5F1E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8250" y="1238250"/>
            <a:ext cx="7620000" cy="2360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400" b="1" i="0" spc="260" dirty="0">
                <a:solidFill>
                  <a:srgbClr val="67E8F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Closing </a:t>
            </a:r>
            <a:r>
              <a:rPr lang="zh-TW" altLang="en-US" sz="1400" b="1" i="0" spc="260" dirty="0">
                <a:solidFill>
                  <a:srgbClr val="67E8F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→</a:t>
            </a:r>
            <a:r>
              <a:rPr lang="en-US" sz="1400" b="1" i="0" spc="260" dirty="0">
                <a:solidFill>
                  <a:srgbClr val="67E8F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Q&amp;A</a:t>
            </a:r>
            <a:endParaRPr sz="1400" b="1" i="0" spc="260" dirty="0">
              <a:solidFill>
                <a:srgbClr val="67E8F9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238250" y="1657350"/>
            <a:ext cx="15430500" cy="7107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lang="zh-TW" altLang="en-US" sz="4400" b="1" i="0" spc="-20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本專案證明：台股 </a:t>
            </a:r>
            <a:r>
              <a:rPr lang="en-US" altLang="zh-TW" sz="4400" b="1" i="0" spc="-20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D+20 alpha </a:t>
            </a:r>
            <a:r>
              <a:rPr lang="zh-TW" altLang="en-US" sz="4400" b="1" i="0" spc="-20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可被系統化發現、驗證與監控</a:t>
            </a:r>
            <a:endParaRPr sz="4400" b="1" i="0" spc="-200" dirty="0">
              <a:solidFill>
                <a:srgbClr val="22D3EE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989732" y="5985854"/>
            <a:ext cx="10308537" cy="2467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60000"/>
              </a:lnSpc>
            </a:pPr>
            <a:r>
              <a:rPr lang="en-US" sz="11500" b="0" i="0" dirty="0">
                <a:solidFill>
                  <a:srgbClr val="F5F1E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Thank You</a:t>
            </a:r>
            <a:r>
              <a:rPr lang="zh-TW" altLang="en-US" sz="11500" b="0" i="0" dirty="0">
                <a:solidFill>
                  <a:srgbClr val="F5F1E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！</a:t>
            </a:r>
            <a:endParaRPr sz="11500" b="1" i="0" dirty="0">
              <a:solidFill>
                <a:srgbClr val="F5F1E8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1238250" y="3918929"/>
            <a:ext cx="15430500" cy="1524000"/>
          </a:xfrm>
          <a:prstGeom prst="rect">
            <a:avLst/>
          </a:prstGeom>
          <a:solidFill>
            <a:srgbClr val="1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1238250" y="3918929"/>
            <a:ext cx="15430500" cy="38100"/>
          </a:xfrm>
          <a:prstGeom prst="rect">
            <a:avLst/>
          </a:prstGeom>
          <a:solidFill>
            <a:srgbClr val="67E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428750" y="4128479"/>
            <a:ext cx="3476625" cy="1854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 dirty="0">
                <a:solidFill>
                  <a:srgbClr val="F5F1E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OOS AUC · D+20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28750" y="4395179"/>
            <a:ext cx="3476625" cy="8090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800" b="1" i="0" spc="-80" dirty="0">
                <a:solidFill>
                  <a:srgbClr val="67E8F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0.6455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86350" y="7086600"/>
            <a:ext cx="9525" cy="10668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286375" y="4128479"/>
            <a:ext cx="3476625" cy="1854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 dirty="0">
                <a:solidFill>
                  <a:srgbClr val="F5F1E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TOP 1% HIT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86375" y="4395179"/>
            <a:ext cx="3476625" cy="8090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800" b="1" i="0" spc="-80">
                <a:solidFill>
                  <a:srgbClr val="67E8F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36.81%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43975" y="7086600"/>
            <a:ext cx="9525" cy="10668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144000" y="4128479"/>
            <a:ext cx="3476625" cy="1854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F5F1E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CAGR · 24 MO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4395179"/>
            <a:ext cx="3476625" cy="8090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800" b="1" i="0" spc="-80">
                <a:solidFill>
                  <a:srgbClr val="67E8F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+36.8%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801600" y="7086600"/>
            <a:ext cx="9525" cy="10668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3001625" y="4128479"/>
            <a:ext cx="3476625" cy="1854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F5F1E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GATES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001625" y="4395179"/>
            <a:ext cx="3476625" cy="8090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800" b="1" i="0" spc="-80">
                <a:solidFill>
                  <a:srgbClr val="67E8F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9 / 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38250" y="9704577"/>
            <a:ext cx="12382500" cy="2694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TW" altLang="en-US" sz="1600" b="0" i="0" spc="50" dirty="0">
                <a:solidFill>
                  <a:srgbClr val="94A3B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本研究為 </a:t>
            </a:r>
            <a:r>
              <a:rPr lang="en-US" altLang="zh-TW" sz="1600" b="0" i="0" spc="50" dirty="0">
                <a:solidFill>
                  <a:srgbClr val="94A3B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NTU </a:t>
            </a:r>
            <a:r>
              <a:rPr lang="zh-TW" altLang="en-US" sz="1600" b="0" i="0" spc="50" dirty="0">
                <a:solidFill>
                  <a:srgbClr val="94A3B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大數據與商業分析課堂專案成果，不構成任何投資建議。</a:t>
            </a:r>
            <a:endParaRPr sz="1600" b="0" i="0" spc="50" dirty="0">
              <a:solidFill>
                <a:srgbClr val="94A3B8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5049500" y="9755359"/>
            <a:ext cx="2476500" cy="1679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 i="0" spc="160">
                <a:solidFill>
                  <a:srgbClr val="67E8F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APPENDIX · 30 PAGES</a:t>
            </a:r>
          </a:p>
        </p:txBody>
      </p:sp>
      <p:sp>
        <p:nvSpPr>
          <p:cNvPr id="44" name="TextBox 26">
            <a:extLst>
              <a:ext uri="{FF2B5EF4-FFF2-40B4-BE49-F238E27FC236}">
                <a16:creationId xmlns:a16="http://schemas.microsoft.com/office/drawing/2014/main" id="{4D3DADA9-CE3D-C196-200F-F89D61CB4A2E}"/>
              </a:ext>
            </a:extLst>
          </p:cNvPr>
          <p:cNvSpPr txBox="1"/>
          <p:nvPr/>
        </p:nvSpPr>
        <p:spPr>
          <a:xfrm>
            <a:off x="1228725" y="2764344"/>
            <a:ext cx="15430500" cy="5814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lang="zh-TW" altLang="en-US" sz="3600" b="1" i="0" spc="-20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從資料、模型、回測到治理已形成完整閉環。</a:t>
            </a:r>
            <a:endParaRPr sz="3600" b="1" i="0" spc="-200" dirty="0">
              <a:solidFill>
                <a:srgbClr val="22D3EE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429259"/>
            <a:ext cx="342900" cy="1511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404060"/>
            <a:ext cx="3619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多因子股票預測系統 · 附錄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404060"/>
            <a:ext cx="6667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Three Commitments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746959"/>
            <a:ext cx="12382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Source · López de Prado (2018) · Bailey &amp; López de Prado (2014) DSR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59000" y="9753600"/>
            <a:ext cx="19050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4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APPENDIX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40200" y="9801225"/>
            <a:ext cx="7620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954500" y="9738560"/>
            <a:ext cx="571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A.01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104900"/>
            <a:ext cx="6667500" cy="2358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A.01 </a:t>
            </a:r>
            <a:r>
              <a:rPr lang="zh-TW" altLang="en-US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→</a:t>
            </a:r>
            <a:r>
              <a:rPr lang="en-US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zh-TW" altLang="en-US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研究可信度</a:t>
            </a:r>
            <a:endParaRPr sz="1400" b="1" i="0" spc="24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1371600"/>
            <a:ext cx="16668750" cy="10843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TW" altLang="en-US" sz="3600" b="1" i="0" spc="-10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本研究以透明、抗過擬合與可重現作為三項方法論底線</a:t>
            </a:r>
            <a:br>
              <a:rPr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2400" b="1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先定義研究可信度，再討論模型結果。</a:t>
            </a:r>
            <a:endParaRPr sz="2400" b="1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14400" y="2762250"/>
            <a:ext cx="7620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14400" y="3238500"/>
            <a:ext cx="5257800" cy="3924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14400" y="3238500"/>
            <a:ext cx="52578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257300" y="3234798"/>
            <a:ext cx="1905000" cy="10747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6400" b="1" i="0" spc="-20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57300" y="4375812"/>
            <a:ext cx="4572000" cy="268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TW" altLang="en-US" sz="1600" b="1" i="0" spc="24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透明性 </a:t>
            </a:r>
            <a:r>
              <a:rPr lang="zh-TW" altLang="en-US" sz="1600" b="1" spc="24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─</a:t>
            </a:r>
            <a:r>
              <a:rPr lang="en-US" altLang="zh-TW" sz="1600" b="1" i="0" spc="24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en-US" sz="1600" b="1" i="0" spc="24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Transparency</a:t>
            </a:r>
            <a:endParaRPr sz="1600" b="1" i="0" spc="24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257300" y="4762500"/>
            <a:ext cx="4572000" cy="4638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TW" altLang="en-US" sz="28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模型判斷必須可解釋</a:t>
            </a:r>
            <a:endParaRPr sz="2800" b="1" i="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257300" y="5448300"/>
            <a:ext cx="571500" cy="28575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257300" y="5715000"/>
            <a:ext cx="4572000" cy="1059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lang="zh-TW" altLang="en-US" sz="15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以 </a:t>
            </a:r>
            <a:r>
              <a:rPr lang="en-US" sz="15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SHAP Top-20、LOPO </a:t>
            </a:r>
            <a:r>
              <a:rPr lang="el-GR" sz="15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Δ</a:t>
            </a:r>
            <a:r>
              <a:rPr lang="en-US" sz="15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AUC </a:t>
            </a:r>
            <a:r>
              <a:rPr lang="zh-TW" altLang="en-US" sz="15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與 </a:t>
            </a:r>
            <a:r>
              <a:rPr lang="en-US" sz="15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keyword Lift × </a:t>
            </a:r>
            <a:r>
              <a:rPr lang="el-GR" sz="15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χ² </a:t>
            </a:r>
            <a:r>
              <a:rPr lang="zh-TW" altLang="en-US" sz="15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拆解模型訊號來源，並於 </a:t>
            </a:r>
            <a:r>
              <a:rPr lang="en-US" sz="15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dashboard </a:t>
            </a:r>
            <a:r>
              <a:rPr lang="zh-TW" altLang="en-US" sz="15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提供可解釋性頁面。</a:t>
            </a:r>
            <a:endParaRPr sz="15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400800" y="3238500"/>
            <a:ext cx="5257800" cy="3924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400800" y="3238500"/>
            <a:ext cx="5257800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743700" y="3234798"/>
            <a:ext cx="1905000" cy="10747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6400" b="1" i="0" spc="-200">
                <a:solidFill>
                  <a:srgbClr val="EA580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43700" y="4375812"/>
            <a:ext cx="4572000" cy="268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TW" altLang="en-US" sz="1600" b="1" i="0" spc="240" dirty="0">
                <a:solidFill>
                  <a:srgbClr val="EA580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嚴謹性 </a:t>
            </a:r>
            <a:r>
              <a:rPr lang="zh-TW" altLang="en-US" sz="1600" b="1" spc="240" dirty="0">
                <a:solidFill>
                  <a:srgbClr val="EA580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─</a:t>
            </a:r>
            <a:r>
              <a:rPr lang="en-US" altLang="zh-TW" sz="1600" b="1" i="0" spc="240" dirty="0">
                <a:solidFill>
                  <a:srgbClr val="EA580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en-US" sz="1600" b="1" i="0" spc="240" dirty="0">
                <a:solidFill>
                  <a:srgbClr val="EA580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Rigor</a:t>
            </a:r>
            <a:endParaRPr sz="1600" b="1" i="0" spc="240" dirty="0">
              <a:solidFill>
                <a:srgbClr val="EA580C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743700" y="4762500"/>
            <a:ext cx="4572000" cy="4638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TW" altLang="en-US" sz="28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模型績效必須抗過擬合</a:t>
            </a:r>
            <a:endParaRPr sz="2800" b="1" i="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743700" y="5448300"/>
            <a:ext cx="571500" cy="28575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743700" y="5715000"/>
            <a:ext cx="4572000" cy="1059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lang="zh-TW" altLang="en-US" sz="15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採用 </a:t>
            </a:r>
            <a:r>
              <a:rPr lang="en-US" sz="15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Walk-Forward Purged K-Fold </a:t>
            </a:r>
            <a:r>
              <a:rPr lang="zh-TW" altLang="en-US" sz="15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與 </a:t>
            </a:r>
            <a:r>
              <a:rPr lang="en-US" altLang="zh-TW" sz="15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20 </a:t>
            </a:r>
            <a:r>
              <a:rPr lang="zh-TW" altLang="en-US" sz="15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日 </a:t>
            </a:r>
            <a:r>
              <a:rPr lang="en-US" sz="1500" b="0" i="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embargo；DSR</a:t>
            </a:r>
            <a:r>
              <a:rPr lang="en-US" sz="15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12.12 </a:t>
            </a:r>
            <a:r>
              <a:rPr lang="zh-TW" altLang="en-US" sz="15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通過 </a:t>
            </a:r>
            <a:r>
              <a:rPr lang="en-US" altLang="zh-TW" sz="15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150 </a:t>
            </a:r>
            <a:r>
              <a:rPr lang="en-US" sz="15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trials </a:t>
            </a:r>
            <a:r>
              <a:rPr lang="zh-TW" altLang="en-US" sz="15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多重檢定修正，並以 </a:t>
            </a:r>
            <a:r>
              <a:rPr lang="en-US" sz="15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PSI / KS </a:t>
            </a:r>
            <a:r>
              <a:rPr lang="zh-TW" altLang="en-US" sz="15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監控資料漂移。</a:t>
            </a:r>
            <a:endParaRPr sz="15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11887200" y="3238500"/>
            <a:ext cx="5257800" cy="3924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11887200" y="3238500"/>
            <a:ext cx="52578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2230100" y="3234798"/>
            <a:ext cx="1905000" cy="10747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6400" b="1" i="0" spc="-20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230100" y="4375812"/>
            <a:ext cx="4572000" cy="268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TW" altLang="en-US" sz="1600" b="1" i="0" spc="240" dirty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可重現性 ─</a:t>
            </a:r>
            <a:r>
              <a:rPr lang="en-US" altLang="zh-TW" sz="1600" b="1" i="0" spc="240" dirty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en-US" sz="1600" b="1" i="0" spc="240" dirty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Reproducibility</a:t>
            </a:r>
            <a:endParaRPr sz="1600" b="1" i="0" spc="240" dirty="0">
              <a:solidFill>
                <a:srgbClr val="10B98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2230100" y="4762500"/>
            <a:ext cx="4572000" cy="4638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TW" altLang="en-US" sz="28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研究結果必須可重現</a:t>
            </a:r>
            <a:endParaRPr sz="2800" b="1" i="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12230100" y="5448300"/>
            <a:ext cx="571500" cy="2857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2230100" y="5715000"/>
            <a:ext cx="4572000" cy="1059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lang="zh-TW" altLang="en-US" sz="15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每階段保留 </a:t>
            </a:r>
            <a:r>
              <a:rPr lang="en-US" sz="15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JSON </a:t>
            </a:r>
            <a:r>
              <a:rPr lang="en-US" sz="1500" b="0" i="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artifact、rng</a:t>
            </a:r>
            <a:r>
              <a:rPr lang="en-US" sz="15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=42、feature lineage </a:t>
            </a:r>
            <a:r>
              <a:rPr lang="zh-TW" altLang="en-US" sz="15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與 </a:t>
            </a:r>
            <a:r>
              <a:rPr lang="en-US" sz="15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Phase 1–6 </a:t>
            </a:r>
            <a:r>
              <a:rPr lang="zh-TW" altLang="en-US" sz="15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報告，確保模型結果可複查、可重跑、可追溯。</a:t>
            </a:r>
            <a:endParaRPr sz="15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914400" y="7391400"/>
            <a:ext cx="16459200" cy="1572546"/>
          </a:xfrm>
          <a:prstGeom prst="rect">
            <a:avLst/>
          </a:prstGeom>
          <a:solidFill>
            <a:srgbClr val="FE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914400" y="7391400"/>
            <a:ext cx="57150" cy="1572546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162050" y="7562850"/>
            <a:ext cx="5715000" cy="268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600" b="1" i="0" spc="26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ACADEMIC BASELINE </a:t>
            </a:r>
            <a:r>
              <a:rPr lang="zh-TW" altLang="en-US" sz="1600" b="1" i="0" spc="26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─</a:t>
            </a:r>
            <a:r>
              <a:rPr lang="en-US" sz="1600" b="1" i="0" spc="26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zh-TW" altLang="en-US" sz="1600" b="1" i="0" spc="26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研究底線</a:t>
            </a:r>
            <a:endParaRPr sz="1600" b="1" i="0" spc="260" dirty="0">
              <a:solidFill>
                <a:srgbClr val="F43F5E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162050" y="7848600"/>
            <a:ext cx="15887700" cy="929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三項承諾是 </a:t>
            </a:r>
            <a:r>
              <a:rPr lang="en-US" altLang="zh-TW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Phase 1–6 </a:t>
            </a: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的設計約束：任一項未被滿足，模型結論即不具研究可信度。</a:t>
            </a:r>
            <a:br>
              <a:rPr lang="en-US" altLang="zh-TW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</a:b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這也是本研究與一般「回測看起來很好」的量化原型之間最根本的差異：</a:t>
            </a:r>
            <a:br>
              <a:rPr lang="en-US" altLang="zh-TW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</a:b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所有關鍵產出皆可被獨立稽核，並支持第三方重現。</a:t>
            </a:r>
            <a:endParaRPr sz="1400" b="0" i="0" dirty="0">
              <a:solidFill>
                <a:srgbClr val="0F172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429259"/>
            <a:ext cx="342900" cy="1511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404060"/>
            <a:ext cx="3619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多因子股票預測系統 · 附錄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404060"/>
            <a:ext cx="6667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Problem · Deep Dive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746959"/>
            <a:ext cx="12382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Source · 自行整理 · López de Prado (2018)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59000" y="9753600"/>
            <a:ext cx="19050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4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APPENDIX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40200" y="9801225"/>
            <a:ext cx="7620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954500" y="9738560"/>
            <a:ext cx="571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A.02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104900"/>
            <a:ext cx="666750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TW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A.02 </a:t>
            </a:r>
            <a:r>
              <a:rPr lang="zh-TW" altLang="en-US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→</a:t>
            </a:r>
            <a:r>
              <a:rPr lang="en-US" altLang="zh-TW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zh-TW" altLang="en-US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台股預測難題</a:t>
            </a:r>
            <a:endParaRPr sz="1400" b="1" i="0" spc="24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1371600"/>
            <a:ext cx="16668750" cy="10843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TW" altLang="en-US" sz="3600" b="1" i="0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台股預測難題來自低訊噪比、訊號錯位與文本非結構化</a:t>
            </a:r>
            <a:br>
              <a:rPr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2400" b="1" i="0" spc="-4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多因子與 </a:t>
            </a:r>
            <a:r>
              <a:rPr lang="en-US" altLang="zh-TW" sz="2400" b="1" i="0" spc="-4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PIT </a:t>
            </a:r>
            <a:r>
              <a:rPr lang="zh-TW" altLang="en-US" sz="2400" b="1" i="0" spc="-4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是必要設計，不是額外複雜化。</a:t>
            </a:r>
            <a:endParaRPr sz="2400" b="1" i="0" spc="-40" dirty="0"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14400" y="2686050"/>
            <a:ext cx="7620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14400" y="2990850"/>
            <a:ext cx="16459200" cy="1752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14400" y="2990850"/>
            <a:ext cx="164592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04900" y="3162300"/>
            <a:ext cx="762000" cy="738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 i="0" spc="-16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05000" y="3219450"/>
            <a:ext cx="66675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TW" altLang="en-US" sz="22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低訊噪比使短線預測不穩定</a:t>
            </a:r>
            <a:endParaRPr sz="2200" b="1" i="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905000" y="3581400"/>
            <a:ext cx="762000" cy="28575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905000" y="3695700"/>
            <a:ext cx="14287500" cy="251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TW" altLang="en-US" sz="1500" b="1" i="0" spc="4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日頻可預測 </a:t>
            </a:r>
            <a:r>
              <a:rPr lang="en-US" altLang="zh-TW" sz="1500" b="1" i="0" spc="4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edge </a:t>
            </a:r>
            <a:r>
              <a:rPr lang="zh-TW" altLang="en-US" sz="1500" b="1" i="0" spc="4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僅約 </a:t>
            </a:r>
            <a:r>
              <a:rPr lang="en-US" altLang="zh-TW" sz="1500" b="1" i="0" spc="4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</a:t>
            </a:r>
            <a:r>
              <a:rPr lang="zh-TW" altLang="en-US" sz="1500" b="1" spc="4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en-US" altLang="zh-TW" sz="1500" b="1" spc="4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~</a:t>
            </a:r>
            <a:r>
              <a:rPr lang="zh-TW" altLang="en-US" sz="1500" b="1" spc="4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en-US" altLang="zh-TW" sz="1500" b="1" i="0" spc="4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5 pp</a:t>
            </a:r>
            <a:r>
              <a:rPr lang="zh-TW" altLang="en-US" sz="1500" b="1" i="0" spc="4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，價格更容易受短期雜訊主導。</a:t>
            </a:r>
            <a:endParaRPr sz="1500" b="1" i="0" spc="4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905000" y="4019550"/>
            <a:ext cx="14287500" cy="6444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對策：</a:t>
            </a:r>
            <a:endParaRPr lang="en-US" altLang="zh-TW" sz="14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  <a:p>
            <a:pPr algn="l">
              <a:lnSpc>
                <a:spcPct val="160000"/>
              </a:lnSpc>
            </a:pP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採用 </a:t>
            </a:r>
            <a:r>
              <a:rPr 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Walk-Forward Purged K-Fold、20 </a:t>
            </a: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日 </a:t>
            </a:r>
            <a:r>
              <a:rPr 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embargo </a:t>
            </a: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與 </a:t>
            </a:r>
            <a:r>
              <a:rPr 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DSR </a:t>
            </a: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多重檢定修正，避免將短線雜訊誤判為 </a:t>
            </a:r>
            <a:r>
              <a:rPr 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alpha。</a:t>
            </a:r>
            <a:endParaRPr sz="14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914400" y="4895850"/>
            <a:ext cx="16459200" cy="1752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914400" y="4895850"/>
            <a:ext cx="16459200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104900" y="5067300"/>
            <a:ext cx="762000" cy="738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 i="0" spc="-160">
                <a:solidFill>
                  <a:srgbClr val="EA580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05000" y="5124450"/>
            <a:ext cx="66675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TW" altLang="en-US" sz="22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多源訊號時點錯位容易產生前視偏誤</a:t>
            </a:r>
            <a:endParaRPr sz="2200" b="1" i="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905000" y="5486400"/>
            <a:ext cx="762000" cy="28575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905000" y="5600700"/>
            <a:ext cx="14287500" cy="251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TW" altLang="en-US" sz="1500" b="1" i="0" spc="40" dirty="0">
                <a:solidFill>
                  <a:srgbClr val="EA580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價量、財報與文本資料分屬不同時間尺度，必須壓回同一決策日。</a:t>
            </a:r>
            <a:endParaRPr sz="1500" b="1" i="0" spc="40" dirty="0">
              <a:solidFill>
                <a:srgbClr val="EA580C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905000" y="5924550"/>
            <a:ext cx="14287500" cy="6444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對策：</a:t>
            </a:r>
            <a:endParaRPr lang="en-US" altLang="zh-TW" sz="14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  <a:p>
            <a:pPr algn="l">
              <a:lnSpc>
                <a:spcPct val="160000"/>
              </a:lnSpc>
            </a:pPr>
            <a:r>
              <a:rPr 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Feature Store </a:t>
            </a: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以 </a:t>
            </a:r>
            <a:r>
              <a:rPr lang="en-US" altLang="zh-TW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(</a:t>
            </a:r>
            <a:r>
              <a:rPr lang="en-US" sz="1400" b="0" i="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stock_id</a:t>
            </a:r>
            <a:r>
              <a:rPr 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, date) </a:t>
            </a: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為主鍵，財報 </a:t>
            </a:r>
            <a:r>
              <a:rPr 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lag 45 </a:t>
            </a: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天、文本僅取 </a:t>
            </a:r>
            <a:r>
              <a:rPr 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 </a:t>
            </a: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日 </a:t>
            </a:r>
            <a:r>
              <a:rPr lang="en-US" altLang="zh-TW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15:00 </a:t>
            </a: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前資訊，確保 </a:t>
            </a:r>
            <a:r>
              <a:rPr 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point-in-time </a:t>
            </a: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對齊。</a:t>
            </a:r>
            <a:endParaRPr sz="14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914400" y="6800850"/>
            <a:ext cx="16459200" cy="1752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914400" y="6800850"/>
            <a:ext cx="164592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104900" y="6972300"/>
            <a:ext cx="762000" cy="738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 i="0" spc="-16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05000" y="7029450"/>
            <a:ext cx="66675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TW" altLang="en-US" sz="22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文本資料非結構化且覆蓋品質不均</a:t>
            </a:r>
            <a:endParaRPr sz="2200" b="1" i="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1905000" y="7391400"/>
            <a:ext cx="762000" cy="2857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905000" y="7505700"/>
            <a:ext cx="14287500" cy="251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TW" altLang="en-US" sz="1500" b="1" i="0" spc="4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文本資料集中於熱門股，</a:t>
            </a:r>
            <a:r>
              <a:rPr lang="en-US" sz="1500" b="1" i="0" spc="4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entity linking </a:t>
            </a:r>
            <a:r>
              <a:rPr lang="zh-TW" altLang="en-US" sz="1500" b="1" i="0" spc="4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與 </a:t>
            </a:r>
            <a:r>
              <a:rPr lang="en-US" sz="1500" b="1" i="0" spc="4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coverage </a:t>
            </a:r>
            <a:r>
              <a:rPr lang="zh-TW" altLang="en-US" sz="1500" b="1" i="0" spc="4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不均會放大樣本偏誤。</a:t>
            </a:r>
            <a:endParaRPr sz="1500" b="1" i="0" spc="40" dirty="0">
              <a:solidFill>
                <a:srgbClr val="F43F5E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905000" y="7829550"/>
            <a:ext cx="14287500" cy="6444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對策：</a:t>
            </a:r>
            <a:endParaRPr lang="en-US" altLang="zh-TW" sz="14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  <a:p>
            <a:pPr algn="l">
              <a:lnSpc>
                <a:spcPct val="160000"/>
              </a:lnSpc>
            </a:pP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以 </a:t>
            </a:r>
            <a:r>
              <a:rPr lang="en-US" altLang="zh-TW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500 </a:t>
            </a:r>
            <a:r>
              <a:rPr 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keyword Lift × </a:t>
            </a:r>
            <a:r>
              <a:rPr lang="el-GR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χ² </a:t>
            </a: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詞表、</a:t>
            </a:r>
            <a:r>
              <a:rPr 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ticker entity </a:t>
            </a:r>
            <a:r>
              <a:rPr lang="en-US" sz="1400" b="0" i="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linking、MinHash</a:t>
            </a:r>
            <a:r>
              <a:rPr 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LSH </a:t>
            </a: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去重與 </a:t>
            </a:r>
            <a:r>
              <a:rPr 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coverage </a:t>
            </a: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衰減校正，降低文本因子偏誤。</a:t>
            </a:r>
            <a:endParaRPr sz="14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914400" y="8553450"/>
            <a:ext cx="16459200" cy="1185110"/>
          </a:xfrm>
          <a:prstGeom prst="rect">
            <a:avLst/>
          </a:prstGeom>
          <a:solidFill>
            <a:srgbClr val="FE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914400" y="8553450"/>
            <a:ext cx="57150" cy="118511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162050" y="8724900"/>
            <a:ext cx="5715000" cy="268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26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K</a:t>
            </a:r>
            <a:r>
              <a:rPr lang="en-US" sz="1600" b="1" i="0" spc="26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ey point</a:t>
            </a:r>
            <a:endParaRPr sz="1600" b="1" i="0" spc="260" dirty="0">
              <a:solidFill>
                <a:srgbClr val="F43F5E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162050" y="8997266"/>
            <a:ext cx="15887700" cy="6067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三項難題分別對應三層治理：時序紀律、主鍵對齊與文本品質控管。</a:t>
            </a:r>
            <a:br>
              <a:rPr lang="en-US" altLang="zh-TW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</a:b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因此，後續 </a:t>
            </a:r>
            <a:r>
              <a:rPr lang="en-US" altLang="zh-TW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6-phase pipeline </a:t>
            </a: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不是流程展示，而是針對台股資料結構限制所設計的控制框架。</a:t>
            </a:r>
            <a:endParaRPr sz="1400" b="0" i="0" dirty="0">
              <a:solidFill>
                <a:srgbClr val="0F172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429259"/>
            <a:ext cx="342900" cy="1511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404060"/>
            <a:ext cx="3619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多因子股票預測系統 · 附錄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404060"/>
            <a:ext cx="6667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6-Phase Pipeline · Detail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746959"/>
            <a:ext cx="12382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Source · 自行整理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59000" y="9753600"/>
            <a:ext cx="19050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4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APPENDIX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40200" y="9801225"/>
            <a:ext cx="7620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954500" y="9738560"/>
            <a:ext cx="571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A.03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104900"/>
            <a:ext cx="6667500" cy="2358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A.03 </a:t>
            </a:r>
            <a:r>
              <a:rPr lang="zh-TW" altLang="en-US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→</a:t>
            </a:r>
            <a:r>
              <a:rPr lang="en-US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6-Phase Pipeline</a:t>
            </a:r>
            <a:endParaRPr sz="1400" b="1" i="0" spc="24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1371600"/>
            <a:ext cx="16668750" cy="1158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TW" altLang="en-US" sz="4000" b="1" i="0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六階段 </a:t>
            </a:r>
            <a:r>
              <a:rPr lang="en-US" sz="4000" b="1" i="0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pipeline </a:t>
            </a:r>
            <a:r>
              <a:rPr lang="zh-TW" altLang="en-US" sz="4000" b="1" i="0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將量化研究拆解為可追溯的交付流程</a:t>
            </a:r>
            <a:endParaRPr lang="en-US" altLang="zh-TW" sz="4000" b="1" i="0" spc="-8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  <a:p>
            <a:pPr algn="l">
              <a:lnSpc>
                <a:spcPct val="118000"/>
              </a:lnSpc>
            </a:pPr>
            <a:r>
              <a:rPr lang="zh-TW" altLang="en-US" sz="2600" b="1" i="0" spc="-4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每個 </a:t>
            </a:r>
            <a:r>
              <a:rPr lang="en-US" altLang="zh-TW" sz="2600" b="1" i="0" spc="-4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Phase </a:t>
            </a:r>
            <a:r>
              <a:rPr lang="zh-TW" altLang="en-US" sz="2600" b="1" i="0" spc="-4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皆對應輸入、輸出與品質閘。</a:t>
            </a:r>
            <a:endParaRPr sz="2600" b="1" i="0" spc="-4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14400" y="2552700"/>
            <a:ext cx="7620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14400" y="2933700"/>
            <a:ext cx="5410200" cy="20955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14400" y="2933700"/>
            <a:ext cx="54102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43000" y="3143250"/>
            <a:ext cx="7620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6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162300"/>
            <a:ext cx="190500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0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Ingest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524250"/>
            <a:ext cx="4953000" cy="3526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TW" altLang="en-US" sz="21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資料清洗與時點對齊</a:t>
            </a:r>
            <a:endParaRPr sz="2100" b="1" i="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43000" y="3943350"/>
            <a:ext cx="4953000" cy="2916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lang="en-US" altLang="zh-TW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7 </a:t>
            </a: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張資料表、</a:t>
            </a:r>
            <a:r>
              <a:rPr lang="en-US" altLang="zh-TW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3,483,598 </a:t>
            </a: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列 </a:t>
            </a:r>
            <a:r>
              <a:rPr lang="en-US" altLang="zh-TW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ETL</a:t>
            </a: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，完成除權息補值與異常值檢查。</a:t>
            </a:r>
            <a:endParaRPr sz="14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143000" y="4610100"/>
            <a:ext cx="4953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43000" y="4724400"/>
            <a:ext cx="49530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100" b="0" i="0" spc="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Output｜phase1_report.json</a:t>
            </a:r>
            <a:endParaRPr sz="1100" b="0" i="0" spc="4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553200" y="2933700"/>
            <a:ext cx="5410200" cy="20955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553200" y="2933700"/>
            <a:ext cx="54102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781800" y="3143250"/>
            <a:ext cx="7620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6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9000" y="3162300"/>
            <a:ext cx="190500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0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Feature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81800" y="3524250"/>
            <a:ext cx="4953000" cy="3526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TW" altLang="en-US" sz="21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特徵工程與篩選</a:t>
            </a:r>
            <a:endParaRPr sz="2100" b="1" i="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781800" y="3943350"/>
            <a:ext cx="4953000" cy="2916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lang="en-US" altLang="zh-TW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1,623 </a:t>
            </a: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個候選特徵篩至 </a:t>
            </a:r>
            <a:r>
              <a:rPr lang="en-US" altLang="zh-TW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91 </a:t>
            </a: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個生產特徵，並保留 </a:t>
            </a:r>
            <a:r>
              <a:rPr lang="en-US" altLang="zh-TW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948,976 </a:t>
            </a: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筆樣本。</a:t>
            </a:r>
            <a:endParaRPr sz="14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781800" y="4610100"/>
            <a:ext cx="4953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781800" y="4724400"/>
            <a:ext cx="49530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100" b="0" i="0" spc="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Output｜phase2_report.json · </a:t>
            </a:r>
            <a:r>
              <a:rPr lang="en-US" sz="1100" b="0" i="0" spc="40" dirty="0" err="1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feature_store.parquet</a:t>
            </a:r>
            <a:endParaRPr sz="1100" b="0" i="0" spc="4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12192000" y="2933700"/>
            <a:ext cx="5410200" cy="20955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12192000" y="2933700"/>
            <a:ext cx="54102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2420600" y="3143250"/>
            <a:ext cx="7620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6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77800" y="3162300"/>
            <a:ext cx="190500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0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Model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420600" y="3524250"/>
            <a:ext cx="4953000" cy="3526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TW" altLang="en-US" sz="21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模型訓練與超參數搜尋</a:t>
            </a:r>
            <a:endParaRPr sz="2100" b="1" i="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2420600" y="3943350"/>
            <a:ext cx="4953000" cy="6255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lang="en-US" sz="1400" b="0" i="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XGBoost、LightGBM、Logistic</a:t>
            </a:r>
            <a:r>
              <a:rPr 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Regression</a:t>
            </a:r>
            <a:br>
              <a:rPr 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</a:b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與 </a:t>
            </a:r>
            <a:r>
              <a:rPr 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Random </a:t>
            </a:r>
            <a:r>
              <a:rPr lang="en-US" sz="1400" b="0" i="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Forest；Optuna</a:t>
            </a:r>
            <a:r>
              <a:rPr 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150 trials。</a:t>
            </a:r>
            <a:endParaRPr sz="14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12420600" y="4610100"/>
            <a:ext cx="4953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2420600" y="4724400"/>
            <a:ext cx="49530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100" b="0" i="0" spc="40" dirty="0" err="1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Output｜model_registry</a:t>
            </a:r>
            <a:r>
              <a:rPr lang="en-US" sz="1100" b="0" i="0" spc="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/*.</a:t>
            </a:r>
            <a:r>
              <a:rPr lang="en-US" sz="1100" b="0" i="0" spc="40" dirty="0" err="1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pkl</a:t>
            </a:r>
            <a:endParaRPr sz="1100" b="0" i="0" spc="4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914400" y="5257800"/>
            <a:ext cx="5410200" cy="20955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914400" y="5257800"/>
            <a:ext cx="5410200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143000" y="5467350"/>
            <a:ext cx="7620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60">
                <a:solidFill>
                  <a:srgbClr val="EA580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00200" y="5486400"/>
            <a:ext cx="190500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00">
                <a:solidFill>
                  <a:srgbClr val="EA580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Explain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3000" y="5848350"/>
            <a:ext cx="4953000" cy="3526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TW" altLang="en-US" sz="21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模型解釋與支柱歸因</a:t>
            </a:r>
            <a:endParaRPr sz="2100" b="1" i="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143000" y="6267450"/>
            <a:ext cx="4953000" cy="6255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以 </a:t>
            </a:r>
            <a:r>
              <a:rPr 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SHAP summary </a:t>
            </a: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與 </a:t>
            </a:r>
            <a:r>
              <a:rPr 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Leave-One-Pillar-Out </a:t>
            </a:r>
            <a:br>
              <a:rPr 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</a:b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拆解特徵與支柱貢獻。</a:t>
            </a:r>
            <a:endParaRPr sz="14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1143000" y="6934200"/>
            <a:ext cx="4953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143000" y="7048500"/>
            <a:ext cx="49530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100" b="0" i="0" spc="40" dirty="0" err="1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Output｜SHAP</a:t>
            </a:r>
            <a:r>
              <a:rPr lang="en-US" sz="1100" b="0" i="0" spc="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report · LOPO table</a:t>
            </a:r>
            <a:endParaRPr sz="1100" b="0" i="0" spc="4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6553200" y="5257800"/>
            <a:ext cx="5410200" cy="20955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6553200" y="5257800"/>
            <a:ext cx="5410200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781800" y="5467350"/>
            <a:ext cx="7620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60">
                <a:solidFill>
                  <a:srgbClr val="EA580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39000" y="5486400"/>
            <a:ext cx="190500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00">
                <a:solidFill>
                  <a:srgbClr val="EA580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Backtest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81800" y="5848350"/>
            <a:ext cx="4953000" cy="3526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TW" altLang="en-US" sz="21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門檻掃描與策略回測</a:t>
            </a:r>
            <a:endParaRPr sz="2100" b="1" i="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6781800" y="6267450"/>
            <a:ext cx="4953000" cy="2916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掃描 </a:t>
            </a:r>
            <a:r>
              <a:rPr lang="en-US" altLang="zh-TW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40 </a:t>
            </a: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組 </a:t>
            </a:r>
            <a:r>
              <a:rPr lang="en-US" altLang="zh-TW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threshold</a:t>
            </a: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，並於三種成本情境下進行 </a:t>
            </a:r>
            <a:r>
              <a:rPr lang="en-US" altLang="zh-TW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OOS </a:t>
            </a: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回測。</a:t>
            </a:r>
            <a:endParaRPr sz="14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781800" y="6934200"/>
            <a:ext cx="4953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781800" y="7048500"/>
            <a:ext cx="49530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100" b="0" i="0" spc="40" dirty="0" err="1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Output｜backtest</a:t>
            </a:r>
            <a:r>
              <a:rPr lang="en-US" sz="1100" b="0" i="0" spc="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report · threshold table</a:t>
            </a:r>
            <a:endParaRPr sz="1100" b="0" i="0" spc="4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12192000" y="5257800"/>
            <a:ext cx="5410200" cy="20955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12192000" y="5257800"/>
            <a:ext cx="5410200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2420600" y="5467350"/>
            <a:ext cx="7620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60">
                <a:solidFill>
                  <a:srgbClr val="EA580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877800" y="5486400"/>
            <a:ext cx="190500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00">
                <a:solidFill>
                  <a:srgbClr val="EA580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Govern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420600" y="5848350"/>
            <a:ext cx="4953000" cy="3526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TW" altLang="en-US" sz="21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模型治理與交付</a:t>
            </a:r>
            <a:endParaRPr sz="2100" b="1" i="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2420600" y="6267450"/>
            <a:ext cx="4953000" cy="6255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以 </a:t>
            </a:r>
            <a:r>
              <a:rPr lang="en-US" sz="1400" b="0" i="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DSR、PSI、KS、embargo</a:t>
            </a:r>
            <a:r>
              <a:rPr 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、</a:t>
            </a: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最差 </a:t>
            </a:r>
            <a:r>
              <a:rPr 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fold </a:t>
            </a: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與 </a:t>
            </a:r>
            <a:r>
              <a:rPr 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lineage </a:t>
            </a: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建立 </a:t>
            </a:r>
            <a:r>
              <a:rPr lang="en-US" altLang="zh-TW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9 </a:t>
            </a: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項治理閘門。</a:t>
            </a:r>
            <a:endParaRPr sz="14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12420600" y="6934200"/>
            <a:ext cx="4953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2420600" y="7048500"/>
            <a:ext cx="49530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100" b="0" i="0" spc="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Output｜phase6_gates.json · dashboard/</a:t>
            </a:r>
            <a:endParaRPr sz="1100" b="0" i="0" spc="4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914400" y="7848600"/>
            <a:ext cx="16459200" cy="1295400"/>
          </a:xfrm>
          <a:prstGeom prst="rect">
            <a:avLst/>
          </a:prstGeom>
          <a:solidFill>
            <a:srgbClr val="FE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914400" y="7848600"/>
            <a:ext cx="57150" cy="12954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1162050" y="8020050"/>
            <a:ext cx="5715000" cy="268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600" b="1" i="0" spc="26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Design principle </a:t>
            </a:r>
            <a:r>
              <a:rPr lang="zh-TW" altLang="en-US" sz="1600" b="1" i="0" spc="26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─</a:t>
            </a:r>
            <a:r>
              <a:rPr lang="en-US" sz="1600" b="1" i="0" spc="26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zh-TW" altLang="en-US" sz="1600" b="1" i="0" spc="26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可追溯原則</a:t>
            </a:r>
            <a:endParaRPr sz="1600" b="1" i="0" spc="260" dirty="0">
              <a:solidFill>
                <a:srgbClr val="F43F5E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1162050" y="8360392"/>
            <a:ext cx="15887700" cy="6067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每個 </a:t>
            </a:r>
            <a:r>
              <a:rPr 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Phase </a:t>
            </a: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均產出 </a:t>
            </a:r>
            <a:r>
              <a:rPr lang="en-US" sz="1400" b="0" i="0" dirty="0" err="1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report、artifact</a:t>
            </a:r>
            <a:r>
              <a:rPr 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與 </a:t>
            </a:r>
            <a:r>
              <a:rPr 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dashboard trace</a:t>
            </a: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。</a:t>
            </a:r>
            <a:endParaRPr lang="en-US" altLang="zh-TW" sz="1400" b="0" i="0" dirty="0">
              <a:solidFill>
                <a:srgbClr val="0F172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  <a:p>
            <a:pPr algn="l">
              <a:lnSpc>
                <a:spcPct val="150000"/>
              </a:lnSpc>
            </a:pPr>
            <a:r>
              <a:rPr 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Random seed </a:t>
            </a: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固定為 </a:t>
            </a:r>
            <a:r>
              <a:rPr lang="en-US" altLang="zh-TW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42</a:t>
            </a: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，所有切分與特徵 </a:t>
            </a:r>
            <a:r>
              <a:rPr 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lineage </a:t>
            </a: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均可追溯，確保從 </a:t>
            </a:r>
            <a:r>
              <a:rPr 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raw data </a:t>
            </a: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到決策清單的任一節點皆可被獨立復現。</a:t>
            </a:r>
            <a:endParaRPr sz="1400" b="0" i="0" dirty="0">
              <a:solidFill>
                <a:srgbClr val="0F172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429259"/>
            <a:ext cx="342900" cy="1511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404060"/>
            <a:ext cx="3619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多因子股票預測系統 · 附錄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404060"/>
            <a:ext cx="6667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Data Sources · 7 Tables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746959"/>
            <a:ext cx="12382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Source · 自行整理 · DuckDB local snapshot 2025-12-31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59000" y="9753600"/>
            <a:ext cx="19050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4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APPENDIX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40200" y="9801225"/>
            <a:ext cx="7620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954500" y="9738560"/>
            <a:ext cx="571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A.04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104900"/>
            <a:ext cx="6667500" cy="2358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TW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A.04 </a:t>
            </a:r>
            <a:r>
              <a:rPr lang="zh-TW" altLang="en-US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→</a:t>
            </a:r>
            <a:r>
              <a:rPr lang="en-US" altLang="zh-TW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zh-TW" altLang="en-US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七張底層資料表</a:t>
            </a:r>
            <a:endParaRPr sz="1400" b="1" i="0" spc="24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1371600"/>
            <a:ext cx="16668750" cy="11586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TW" altLang="en-US" sz="4000" b="1" i="0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七張資料表共同建立台股多因子模型的底層資料資產</a:t>
            </a:r>
            <a:endParaRPr lang="en-US" altLang="zh-TW" sz="4000" b="1" i="0" spc="-8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  <a:p>
            <a:pPr algn="l">
              <a:lnSpc>
                <a:spcPct val="118000"/>
              </a:lnSpc>
            </a:pPr>
            <a:r>
              <a:rPr lang="zh-TW" altLang="en-US" sz="2600" b="1" i="0" spc="-4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價量、財報、籌碼與文本資料完成統一對齊。</a:t>
            </a:r>
            <a:endParaRPr sz="2600" b="1" i="0" spc="-40" dirty="0"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14400" y="2552700"/>
            <a:ext cx="7620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14400" y="2990850"/>
            <a:ext cx="15811500" cy="3429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85850" y="3067050"/>
            <a:ext cx="20955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100" b="1" i="0" spc="24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DATA TABLE</a:t>
            </a:r>
            <a:endParaRPr sz="1100" b="1" i="0" spc="240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371850" y="3067050"/>
            <a:ext cx="19050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100" b="1" i="0" spc="24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DATA DOMAIN</a:t>
            </a:r>
            <a:endParaRPr sz="1100" b="1" i="0" spc="240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67350" y="3067050"/>
            <a:ext cx="19050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ROWS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62850" y="3067050"/>
            <a:ext cx="91440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100" b="1" i="0" spc="24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PROCESSING NOTE</a:t>
            </a:r>
            <a:endParaRPr sz="1100" b="1" i="0" spc="240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914400" y="3333750"/>
            <a:ext cx="15811500" cy="5715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914400" y="3333750"/>
            <a:ext cx="38100" cy="5715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85850" y="3493568"/>
            <a:ext cx="20955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companies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71850" y="3493568"/>
            <a:ext cx="19050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TW" altLang="en-US" sz="15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上市櫃公司主檔</a:t>
            </a:r>
            <a:endParaRPr sz="15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467350" y="3468369"/>
            <a:ext cx="1714500" cy="30226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1,932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62850" y="3501968"/>
            <a:ext cx="8953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產業、市場別與上市日</a:t>
            </a:r>
            <a:endParaRPr sz="14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914400" y="3905250"/>
            <a:ext cx="15811500" cy="571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914400" y="3905250"/>
            <a:ext cx="38100" cy="5715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85850" y="4065068"/>
            <a:ext cx="20955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stock_prices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71850" y="4065068"/>
            <a:ext cx="19050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TW" altLang="en-US" sz="15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日頻價量</a:t>
            </a:r>
            <a:endParaRPr sz="15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467350" y="4039869"/>
            <a:ext cx="1714500" cy="30226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955,405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62850" y="4073468"/>
            <a:ext cx="8953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TW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OHLCV</a:t>
            </a: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、還原權息；</a:t>
            </a:r>
            <a:r>
              <a:rPr lang="en-US" altLang="zh-TW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1,932 </a:t>
            </a: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檔 </a:t>
            </a:r>
            <a:r>
              <a:rPr lang="en-US" altLang="zh-TW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× 495 </a:t>
            </a: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交易日</a:t>
            </a:r>
            <a:endParaRPr sz="14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914400" y="4476750"/>
            <a:ext cx="15811500" cy="5715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914400" y="4476750"/>
            <a:ext cx="38100" cy="5715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85850" y="4636568"/>
            <a:ext cx="20955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income_statement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71850" y="4636568"/>
            <a:ext cx="19050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TW" altLang="en-US" sz="15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季頻損益表</a:t>
            </a:r>
            <a:endParaRPr sz="15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467350" y="4611369"/>
            <a:ext cx="1714500" cy="30226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14,968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62850" y="4644968"/>
            <a:ext cx="8953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TW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EPS</a:t>
            </a: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、營收與毛利率；財報 </a:t>
            </a:r>
            <a:r>
              <a:rPr lang="en-US" altLang="zh-TW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lag 45 </a:t>
            </a: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日</a:t>
            </a:r>
            <a:endParaRPr sz="14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914400" y="5048250"/>
            <a:ext cx="15811500" cy="571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914400" y="5048250"/>
            <a:ext cx="38100" cy="5715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085850" y="5208068"/>
            <a:ext cx="20955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balance_sheet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71850" y="5208068"/>
            <a:ext cx="19050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TW" altLang="en-US" sz="15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季頻資產負債表</a:t>
            </a:r>
            <a:endParaRPr sz="15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467350" y="5182869"/>
            <a:ext cx="1714500" cy="30226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14,204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62850" y="5216468"/>
            <a:ext cx="8953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股東權益與負債；財報 </a:t>
            </a:r>
            <a:r>
              <a:rPr lang="en-US" altLang="zh-TW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lag 45 </a:t>
            </a: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日</a:t>
            </a:r>
            <a:endParaRPr sz="14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914400" y="5619750"/>
            <a:ext cx="15811500" cy="5715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914400" y="5619750"/>
            <a:ext cx="38100" cy="5715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085850" y="5779568"/>
            <a:ext cx="20955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institutional_inv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71850" y="5779568"/>
            <a:ext cx="19050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TW" altLang="en-US" sz="15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三大法人買賣超</a:t>
            </a:r>
            <a:endParaRPr sz="15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467350" y="5754369"/>
            <a:ext cx="1714500" cy="30226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EA580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855,980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62850" y="5787968"/>
            <a:ext cx="8953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外資、投信、自營商買賣超與持股比</a:t>
            </a:r>
            <a:endParaRPr sz="14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914400" y="6191250"/>
            <a:ext cx="15811500" cy="571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914400" y="6191250"/>
            <a:ext cx="38100" cy="5715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085850" y="6351068"/>
            <a:ext cx="20955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margin_trading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71850" y="6351068"/>
            <a:ext cx="19050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融資融券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67350" y="6325869"/>
            <a:ext cx="1714500" cy="30226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EA580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566,095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562850" y="6359468"/>
            <a:ext cx="8953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融資餘額、融券餘額與券資比</a:t>
            </a:r>
            <a:endParaRPr sz="14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914400" y="6762750"/>
            <a:ext cx="15811500" cy="5715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914400" y="6762750"/>
            <a:ext cx="38100" cy="5715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085850" y="6922568"/>
            <a:ext cx="20955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stock_text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71850" y="6922568"/>
            <a:ext cx="19050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TW" altLang="en-US" sz="15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新聞與 </a:t>
            </a:r>
            <a:r>
              <a:rPr lang="en-US" sz="15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PTT </a:t>
            </a:r>
            <a:r>
              <a:rPr lang="zh-TW" altLang="en-US" sz="15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文本</a:t>
            </a:r>
            <a:endParaRPr sz="15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5467350" y="6897369"/>
            <a:ext cx="1714500" cy="30226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1,125,134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562850" y="6930968"/>
            <a:ext cx="8953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TW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15 </a:t>
            </a: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個來源；</a:t>
            </a:r>
            <a:r>
              <a:rPr lang="en-US" altLang="zh-TW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2008-01 </a:t>
            </a: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起；</a:t>
            </a:r>
            <a:r>
              <a:rPr 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entity matching 92%</a:t>
            </a:r>
            <a:endParaRPr sz="14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914400" y="7620000"/>
            <a:ext cx="16459200" cy="1295400"/>
          </a:xfrm>
          <a:prstGeom prst="rect">
            <a:avLst/>
          </a:prstGeom>
          <a:solidFill>
            <a:srgbClr val="FE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914400" y="7620000"/>
            <a:ext cx="57150" cy="12954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162050" y="7791450"/>
            <a:ext cx="5715000" cy="268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600" b="1" i="0" spc="26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Integrity guardrails </a:t>
            </a:r>
            <a:r>
              <a:rPr lang="zh-TW" altLang="en-US" sz="1600" b="1" i="0" spc="26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─</a:t>
            </a:r>
            <a:r>
              <a:rPr lang="en-US" sz="1600" b="1" i="0" spc="26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zh-TW" altLang="en-US" sz="1600" b="1" i="0" spc="26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資料完整性控管</a:t>
            </a:r>
            <a:endParaRPr sz="1600" b="1" i="0" spc="260" dirty="0">
              <a:solidFill>
                <a:srgbClr val="F43F5E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1162050" y="8077200"/>
            <a:ext cx="15887700" cy="6067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除權息日、</a:t>
            </a:r>
            <a:r>
              <a:rPr lang="en-US" altLang="zh-TW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RSI </a:t>
            </a: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異常與時序錯位已透過 </a:t>
            </a:r>
            <a:r>
              <a:rPr lang="en-US" altLang="zh-TW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ETL </a:t>
            </a: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校正；財報以發布日 </a:t>
            </a:r>
            <a:r>
              <a:rPr lang="en-US" altLang="zh-TW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+45 </a:t>
            </a: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日延遲對齊；文本僅取 </a:t>
            </a:r>
            <a:r>
              <a:rPr lang="en-US" altLang="zh-TW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 </a:t>
            </a: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日 </a:t>
            </a:r>
            <a:r>
              <a:rPr lang="en-US" altLang="zh-TW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15:00 </a:t>
            </a: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前資訊。</a:t>
            </a:r>
            <a:endParaRPr lang="en-US" altLang="zh-TW" sz="1400" b="0" i="0" dirty="0">
              <a:solidFill>
                <a:srgbClr val="0F172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  <a:p>
            <a:pPr algn="l">
              <a:lnSpc>
                <a:spcPct val="150000"/>
              </a:lnSpc>
            </a:pP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七張資料表均以 </a:t>
            </a:r>
            <a:r>
              <a:rPr lang="en-US" altLang="zh-TW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(</a:t>
            </a:r>
            <a:r>
              <a:rPr lang="en-US" sz="1400" b="0" i="0" dirty="0" err="1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stock_id</a:t>
            </a:r>
            <a:r>
              <a:rPr 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, date) </a:t>
            </a: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主鍵 </a:t>
            </a:r>
            <a:r>
              <a:rPr 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join，</a:t>
            </a: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最終形成 </a:t>
            </a:r>
            <a:r>
              <a:rPr lang="en-US" altLang="zh-TW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948,976 </a:t>
            </a: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列 </a:t>
            </a:r>
            <a:r>
              <a:rPr lang="en-US" altLang="zh-TW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× 91 </a:t>
            </a:r>
            <a:r>
              <a:rPr 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features </a:t>
            </a: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的分析 </a:t>
            </a:r>
            <a:r>
              <a:rPr 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panel。</a:t>
            </a:r>
            <a:endParaRPr sz="1400" b="0" i="0" dirty="0">
              <a:solidFill>
                <a:srgbClr val="0F172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429259"/>
            <a:ext cx="342900" cy="1511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404060"/>
            <a:ext cx="3619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多因子股票預測系統 · 附錄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404060"/>
            <a:ext cx="6667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Panel &amp; Walk-Forward CV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746959"/>
            <a:ext cx="12382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Source · López de Prado (2018) §7.4 · embargo length determined by 20-day return horizon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59000" y="9753600"/>
            <a:ext cx="19050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4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APPENDIX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40200" y="9801225"/>
            <a:ext cx="7620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954500" y="9738560"/>
            <a:ext cx="571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A.05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104900"/>
            <a:ext cx="7620000" cy="2358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TW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A.05 </a:t>
            </a:r>
            <a:r>
              <a:rPr lang="zh-TW" altLang="en-US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→</a:t>
            </a:r>
            <a:r>
              <a:rPr lang="en-US" altLang="zh-TW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Panel </a:t>
            </a:r>
            <a:r>
              <a:rPr lang="zh-TW" altLang="en-US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與時序驗證設計</a:t>
            </a:r>
            <a:endParaRPr sz="1400" b="1" i="0" spc="24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1371600"/>
            <a:ext cx="16668750" cy="1157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lang="en-US" altLang="zh-TW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Panel </a:t>
            </a:r>
            <a:r>
              <a:rPr lang="zh-TW" altLang="en-US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與 </a:t>
            </a:r>
            <a:r>
              <a:rPr lang="en-US" altLang="zh-TW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embargo </a:t>
            </a:r>
            <a:r>
              <a:rPr lang="zh-TW" altLang="en-US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設計是防止 </a:t>
            </a:r>
            <a:r>
              <a:rPr lang="en-US" altLang="zh-TW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D+20 </a:t>
            </a:r>
            <a:r>
              <a:rPr lang="zh-TW" altLang="en-US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標籤污染的關鍵機制</a:t>
            </a:r>
            <a:endParaRPr lang="en-US" altLang="zh-TW" sz="4000" b="1" spc="-8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  <a:p>
            <a:pPr>
              <a:lnSpc>
                <a:spcPct val="118000"/>
              </a:lnSpc>
            </a:pPr>
            <a:r>
              <a:rPr lang="zh-TW" altLang="en-US" sz="2600" b="1" spc="-4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時序資料不可用一般 </a:t>
            </a:r>
            <a:r>
              <a:rPr lang="en-US" altLang="zh-TW" sz="2600" b="1" spc="-4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K-fold </a:t>
            </a:r>
            <a:r>
              <a:rPr lang="zh-TW" altLang="en-US" sz="2600" b="1" spc="-4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驗證。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2552700"/>
            <a:ext cx="7620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14400" y="2933699"/>
            <a:ext cx="3943350" cy="173931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14400" y="2933700"/>
            <a:ext cx="394335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43000" y="3143250"/>
            <a:ext cx="348615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SAMPLES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409950"/>
            <a:ext cx="3486150" cy="738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 i="0" spc="-14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948,976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4384916"/>
            <a:ext cx="3486150" cy="24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TW" altLang="en-US" sz="12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以 </a:t>
            </a:r>
            <a:r>
              <a:rPr lang="en-US" altLang="zh-TW" sz="12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(</a:t>
            </a:r>
            <a:r>
              <a:rPr lang="en-US" sz="1200" b="0" i="0" dirty="0" err="1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stock_id</a:t>
            </a:r>
            <a:r>
              <a:rPr lang="en-US" sz="12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, date) </a:t>
            </a:r>
            <a:r>
              <a:rPr lang="zh-TW" altLang="en-US" sz="12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為主鍵</a:t>
            </a:r>
            <a:endParaRPr sz="1200" b="0" i="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086350" y="2933699"/>
            <a:ext cx="3943350" cy="173931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086350" y="2933700"/>
            <a:ext cx="394335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314950" y="3143250"/>
            <a:ext cx="348615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FEATURES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14950" y="3409950"/>
            <a:ext cx="3486150" cy="9403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600" b="1" i="0" spc="-14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91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14950" y="4384916"/>
            <a:ext cx="3486150" cy="24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TW" altLang="en-US" sz="12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由 </a:t>
            </a:r>
            <a:r>
              <a:rPr lang="en-US" altLang="zh-TW" sz="12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1,623 </a:t>
            </a:r>
            <a:r>
              <a:rPr lang="zh-TW" altLang="en-US" sz="12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候選特徵篩至 </a:t>
            </a:r>
            <a:r>
              <a:rPr lang="en-US" altLang="zh-TW" sz="12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91 </a:t>
            </a:r>
            <a:r>
              <a:rPr lang="zh-TW" altLang="en-US" sz="12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個生產特徵</a:t>
            </a:r>
            <a:endParaRPr sz="1200" b="0" i="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9258300" y="2933700"/>
            <a:ext cx="3943350" cy="173931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9258300" y="2933700"/>
            <a:ext cx="3943350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486900" y="3143250"/>
            <a:ext cx="348615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STOCKS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86900" y="3409950"/>
            <a:ext cx="3486150" cy="9403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600" b="1" i="0" spc="-140">
                <a:solidFill>
                  <a:srgbClr val="EA580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1,932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86900" y="4384916"/>
            <a:ext cx="3486150" cy="24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TW" altLang="en-US" sz="12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上市櫃樣本涵蓋</a:t>
            </a:r>
            <a:endParaRPr sz="1200" b="0" i="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13430250" y="2933699"/>
            <a:ext cx="3943350" cy="1739317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13430250" y="2933700"/>
            <a:ext cx="394335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3658850" y="3143250"/>
            <a:ext cx="348615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SPAN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658850" y="3409950"/>
            <a:ext cx="3486150" cy="9403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600" b="1" i="0" spc="-14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12y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658850" y="4384916"/>
            <a:ext cx="3486150" cy="24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TW" sz="12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2014-01</a:t>
            </a:r>
            <a:r>
              <a:rPr lang="zh-TW" altLang="en-US" sz="12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en-US" altLang="zh-TW" sz="12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~</a:t>
            </a:r>
            <a:r>
              <a:rPr lang="zh-TW" altLang="en-US" sz="12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en-US" altLang="zh-TW" sz="12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2025-12</a:t>
            </a:r>
            <a:endParaRPr sz="1200" b="0" i="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14400" y="4800600"/>
            <a:ext cx="9525000" cy="201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200" b="1" i="0" spc="24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Walk-forward purged k-fold</a:t>
            </a:r>
            <a:r>
              <a:rPr lang="zh-TW" altLang="en-US" sz="1200" b="1" i="0" spc="24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─</a:t>
            </a:r>
            <a:r>
              <a:rPr lang="en-US" sz="1200" b="1" i="0" spc="24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4-fold OOS view</a:t>
            </a:r>
            <a:endParaRPr sz="1200" b="1" i="0" spc="24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914400" y="5124449"/>
            <a:ext cx="16459200" cy="3269075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1485900" y="7620000"/>
            <a:ext cx="153162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1485900" y="7600950"/>
            <a:ext cx="9525" cy="762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200150" y="7734300"/>
            <a:ext cx="5715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2014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14950" y="7600950"/>
            <a:ext cx="9525" cy="762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029200" y="7734300"/>
            <a:ext cx="5715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2017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7600950"/>
            <a:ext cx="9525" cy="762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858250" y="7734300"/>
            <a:ext cx="5715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2020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2973050" y="7600950"/>
            <a:ext cx="9525" cy="762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2687300" y="7734300"/>
            <a:ext cx="5715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2023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6802100" y="7600950"/>
            <a:ext cx="9525" cy="762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6516350" y="7734300"/>
            <a:ext cx="5715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2025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485900" y="5524500"/>
            <a:ext cx="6124575" cy="3048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7610475" y="5524500"/>
            <a:ext cx="304800" cy="304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7915275" y="5524500"/>
            <a:ext cx="1990725" cy="3048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82640" y="5576135"/>
            <a:ext cx="5334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200" b="1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Fold 1</a:t>
            </a:r>
            <a:endParaRPr sz="1200" b="1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1485900" y="5905500"/>
            <a:ext cx="8420100" cy="3048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9906000" y="5905500"/>
            <a:ext cx="304800" cy="304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10210800" y="5905500"/>
            <a:ext cx="1990725" cy="3048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982640" y="5957135"/>
            <a:ext cx="5334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200" b="1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Fold 2</a:t>
            </a:r>
            <a:endParaRPr sz="1200" b="1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1485900" y="6286500"/>
            <a:ext cx="10715625" cy="3048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12201525" y="6286500"/>
            <a:ext cx="304800" cy="304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12506325" y="6286500"/>
            <a:ext cx="1990725" cy="3048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982640" y="6338135"/>
            <a:ext cx="5334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200" b="1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Fold 3</a:t>
            </a:r>
            <a:endParaRPr sz="1200" b="1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1485900" y="6667500"/>
            <a:ext cx="13011150" cy="3048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14497050" y="6667500"/>
            <a:ext cx="304800" cy="304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14801850" y="6667500"/>
            <a:ext cx="1990725" cy="3048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982640" y="6719135"/>
            <a:ext cx="5334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200" b="1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Fold 4</a:t>
            </a:r>
            <a:endParaRPr sz="1200" b="1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1485900" y="8020050"/>
            <a:ext cx="152400" cy="952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1695450" y="7975309"/>
            <a:ext cx="19050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Train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581400" y="8020050"/>
            <a:ext cx="152400" cy="952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3790950" y="7975309"/>
            <a:ext cx="19050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Embargo (20d)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676900" y="8020050"/>
            <a:ext cx="152400" cy="9525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5886450" y="7975309"/>
            <a:ext cx="19050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Test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14400" y="8536116"/>
            <a:ext cx="16459200" cy="1257300"/>
          </a:xfrm>
          <a:prstGeom prst="rect">
            <a:avLst/>
          </a:prstGeom>
          <a:solidFill>
            <a:srgbClr val="FE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914400" y="8536116"/>
            <a:ext cx="57150" cy="12573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1162050" y="8707566"/>
            <a:ext cx="5715000" cy="268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600" b="1" i="0" spc="26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Why embargo</a:t>
            </a:r>
            <a:r>
              <a:rPr lang="zh-TW" altLang="en-US" sz="1600" b="1" i="0" spc="26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？→</a:t>
            </a:r>
            <a:r>
              <a:rPr lang="en-US" sz="1600" b="1" i="0" spc="26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zh-TW" altLang="en-US" sz="1600" b="1" i="0" spc="26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防止標籤跨期污染</a:t>
            </a:r>
            <a:endParaRPr sz="1600" b="1" i="0" spc="260" dirty="0">
              <a:solidFill>
                <a:srgbClr val="F43F5E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1162050" y="8993316"/>
            <a:ext cx="15887700" cy="6067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TW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D+20 label </a:t>
            </a: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會使用未來 </a:t>
            </a:r>
            <a:r>
              <a:rPr lang="en-US" altLang="zh-TW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20 </a:t>
            </a: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日報酬；若未設置 </a:t>
            </a:r>
            <a:r>
              <a:rPr lang="en-US" altLang="zh-TW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20 </a:t>
            </a: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日 </a:t>
            </a:r>
            <a:r>
              <a:rPr lang="en-US" altLang="zh-TW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embargo</a:t>
            </a: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，訓練尾端樣本可能污染測試期。</a:t>
            </a:r>
            <a:br>
              <a:rPr lang="en-US" altLang="zh-TW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</a:b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因此，本研究採用 </a:t>
            </a:r>
            <a:r>
              <a:rPr lang="en-US" altLang="zh-TW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purge + expanding window</a:t>
            </a: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，確保 </a:t>
            </a:r>
            <a:r>
              <a:rPr lang="en-US" altLang="zh-TW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AUC</a:t>
            </a: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、</a:t>
            </a:r>
            <a:r>
              <a:rPr lang="en-US" altLang="zh-TW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ICIR </a:t>
            </a: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與 </a:t>
            </a:r>
            <a:r>
              <a:rPr lang="en-US" altLang="zh-TW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DSR </a:t>
            </a: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均於完全 </a:t>
            </a:r>
            <a:r>
              <a:rPr lang="en-US" altLang="zh-TW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out-of-sample </a:t>
            </a: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條件下測得。</a:t>
            </a:r>
            <a:endParaRPr sz="1400" b="0" i="0" dirty="0">
              <a:solidFill>
                <a:srgbClr val="0F172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429259"/>
            <a:ext cx="342900" cy="1511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404060"/>
            <a:ext cx="3619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多因子股票預測系統 · 附錄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404060"/>
            <a:ext cx="6667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Tech Stack · 5 Layers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746959"/>
            <a:ext cx="12382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Source · 自行整理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59000" y="9753600"/>
            <a:ext cx="19050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4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APPENDIX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40200" y="9801225"/>
            <a:ext cx="7620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954500" y="9738560"/>
            <a:ext cx="571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A.06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104900"/>
            <a:ext cx="6667500" cy="2358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TW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A.06 </a:t>
            </a:r>
            <a:r>
              <a:rPr lang="zh-TW" altLang="en-US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→</a:t>
            </a:r>
            <a:r>
              <a:rPr lang="en-US" altLang="zh-TW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zh-TW" altLang="en-US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五層技術架構</a:t>
            </a:r>
            <a:endParaRPr sz="1400" b="1" i="0" spc="24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1371600"/>
            <a:ext cx="16668750" cy="1157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lang="zh-TW" altLang="en-US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五層技術架構支撐研究系統從資料到部署原型的延展性</a:t>
            </a:r>
            <a:endParaRPr lang="en-US" altLang="zh-TW" sz="4000" b="1" spc="-8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  <a:p>
            <a:pPr>
              <a:lnSpc>
                <a:spcPct val="118000"/>
              </a:lnSpc>
            </a:pPr>
            <a:r>
              <a:rPr lang="en-US" altLang="zh-TW" sz="2600" b="1" spc="-4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Storage</a:t>
            </a:r>
            <a:r>
              <a:rPr lang="zh-TW" altLang="en-US" sz="2600" b="1" spc="-4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、</a:t>
            </a:r>
            <a:r>
              <a:rPr lang="en-US" altLang="zh-TW" sz="2600" b="1" spc="-4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ETL</a:t>
            </a:r>
            <a:r>
              <a:rPr lang="zh-TW" altLang="en-US" sz="2600" b="1" spc="-4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、</a:t>
            </a:r>
            <a:r>
              <a:rPr lang="en-US" altLang="zh-TW" sz="2600" b="1" spc="-4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Feature</a:t>
            </a:r>
            <a:r>
              <a:rPr lang="zh-TW" altLang="en-US" sz="2600" b="1" spc="-4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、</a:t>
            </a:r>
            <a:r>
              <a:rPr lang="en-US" altLang="zh-TW" sz="2600" b="1" spc="-4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Model</a:t>
            </a:r>
            <a:r>
              <a:rPr lang="zh-TW" altLang="en-US" sz="2600" b="1" spc="-4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、</a:t>
            </a:r>
            <a:r>
              <a:rPr lang="en-US" altLang="zh-TW" sz="2600" b="1" spc="-4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Serve </a:t>
            </a:r>
            <a:r>
              <a:rPr lang="zh-TW" altLang="en-US" sz="2600" b="1" spc="-4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分層管理。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2552700"/>
            <a:ext cx="7620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14400" y="2933700"/>
            <a:ext cx="16459200" cy="9525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14400" y="2933700"/>
            <a:ext cx="76200" cy="9525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200150" y="3105150"/>
            <a:ext cx="7620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52600" y="3143250"/>
            <a:ext cx="190500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2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SERVE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0150" y="3429000"/>
            <a:ext cx="2476500" cy="3358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TW" altLang="en-US" sz="20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互動展示層</a:t>
            </a:r>
            <a:endParaRPr sz="2000" b="1" i="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152900" y="3140018"/>
            <a:ext cx="95250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400" b="0" i="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Streamlit</a:t>
            </a:r>
            <a:r>
              <a:rPr 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13 pages · ICIR / SHAP / Decile / Equity </a:t>
            </a: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視覺化切換</a:t>
            </a:r>
            <a:endParaRPr sz="14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152900" y="3537817"/>
            <a:ext cx="9525000" cy="2014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 spc="4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↪ app/, dashboard.py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058900" y="3057290"/>
            <a:ext cx="3048000" cy="7053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4200" b="1" i="0" spc="-14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L5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4000500"/>
            <a:ext cx="16459200" cy="9525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914400" y="4000500"/>
            <a:ext cx="76200" cy="9525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200150" y="4171950"/>
            <a:ext cx="7620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EA580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52600" y="4210050"/>
            <a:ext cx="190500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20">
                <a:solidFill>
                  <a:srgbClr val="EA580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MODEL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00150" y="4495800"/>
            <a:ext cx="2476500" cy="3358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模型訓練層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52900" y="4206818"/>
            <a:ext cx="95250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400" b="0" i="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XGBoost</a:t>
            </a:r>
            <a:r>
              <a:rPr 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1.7、LightGBM 4.x、scikit-learn；Optuna 150 trials</a:t>
            </a:r>
            <a:endParaRPr sz="14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152900" y="4604617"/>
            <a:ext cx="9525000" cy="2014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 spc="4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↪ src/models/, model_registry/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058900" y="4124090"/>
            <a:ext cx="3048000" cy="7053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4200" b="1" i="0" spc="-140">
                <a:solidFill>
                  <a:srgbClr val="EA580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L4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" y="5067300"/>
            <a:ext cx="16459200" cy="9525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914400" y="5067300"/>
            <a:ext cx="76200" cy="9525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200150" y="5238750"/>
            <a:ext cx="7620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F59E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52600" y="5276850"/>
            <a:ext cx="190500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20">
                <a:solidFill>
                  <a:srgbClr val="F59E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FEATURE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00150" y="5562600"/>
            <a:ext cx="2476500" cy="3358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特徵工程層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52900" y="5273618"/>
            <a:ext cx="95250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91 features × 9 </a:t>
            </a:r>
            <a:r>
              <a:rPr lang="en-US" sz="1400" b="0" i="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pillars；Purged</a:t>
            </a:r>
            <a:r>
              <a:rPr 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K-Fold + 20d embargo</a:t>
            </a:r>
            <a:endParaRPr sz="14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152900" y="5671417"/>
            <a:ext cx="9525000" cy="2014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 spc="4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↪ src/features/, feature_store.parquet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058900" y="5190890"/>
            <a:ext cx="3048000" cy="7053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4200" b="1" i="0" spc="-140">
                <a:solidFill>
                  <a:srgbClr val="F59E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L3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" y="6134100"/>
            <a:ext cx="16459200" cy="9525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914400" y="6134100"/>
            <a:ext cx="76200" cy="9525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200150" y="6305550"/>
            <a:ext cx="7620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52600" y="6343650"/>
            <a:ext cx="190500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2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ETL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00150" y="6629400"/>
            <a:ext cx="2476500" cy="3358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資料對齊層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52900" y="6340418"/>
            <a:ext cx="95250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7 tables → panel；</a:t>
            </a: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主鍵 </a:t>
            </a:r>
            <a:r>
              <a:rPr lang="en-US" altLang="zh-TW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(</a:t>
            </a:r>
            <a:r>
              <a:rPr lang="en-US" sz="1400" b="0" i="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stock_id</a:t>
            </a:r>
            <a:r>
              <a:rPr 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, date)；</a:t>
            </a: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財報 </a:t>
            </a:r>
            <a:r>
              <a:rPr 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lag 45d</a:t>
            </a:r>
            <a:endParaRPr sz="14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152900" y="6738217"/>
            <a:ext cx="9525000" cy="2014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 spc="4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↪ src/etl/, scripts/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058900" y="6257690"/>
            <a:ext cx="3048000" cy="7053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4200" b="1" i="0" spc="-14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L2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4400" y="7200900"/>
            <a:ext cx="16459200" cy="9525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914400" y="7200900"/>
            <a:ext cx="76200" cy="9525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200150" y="7372350"/>
            <a:ext cx="7620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752600" y="7410450"/>
            <a:ext cx="190500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2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STORAGE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00150" y="7696200"/>
            <a:ext cx="2476500" cy="3358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儲存層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52900" y="7407218"/>
            <a:ext cx="95250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400" b="0" i="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DuckDB</a:t>
            </a:r>
            <a:r>
              <a:rPr 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0.10 + </a:t>
            </a:r>
            <a:r>
              <a:rPr lang="en-US" sz="1400" b="0" i="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Parquet；local</a:t>
            </a:r>
            <a:r>
              <a:rPr 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en-US" sz="1400" b="0" i="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snapshot；WAL</a:t>
            </a:r>
            <a:r>
              <a:rPr 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off；35 GB</a:t>
            </a:r>
            <a:endParaRPr sz="14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4152900" y="7805017"/>
            <a:ext cx="9525000" cy="2014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 spc="4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↪ data/raw/, data/processed/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4058900" y="7324490"/>
            <a:ext cx="3048000" cy="7053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4200" b="1" i="0" spc="-14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L1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4400" y="8364935"/>
            <a:ext cx="16459200" cy="1226707"/>
          </a:xfrm>
          <a:prstGeom prst="rect">
            <a:avLst/>
          </a:prstGeom>
          <a:solidFill>
            <a:srgbClr val="FE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914400" y="8364935"/>
            <a:ext cx="57150" cy="1226707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162050" y="8536386"/>
            <a:ext cx="5715000" cy="268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TW" sz="1600" b="1" spc="26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Containerized </a:t>
            </a:r>
            <a:r>
              <a:rPr lang="zh-TW" altLang="en-US" sz="1600" b="1" spc="26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─</a:t>
            </a:r>
            <a:r>
              <a:rPr lang="en-US" sz="1600" b="1" i="0" spc="26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zh-TW" altLang="en-US" sz="1600" b="1" i="0" spc="26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可重現部署</a:t>
            </a:r>
            <a:endParaRPr sz="1600" b="1" i="0" spc="260" dirty="0">
              <a:solidFill>
                <a:srgbClr val="F43F5E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162050" y="8822136"/>
            <a:ext cx="15887700" cy="6067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五層皆設計 </a:t>
            </a:r>
            <a:r>
              <a:rPr 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unit test </a:t>
            </a: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與 </a:t>
            </a:r>
            <a:r>
              <a:rPr 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integration test；</a:t>
            </a: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任一層均可獨立替換，例如 </a:t>
            </a:r>
            <a:r>
              <a:rPr lang="en-US" sz="1400" b="0" i="0" dirty="0" err="1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DuckDB</a:t>
            </a:r>
            <a:r>
              <a:rPr 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→ </a:t>
            </a:r>
            <a:r>
              <a:rPr lang="en-US" sz="1400" b="0" i="0" dirty="0" err="1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BigQuery</a:t>
            </a:r>
            <a:r>
              <a:rPr 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。</a:t>
            </a:r>
          </a:p>
          <a:p>
            <a:pPr algn="l">
              <a:lnSpc>
                <a:spcPct val="150000"/>
              </a:lnSpc>
            </a:pPr>
            <a:r>
              <a:rPr lang="zh-TW" altLang="en-US" sz="14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透過 </a:t>
            </a:r>
            <a:r>
              <a:rPr lang="en-US" altLang="zh-TW" sz="14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Docker Compose </a:t>
            </a:r>
            <a:r>
              <a:rPr lang="zh-TW" altLang="en-US" sz="14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可重建訓練環境，支援端到端原型交付與後續擴充。</a:t>
            </a:r>
            <a:endParaRPr sz="1400" b="1" i="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429259"/>
            <a:ext cx="342900" cy="1511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404060"/>
            <a:ext cx="3619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多因子股票預測系統 · 附錄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404060"/>
            <a:ext cx="6667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9-Pillar Framework · Detail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746959"/>
            <a:ext cx="12382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Source · 自行整理 · 91 features grouped to 9 pillars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59000" y="9753600"/>
            <a:ext cx="19050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4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APPENDIX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40200" y="9801225"/>
            <a:ext cx="7620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954500" y="9738560"/>
            <a:ext cx="571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A.07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104900"/>
            <a:ext cx="666750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A.07 </a:t>
            </a:r>
            <a:r>
              <a:rPr lang="zh-TW" altLang="en-US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→</a:t>
            </a:r>
            <a:r>
              <a:rPr lang="en-US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zh-TW" altLang="en-US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九支柱特徵框架</a:t>
            </a:r>
            <a:endParaRPr sz="1400" b="1" i="0" spc="24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1371600"/>
            <a:ext cx="16668750" cy="11915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TW" altLang="en-US" sz="4000" b="1" i="0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九支柱框架讓模型同時吸收價格、基本面、風險與文本訊號</a:t>
            </a:r>
            <a:endParaRPr lang="en-US" altLang="zh-TW" sz="4000" b="1" i="0" spc="-8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  <a:p>
            <a:pPr algn="l">
              <a:lnSpc>
                <a:spcPct val="118000"/>
              </a:lnSpc>
            </a:pPr>
            <a:r>
              <a:rPr lang="zh-TW" altLang="en-US" sz="2600" b="1" i="0" spc="-8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支柱化設計提升解釋性與治理能力。</a:t>
            </a:r>
            <a:endParaRPr lang="en-US" altLang="zh-TW" sz="2600" b="1" i="0" spc="-80" dirty="0"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14400" y="2552700"/>
            <a:ext cx="7620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14400" y="2933700"/>
            <a:ext cx="54102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14400" y="2933700"/>
            <a:ext cx="54102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43000" y="3124200"/>
            <a:ext cx="19050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RSK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72100" y="3124200"/>
            <a:ext cx="7620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200" b="1" i="0" spc="-4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3193759"/>
            <a:ext cx="571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feat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486150"/>
            <a:ext cx="4953000" cy="3358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Risk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3848100"/>
            <a:ext cx="571500" cy="28575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43000" y="3962400"/>
            <a:ext cx="4953000" cy="24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1200" b="0" i="0" spc="2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volatility_20d · </a:t>
            </a:r>
            <a:r>
              <a:rPr lang="en-US" sz="1200" b="0" i="0" spc="2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downside_dev</a:t>
            </a:r>
            <a:r>
              <a:rPr lang="en-US" sz="1200" b="0" i="0" spc="2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· maxdd_60d · beta_60d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6050" y="2933700"/>
            <a:ext cx="54102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496050" y="2933700"/>
            <a:ext cx="5410200" cy="381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724650" y="3124200"/>
            <a:ext cx="19050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1E40A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53750" y="3124200"/>
            <a:ext cx="7620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200" b="1" i="0" spc="-4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</a:t>
            </a:r>
            <a:r>
              <a:rPr lang="en-US" altLang="zh-TW" sz="2200" b="1" i="0" spc="-4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</a:t>
            </a:r>
            <a:endParaRPr sz="2200" b="1" i="0" spc="-4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382250" y="3193759"/>
            <a:ext cx="571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feat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4650" y="3486150"/>
            <a:ext cx="4953000" cy="3358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Trend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24650" y="3848100"/>
            <a:ext cx="571500" cy="28575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724650" y="3962400"/>
            <a:ext cx="4953000" cy="24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 spc="2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sma_5_20_ratio · macd_signal · adx_14 · slope_20d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077700" y="2933700"/>
            <a:ext cx="54102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12077700" y="2933700"/>
            <a:ext cx="541020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2306300" y="3124200"/>
            <a:ext cx="19050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MOM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535400" y="3124200"/>
            <a:ext cx="7620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altLang="zh-TW" sz="2200" b="1" i="0" spc="-4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10</a:t>
            </a:r>
            <a:endParaRPr sz="2200" b="1" i="0" spc="-4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5963900" y="3193759"/>
            <a:ext cx="571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feat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306300" y="3486150"/>
            <a:ext cx="4953000" cy="3358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Momentum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2306300" y="3848100"/>
            <a:ext cx="571500" cy="28575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2306300" y="3962400"/>
            <a:ext cx="4953000" cy="24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 spc="2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ret_5d · ret_20d · ret_60d · roc_10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" y="4705350"/>
            <a:ext cx="54102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914400" y="4705350"/>
            <a:ext cx="5410200" cy="381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143000" y="4895850"/>
            <a:ext cx="19050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0891B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VAL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72100" y="4895850"/>
            <a:ext cx="7620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altLang="zh-TW" sz="2200" b="1" i="0" spc="-4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8</a:t>
            </a:r>
            <a:endParaRPr sz="2200" b="1" i="0" spc="-4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800600" y="4965409"/>
            <a:ext cx="571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feat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3000" y="5257800"/>
            <a:ext cx="4953000" cy="3358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Valuation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43000" y="5619750"/>
            <a:ext cx="571500" cy="28575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143000" y="5734050"/>
            <a:ext cx="4953000" cy="24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 spc="2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pe · pb · ev_ebitda · earnings_yield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96050" y="4705350"/>
            <a:ext cx="54102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6496050" y="4705350"/>
            <a:ext cx="54102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724650" y="4895850"/>
            <a:ext cx="19050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FND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53750" y="4895850"/>
            <a:ext cx="7620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200" b="1" i="0" spc="-4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</a:t>
            </a:r>
            <a:r>
              <a:rPr lang="en-US" altLang="zh-TW" sz="2200" b="1" i="0" spc="-4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</a:t>
            </a:r>
            <a:endParaRPr sz="2200" b="1" i="0" spc="-4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0382250" y="4965409"/>
            <a:ext cx="571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feat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24650" y="5257800"/>
            <a:ext cx="4953000" cy="3358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20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Fund.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724650" y="5619750"/>
            <a:ext cx="571500" cy="2857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724650" y="5734050"/>
            <a:ext cx="4953000" cy="24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 spc="2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roe · gross_margin · debt_eq · revenue_growth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2077700" y="4705350"/>
            <a:ext cx="54102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12077700" y="4705350"/>
            <a:ext cx="54102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2306300" y="4895850"/>
            <a:ext cx="19050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F59E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IND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6535400" y="4895850"/>
            <a:ext cx="7620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altLang="zh-TW" sz="2200" b="1" i="0" spc="-4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9</a:t>
            </a:r>
            <a:endParaRPr sz="2200" b="1" i="0" spc="-4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5963900" y="4965409"/>
            <a:ext cx="571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feat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306300" y="5257800"/>
            <a:ext cx="4953000" cy="3358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Industry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2306300" y="5619750"/>
            <a:ext cx="571500" cy="2857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2306300" y="5734050"/>
            <a:ext cx="4953000" cy="24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 spc="2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sector_dummy × 9 · industry_momentum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14400" y="6477000"/>
            <a:ext cx="54102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914400" y="6477000"/>
            <a:ext cx="5410200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1143000" y="6667500"/>
            <a:ext cx="19050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EA580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CHP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72100" y="6667500"/>
            <a:ext cx="7620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altLang="zh-TW" sz="2200" b="1" i="0" spc="-4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12</a:t>
            </a:r>
            <a:endParaRPr sz="2200" b="1" i="0" spc="-4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4800600" y="6737059"/>
            <a:ext cx="571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feat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43000" y="7029450"/>
            <a:ext cx="4953000" cy="3358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Chip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143000" y="7391400"/>
            <a:ext cx="571500" cy="28575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1143000" y="7505700"/>
            <a:ext cx="4953000" cy="24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 spc="2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foreign_inv_buy · margin_balance · short_ratio · turnover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496050" y="6477000"/>
            <a:ext cx="54102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6496050" y="6477000"/>
            <a:ext cx="54102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6724650" y="6667500"/>
            <a:ext cx="19050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SNT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953750" y="6667500"/>
            <a:ext cx="7620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altLang="zh-TW" sz="2200" b="1" i="0" spc="-4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8</a:t>
            </a:r>
            <a:endParaRPr sz="2200" b="1" i="0" spc="-4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10382250" y="6737059"/>
            <a:ext cx="571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feat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724650" y="7029450"/>
            <a:ext cx="4953000" cy="3358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Sentiment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724650" y="7391400"/>
            <a:ext cx="571500" cy="2857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6724650" y="7505700"/>
            <a:ext cx="4953000" cy="24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 spc="2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news_sent · forum_sent · sent_consensus · q1_dummy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2077700" y="6477000"/>
            <a:ext cx="54102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12077700" y="6477000"/>
            <a:ext cx="5410200" cy="381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12306300" y="6667500"/>
            <a:ext cx="19050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EC489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EVT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6535400" y="6667500"/>
            <a:ext cx="7620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200" b="1" i="0" spc="-4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7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5963900" y="6737059"/>
            <a:ext cx="571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feat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2306300" y="7029450"/>
            <a:ext cx="4953000" cy="3358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Event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2306300" y="7391400"/>
            <a:ext cx="571500" cy="28575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12306300" y="7505700"/>
            <a:ext cx="4953000" cy="24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 spc="2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earnings_announce · ex_div · split · merger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14400" y="8420099"/>
            <a:ext cx="16459200" cy="1052705"/>
          </a:xfrm>
          <a:prstGeom prst="rect">
            <a:avLst/>
          </a:prstGeom>
          <a:solidFill>
            <a:srgbClr val="FE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914400" y="8420099"/>
            <a:ext cx="57150" cy="105270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1162050" y="8591550"/>
            <a:ext cx="5715000" cy="268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600" b="1" spc="26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Block structure</a:t>
            </a:r>
            <a:r>
              <a:rPr lang="zh-TW" altLang="en-US" sz="1600" b="1" spc="26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─</a:t>
            </a:r>
            <a:r>
              <a:rPr lang="en-US" sz="1600" b="1" i="0" spc="26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zh-TW" altLang="en-US" sz="1600" b="1" i="0" spc="26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支柱化設計</a:t>
            </a:r>
            <a:endParaRPr sz="1600" b="1" i="0" spc="260" dirty="0">
              <a:solidFill>
                <a:srgbClr val="F43F5E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1162050" y="8931892"/>
            <a:ext cx="15887700" cy="2835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九支柱分別對應價格、基本面、風險、籌碼與文本等訊號來源；各支柱可獨立進行 </a:t>
            </a:r>
            <a:r>
              <a:rPr lang="en-US" altLang="zh-TW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ablation</a:t>
            </a: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，</a:t>
            </a:r>
            <a:r>
              <a:rPr lang="en-US" altLang="zh-TW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LOPO </a:t>
            </a: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結果見 </a:t>
            </a:r>
            <a:r>
              <a:rPr lang="en-US" altLang="zh-TW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Appendix A.08</a:t>
            </a: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。</a:t>
            </a:r>
            <a:endParaRPr sz="1400" b="0" i="0" dirty="0">
              <a:solidFill>
                <a:srgbClr val="0F172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429259"/>
            <a:ext cx="342900" cy="1511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404060"/>
            <a:ext cx="3619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多因子股票預測系統 · 附錄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404060"/>
            <a:ext cx="6667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LOPO ΔAUC · Detail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746959"/>
            <a:ext cx="12382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Source · 自行整理 · 4-fold mean ΔAUC × 10,000 (bps)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59000" y="9753600"/>
            <a:ext cx="19050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4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APPENDIX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40200" y="9801225"/>
            <a:ext cx="7620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954500" y="9738560"/>
            <a:ext cx="571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A.08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104900"/>
            <a:ext cx="7620000" cy="2358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TW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A.08 </a:t>
            </a:r>
            <a:r>
              <a:rPr lang="zh-TW" altLang="en-US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→</a:t>
            </a:r>
            <a:r>
              <a:rPr lang="en-US" altLang="zh-TW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LOPO </a:t>
            </a:r>
            <a:r>
              <a:rPr lang="zh-TW" altLang="en-US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支柱貢獻驗證</a:t>
            </a:r>
            <a:endParaRPr sz="1400" b="1" i="0" spc="24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1371600"/>
            <a:ext cx="16668750" cy="1157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lang="en-US" altLang="zh-TW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LOPO </a:t>
            </a:r>
            <a:r>
              <a:rPr lang="zh-TW" altLang="en-US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驗證顯示 </a:t>
            </a:r>
            <a:r>
              <a:rPr lang="en-US" altLang="zh-TW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Risk </a:t>
            </a:r>
            <a:r>
              <a:rPr lang="zh-TW" altLang="en-US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支柱是模型不可替代的核心訊號源</a:t>
            </a:r>
            <a:endParaRPr lang="en-US" altLang="zh-TW" sz="4000" b="1" spc="-8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  <a:p>
            <a:pPr>
              <a:lnSpc>
                <a:spcPct val="118000"/>
              </a:lnSpc>
            </a:pPr>
            <a:r>
              <a:rPr lang="zh-TW" altLang="en-US" sz="2600" b="1" spc="-8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支柱貢獻不是由特徵數量決定。</a:t>
            </a:r>
            <a:endParaRPr lang="en-US" altLang="zh-TW" sz="2600" b="1" spc="-80" dirty="0"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14400" y="2552700"/>
            <a:ext cx="7620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14400" y="2933700"/>
            <a:ext cx="10477500" cy="51435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04900" y="3105150"/>
            <a:ext cx="66675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TW" sz="1100" b="1" i="0" spc="16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</a:t>
            </a:r>
            <a:r>
              <a:rPr lang="zh-TW" altLang="en-US" sz="1100" b="1" i="0" spc="16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移除單一支柱後的 </a:t>
            </a:r>
            <a:r>
              <a:rPr lang="en-US" sz="1100" b="1" i="0" spc="16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OOS AUC </a:t>
            </a:r>
            <a:r>
              <a:rPr lang="zh-TW" altLang="en-US" sz="1100" b="1" i="0" spc="16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變動（</a:t>
            </a:r>
            <a:r>
              <a:rPr lang="en-US" altLang="zh-TW" sz="1100" b="1" i="0" spc="16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4-</a:t>
            </a:r>
            <a:r>
              <a:rPr lang="en-US" sz="1100" b="1" i="0" spc="16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fold mean, bps）</a:t>
            </a:r>
            <a:endParaRPr sz="1100" b="1" i="0" spc="16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04900" y="3568643"/>
            <a:ext cx="1714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Risk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71800" y="3676650"/>
            <a:ext cx="62865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115050" y="3562350"/>
            <a:ext cx="9525" cy="2476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124575" y="3600450"/>
            <a:ext cx="2647950" cy="1714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410700" y="3577042"/>
            <a:ext cx="1143000" cy="218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+138.6 bps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4900" y="4044893"/>
            <a:ext cx="1714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Trend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71800" y="4152900"/>
            <a:ext cx="62865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115050" y="4038600"/>
            <a:ext cx="9525" cy="2476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124575" y="4076700"/>
            <a:ext cx="1238250" cy="1714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410700" y="4053292"/>
            <a:ext cx="1143000" cy="218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+64.9 bps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4900" y="4521143"/>
            <a:ext cx="1714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Valuation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71800" y="4629150"/>
            <a:ext cx="62865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115050" y="4514850"/>
            <a:ext cx="9525" cy="2476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124575" y="4552950"/>
            <a:ext cx="180975" cy="1714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410700" y="4529542"/>
            <a:ext cx="1143000" cy="218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+9.5 bps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4900" y="4997393"/>
            <a:ext cx="1714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400" b="1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Sentiment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71800" y="5105400"/>
            <a:ext cx="62865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6115050" y="4991100"/>
            <a:ext cx="9525" cy="2476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6124575" y="5029200"/>
            <a:ext cx="161925" cy="1714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410700" y="5005792"/>
            <a:ext cx="1143000" cy="218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+8.5 bps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4900" y="5473643"/>
            <a:ext cx="1714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400" b="1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Fundamental</a:t>
            </a:r>
            <a:endParaRPr sz="1400" b="1" i="0" dirty="0">
              <a:solidFill>
                <a:srgbClr val="0F172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2971800" y="5581650"/>
            <a:ext cx="62865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6115050" y="5467350"/>
            <a:ext cx="9525" cy="2476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057900" y="5505450"/>
            <a:ext cx="47625" cy="1714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410700" y="5482042"/>
            <a:ext cx="1143000" cy="218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-2.6 bps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4900" y="5949893"/>
            <a:ext cx="1714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Sentiment forum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971800" y="6057900"/>
            <a:ext cx="62865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6115050" y="5943600"/>
            <a:ext cx="9525" cy="2476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6057900" y="5981700"/>
            <a:ext cx="47625" cy="1714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9410700" y="5958292"/>
            <a:ext cx="1143000" cy="218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-2.8 bps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4900" y="6426143"/>
            <a:ext cx="1714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Industry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971800" y="6534150"/>
            <a:ext cx="62865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6115050" y="6419850"/>
            <a:ext cx="9525" cy="2476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5829300" y="6457950"/>
            <a:ext cx="276225" cy="1714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410700" y="6434542"/>
            <a:ext cx="1143000" cy="218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-14.8 bps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04900" y="6902393"/>
            <a:ext cx="1714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Event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971800" y="7010400"/>
            <a:ext cx="62865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6115050" y="6896100"/>
            <a:ext cx="9525" cy="2476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5810250" y="6934200"/>
            <a:ext cx="295275" cy="1714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9410700" y="6910792"/>
            <a:ext cx="1143000" cy="218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-15.7 bps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04900" y="7378643"/>
            <a:ext cx="1714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Chip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971800" y="7486650"/>
            <a:ext cx="62865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6115050" y="7372350"/>
            <a:ext cx="9525" cy="2476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5753100" y="7410450"/>
            <a:ext cx="352425" cy="1714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9410700" y="7387042"/>
            <a:ext cx="1143000" cy="218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-18.5 bps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544300" y="3105150"/>
            <a:ext cx="57150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100" b="1" i="0" spc="20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THREE READINGS </a:t>
            </a:r>
            <a:r>
              <a:rPr lang="zh-TW" altLang="en-US" sz="1100" b="1" i="0" spc="20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─</a:t>
            </a:r>
            <a:r>
              <a:rPr lang="en-US" sz="1100" b="1" i="0" spc="20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zh-TW" altLang="en-US" sz="1100" b="1" i="0" spc="20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三項關鍵解讀</a:t>
            </a:r>
            <a:endParaRPr sz="1100" b="1" i="0" spc="20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11544300" y="3486150"/>
            <a:ext cx="5829300" cy="144180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11544300" y="3486150"/>
            <a:ext cx="58293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11772900" y="3657600"/>
            <a:ext cx="571500" cy="4030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 spc="-4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2382500" y="3695700"/>
            <a:ext cx="4381500" cy="3358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20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Risk </a:t>
            </a:r>
            <a:r>
              <a:rPr lang="zh-TW" altLang="en-US" sz="20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是不可替代的訊號地基</a:t>
            </a:r>
            <a:endParaRPr sz="2000" b="1" i="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12382500" y="4038600"/>
            <a:ext cx="571500" cy="28575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12382500" y="4171950"/>
            <a:ext cx="4762500" cy="6067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移除 </a:t>
            </a:r>
            <a:r>
              <a:rPr lang="en-US" altLang="zh-TW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Risk </a:t>
            </a: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後 </a:t>
            </a:r>
            <a:r>
              <a:rPr lang="en-US" altLang="zh-TW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AUC </a:t>
            </a: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減少 </a:t>
            </a:r>
            <a:r>
              <a:rPr lang="en-US" altLang="zh-TW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+138.6 bps</a:t>
            </a: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，顯示風險支柱提供最主要邊際貢獻。</a:t>
            </a:r>
            <a:endParaRPr sz="14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11544300" y="5037732"/>
            <a:ext cx="5829300" cy="14649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11544300" y="5037732"/>
            <a:ext cx="582930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11772900" y="5209182"/>
            <a:ext cx="571500" cy="4030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 spc="-4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2382500" y="5247282"/>
            <a:ext cx="4381500" cy="3358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TW" sz="20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Trend </a:t>
            </a:r>
            <a:r>
              <a:rPr lang="zh-TW" altLang="en-US" sz="20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提供穩定的價格動能訊號</a:t>
            </a:r>
            <a:endParaRPr sz="2000" b="1" i="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12382500" y="5590182"/>
            <a:ext cx="571500" cy="28575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12382500" y="5723532"/>
            <a:ext cx="4762500" cy="6067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TW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Trend </a:t>
            </a: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貢獻 </a:t>
            </a:r>
            <a:r>
              <a:rPr lang="en-US" altLang="zh-TW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+64.9 bps</a:t>
            </a: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，說明價格動能仍是 </a:t>
            </a:r>
            <a:r>
              <a:rPr lang="en-US" altLang="zh-TW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D+20 </a:t>
            </a: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預測的重要來源。</a:t>
            </a:r>
            <a:endParaRPr sz="14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11544300" y="6589314"/>
            <a:ext cx="5829300" cy="148788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11544300" y="6589314"/>
            <a:ext cx="58293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11772900" y="6760764"/>
            <a:ext cx="571500" cy="4030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 spc="-4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2382500" y="6798864"/>
            <a:ext cx="4381500" cy="3358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TW" altLang="en-US" sz="20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文本與情緒提供額外邊際貢獻</a:t>
            </a:r>
            <a:endParaRPr sz="2000" b="1" i="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12382500" y="7141764"/>
            <a:ext cx="571500" cy="2857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12382500" y="7275114"/>
            <a:ext cx="4762500" cy="6067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Text / Sentiment </a:t>
            </a: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貢獻為正，雖小於 </a:t>
            </a:r>
            <a:r>
              <a:rPr 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Risk </a:t>
            </a: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與 </a:t>
            </a:r>
            <a:r>
              <a:rPr 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Trend，</a:t>
            </a: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但可作為主模型之外的補充訊號。</a:t>
            </a:r>
            <a:endParaRPr sz="14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914400" y="8267700"/>
            <a:ext cx="16459200" cy="1244890"/>
          </a:xfrm>
          <a:prstGeom prst="rect">
            <a:avLst/>
          </a:prstGeom>
          <a:solidFill>
            <a:srgbClr val="FE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1" name="Rectangle 80"/>
          <p:cNvSpPr/>
          <p:nvPr/>
        </p:nvSpPr>
        <p:spPr>
          <a:xfrm>
            <a:off x="914400" y="8267700"/>
            <a:ext cx="57150" cy="124489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1162050" y="8439150"/>
            <a:ext cx="5715000" cy="268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600" b="1" i="0" spc="26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Implication</a:t>
            </a:r>
            <a:r>
              <a:rPr sz="1600" b="1" i="0" spc="26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·</a:t>
            </a:r>
            <a:r>
              <a:rPr lang="zh-TW" altLang="en-US" sz="1600" b="1" i="0" spc="26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特徵精簡啟示</a:t>
            </a:r>
            <a:endParaRPr sz="1600" b="1" i="0" spc="260" dirty="0">
              <a:solidFill>
                <a:srgbClr val="F43F5E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1162050" y="8724900"/>
            <a:ext cx="15887700" cy="65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TW" altLang="en-US" sz="15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若進行下一輪特徵精簡，應優先重估 </a:t>
            </a:r>
            <a:r>
              <a:rPr lang="en-US" altLang="zh-TW" sz="15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Chip / Event / Industry </a:t>
            </a:r>
            <a:r>
              <a:rPr lang="zh-TW" altLang="en-US" sz="15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三支柱；三者合計約 −</a:t>
            </a:r>
            <a:r>
              <a:rPr lang="en-US" altLang="zh-TW" sz="15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49 bps</a:t>
            </a:r>
            <a:r>
              <a:rPr lang="zh-TW" altLang="en-US" sz="15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，呈現負邊際貢獻。</a:t>
            </a:r>
            <a:endParaRPr lang="en-US" altLang="zh-TW" sz="1500" b="0" i="0" dirty="0">
              <a:solidFill>
                <a:srgbClr val="0F172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  <a:p>
            <a:pPr algn="l">
              <a:lnSpc>
                <a:spcPct val="150000"/>
              </a:lnSpc>
            </a:pPr>
            <a:r>
              <a:rPr lang="en-US" sz="1500" b="1" i="0" dirty="0" err="1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Risk、Trend、Valuation</a:t>
            </a:r>
            <a:r>
              <a:rPr lang="en-US" sz="15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zh-TW" altLang="en-US" sz="15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與 </a:t>
            </a:r>
            <a:r>
              <a:rPr lang="en-US" sz="15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Sentiment </a:t>
            </a:r>
            <a:r>
              <a:rPr lang="zh-TW" altLang="en-US" sz="15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應優先保留，作為下一版精簡模型的核心候選支柱。</a:t>
            </a:r>
            <a:endParaRPr sz="1500" b="1" i="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429259"/>
            <a:ext cx="342900" cy="1511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404060"/>
            <a:ext cx="3619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多因子股票預測系統 · 附錄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404060"/>
            <a:ext cx="6667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SHAP Top-20 + Consistency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746959"/>
            <a:ext cx="12382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Source · 自行整理 · TreeExplainer · |SHAP| mean across OOS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59000" y="9753600"/>
            <a:ext cx="19050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4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APPENDIX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40200" y="9801225"/>
            <a:ext cx="7620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954500" y="9738560"/>
            <a:ext cx="571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A.09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104900"/>
            <a:ext cx="6667500" cy="2358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TW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A.09 </a:t>
            </a:r>
            <a:r>
              <a:rPr lang="zh-TW" altLang="en-US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→</a:t>
            </a:r>
            <a:r>
              <a:rPr lang="en-US" altLang="zh-TW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SHAP </a:t>
            </a:r>
            <a:r>
              <a:rPr lang="zh-TW" altLang="en-US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與 </a:t>
            </a:r>
            <a:r>
              <a:rPr lang="en-US" altLang="zh-TW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LOPO </a:t>
            </a:r>
            <a:r>
              <a:rPr lang="zh-TW" altLang="en-US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交叉驗證</a:t>
            </a:r>
            <a:endParaRPr sz="1400" b="1" i="0" spc="24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1371600"/>
            <a:ext cx="16668750" cy="1157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lang="en-US" altLang="zh-TW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SHAP </a:t>
            </a:r>
            <a:r>
              <a:rPr lang="zh-TW" altLang="en-US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與 </a:t>
            </a:r>
            <a:r>
              <a:rPr lang="en-US" altLang="zh-TW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LOPO </a:t>
            </a:r>
            <a:r>
              <a:rPr lang="zh-TW" altLang="en-US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共同確認模型判斷符合經濟直覺</a:t>
            </a:r>
            <a:endParaRPr lang="en-US" altLang="zh-TW" sz="4000" b="1" spc="-8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  <a:p>
            <a:pPr>
              <a:lnSpc>
                <a:spcPct val="118000"/>
              </a:lnSpc>
            </a:pPr>
            <a:r>
              <a:rPr lang="zh-TW" altLang="en-US" sz="2600" b="1" spc="-8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解釋結果支持模型非黑箱判斷。</a:t>
            </a:r>
            <a:endParaRPr lang="en-US" altLang="zh-TW" sz="2600" b="1" spc="-80" dirty="0"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14400" y="2552700"/>
            <a:ext cx="7620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14400" y="2933700"/>
            <a:ext cx="10477500" cy="62865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04900" y="3105150"/>
            <a:ext cx="76200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100" b="1" i="0" spc="16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Top 20 Features by Mean |SHAP| · OOS Aggregate</a:t>
            </a:r>
            <a:endParaRPr sz="1100" b="1" i="0" spc="16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04900" y="3479509"/>
            <a:ext cx="3429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85900" y="3505200"/>
            <a:ext cx="304800" cy="1333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485900" y="3496309"/>
            <a:ext cx="304800" cy="1511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RSK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5000" y="3471110"/>
            <a:ext cx="3429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volatility_20d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24500" y="3552825"/>
            <a:ext cx="4000500" cy="381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524500" y="3552825"/>
            <a:ext cx="40005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715500" y="3471110"/>
            <a:ext cx="762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0.142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" y="3765259"/>
            <a:ext cx="3429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85900" y="3790950"/>
            <a:ext cx="304800" cy="1333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485900" y="3782059"/>
            <a:ext cx="304800" cy="1511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RSK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05000" y="3756860"/>
            <a:ext cx="3429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downside_dev_60d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24500" y="3838575"/>
            <a:ext cx="4000500" cy="381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524500" y="3838575"/>
            <a:ext cx="3324225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715500" y="3756860"/>
            <a:ext cx="762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0.118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4900" y="4051009"/>
            <a:ext cx="3429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485900" y="4076700"/>
            <a:ext cx="304800" cy="1333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485900" y="4067809"/>
            <a:ext cx="304800" cy="1511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RSK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05000" y="4042610"/>
            <a:ext cx="3429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beta_60d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24500" y="4124325"/>
            <a:ext cx="4000500" cy="381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524500" y="4124325"/>
            <a:ext cx="28956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715500" y="4042610"/>
            <a:ext cx="762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0.103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4900" y="4336759"/>
            <a:ext cx="3429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485900" y="4362450"/>
            <a:ext cx="304800" cy="13335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485900" y="4353559"/>
            <a:ext cx="304800" cy="1511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05000" y="4328360"/>
            <a:ext cx="3429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macd_signal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24500" y="4410075"/>
            <a:ext cx="4000500" cy="381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5524500" y="4410075"/>
            <a:ext cx="2647950" cy="381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9715500" y="4328360"/>
            <a:ext cx="762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0.094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4900" y="4622509"/>
            <a:ext cx="3429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485900" y="4648200"/>
            <a:ext cx="304800" cy="13335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485900" y="4639309"/>
            <a:ext cx="304800" cy="1511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TRD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05000" y="4614110"/>
            <a:ext cx="3429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sma_5_20_ratio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524500" y="4695825"/>
            <a:ext cx="4000500" cy="381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5524500" y="4695825"/>
            <a:ext cx="2447925" cy="381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715500" y="4614110"/>
            <a:ext cx="762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0.087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04900" y="4908259"/>
            <a:ext cx="3429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06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485900" y="4933950"/>
            <a:ext cx="304800" cy="13335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485900" y="4933459"/>
            <a:ext cx="304800" cy="134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 i="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MOM</a:t>
            </a:r>
            <a:endParaRPr sz="900" b="1" i="0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905000" y="4899860"/>
            <a:ext cx="3429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ret_20d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524500" y="4981575"/>
            <a:ext cx="4000500" cy="381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5524500" y="4981575"/>
            <a:ext cx="230505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9715500" y="4899860"/>
            <a:ext cx="762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0.082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04900" y="5194009"/>
            <a:ext cx="3429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07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485900" y="5219700"/>
            <a:ext cx="304800" cy="13335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1485900" y="5210809"/>
            <a:ext cx="304800" cy="1511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TRD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905000" y="5185610"/>
            <a:ext cx="3429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adx_14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524500" y="5267325"/>
            <a:ext cx="4000500" cy="381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5524500" y="5267325"/>
            <a:ext cx="2190750" cy="381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9715500" y="5185610"/>
            <a:ext cx="762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0.078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04900" y="5479759"/>
            <a:ext cx="3429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08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485900" y="5505450"/>
            <a:ext cx="304800" cy="1333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1485900" y="5496559"/>
            <a:ext cx="304800" cy="1511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RSK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905000" y="5471360"/>
            <a:ext cx="3429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maxdd_60d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524500" y="5553075"/>
            <a:ext cx="4000500" cy="381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5524500" y="5553075"/>
            <a:ext cx="200025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9715500" y="5471360"/>
            <a:ext cx="762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0.071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04900" y="5765509"/>
            <a:ext cx="3429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09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485900" y="5791200"/>
            <a:ext cx="304800" cy="1333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1485900" y="5782309"/>
            <a:ext cx="304800" cy="1511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SNT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905000" y="5757110"/>
            <a:ext cx="3429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news_sent_5d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524500" y="5838825"/>
            <a:ext cx="4000500" cy="381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5524500" y="5838825"/>
            <a:ext cx="1800225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9715500" y="5757110"/>
            <a:ext cx="762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0.064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04900" y="6051259"/>
            <a:ext cx="3429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10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485900" y="6076950"/>
            <a:ext cx="304800" cy="13335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1485900" y="6068059"/>
            <a:ext cx="304800" cy="1511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CHP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905000" y="6042860"/>
            <a:ext cx="3429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foreign_inv_buy_5d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524500" y="6124575"/>
            <a:ext cx="4000500" cy="381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5524500" y="6124575"/>
            <a:ext cx="1714500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9715500" y="6042860"/>
            <a:ext cx="762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0.061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104900" y="6337009"/>
            <a:ext cx="3429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11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485900" y="6362700"/>
            <a:ext cx="304800" cy="13335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1485900" y="6353809"/>
            <a:ext cx="304800" cy="1511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VAL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905000" y="6328610"/>
            <a:ext cx="3429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524500" y="6410325"/>
            <a:ext cx="4000500" cy="381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5524500" y="6410325"/>
            <a:ext cx="1628775" cy="381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9715500" y="6328610"/>
            <a:ext cx="762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0.058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104900" y="6622759"/>
            <a:ext cx="3429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12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485900" y="6648450"/>
            <a:ext cx="304800" cy="13335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1485900" y="6556460"/>
            <a:ext cx="304800" cy="3173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MOM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905000" y="6614360"/>
            <a:ext cx="3429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roc_10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524500" y="6696075"/>
            <a:ext cx="4000500" cy="381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8" name="Rectangle 97"/>
          <p:cNvSpPr/>
          <p:nvPr/>
        </p:nvSpPr>
        <p:spPr>
          <a:xfrm>
            <a:off x="5524500" y="6696075"/>
            <a:ext cx="154305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9715500" y="6614360"/>
            <a:ext cx="762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0.055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104900" y="6908509"/>
            <a:ext cx="3429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13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485900" y="6934200"/>
            <a:ext cx="304800" cy="1333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1485900" y="6925309"/>
            <a:ext cx="304800" cy="1511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FND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905000" y="6900110"/>
            <a:ext cx="3429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roe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524500" y="6981825"/>
            <a:ext cx="4000500" cy="381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5" name="Rectangle 104"/>
          <p:cNvSpPr/>
          <p:nvPr/>
        </p:nvSpPr>
        <p:spPr>
          <a:xfrm>
            <a:off x="5524500" y="6981825"/>
            <a:ext cx="1457325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9715500" y="6900110"/>
            <a:ext cx="762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0.052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104900" y="7194259"/>
            <a:ext cx="3429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14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485900" y="7219950"/>
            <a:ext cx="304800" cy="1333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1485900" y="7211059"/>
            <a:ext cx="304800" cy="1511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SNT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905000" y="7185860"/>
            <a:ext cx="3429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forum_sent_5d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524500" y="7267575"/>
            <a:ext cx="4000500" cy="381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2" name="Rectangle 111"/>
          <p:cNvSpPr/>
          <p:nvPr/>
        </p:nvSpPr>
        <p:spPr>
          <a:xfrm>
            <a:off x="5524500" y="7267575"/>
            <a:ext cx="1343025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9715500" y="7185860"/>
            <a:ext cx="762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0.048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104900" y="7480009"/>
            <a:ext cx="3429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15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485900" y="7505700"/>
            <a:ext cx="304800" cy="13335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1485900" y="7496809"/>
            <a:ext cx="304800" cy="1511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CHP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905000" y="7471610"/>
            <a:ext cx="3429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turnover_20d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5524500" y="7553325"/>
            <a:ext cx="4000500" cy="381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9" name="Rectangle 118"/>
          <p:cNvSpPr/>
          <p:nvPr/>
        </p:nvSpPr>
        <p:spPr>
          <a:xfrm>
            <a:off x="5524500" y="7553325"/>
            <a:ext cx="1266825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9715500" y="7471610"/>
            <a:ext cx="762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0.045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104900" y="7765759"/>
            <a:ext cx="3429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16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485900" y="7791450"/>
            <a:ext cx="304800" cy="13335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3" name="TextBox 122"/>
          <p:cNvSpPr txBox="1"/>
          <p:nvPr/>
        </p:nvSpPr>
        <p:spPr>
          <a:xfrm>
            <a:off x="1485900" y="7782559"/>
            <a:ext cx="304800" cy="1511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CHP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905000" y="7757360"/>
            <a:ext cx="3429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 dirty="0" err="1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margin_balance</a:t>
            </a:r>
            <a:endParaRPr sz="1200" b="0" i="0" dirty="0">
              <a:solidFill>
                <a:srgbClr val="0F172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25" name="Rectangle 124"/>
          <p:cNvSpPr/>
          <p:nvPr/>
        </p:nvSpPr>
        <p:spPr>
          <a:xfrm>
            <a:off x="5524500" y="7839075"/>
            <a:ext cx="4000500" cy="381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6" name="Rectangle 125"/>
          <p:cNvSpPr/>
          <p:nvPr/>
        </p:nvSpPr>
        <p:spPr>
          <a:xfrm>
            <a:off x="5524500" y="7839075"/>
            <a:ext cx="1152525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9715500" y="7757360"/>
            <a:ext cx="762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0.041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104900" y="8051509"/>
            <a:ext cx="3429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17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485900" y="8077200"/>
            <a:ext cx="304800" cy="13335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1485900" y="8068309"/>
            <a:ext cx="304800" cy="1511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VAL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905000" y="8043110"/>
            <a:ext cx="3429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pb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5524500" y="8124825"/>
            <a:ext cx="4000500" cy="381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3" name="Rectangle 132"/>
          <p:cNvSpPr/>
          <p:nvPr/>
        </p:nvSpPr>
        <p:spPr>
          <a:xfrm>
            <a:off x="5524500" y="8124825"/>
            <a:ext cx="1066800" cy="381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9715500" y="8043110"/>
            <a:ext cx="762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0.038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104900" y="8337259"/>
            <a:ext cx="3429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18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1485900" y="8362950"/>
            <a:ext cx="304800" cy="1333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7" name="TextBox 136"/>
          <p:cNvSpPr txBox="1"/>
          <p:nvPr/>
        </p:nvSpPr>
        <p:spPr>
          <a:xfrm>
            <a:off x="1485900" y="8354059"/>
            <a:ext cx="304800" cy="1511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SNT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905000" y="8328860"/>
            <a:ext cx="3429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q1_dummy_news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5524500" y="8410575"/>
            <a:ext cx="4000500" cy="381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5524500" y="8410575"/>
            <a:ext cx="9525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1" name="TextBox 140"/>
          <p:cNvSpPr txBox="1"/>
          <p:nvPr/>
        </p:nvSpPr>
        <p:spPr>
          <a:xfrm>
            <a:off x="9715500" y="8328860"/>
            <a:ext cx="762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0.034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104900" y="8623009"/>
            <a:ext cx="3429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19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1485900" y="8648700"/>
            <a:ext cx="304800" cy="1333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1485900" y="8639809"/>
            <a:ext cx="304800" cy="1511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FND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905000" y="8614610"/>
            <a:ext cx="3429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gross_margin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5524500" y="8696325"/>
            <a:ext cx="4000500" cy="381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7" name="Rectangle 146"/>
          <p:cNvSpPr/>
          <p:nvPr/>
        </p:nvSpPr>
        <p:spPr>
          <a:xfrm>
            <a:off x="5524500" y="8696325"/>
            <a:ext cx="866775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8" name="TextBox 147"/>
          <p:cNvSpPr txBox="1"/>
          <p:nvPr/>
        </p:nvSpPr>
        <p:spPr>
          <a:xfrm>
            <a:off x="9715500" y="8614610"/>
            <a:ext cx="762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0.031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104900" y="8908759"/>
            <a:ext cx="3429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20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1485900" y="8934450"/>
            <a:ext cx="304800" cy="13335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1" name="TextBox 150"/>
          <p:cNvSpPr txBox="1"/>
          <p:nvPr/>
        </p:nvSpPr>
        <p:spPr>
          <a:xfrm>
            <a:off x="1485900" y="8925559"/>
            <a:ext cx="304800" cy="1511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VAL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905000" y="8900360"/>
            <a:ext cx="3429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earnings_yield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5524500" y="8982075"/>
            <a:ext cx="4000500" cy="381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4" name="Rectangle 153"/>
          <p:cNvSpPr/>
          <p:nvPr/>
        </p:nvSpPr>
        <p:spPr>
          <a:xfrm>
            <a:off x="5524500" y="8982075"/>
            <a:ext cx="781050" cy="381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5" name="TextBox 154"/>
          <p:cNvSpPr txBox="1"/>
          <p:nvPr/>
        </p:nvSpPr>
        <p:spPr>
          <a:xfrm>
            <a:off x="9715500" y="8900360"/>
            <a:ext cx="762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0.028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1544300" y="3105150"/>
            <a:ext cx="57150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100" b="1" i="0" spc="20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Pillar-Wise SHAP vs. LOPO</a:t>
            </a:r>
            <a:endParaRPr sz="1100" b="1" i="0" spc="20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57" name="Rectangle 156"/>
          <p:cNvSpPr/>
          <p:nvPr/>
        </p:nvSpPr>
        <p:spPr>
          <a:xfrm>
            <a:off x="11544300" y="3486150"/>
            <a:ext cx="5829300" cy="3048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11715750" y="3555709"/>
            <a:ext cx="19050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100" b="1" i="0" spc="20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Pillar</a:t>
            </a:r>
            <a:endParaRPr sz="1100" b="1" i="0" spc="200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59" name="TextBox 158"/>
          <p:cNvSpPr txBox="1"/>
          <p:nvPr/>
        </p:nvSpPr>
        <p:spPr>
          <a:xfrm>
            <a:off x="14020800" y="3555709"/>
            <a:ext cx="1333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i="0" spc="20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SHAP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15544800" y="3555709"/>
            <a:ext cx="1714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sz="1100" b="1" i="0" spc="20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LOPO </a:t>
            </a:r>
            <a:r>
              <a:rPr lang="el-GR" sz="1100" b="1" i="0" spc="20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Δ</a:t>
            </a:r>
            <a:r>
              <a:rPr lang="en-US" sz="1100" b="1" i="0" spc="20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AUC bps</a:t>
            </a:r>
            <a:endParaRPr sz="1100" b="1" i="0" spc="200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61" name="Rectangle 160"/>
          <p:cNvSpPr/>
          <p:nvPr/>
        </p:nvSpPr>
        <p:spPr>
          <a:xfrm>
            <a:off x="11544300" y="3790950"/>
            <a:ext cx="5829300" cy="3429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2" name="Rectangle 161"/>
          <p:cNvSpPr/>
          <p:nvPr/>
        </p:nvSpPr>
        <p:spPr>
          <a:xfrm>
            <a:off x="11544300" y="3790950"/>
            <a:ext cx="38100" cy="3429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3" name="TextBox 162"/>
          <p:cNvSpPr txBox="1"/>
          <p:nvPr/>
        </p:nvSpPr>
        <p:spPr>
          <a:xfrm>
            <a:off x="11715750" y="3844868"/>
            <a:ext cx="19050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Risk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2973050" y="3870034"/>
            <a:ext cx="952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RSK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4020800" y="3844868"/>
            <a:ext cx="1333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0.434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5544800" y="3844868"/>
            <a:ext cx="1714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+138.6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11544300" y="4133850"/>
            <a:ext cx="5829300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8" name="Rectangle 167"/>
          <p:cNvSpPr/>
          <p:nvPr/>
        </p:nvSpPr>
        <p:spPr>
          <a:xfrm>
            <a:off x="11544300" y="4133850"/>
            <a:ext cx="38100" cy="3429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9" name="TextBox 168"/>
          <p:cNvSpPr txBox="1"/>
          <p:nvPr/>
        </p:nvSpPr>
        <p:spPr>
          <a:xfrm>
            <a:off x="11715750" y="4187768"/>
            <a:ext cx="19050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Trend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2973050" y="4212934"/>
            <a:ext cx="952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E40A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TRD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4020800" y="4187768"/>
            <a:ext cx="1333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0.259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15544800" y="4187768"/>
            <a:ext cx="1714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+64.9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11544300" y="4476750"/>
            <a:ext cx="5829300" cy="3429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4" name="Rectangle 173"/>
          <p:cNvSpPr/>
          <p:nvPr/>
        </p:nvSpPr>
        <p:spPr>
          <a:xfrm>
            <a:off x="11544300" y="4476750"/>
            <a:ext cx="38100" cy="3429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5" name="TextBox 174"/>
          <p:cNvSpPr txBox="1"/>
          <p:nvPr/>
        </p:nvSpPr>
        <p:spPr>
          <a:xfrm>
            <a:off x="11715750" y="4530668"/>
            <a:ext cx="19050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Valuation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2973050" y="4555834"/>
            <a:ext cx="952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891B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VAL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4020800" y="4530668"/>
            <a:ext cx="1333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0.124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15544800" y="4530668"/>
            <a:ext cx="1714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+9.5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11544300" y="4819650"/>
            <a:ext cx="5829300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0" name="Rectangle 179"/>
          <p:cNvSpPr/>
          <p:nvPr/>
        </p:nvSpPr>
        <p:spPr>
          <a:xfrm>
            <a:off x="11544300" y="4819650"/>
            <a:ext cx="38100" cy="3429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1" name="TextBox 180"/>
          <p:cNvSpPr txBox="1"/>
          <p:nvPr/>
        </p:nvSpPr>
        <p:spPr>
          <a:xfrm>
            <a:off x="11715750" y="4873568"/>
            <a:ext cx="19050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Sentiment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12973050" y="4898734"/>
            <a:ext cx="952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SNT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4020800" y="4873568"/>
            <a:ext cx="1333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0.146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5544800" y="4873568"/>
            <a:ext cx="1714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+8.5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11544300" y="5162550"/>
            <a:ext cx="5829300" cy="3429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6" name="Rectangle 185"/>
          <p:cNvSpPr/>
          <p:nvPr/>
        </p:nvSpPr>
        <p:spPr>
          <a:xfrm>
            <a:off x="11544300" y="5162550"/>
            <a:ext cx="38100" cy="3429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7" name="TextBox 186"/>
          <p:cNvSpPr txBox="1"/>
          <p:nvPr/>
        </p:nvSpPr>
        <p:spPr>
          <a:xfrm>
            <a:off x="11715750" y="5216468"/>
            <a:ext cx="19050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Chip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12973050" y="5241634"/>
            <a:ext cx="952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A580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CHP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14020800" y="5216468"/>
            <a:ext cx="1333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0.147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15544800" y="5216468"/>
            <a:ext cx="1714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-18.5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11544300" y="5505450"/>
            <a:ext cx="5829300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2" name="Rectangle 191"/>
          <p:cNvSpPr/>
          <p:nvPr/>
        </p:nvSpPr>
        <p:spPr>
          <a:xfrm>
            <a:off x="11544300" y="5505450"/>
            <a:ext cx="38100" cy="3429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3" name="TextBox 192"/>
          <p:cNvSpPr txBox="1"/>
          <p:nvPr/>
        </p:nvSpPr>
        <p:spPr>
          <a:xfrm>
            <a:off x="11715750" y="5559368"/>
            <a:ext cx="19050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Industry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12973050" y="5584534"/>
            <a:ext cx="952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59E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IND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14020800" y="5559368"/>
            <a:ext cx="1333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0.062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15544800" y="5559368"/>
            <a:ext cx="1714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-14.8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11544300" y="5848350"/>
            <a:ext cx="5829300" cy="3429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8" name="Rectangle 197"/>
          <p:cNvSpPr/>
          <p:nvPr/>
        </p:nvSpPr>
        <p:spPr>
          <a:xfrm>
            <a:off x="11544300" y="5848350"/>
            <a:ext cx="38100" cy="3429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9" name="TextBox 198"/>
          <p:cNvSpPr txBox="1"/>
          <p:nvPr/>
        </p:nvSpPr>
        <p:spPr>
          <a:xfrm>
            <a:off x="11715750" y="5902268"/>
            <a:ext cx="19050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Event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12973050" y="5927434"/>
            <a:ext cx="952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C489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EVT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14020800" y="5902268"/>
            <a:ext cx="1333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0.034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15544800" y="5902268"/>
            <a:ext cx="1714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-15.7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11544300" y="6191250"/>
            <a:ext cx="5829300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4" name="Rectangle 203"/>
          <p:cNvSpPr/>
          <p:nvPr/>
        </p:nvSpPr>
        <p:spPr>
          <a:xfrm>
            <a:off x="11544300" y="6191250"/>
            <a:ext cx="38100" cy="3429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5" name="TextBox 204"/>
          <p:cNvSpPr txBox="1"/>
          <p:nvPr/>
        </p:nvSpPr>
        <p:spPr>
          <a:xfrm>
            <a:off x="11715750" y="6245168"/>
            <a:ext cx="19050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400" b="1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Fundamental</a:t>
            </a:r>
            <a:endParaRPr sz="1400" b="1" i="0" dirty="0">
              <a:solidFill>
                <a:srgbClr val="0F172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06" name="TextBox 205"/>
          <p:cNvSpPr txBox="1"/>
          <p:nvPr/>
        </p:nvSpPr>
        <p:spPr>
          <a:xfrm>
            <a:off x="12973050" y="6270334"/>
            <a:ext cx="952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FND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14020800" y="6245168"/>
            <a:ext cx="1333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0.083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15544800" y="6245168"/>
            <a:ext cx="1714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-2.6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11544300" y="6667500"/>
            <a:ext cx="5829300" cy="2514600"/>
          </a:xfrm>
          <a:prstGeom prst="rect">
            <a:avLst/>
          </a:prstGeom>
          <a:solidFill>
            <a:srgbClr val="FE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0" name="Rectangle 209"/>
          <p:cNvSpPr/>
          <p:nvPr/>
        </p:nvSpPr>
        <p:spPr>
          <a:xfrm>
            <a:off x="11544300" y="6667500"/>
            <a:ext cx="57150" cy="25146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1" name="TextBox 210"/>
          <p:cNvSpPr txBox="1"/>
          <p:nvPr/>
        </p:nvSpPr>
        <p:spPr>
          <a:xfrm>
            <a:off x="11791950" y="6838950"/>
            <a:ext cx="5715000" cy="268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600" b="1" i="0" spc="26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Cross-Method Consistency</a:t>
            </a:r>
            <a:endParaRPr sz="1600" b="1" i="0" spc="260" dirty="0">
              <a:solidFill>
                <a:srgbClr val="F43F5E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12" name="TextBox 211"/>
          <p:cNvSpPr txBox="1"/>
          <p:nvPr/>
        </p:nvSpPr>
        <p:spPr>
          <a:xfrm>
            <a:off x="11791950" y="7206588"/>
            <a:ext cx="5257800" cy="12530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1400" b="0" i="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SHAP </a:t>
            </a:r>
            <a:r>
              <a:rPr lang="zh-TW" altLang="en-US" sz="1400" b="0" i="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與 </a:t>
            </a:r>
            <a:r>
              <a:rPr lang="en-US" sz="1400" b="0" i="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LOPO </a:t>
            </a:r>
            <a:r>
              <a:rPr lang="zh-TW" altLang="en-US" sz="1400" b="0" i="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對 </a:t>
            </a:r>
            <a:r>
              <a:rPr lang="en-US" sz="1400" b="0" i="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Risk、Trend、Valuation</a:t>
            </a:r>
            <a:r>
              <a:rPr lang="en-US" sz="1400" b="0" i="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zh-TW" altLang="en-US" sz="1400" b="0" i="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三支柱的結論一致。</a:t>
            </a:r>
            <a:endParaRPr lang="en-US" altLang="zh-TW" sz="1400" b="0" i="0" dirty="0"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  <a:p>
            <a:pPr algn="l">
              <a:lnSpc>
                <a:spcPct val="150000"/>
              </a:lnSpc>
            </a:pPr>
            <a:r>
              <a:rPr lang="en-US" sz="1400" b="1" i="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Chip </a:t>
            </a:r>
            <a:r>
              <a:rPr lang="zh-TW" altLang="en-US" sz="1400" b="1" i="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在 </a:t>
            </a:r>
            <a:r>
              <a:rPr lang="en-US" sz="1400" b="1" i="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SHAP </a:t>
            </a:r>
            <a:r>
              <a:rPr lang="zh-TW" altLang="en-US" sz="1400" b="1" i="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量值高（</a:t>
            </a:r>
            <a:r>
              <a:rPr lang="en-US" altLang="zh-TW" sz="1400" b="1" i="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0.147</a:t>
            </a:r>
            <a:r>
              <a:rPr lang="zh-TW" altLang="en-US" sz="1400" b="1" i="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），但 </a:t>
            </a:r>
            <a:r>
              <a:rPr lang="en-US" sz="1400" b="1" i="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LOPO </a:t>
            </a:r>
            <a:r>
              <a:rPr lang="zh-TW" altLang="en-US" sz="1400" b="1" i="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為負（</a:t>
            </a:r>
            <a:r>
              <a:rPr lang="en-US" altLang="zh-TW" sz="1400" b="1" i="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-18.5 </a:t>
            </a:r>
            <a:r>
              <a:rPr lang="en-US" sz="1400" b="1" i="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bps）。</a:t>
            </a:r>
          </a:p>
          <a:p>
            <a:pPr algn="l">
              <a:lnSpc>
                <a:spcPct val="150000"/>
              </a:lnSpc>
            </a:pPr>
            <a:r>
              <a:rPr lang="zh-TW" altLang="en-US" sz="1400" b="1" i="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這表示 </a:t>
            </a:r>
            <a:r>
              <a:rPr lang="en-US" altLang="zh-TW" sz="1400" b="1" i="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Chip </a:t>
            </a:r>
            <a:r>
              <a:rPr lang="zh-TW" altLang="en-US" sz="1400" b="1" i="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特徵可能與其他支柱高度相關，在集成模型中形成冗餘訊號。</a:t>
            </a:r>
            <a:endParaRPr sz="1400" b="1" i="0" dirty="0"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429259"/>
            <a:ext cx="342900" cy="1511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404060"/>
            <a:ext cx="3619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多因子股票預測系統 · 附錄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404060"/>
            <a:ext cx="6667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Top-10 Single Factors · 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746959"/>
            <a:ext cx="12382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Source · 自行整理 · Spearman IC over 4-fold OOS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59000" y="9753600"/>
            <a:ext cx="19050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4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APPENDIX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40200" y="9801225"/>
            <a:ext cx="7620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954500" y="9738560"/>
            <a:ext cx="571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A.10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104900"/>
            <a:ext cx="666750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TW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A.10 </a:t>
            </a:r>
            <a:r>
              <a:rPr lang="zh-TW" altLang="en-US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→</a:t>
            </a:r>
            <a:r>
              <a:rPr lang="en-US" altLang="zh-TW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zh-TW" altLang="en-US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單因子訊號上限</a:t>
            </a:r>
            <a:endParaRPr sz="1400" b="1" i="0" spc="24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1371600"/>
            <a:ext cx="16668750" cy="1157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lang="zh-TW" altLang="en-US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單因子訊號不足以形成可交易 </a:t>
            </a:r>
            <a:r>
              <a:rPr lang="en-US" altLang="zh-TW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alpha</a:t>
            </a:r>
            <a:r>
              <a:rPr lang="zh-TW" altLang="en-US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，必須仰賴多支柱交互作用</a:t>
            </a:r>
            <a:endParaRPr lang="en-US" altLang="zh-TW" sz="4000" b="1" spc="-8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  <a:p>
            <a:pPr>
              <a:lnSpc>
                <a:spcPct val="118000"/>
              </a:lnSpc>
            </a:pPr>
            <a:r>
              <a:rPr lang="zh-TW" altLang="en-US" sz="2600" b="1" spc="-8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集成後的訊號品質高於單點因子。</a:t>
            </a:r>
            <a:endParaRPr lang="en-US" altLang="zh-TW" sz="2600" b="1" spc="-80" dirty="0"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14400" y="2552700"/>
            <a:ext cx="7620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14400" y="2933700"/>
            <a:ext cx="13906500" cy="381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28700" y="3050884"/>
            <a:ext cx="3429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 spc="22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#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050884"/>
            <a:ext cx="33909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100" b="1" i="0" spc="22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Feature</a:t>
            </a:r>
            <a:endParaRPr sz="1100" b="1" i="0" spc="220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219700" y="3050884"/>
            <a:ext cx="11049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100" b="1" i="0" spc="22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Pillar</a:t>
            </a:r>
            <a:endParaRPr sz="1100" b="1" i="0" spc="220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553200" y="3050884"/>
            <a:ext cx="16764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i="0" spc="22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IC (Spearman)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3050884"/>
            <a:ext cx="18669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i="0" spc="22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ICIR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53700" y="3076084"/>
            <a:ext cx="2616390" cy="1679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sz="1000" b="1" i="0" spc="22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OOS AUC · Single Feature</a:t>
            </a:r>
            <a:endParaRPr sz="1000" b="1" i="0" spc="220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2649200" y="3050884"/>
            <a:ext cx="20574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sz="1100" b="1" i="0" spc="22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Direction</a:t>
            </a:r>
            <a:endParaRPr sz="1100" b="1" i="0" spc="220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914400" y="3314700"/>
            <a:ext cx="13906500" cy="4953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914400" y="3314700"/>
            <a:ext cx="38100" cy="4953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28700" y="3444818"/>
            <a:ext cx="3429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3436418"/>
            <a:ext cx="33909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volatility_20d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9700" y="3453217"/>
            <a:ext cx="1104900" cy="218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RSK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53200" y="3436418"/>
            <a:ext cx="16764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-0.082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3436418"/>
            <a:ext cx="18669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0.072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53700" y="3436418"/>
            <a:ext cx="18669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0.642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649200" y="3453217"/>
            <a:ext cx="2057400" cy="218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sz="13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Negative</a:t>
            </a:r>
            <a:endParaRPr sz="1300" b="0" i="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914400" y="3810000"/>
            <a:ext cx="13906500" cy="495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914400" y="3810000"/>
            <a:ext cx="38100" cy="4953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28700" y="3940118"/>
            <a:ext cx="3429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3931718"/>
            <a:ext cx="33909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downside_dev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19700" y="3948517"/>
            <a:ext cx="1104900" cy="218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RSK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53200" y="3931718"/>
            <a:ext cx="16764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-0.071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58200" y="3931718"/>
            <a:ext cx="18669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0.064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53700" y="3931718"/>
            <a:ext cx="18669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0.629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649200" y="3948517"/>
            <a:ext cx="2057400" cy="218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sz="13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Negative</a:t>
            </a:r>
            <a:endParaRPr sz="1300" b="0" i="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914400" y="4305300"/>
            <a:ext cx="13906500" cy="4953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914400" y="4305300"/>
            <a:ext cx="38100" cy="4953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28700" y="4435418"/>
            <a:ext cx="3429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00200" y="4427018"/>
            <a:ext cx="33909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macd_signal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19700" y="4443817"/>
            <a:ext cx="1104900" cy="218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1E40A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TRD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53200" y="4427018"/>
            <a:ext cx="16764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+0.064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58200" y="4427018"/>
            <a:ext cx="18669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0.058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53700" y="4427018"/>
            <a:ext cx="18669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0.621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649200" y="4443817"/>
            <a:ext cx="2057400" cy="218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sz="13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Positive</a:t>
            </a:r>
            <a:endParaRPr sz="1300" b="0" i="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914400" y="4800600"/>
            <a:ext cx="13906500" cy="495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914400" y="4800600"/>
            <a:ext cx="38100" cy="4953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028700" y="4930718"/>
            <a:ext cx="3429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600200" y="4922318"/>
            <a:ext cx="33909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beta_60d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9700" y="4939117"/>
            <a:ext cx="1104900" cy="218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RSK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53200" y="4922318"/>
            <a:ext cx="16764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-0.061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58200" y="4922318"/>
            <a:ext cx="18669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0.055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553700" y="4922318"/>
            <a:ext cx="18669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0.618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649200" y="4939117"/>
            <a:ext cx="2057400" cy="218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sz="13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Negative</a:t>
            </a:r>
            <a:endParaRPr sz="1300" b="0" i="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914400" y="5295900"/>
            <a:ext cx="13906500" cy="4953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914400" y="5295900"/>
            <a:ext cx="38100" cy="4953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1028700" y="5426018"/>
            <a:ext cx="3429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600200" y="5417618"/>
            <a:ext cx="33909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sma_5_20_ratio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219700" y="5434417"/>
            <a:ext cx="1104900" cy="218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1E40A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TRD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53200" y="5417618"/>
            <a:ext cx="16764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+0.058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58200" y="5417618"/>
            <a:ext cx="18669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0.053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53700" y="5417618"/>
            <a:ext cx="18669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0.612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2649200" y="5434417"/>
            <a:ext cx="2057400" cy="218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sz="13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Positive</a:t>
            </a:r>
            <a:endParaRPr sz="1300" b="0" i="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914400" y="5791200"/>
            <a:ext cx="13906500" cy="495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914400" y="5791200"/>
            <a:ext cx="38100" cy="4953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1028700" y="5921318"/>
            <a:ext cx="3429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600200" y="5912918"/>
            <a:ext cx="33909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ret_20d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219700" y="5929717"/>
            <a:ext cx="1104900" cy="218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MOM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553200" y="5912918"/>
            <a:ext cx="16764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+0.055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458200" y="5912918"/>
            <a:ext cx="18669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0.049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553700" y="5912918"/>
            <a:ext cx="18669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0.609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2649200" y="5929717"/>
            <a:ext cx="2057400" cy="218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sz="13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Positive</a:t>
            </a:r>
            <a:endParaRPr sz="1300" b="0" i="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914400" y="6286500"/>
            <a:ext cx="13906500" cy="4953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914400" y="6286500"/>
            <a:ext cx="38100" cy="4953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1028700" y="6416618"/>
            <a:ext cx="3429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07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600200" y="6408218"/>
            <a:ext cx="33909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news_sent_5d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219700" y="6425017"/>
            <a:ext cx="1104900" cy="218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SNT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553200" y="6408218"/>
            <a:ext cx="16764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+0.048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458200" y="6408218"/>
            <a:ext cx="18669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0.044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553700" y="6408218"/>
            <a:ext cx="18669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0.601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2649200" y="6425017"/>
            <a:ext cx="2057400" cy="218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sz="13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Positive</a:t>
            </a:r>
            <a:endParaRPr sz="1300" b="0" i="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914400" y="6781800"/>
            <a:ext cx="13906500" cy="495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6" name="Rectangle 85"/>
          <p:cNvSpPr/>
          <p:nvPr/>
        </p:nvSpPr>
        <p:spPr>
          <a:xfrm>
            <a:off x="914400" y="6781800"/>
            <a:ext cx="38100" cy="4953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1028700" y="6911918"/>
            <a:ext cx="3429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08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600200" y="6903518"/>
            <a:ext cx="33909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foreign_inv_buy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219700" y="6920317"/>
            <a:ext cx="1104900" cy="218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EA580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CHP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553200" y="6903518"/>
            <a:ext cx="16764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+0.045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458200" y="6903518"/>
            <a:ext cx="18669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0.041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553700" y="6903518"/>
            <a:ext cx="18669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0.598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2649200" y="6920317"/>
            <a:ext cx="2057400" cy="218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sz="13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Positive</a:t>
            </a:r>
            <a:endParaRPr sz="1300" b="0" i="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94" name="Rectangle 93"/>
          <p:cNvSpPr/>
          <p:nvPr/>
        </p:nvSpPr>
        <p:spPr>
          <a:xfrm>
            <a:off x="914400" y="7277100"/>
            <a:ext cx="13906500" cy="4953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5" name="Rectangle 94"/>
          <p:cNvSpPr/>
          <p:nvPr/>
        </p:nvSpPr>
        <p:spPr>
          <a:xfrm>
            <a:off x="914400" y="7277100"/>
            <a:ext cx="38100" cy="4953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1028700" y="7407218"/>
            <a:ext cx="3429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09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600200" y="7398818"/>
            <a:ext cx="33909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pe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219700" y="7415617"/>
            <a:ext cx="1104900" cy="218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0891B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VAL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553200" y="7398818"/>
            <a:ext cx="16764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-0.041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458200" y="7398818"/>
            <a:ext cx="18669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0.038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553700" y="7398818"/>
            <a:ext cx="18669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0.591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2649200" y="7415617"/>
            <a:ext cx="2057400" cy="218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sz="13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Negative</a:t>
            </a:r>
            <a:endParaRPr sz="1300" b="0" i="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03" name="Rectangle 102"/>
          <p:cNvSpPr/>
          <p:nvPr/>
        </p:nvSpPr>
        <p:spPr>
          <a:xfrm>
            <a:off x="914400" y="7772400"/>
            <a:ext cx="13906500" cy="495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4" name="Rectangle 103"/>
          <p:cNvSpPr/>
          <p:nvPr/>
        </p:nvSpPr>
        <p:spPr>
          <a:xfrm>
            <a:off x="914400" y="7772400"/>
            <a:ext cx="38100" cy="4953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1028700" y="7902518"/>
            <a:ext cx="3429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10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600200" y="7894118"/>
            <a:ext cx="33909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adx_14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219700" y="7910917"/>
            <a:ext cx="1104900" cy="218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1E40A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TRD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553200" y="7894118"/>
            <a:ext cx="16764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+0.039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458200" y="7894118"/>
            <a:ext cx="18669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0.036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553700" y="7894118"/>
            <a:ext cx="18669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0.587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2649200" y="7910917"/>
            <a:ext cx="2057400" cy="218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sz="13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Positive</a:t>
            </a:r>
            <a:endParaRPr sz="1300" b="0" i="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12" name="Rectangle 111"/>
          <p:cNvSpPr/>
          <p:nvPr/>
        </p:nvSpPr>
        <p:spPr>
          <a:xfrm>
            <a:off x="914400" y="8420099"/>
            <a:ext cx="16459200" cy="1196742"/>
          </a:xfrm>
          <a:prstGeom prst="rect">
            <a:avLst/>
          </a:prstGeom>
          <a:solidFill>
            <a:srgbClr val="FE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3" name="Rectangle 112"/>
          <p:cNvSpPr/>
          <p:nvPr/>
        </p:nvSpPr>
        <p:spPr>
          <a:xfrm>
            <a:off x="914400" y="8420099"/>
            <a:ext cx="57150" cy="1196742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1162050" y="8591550"/>
            <a:ext cx="5715000" cy="268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600" b="1" i="0" spc="26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Insight </a:t>
            </a:r>
            <a:r>
              <a:rPr lang="zh-TW" altLang="en-US" sz="1600" b="1" i="0" spc="26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─</a:t>
            </a:r>
            <a:r>
              <a:rPr lang="en-US" sz="1600" b="1" i="0" spc="26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zh-TW" altLang="en-US" sz="1600" b="1" i="0" spc="26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單因子上限</a:t>
            </a:r>
            <a:endParaRPr sz="1600" b="1" i="0" spc="260" dirty="0">
              <a:solidFill>
                <a:srgbClr val="F43F5E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1162050" y="8877300"/>
            <a:ext cx="15887700" cy="65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TW" altLang="en-US" sz="15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單因子 </a:t>
            </a:r>
            <a:r>
              <a:rPr lang="en-US" altLang="zh-TW" sz="15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OOS AUC </a:t>
            </a:r>
            <a:r>
              <a:rPr lang="zh-TW" altLang="en-US" sz="15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上限約 </a:t>
            </a:r>
            <a:r>
              <a:rPr lang="en-US" altLang="zh-TW" sz="15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0.642</a:t>
            </a:r>
            <a:r>
              <a:rPr lang="zh-TW" altLang="en-US" sz="15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，集成後提升至 </a:t>
            </a:r>
            <a:r>
              <a:rPr lang="en-US" altLang="zh-TW" sz="15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0.649</a:t>
            </a:r>
            <a:r>
              <a:rPr lang="zh-TW" altLang="en-US" sz="15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；模型優勢並非來自單一強因子，而是多支柱訊號交互。</a:t>
            </a:r>
            <a:endParaRPr lang="en-US" altLang="zh-TW" sz="1500" b="0" i="0" dirty="0">
              <a:solidFill>
                <a:srgbClr val="0F172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  <a:p>
            <a:pPr algn="l">
              <a:lnSpc>
                <a:spcPct val="150000"/>
              </a:lnSpc>
            </a:pPr>
            <a:r>
              <a:rPr lang="zh-TW" altLang="en-US" sz="15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因此，單一因子只適合作為診斷訊號，不宜單獨承擔倉位或選股決策。</a:t>
            </a:r>
            <a:endParaRPr sz="1500" b="0" i="0" dirty="0">
              <a:solidFill>
                <a:srgbClr val="0F172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429259"/>
            <a:ext cx="342900" cy="1511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404060"/>
            <a:ext cx="3619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多因子股票預測系統 · 附錄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404060"/>
            <a:ext cx="6667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Model Comparison · 4 Algorithms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746959"/>
            <a:ext cx="12382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Source · 自行整理 · 4-fold mean ± std · Optuna 150 trials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59000" y="9753600"/>
            <a:ext cx="19050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4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APPENDIX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40200" y="9801225"/>
            <a:ext cx="7620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954500" y="9738560"/>
            <a:ext cx="571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A.11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104900"/>
            <a:ext cx="6667500" cy="2358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A.11 · </a:t>
            </a:r>
            <a:r>
              <a:rPr sz="1400" b="1" i="0" spc="240" dirty="0" err="1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演算法四模型對照</a:t>
            </a:r>
            <a:endParaRPr sz="1400" b="1" i="0" spc="24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1371600"/>
            <a:ext cx="16668750" cy="1157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lang="en-US" altLang="zh-TW" sz="4000" b="1" spc="-80" dirty="0" err="1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XGBoost</a:t>
            </a:r>
            <a:r>
              <a:rPr lang="en-US" altLang="zh-TW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zh-TW" altLang="en-US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勝出反映台股訊號具有非線性與交互作用特徵</a:t>
            </a:r>
            <a:endParaRPr lang="en-US" altLang="zh-TW" sz="4000" b="1" spc="-8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  <a:p>
            <a:pPr>
              <a:lnSpc>
                <a:spcPct val="118000"/>
              </a:lnSpc>
            </a:pPr>
            <a:r>
              <a:rPr lang="en-US" altLang="zh-TW" sz="2600" b="1" spc="-8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Tree-based model </a:t>
            </a:r>
            <a:r>
              <a:rPr lang="zh-TW" altLang="en-US" sz="2600" b="1" spc="-8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優於線性基準。</a:t>
            </a:r>
            <a:endParaRPr lang="en-US" altLang="zh-TW" sz="2600" b="1" spc="-80" dirty="0"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14400" y="2552700"/>
            <a:ext cx="7620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14400" y="2933700"/>
            <a:ext cx="8382000" cy="51435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04900" y="3105150"/>
            <a:ext cx="66675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16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OOS AUC · 4-fold mean (vs 0.5 baseline)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85900" y="4724400"/>
            <a:ext cx="1333500" cy="29718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295400" y="4425893"/>
            <a:ext cx="1714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0.6490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5400" y="7810500"/>
            <a:ext cx="1714500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XGBoost 1.7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5650" y="4838700"/>
            <a:ext cx="1333500" cy="28575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105150" y="4540193"/>
            <a:ext cx="1714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0.6432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5150" y="7810500"/>
            <a:ext cx="1714500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LightGBM 4.x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05400" y="5133975"/>
            <a:ext cx="1333500" cy="2562225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914900" y="4835468"/>
            <a:ext cx="1714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EA580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0.6285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14900" y="7810500"/>
            <a:ext cx="1714500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Random Forest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15150" y="5734050"/>
            <a:ext cx="1333500" cy="19621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724650" y="5435543"/>
            <a:ext cx="1714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0.5984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4650" y="7810500"/>
            <a:ext cx="1714500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Logistic L2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485900" y="7696200"/>
            <a:ext cx="7620000" cy="9525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485900" y="8115300"/>
            <a:ext cx="9525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0.5 baseline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63100" y="2933700"/>
            <a:ext cx="7810500" cy="51435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753600" y="3105150"/>
            <a:ext cx="57150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0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METRICS COMPARISON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753600" y="3429000"/>
            <a:ext cx="7810500" cy="3429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867900" y="3517609"/>
            <a:ext cx="18669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0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MODEL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963400" y="3517609"/>
            <a:ext cx="100965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i="0" spc="20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AUC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201650" y="3517609"/>
            <a:ext cx="100965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i="0" spc="20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ICIR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439900" y="3517609"/>
            <a:ext cx="100965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i="0" spc="20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DSR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678150" y="3517609"/>
            <a:ext cx="177165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0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NOTE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753600" y="3771900"/>
            <a:ext cx="7810500" cy="5715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9753600" y="3771900"/>
            <a:ext cx="38100" cy="5715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906000" y="3949643"/>
            <a:ext cx="18669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XGBoost 1.7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963400" y="3941243"/>
            <a:ext cx="100965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0.6490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201650" y="3949643"/>
            <a:ext cx="100965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0.743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439900" y="3949643"/>
            <a:ext cx="100965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12.12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678150" y="3966410"/>
            <a:ext cx="177165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WINNER · 採用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753600" y="4343400"/>
            <a:ext cx="7810500" cy="571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9753600" y="4343400"/>
            <a:ext cx="38100" cy="5715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9906000" y="4521143"/>
            <a:ext cx="18669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LightGBM 4.x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963400" y="4512743"/>
            <a:ext cx="100965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0.6432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201650" y="4521143"/>
            <a:ext cx="100965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0.721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4439900" y="4521143"/>
            <a:ext cx="100965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10.84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678150" y="4537910"/>
            <a:ext cx="177165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差距 0.6 pp · 訓練快 30%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753600" y="4914900"/>
            <a:ext cx="7810500" cy="5715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9753600" y="4914900"/>
            <a:ext cx="38100" cy="5715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9906000" y="5092643"/>
            <a:ext cx="18669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Random Forest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963400" y="5084243"/>
            <a:ext cx="100965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0.6285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3201650" y="5092643"/>
            <a:ext cx="100965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0.654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4439900" y="5092643"/>
            <a:ext cx="100965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8.92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5678150" y="5109410"/>
            <a:ext cx="177165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泛化稍弱 · 可解釋強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753600" y="5486400"/>
            <a:ext cx="7810500" cy="571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9753600" y="5486400"/>
            <a:ext cx="38100" cy="5715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9906000" y="5664143"/>
            <a:ext cx="18669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Logistic L2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963400" y="5655743"/>
            <a:ext cx="100965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0.5984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3201650" y="5664143"/>
            <a:ext cx="100965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0.413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4439900" y="5664143"/>
            <a:ext cx="100965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4.31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5678150" y="5680910"/>
            <a:ext cx="177165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Linear baseline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14400" y="8420100"/>
            <a:ext cx="16459200" cy="800100"/>
          </a:xfrm>
          <a:prstGeom prst="rect">
            <a:avLst/>
          </a:prstGeom>
          <a:solidFill>
            <a:srgbClr val="FE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914400" y="8420100"/>
            <a:ext cx="57150" cy="800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1162050" y="8591550"/>
            <a:ext cx="5715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6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WHY XGBOOST · 為何採用 XGBoost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62050" y="8877300"/>
            <a:ext cx="15887700" cy="3038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優勝差距僅 0.6 pp · 但其在 </a:t>
            </a:r>
            <a:r>
              <a:rPr sz="15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minority class (Top 0.1%) 的 ICIR / DSR 顯著最佳</a:t>
            </a:r>
            <a:r>
              <a:rPr sz="15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；後續所有指標均以 XGBoost 為主模型。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429259"/>
            <a:ext cx="342900" cy="1511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404060"/>
            <a:ext cx="3619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多因子股票預測系統 · 附錄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404060"/>
            <a:ext cx="6667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AUC by Fold + DSR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746959"/>
            <a:ext cx="12382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Source · 自行整理 · DSR per Bailey &amp; López de Prado (2014)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59000" y="9753600"/>
            <a:ext cx="19050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4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APPENDIX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40200" y="9801225"/>
            <a:ext cx="7620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954500" y="9738560"/>
            <a:ext cx="571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A.12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104900"/>
            <a:ext cx="6667500" cy="2358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A.12 </a:t>
            </a:r>
            <a:r>
              <a:rPr lang="zh-TW" altLang="en-US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→</a:t>
            </a:r>
            <a:r>
              <a:rPr lang="en-US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DSR </a:t>
            </a:r>
            <a:r>
              <a:rPr lang="zh-TW" altLang="en-US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與跨 </a:t>
            </a:r>
            <a:r>
              <a:rPr lang="en-US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Fold </a:t>
            </a:r>
            <a:r>
              <a:rPr lang="zh-TW" altLang="en-US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穩定性</a:t>
            </a:r>
            <a:endParaRPr sz="1400" b="1" i="0" spc="24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1371600"/>
            <a:ext cx="16668750" cy="1157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lang="en-US" altLang="zh-TW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DSR </a:t>
            </a:r>
            <a:r>
              <a:rPr lang="zh-TW" altLang="en-US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將策略績效從試算結果提升為可辯護的統計結論</a:t>
            </a:r>
            <a:endParaRPr lang="en-US" altLang="zh-TW" sz="4000" b="1" spc="-8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  <a:p>
            <a:pPr>
              <a:lnSpc>
                <a:spcPct val="118000"/>
              </a:lnSpc>
            </a:pPr>
            <a:r>
              <a:rPr lang="zh-TW" altLang="en-US" sz="2600" b="1" spc="-8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多重檢定修正後仍通過顯著門檻。</a:t>
            </a:r>
            <a:endParaRPr lang="en-US" altLang="zh-TW" sz="2600" b="1" spc="-80" dirty="0"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14400" y="2552700"/>
            <a:ext cx="7620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14400" y="2933700"/>
            <a:ext cx="9753600" cy="55245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04900" y="3105150"/>
            <a:ext cx="6667500" cy="268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600" b="1" i="0" spc="16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OOS AUC by Fold </a:t>
            </a:r>
            <a:r>
              <a:rPr lang="zh-TW" altLang="en-US" sz="1600" b="1" i="0" spc="16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─</a:t>
            </a:r>
            <a:r>
              <a:rPr lang="en-US" sz="1600" b="1" i="0" spc="16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Expanding Window</a:t>
            </a:r>
            <a:endParaRPr sz="1600" b="1" i="0" spc="16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866900" y="4648200"/>
            <a:ext cx="1333500" cy="31623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676400" y="4359218"/>
            <a:ext cx="1714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0.6582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76400" y="7924800"/>
            <a:ext cx="1714500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Fold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76400" y="8184859"/>
            <a:ext cx="1714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2017-19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62400" y="4953000"/>
            <a:ext cx="1333500" cy="28575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771900" y="4664018"/>
            <a:ext cx="1714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0.6431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71900" y="7924800"/>
            <a:ext cx="1714500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Fold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71900" y="8184859"/>
            <a:ext cx="1714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2020-21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57900" y="4819650"/>
            <a:ext cx="1333500" cy="29908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867400" y="4530668"/>
            <a:ext cx="1714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0.6498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67400" y="7924800"/>
            <a:ext cx="1714500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Fold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67400" y="8184859"/>
            <a:ext cx="1714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2022-23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53400" y="4914900"/>
            <a:ext cx="1333500" cy="28956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962900" y="4625918"/>
            <a:ext cx="1714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0.6450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62900" y="7924800"/>
            <a:ext cx="1714500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Fold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62900" y="8184859"/>
            <a:ext cx="1714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2024-25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66900" y="4838700"/>
            <a:ext cx="6858000" cy="9525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281624" y="4705350"/>
            <a:ext cx="1905000" cy="201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200" b="1" i="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Mean = 0.6490</a:t>
            </a:r>
            <a:endParaRPr sz="1200" b="1" i="0" dirty="0">
              <a:solidFill>
                <a:srgbClr val="06B6D4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1866900" y="7810500"/>
            <a:ext cx="6858000" cy="9525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866900" y="8401050"/>
            <a:ext cx="1905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0.5 baseline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896600" y="2933700"/>
            <a:ext cx="6477000" cy="55245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10896600" y="2933700"/>
            <a:ext cx="64770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1125200" y="3162300"/>
            <a:ext cx="57150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100" b="1" i="0" spc="20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Deflated Sharpe Ratio </a:t>
            </a:r>
            <a:r>
              <a:rPr lang="zh-TW" altLang="en-US" sz="1100" b="1" i="0" spc="20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─</a:t>
            </a:r>
            <a:r>
              <a:rPr lang="en-US" sz="1100" b="1" i="0" spc="20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zh-TW" altLang="en-US" sz="1100" b="1" i="0" spc="20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多重檢定修正</a:t>
            </a:r>
            <a:endParaRPr sz="1100" b="1" i="0" spc="20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1125200" y="3486150"/>
            <a:ext cx="6019800" cy="705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4200" b="1" i="0" spc="-10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DSR 12.12 (p &lt; 0.001)</a:t>
            </a:r>
            <a:endParaRPr sz="4200" b="1" i="0" spc="-10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11125200" y="4210050"/>
            <a:ext cx="571500" cy="28575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1125200" y="4400550"/>
            <a:ext cx="6019800" cy="18690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DSR = (SR̂ − E[max SR_n]) × √(T−1) / √(1 − γ₃·SR̂ + (γ₄−1)/4·SR̂²)</a:t>
            </a:r>
          </a:p>
          <a:p>
            <a:pPr algn="l">
              <a:lnSpc>
                <a:spcPct val="160000"/>
              </a:lnSpc>
            </a:pPr>
            <a:r>
              <a:rPr lang="en-US" sz="16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SR̂ = observed Sharpe Ratio = 2.41</a:t>
            </a:r>
            <a:br>
              <a:rPr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sz="1600" b="1" i="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n = multiple trials (</a:t>
            </a:r>
            <a:r>
              <a:rPr lang="en-US" sz="1600" b="1" i="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Optuna</a:t>
            </a:r>
            <a:r>
              <a:rPr lang="en-US" sz="1600" b="1" i="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) = 150</a:t>
            </a:r>
            <a:br>
              <a:rPr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sz="16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 = OOS sample period (years) ≈ 8</a:t>
            </a:r>
            <a:br>
              <a:rPr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l-GR" sz="1600" b="1" i="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γ₃, γ₄ = </a:t>
            </a:r>
            <a:r>
              <a:rPr lang="en-US" sz="1600" b="1" i="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skewness / kurtosis adjustment</a:t>
            </a:r>
            <a:endParaRPr sz="1600" b="0" i="0" dirty="0"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11125200" y="7219950"/>
            <a:ext cx="6019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1125200" y="7334250"/>
            <a:ext cx="6019800" cy="268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600" b="1" i="0" spc="20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Interpretation</a:t>
            </a:r>
            <a:endParaRPr sz="1600" b="1" i="0" spc="20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1125200" y="7600950"/>
            <a:ext cx="6019800" cy="5808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lang="en-US" altLang="zh-TW" sz="13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DSR &gt; 2 </a:t>
            </a:r>
            <a:r>
              <a:rPr lang="zh-TW" altLang="en-US" sz="13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即達顯著門檻；本研究 </a:t>
            </a:r>
            <a:r>
              <a:rPr lang="en-US" altLang="zh-TW" sz="13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DSR 12.12 </a:t>
            </a:r>
            <a:r>
              <a:rPr lang="zh-TW" altLang="en-US" sz="13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顯示，在扣除 </a:t>
            </a:r>
            <a:r>
              <a:rPr lang="en-US" altLang="zh-TW" sz="13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150 </a:t>
            </a:r>
            <a:r>
              <a:rPr lang="zh-TW" altLang="en-US" sz="13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次參數搜尋的選擇偏誤後，策略績效仍具統計顯著性。</a:t>
            </a:r>
            <a:endParaRPr sz="13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914400" y="8610599"/>
            <a:ext cx="16459200" cy="1136359"/>
          </a:xfrm>
          <a:prstGeom prst="rect">
            <a:avLst/>
          </a:prstGeom>
          <a:solidFill>
            <a:srgbClr val="FE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914400" y="8610599"/>
            <a:ext cx="57150" cy="1136359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162050" y="8782050"/>
            <a:ext cx="5715000" cy="268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600" b="1" i="0" spc="26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Stability </a:t>
            </a:r>
            <a:r>
              <a:rPr lang="zh-TW" altLang="en-US" sz="1600" b="1" i="0" spc="26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─</a:t>
            </a:r>
            <a:r>
              <a:rPr lang="en-US" sz="1600" b="1" i="0" spc="26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zh-TW" altLang="en-US" sz="1600" b="1" i="0" spc="26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跨 </a:t>
            </a:r>
            <a:r>
              <a:rPr lang="en-US" sz="1600" b="1" i="0" spc="26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Fold </a:t>
            </a:r>
            <a:r>
              <a:rPr lang="zh-TW" altLang="en-US" sz="1600" b="1" i="0" spc="26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穩定</a:t>
            </a:r>
            <a:endParaRPr sz="1600" b="1" i="0" spc="260" dirty="0">
              <a:solidFill>
                <a:srgbClr val="F43F5E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162050" y="9067800"/>
            <a:ext cx="15887700" cy="6067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4-fold AUC </a:t>
            </a: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標準差為 </a:t>
            </a:r>
            <a:r>
              <a:rPr lang="en-US" altLang="zh-TW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0.005</a:t>
            </a: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；最差 </a:t>
            </a:r>
            <a:r>
              <a:rPr 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fold </a:t>
            </a: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仍達 </a:t>
            </a:r>
            <a:r>
              <a:rPr lang="en-US" altLang="zh-TW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0.6431</a:t>
            </a: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，明顯高於 </a:t>
            </a:r>
            <a:r>
              <a:rPr lang="en-US" altLang="zh-TW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0.5 </a:t>
            </a:r>
            <a:r>
              <a:rPr 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baseline。</a:t>
            </a:r>
          </a:p>
          <a:p>
            <a:pPr algn="l">
              <a:lnSpc>
                <a:spcPct val="150000"/>
              </a:lnSpc>
            </a:pPr>
            <a:r>
              <a:rPr lang="zh-TW" altLang="en-US" sz="14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結果不依賴單一年份或單一測試區間。</a:t>
            </a:r>
            <a:endParaRPr sz="1400" b="1" i="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429259"/>
            <a:ext cx="342900" cy="1511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404060"/>
            <a:ext cx="3619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多因子股票預測系統</a:t>
            </a:r>
            <a:r>
              <a:rPr sz="1200" b="1" i="0" spc="14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· </a:t>
            </a:r>
            <a:r>
              <a:rPr sz="1200" b="1" i="0" spc="14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附錄</a:t>
            </a:r>
            <a:endParaRPr sz="1200" b="1" i="0" spc="14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39500" y="404060"/>
            <a:ext cx="6667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Threshold Sweep · 0.40 / 0.50 / 0.60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746959"/>
            <a:ext cx="12382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Source · 自行整理 · 40 thresholds × 4-fold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59000" y="9753600"/>
            <a:ext cx="19050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4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APPENDIX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40200" y="9801225"/>
            <a:ext cx="7620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954500" y="9738560"/>
            <a:ext cx="571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A.13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104900"/>
            <a:ext cx="6667500" cy="2358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A.13 </a:t>
            </a:r>
            <a:r>
              <a:rPr lang="zh-TW" altLang="en-US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→</a:t>
            </a:r>
            <a:r>
              <a:rPr lang="en-US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Threshold </a:t>
            </a:r>
            <a:r>
              <a:rPr lang="zh-TW" altLang="en-US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情境設計</a:t>
            </a:r>
            <a:endParaRPr sz="1400" b="1" i="0" spc="24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1371600"/>
            <a:ext cx="16668750" cy="1157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lang="en-US" altLang="zh-TW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Threshold </a:t>
            </a:r>
            <a:r>
              <a:rPr lang="zh-TW" altLang="en-US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設計讓同一模型對應不同風險偏好的投資決策</a:t>
            </a:r>
            <a:endParaRPr lang="en-US" altLang="zh-TW" sz="4000" b="1" spc="-8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  <a:p>
            <a:pPr>
              <a:lnSpc>
                <a:spcPct val="118000"/>
              </a:lnSpc>
            </a:pPr>
            <a:r>
              <a:rPr lang="zh-TW" altLang="en-US" sz="2600" b="1" spc="-8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高門檻追求確信，低門檻擴大覆蓋。</a:t>
            </a:r>
            <a:endParaRPr lang="en-US" altLang="zh-TW" sz="2600" b="1" spc="-80" dirty="0"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14400" y="2552700"/>
            <a:ext cx="7620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14400" y="2933700"/>
            <a:ext cx="5257800" cy="449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14400" y="2933700"/>
            <a:ext cx="52578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43000" y="3143250"/>
            <a:ext cx="48006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200" b="1" i="0" spc="24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Conservative </a:t>
            </a:r>
            <a:r>
              <a:rPr lang="zh-TW" altLang="en-US" sz="1200" b="1" i="0" spc="24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─</a:t>
            </a:r>
            <a:r>
              <a:rPr lang="en-US" sz="1200" b="1" i="0" spc="24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zh-TW" altLang="en-US" sz="1200" b="1" i="0" spc="24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高確信</a:t>
            </a:r>
            <a:endParaRPr sz="1200" b="1" i="0" spc="24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43000" y="3448050"/>
            <a:ext cx="4800600" cy="6043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i="0" spc="-10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 ≥ 0.60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4169678"/>
            <a:ext cx="571500" cy="28575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43000" y="4417328"/>
            <a:ext cx="48006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000" b="0" i="0" spc="2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Signal Rate</a:t>
            </a:r>
            <a:endParaRPr sz="1000" b="0" i="0" spc="20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143000" y="4626878"/>
            <a:ext cx="4800600" cy="5373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 spc="-8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5217428"/>
            <a:ext cx="48006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000" b="0" i="0" spc="2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Hit Rate</a:t>
            </a:r>
            <a:endParaRPr sz="1000" b="0" i="0" spc="20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43000" y="5426978"/>
            <a:ext cx="4800600" cy="5373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 spc="-8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52.4%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6017528"/>
            <a:ext cx="48006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000" b="0" i="0" spc="2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Edge vs. Baseline</a:t>
            </a:r>
            <a:endParaRPr sz="1000" b="0" i="0" spc="20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43000" y="6227078"/>
            <a:ext cx="4800600" cy="5373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+22.4 pp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6964054"/>
            <a:ext cx="4800600" cy="2835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訊號最少，命中率最高。</a:t>
            </a:r>
            <a:endParaRPr sz="14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400800" y="2933700"/>
            <a:ext cx="5257800" cy="449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400800" y="2933700"/>
            <a:ext cx="525780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629400" y="3143250"/>
            <a:ext cx="48006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200" b="1" i="0" spc="24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Balanced </a:t>
            </a:r>
            <a:r>
              <a:rPr lang="zh-TW" altLang="en-US" sz="1200" b="1" i="0" spc="24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─</a:t>
            </a:r>
            <a:r>
              <a:rPr lang="en-US" sz="1200" b="1" i="0" spc="24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zh-TW" altLang="en-US" sz="1200" b="1" i="0" spc="24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預設門檻</a:t>
            </a:r>
            <a:endParaRPr sz="1200" b="1" i="0" spc="240" dirty="0">
              <a:solidFill>
                <a:srgbClr val="06B6D4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629400" y="3448050"/>
            <a:ext cx="4800600" cy="6043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i="0" spc="-10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 ≥ 0.50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29400" y="4169678"/>
            <a:ext cx="571500" cy="28575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629400" y="4417328"/>
            <a:ext cx="48006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000" b="0" i="0" spc="2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Signal Rate</a:t>
            </a:r>
            <a:endParaRPr sz="1000" b="0" i="0" spc="20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629400" y="4626878"/>
            <a:ext cx="4800600" cy="5373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 spc="-8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4.6%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5217428"/>
            <a:ext cx="48006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000" b="0" i="0" spc="2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Hit Rate</a:t>
            </a:r>
            <a:endParaRPr sz="1000" b="0" i="0" spc="20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629400" y="5426978"/>
            <a:ext cx="4800600" cy="5373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 spc="-8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46.1%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6017528"/>
            <a:ext cx="48006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000" b="0" i="0" spc="2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Edge vs. Baseline</a:t>
            </a:r>
            <a:endParaRPr sz="1000" b="0" i="0" spc="20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629400" y="6227078"/>
            <a:ext cx="4800600" cy="5373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 spc="-8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+16.1 pp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6964054"/>
            <a:ext cx="4800600" cy="2835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本研究主分析門檻。</a:t>
            </a:r>
            <a:endParaRPr sz="14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11887200" y="2933700"/>
            <a:ext cx="5257800" cy="449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11887200" y="2933700"/>
            <a:ext cx="5257800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2115800" y="3143250"/>
            <a:ext cx="48006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200" b="1" i="0" spc="240" dirty="0">
                <a:solidFill>
                  <a:srgbClr val="EA580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Aggressive </a:t>
            </a:r>
            <a:r>
              <a:rPr lang="zh-TW" altLang="en-US" sz="1200" b="1" i="0" spc="240" dirty="0">
                <a:solidFill>
                  <a:srgbClr val="EA580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─</a:t>
            </a:r>
            <a:r>
              <a:rPr lang="en-US" sz="1200" b="1" i="0" spc="240" dirty="0">
                <a:solidFill>
                  <a:srgbClr val="EA580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zh-TW" altLang="en-US" sz="1200" b="1" i="0" spc="240" dirty="0">
                <a:solidFill>
                  <a:srgbClr val="EA580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廣覆蓋</a:t>
            </a:r>
            <a:endParaRPr sz="1200" b="1" i="0" spc="240" dirty="0">
              <a:solidFill>
                <a:srgbClr val="EA580C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2115800" y="3448050"/>
            <a:ext cx="4800600" cy="6043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i="0" spc="-100">
                <a:solidFill>
                  <a:srgbClr val="EA580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 ≥ 0.40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2115800" y="4169678"/>
            <a:ext cx="571500" cy="28575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2115800" y="4417328"/>
            <a:ext cx="48006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000" b="0" i="0" spc="2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Signal Rate</a:t>
            </a:r>
            <a:endParaRPr sz="1000" b="0" i="0" spc="20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2115800" y="4626878"/>
            <a:ext cx="4800600" cy="5373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 spc="-8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12.3%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115800" y="5217428"/>
            <a:ext cx="48006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000" b="0" i="0" spc="2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Hit Rate</a:t>
            </a:r>
            <a:endParaRPr sz="1000" b="0" i="0" spc="20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2115800" y="5426978"/>
            <a:ext cx="4800600" cy="5373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 spc="-8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38.2%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115800" y="6017528"/>
            <a:ext cx="48006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000" b="0" i="0" spc="2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Edge vs. Baseline</a:t>
            </a:r>
            <a:endParaRPr sz="1000" b="0" i="0" spc="20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2115800" y="6227078"/>
            <a:ext cx="4800600" cy="5373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 spc="-8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+8.2 pp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115800" y="6964054"/>
            <a:ext cx="4800600" cy="2835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訊號較多，單筆 </a:t>
            </a:r>
            <a:r>
              <a:rPr lang="en-US" altLang="zh-TW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edge </a:t>
            </a: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較低。</a:t>
            </a:r>
            <a:endParaRPr sz="14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914400" y="7696200"/>
            <a:ext cx="16459200" cy="1377329"/>
          </a:xfrm>
          <a:prstGeom prst="rect">
            <a:avLst/>
          </a:prstGeom>
          <a:solidFill>
            <a:srgbClr val="FE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914400" y="7696200"/>
            <a:ext cx="57150" cy="1377329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162050" y="7867650"/>
            <a:ext cx="5715000" cy="268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600" b="1" i="0" spc="26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Interpretation </a:t>
            </a:r>
            <a:r>
              <a:rPr lang="zh-TW" altLang="en-US" sz="1600" b="1" i="0" spc="26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─</a:t>
            </a:r>
            <a:r>
              <a:rPr lang="en-US" sz="1600" b="1" i="0" spc="26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Threshold Trade-Off</a:t>
            </a:r>
            <a:endParaRPr sz="1600" b="1" i="0" spc="260" dirty="0">
              <a:solidFill>
                <a:srgbClr val="F43F5E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162050" y="8235288"/>
            <a:ext cx="15887700" cy="6119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TW" sz="1400" dirty="0"/>
              <a:t>Threshold </a:t>
            </a:r>
            <a:r>
              <a:rPr lang="zh-TW" altLang="en-US" sz="1400" dirty="0"/>
              <a:t>是模型分數轉換為研究清單的策略開關；門檻越高，訊號越少但命中率越高。</a:t>
            </a:r>
            <a:endParaRPr lang="en-US" altLang="zh-TW" sz="1400" dirty="0"/>
          </a:p>
          <a:p>
            <a:pPr algn="l">
              <a:lnSpc>
                <a:spcPct val="150000"/>
              </a:lnSpc>
            </a:pPr>
            <a:r>
              <a:rPr lang="zh-TW" altLang="en-US" sz="1400" dirty="0"/>
              <a:t>三種情境的 </a:t>
            </a:r>
            <a:r>
              <a:rPr lang="en-US" sz="1400" dirty="0"/>
              <a:t>hit rate </a:t>
            </a:r>
            <a:r>
              <a:rPr lang="zh-TW" altLang="en-US" sz="1400" dirty="0"/>
              <a:t>與 </a:t>
            </a:r>
            <a:r>
              <a:rPr lang="en-US" sz="1400" dirty="0"/>
              <a:t>edge </a:t>
            </a:r>
            <a:r>
              <a:rPr lang="zh-TW" altLang="en-US" sz="1400" dirty="0"/>
              <a:t>皆於 </a:t>
            </a:r>
            <a:r>
              <a:rPr lang="en-US" sz="1400" dirty="0"/>
              <a:t>OOS </a:t>
            </a:r>
            <a:r>
              <a:rPr lang="zh-TW" altLang="en-US" sz="1400" dirty="0"/>
              <a:t>樣本取得，並已納入 </a:t>
            </a:r>
            <a:r>
              <a:rPr lang="en-US" altLang="zh-TW" sz="1400" dirty="0"/>
              <a:t>5 </a:t>
            </a:r>
            <a:r>
              <a:rPr lang="en-US" sz="1400" dirty="0"/>
              <a:t>bps </a:t>
            </a:r>
            <a:r>
              <a:rPr lang="zh-TW" altLang="en-US" sz="1400" dirty="0"/>
              <a:t>滑價假設。</a:t>
            </a:r>
            <a:endParaRPr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429259"/>
            <a:ext cx="342900" cy="1511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404060"/>
            <a:ext cx="3619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多因子股票預測系統 · 附錄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404060"/>
            <a:ext cx="6667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Hit Decile · Detail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746959"/>
            <a:ext cx="12382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Source · 自行整理 · OOS hit rate by predicted-prob decile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59000" y="9753600"/>
            <a:ext cx="19050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4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APPENDIX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40200" y="9801225"/>
            <a:ext cx="7620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954500" y="9738560"/>
            <a:ext cx="571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A.14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104900"/>
            <a:ext cx="6667500" cy="2358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A.14 </a:t>
            </a:r>
            <a:r>
              <a:rPr lang="zh-TW" altLang="en-US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→</a:t>
            </a:r>
            <a:r>
              <a:rPr lang="en-US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Decile </a:t>
            </a:r>
            <a:r>
              <a:rPr lang="zh-TW" altLang="en-US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排序能力</a:t>
            </a:r>
            <a:endParaRPr sz="1400" b="1" i="0" spc="24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1371600"/>
            <a:ext cx="16668750" cy="1157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lang="en-US" altLang="zh-TW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Decile hit rate </a:t>
            </a:r>
            <a:r>
              <a:rPr lang="zh-TW" altLang="en-US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遞增證明模型分數具有排序能力</a:t>
            </a:r>
            <a:endParaRPr lang="en-US" altLang="zh-TW" sz="4000" b="1" spc="-8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  <a:p>
            <a:pPr>
              <a:lnSpc>
                <a:spcPct val="118000"/>
              </a:lnSpc>
            </a:pPr>
            <a:r>
              <a:rPr lang="zh-TW" altLang="en-US" sz="2600" b="1" spc="-8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分數越高，實際命中率越高。</a:t>
            </a:r>
            <a:endParaRPr lang="en-US" altLang="zh-TW" sz="2600" b="1" spc="-80" dirty="0"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14400" y="2552700"/>
            <a:ext cx="7620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14400" y="2933700"/>
            <a:ext cx="16459200" cy="51435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04900" y="3105150"/>
            <a:ext cx="5715000" cy="268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600" b="1" i="0" spc="16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Hit Rate by Predicted Probability Decile</a:t>
            </a:r>
            <a:endParaRPr sz="1600" b="1" i="0" spc="16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485900" y="6000750"/>
            <a:ext cx="1047750" cy="16192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295400" y="5720167"/>
            <a:ext cx="1428750" cy="218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22.4%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5400" y="7729943"/>
            <a:ext cx="1428750" cy="218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09900" y="5829300"/>
            <a:ext cx="1047750" cy="17907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819400" y="5548717"/>
            <a:ext cx="1428750" cy="218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24.8%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19400" y="7729943"/>
            <a:ext cx="1428750" cy="218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33900" y="5705475"/>
            <a:ext cx="1047750" cy="1914525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343400" y="5424892"/>
            <a:ext cx="1428750" cy="218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26.5%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7729943"/>
            <a:ext cx="1428750" cy="218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57900" y="5591175"/>
            <a:ext cx="1047750" cy="2028825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867400" y="5310592"/>
            <a:ext cx="1428750" cy="218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28.1%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67400" y="7729943"/>
            <a:ext cx="1428750" cy="218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81900" y="5467350"/>
            <a:ext cx="1047750" cy="21526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391400" y="5186767"/>
            <a:ext cx="1428750" cy="218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29.8%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91400" y="7729943"/>
            <a:ext cx="1428750" cy="218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05900" y="5334000"/>
            <a:ext cx="1047750" cy="2286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915400" y="5053417"/>
            <a:ext cx="1428750" cy="218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31.6%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15400" y="7729943"/>
            <a:ext cx="1428750" cy="218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629900" y="5200650"/>
            <a:ext cx="1047750" cy="24193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439400" y="4920067"/>
            <a:ext cx="1428750" cy="218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33.5%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39400" y="7729943"/>
            <a:ext cx="1428750" cy="218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153900" y="4991100"/>
            <a:ext cx="1047750" cy="26289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1963400" y="4710517"/>
            <a:ext cx="1428750" cy="218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36.4%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963400" y="7729943"/>
            <a:ext cx="1428750" cy="218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3677900" y="4638675"/>
            <a:ext cx="1047750" cy="2981325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3487400" y="4358092"/>
            <a:ext cx="1428750" cy="218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41.2%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487400" y="7729943"/>
            <a:ext cx="1428750" cy="218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5201900" y="4162425"/>
            <a:ext cx="1047750" cy="3457575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5011400" y="3881842"/>
            <a:ext cx="1428750" cy="218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47.8%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011400" y="7729943"/>
            <a:ext cx="1428750" cy="218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D10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485900" y="5448300"/>
            <a:ext cx="1562100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5430500" y="5238750"/>
            <a:ext cx="1905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30% baseline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14400" y="8267699"/>
            <a:ext cx="16459200" cy="1403379"/>
          </a:xfrm>
          <a:prstGeom prst="rect">
            <a:avLst/>
          </a:prstGeom>
          <a:solidFill>
            <a:srgbClr val="FE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914400" y="8267699"/>
            <a:ext cx="57150" cy="1403379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162050" y="8439150"/>
            <a:ext cx="5715000" cy="268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600" b="1" i="0" spc="26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Monotonicity </a:t>
            </a:r>
            <a:r>
              <a:rPr lang="zh-TW" altLang="en-US" sz="1600" b="1" i="0" spc="26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─</a:t>
            </a:r>
            <a:r>
              <a:rPr lang="en-US" sz="1600" b="1" i="0" spc="26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zh-TW" altLang="en-US" sz="1600" b="1" i="0" spc="26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分數排序與命中率一致</a:t>
            </a:r>
            <a:endParaRPr sz="1600" b="1" i="0" spc="260" dirty="0">
              <a:solidFill>
                <a:srgbClr val="F43F5E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162050" y="8724900"/>
            <a:ext cx="15887700" cy="9529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十個 </a:t>
            </a:r>
            <a:r>
              <a:rPr lang="en-US" altLang="zh-TW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decile </a:t>
            </a: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命中率呈單調遞增，顯示模型分數具備穩定排序能力。</a:t>
            </a:r>
            <a:br>
              <a:rPr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sz="14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D10 </a:t>
            </a:r>
            <a:r>
              <a:rPr lang="zh-TW" altLang="en-US" sz="14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與 </a:t>
            </a:r>
            <a:r>
              <a:rPr lang="en-US" altLang="zh-TW" sz="14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D1 </a:t>
            </a:r>
            <a:r>
              <a:rPr lang="zh-TW" altLang="en-US" sz="14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命中率差距達 </a:t>
            </a:r>
            <a:r>
              <a:rPr lang="en-US" altLang="zh-TW" sz="14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25.4 pp</a:t>
            </a:r>
            <a:r>
              <a:rPr lang="zh-TW" altLang="en-US" sz="14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，是後續 </a:t>
            </a:r>
            <a:r>
              <a:rPr lang="en-US" altLang="zh-TW" sz="14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Top-K </a:t>
            </a:r>
            <a:r>
              <a:rPr lang="zh-TW" altLang="en-US" sz="14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策略的核心依據。</a:t>
            </a:r>
            <a:endParaRPr lang="en-US" altLang="zh-TW" sz="1400" b="0" i="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  <a:p>
            <a:pPr algn="l">
              <a:lnSpc>
                <a:spcPct val="150000"/>
              </a:lnSpc>
            </a:pPr>
            <a:r>
              <a:rPr lang="zh-TW" altLang="en-US" sz="14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此頁為主簡報中高分位命中率結果的詳細展開。</a:t>
            </a:r>
            <a:endParaRPr sz="1400" b="0" i="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429259"/>
            <a:ext cx="342900" cy="1511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404060"/>
            <a:ext cx="3619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多因子股票預測系統 · 附錄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404060"/>
            <a:ext cx="6667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sz="1200" b="0" i="0" spc="2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Equity Curve · Top 0.1% vs. 0050</a:t>
            </a:r>
            <a:endParaRPr sz="1200" b="0" i="0" spc="20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9746959"/>
            <a:ext cx="12382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Source · 自行整理 · 5 bps round-trip cost · 20-day rebalance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59000" y="9753600"/>
            <a:ext cx="19050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4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APPENDIX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40200" y="9801225"/>
            <a:ext cx="7620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954500" y="9738560"/>
            <a:ext cx="571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A.15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104900"/>
            <a:ext cx="6667500" cy="2358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A.15 </a:t>
            </a:r>
            <a:r>
              <a:rPr lang="zh-TW" altLang="en-US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→</a:t>
            </a:r>
            <a:r>
              <a:rPr lang="en-US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Top-K </a:t>
            </a:r>
            <a:r>
              <a:rPr lang="zh-TW" altLang="en-US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策略回測</a:t>
            </a:r>
            <a:endParaRPr sz="1400" b="1" i="0" spc="24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1371600"/>
            <a:ext cx="16668750" cy="1157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lang="en-US" altLang="zh-TW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Top-K </a:t>
            </a:r>
            <a:r>
              <a:rPr lang="zh-TW" altLang="en-US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策略證明高分位訊號能轉化為投資組合績效</a:t>
            </a:r>
            <a:endParaRPr lang="en-US" altLang="zh-TW" sz="4000" b="1" spc="-8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  <a:p>
            <a:pPr>
              <a:lnSpc>
                <a:spcPct val="118000"/>
              </a:lnSpc>
            </a:pPr>
            <a:r>
              <a:rPr lang="zh-TW" altLang="en-US" sz="2600" b="1" spc="-8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模型不只預測方向，也能形成組合。</a:t>
            </a:r>
            <a:endParaRPr lang="en-US" altLang="zh-TW" sz="2600" b="1" spc="-80" dirty="0"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14400" y="2552700"/>
            <a:ext cx="7620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14400" y="2933700"/>
            <a:ext cx="16459200" cy="51435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485900" y="7734300"/>
            <a:ext cx="1560195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485900" y="3219450"/>
            <a:ext cx="9525" cy="45148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485900" y="7734300"/>
            <a:ext cx="9525" cy="571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200150" y="7848600"/>
            <a:ext cx="5715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2018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14750" y="7734300"/>
            <a:ext cx="9525" cy="571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429000" y="7848600"/>
            <a:ext cx="5715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2019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7734300"/>
            <a:ext cx="9525" cy="571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657850" y="7848600"/>
            <a:ext cx="5715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2020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72450" y="7734300"/>
            <a:ext cx="9525" cy="571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886700" y="7848600"/>
            <a:ext cx="5715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2021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401300" y="7734300"/>
            <a:ext cx="9525" cy="571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115550" y="7848600"/>
            <a:ext cx="5715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2022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630150" y="7734300"/>
            <a:ext cx="9525" cy="571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2344400" y="7848600"/>
            <a:ext cx="5715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2023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859000" y="7734300"/>
            <a:ext cx="9525" cy="571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4573250" y="7848600"/>
            <a:ext cx="5715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2024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7087850" y="7734300"/>
            <a:ext cx="9525" cy="571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6802100" y="7848600"/>
            <a:ext cx="5715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2025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28750" y="7734300"/>
            <a:ext cx="57150" cy="9525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14400" y="7639050"/>
            <a:ext cx="476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428750" y="6838950"/>
            <a:ext cx="57150" cy="9525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14400" y="6743700"/>
            <a:ext cx="476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50%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485900" y="6838950"/>
            <a:ext cx="1560195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1428750" y="5934075"/>
            <a:ext cx="57150" cy="9525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14400" y="5838825"/>
            <a:ext cx="476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100%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485900" y="5934075"/>
            <a:ext cx="1560195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1428750" y="5029200"/>
            <a:ext cx="57150" cy="9525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914400" y="4933950"/>
            <a:ext cx="476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150%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485900" y="5029200"/>
            <a:ext cx="1560195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1428750" y="4124325"/>
            <a:ext cx="57150" cy="9525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914400" y="4029075"/>
            <a:ext cx="476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200%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485900" y="4124325"/>
            <a:ext cx="1560195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1428750" y="3219450"/>
            <a:ext cx="57150" cy="9525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914400" y="3124200"/>
            <a:ext cx="476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250%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485900" y="3219450"/>
            <a:ext cx="1560195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50" name="Connector 49"/>
          <p:cNvCxnSpPr/>
          <p:nvPr/>
        </p:nvCxnSpPr>
        <p:spPr>
          <a:xfrm flipV="1">
            <a:off x="1485900" y="7410450"/>
            <a:ext cx="2228850" cy="323850"/>
          </a:xfrm>
          <a:prstGeom prst="line">
            <a:avLst/>
          </a:prstGeom>
          <a:ln w="381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3714750" y="6981825"/>
            <a:ext cx="2228850" cy="428625"/>
          </a:xfrm>
          <a:prstGeom prst="line">
            <a:avLst/>
          </a:prstGeom>
          <a:ln w="381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943600" y="6334125"/>
            <a:ext cx="2228850" cy="647700"/>
          </a:xfrm>
          <a:prstGeom prst="line">
            <a:avLst/>
          </a:prstGeom>
          <a:ln w="381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8172450" y="5838825"/>
            <a:ext cx="2228850" cy="495300"/>
          </a:xfrm>
          <a:prstGeom prst="line">
            <a:avLst/>
          </a:prstGeom>
          <a:ln w="381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10401300" y="5172075"/>
            <a:ext cx="2228850" cy="666750"/>
          </a:xfrm>
          <a:prstGeom prst="line">
            <a:avLst/>
          </a:prstGeom>
          <a:ln w="381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12630150" y="4343400"/>
            <a:ext cx="2228850" cy="828675"/>
          </a:xfrm>
          <a:prstGeom prst="line">
            <a:avLst/>
          </a:prstGeom>
          <a:ln w="381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14859000" y="3552825"/>
            <a:ext cx="2228850" cy="790575"/>
          </a:xfrm>
          <a:prstGeom prst="line">
            <a:avLst/>
          </a:prstGeom>
          <a:ln w="381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1485900" y="7524750"/>
            <a:ext cx="2228850" cy="209550"/>
          </a:xfrm>
          <a:prstGeom prst="line">
            <a:avLst/>
          </a:prstGeom>
          <a:ln w="2540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3714750" y="7229475"/>
            <a:ext cx="2228850" cy="295275"/>
          </a:xfrm>
          <a:prstGeom prst="line">
            <a:avLst/>
          </a:prstGeom>
          <a:ln w="2540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943600" y="7048500"/>
            <a:ext cx="2228850" cy="180975"/>
          </a:xfrm>
          <a:prstGeom prst="line">
            <a:avLst/>
          </a:prstGeom>
          <a:ln w="2540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8172450" y="7048500"/>
            <a:ext cx="2228850" cy="295275"/>
          </a:xfrm>
          <a:prstGeom prst="line">
            <a:avLst/>
          </a:prstGeom>
          <a:ln w="2540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10401300" y="7105650"/>
            <a:ext cx="2228850" cy="238125"/>
          </a:xfrm>
          <a:prstGeom prst="line">
            <a:avLst/>
          </a:prstGeom>
          <a:ln w="2540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12630150" y="6800850"/>
            <a:ext cx="2228850" cy="304800"/>
          </a:xfrm>
          <a:prstGeom prst="line">
            <a:avLst/>
          </a:prstGeom>
          <a:ln w="2540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14859000" y="6515100"/>
            <a:ext cx="2228850" cy="285750"/>
          </a:xfrm>
          <a:prstGeom prst="line">
            <a:avLst/>
          </a:prstGeom>
          <a:ln w="2540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>
            <a:off x="1438275" y="7686675"/>
            <a:ext cx="95250" cy="9525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5" name="Oval 64"/>
          <p:cNvSpPr/>
          <p:nvPr/>
        </p:nvSpPr>
        <p:spPr>
          <a:xfrm>
            <a:off x="3667125" y="7362825"/>
            <a:ext cx="95250" cy="9525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6" name="Oval 65"/>
          <p:cNvSpPr/>
          <p:nvPr/>
        </p:nvSpPr>
        <p:spPr>
          <a:xfrm>
            <a:off x="5895975" y="6934200"/>
            <a:ext cx="95250" cy="9525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7" name="Oval 66"/>
          <p:cNvSpPr/>
          <p:nvPr/>
        </p:nvSpPr>
        <p:spPr>
          <a:xfrm>
            <a:off x="8124825" y="6286500"/>
            <a:ext cx="95250" cy="9525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8" name="Oval 67"/>
          <p:cNvSpPr/>
          <p:nvPr/>
        </p:nvSpPr>
        <p:spPr>
          <a:xfrm>
            <a:off x="10353675" y="5791200"/>
            <a:ext cx="95250" cy="9525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9" name="Oval 68"/>
          <p:cNvSpPr/>
          <p:nvPr/>
        </p:nvSpPr>
        <p:spPr>
          <a:xfrm>
            <a:off x="12582525" y="5124450"/>
            <a:ext cx="95250" cy="9525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0" name="Oval 69"/>
          <p:cNvSpPr/>
          <p:nvPr/>
        </p:nvSpPr>
        <p:spPr>
          <a:xfrm>
            <a:off x="14811375" y="4295775"/>
            <a:ext cx="95250" cy="9525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1" name="Oval 70"/>
          <p:cNvSpPr/>
          <p:nvPr/>
        </p:nvSpPr>
        <p:spPr>
          <a:xfrm>
            <a:off x="17040225" y="3505200"/>
            <a:ext cx="95250" cy="9525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2" name="Oval 71"/>
          <p:cNvSpPr/>
          <p:nvPr/>
        </p:nvSpPr>
        <p:spPr>
          <a:xfrm>
            <a:off x="1447800" y="7696200"/>
            <a:ext cx="76200" cy="76200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3" name="Oval 72"/>
          <p:cNvSpPr/>
          <p:nvPr/>
        </p:nvSpPr>
        <p:spPr>
          <a:xfrm>
            <a:off x="3676650" y="7486650"/>
            <a:ext cx="76200" cy="76200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4" name="Oval 73"/>
          <p:cNvSpPr/>
          <p:nvPr/>
        </p:nvSpPr>
        <p:spPr>
          <a:xfrm>
            <a:off x="5905500" y="7191375"/>
            <a:ext cx="76200" cy="76200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5" name="Oval 74"/>
          <p:cNvSpPr/>
          <p:nvPr/>
        </p:nvSpPr>
        <p:spPr>
          <a:xfrm>
            <a:off x="8134350" y="7010400"/>
            <a:ext cx="76200" cy="76200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6" name="Oval 75"/>
          <p:cNvSpPr/>
          <p:nvPr/>
        </p:nvSpPr>
        <p:spPr>
          <a:xfrm>
            <a:off x="10363200" y="7305675"/>
            <a:ext cx="76200" cy="76200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7" name="Oval 76"/>
          <p:cNvSpPr/>
          <p:nvPr/>
        </p:nvSpPr>
        <p:spPr>
          <a:xfrm>
            <a:off x="12592050" y="7067550"/>
            <a:ext cx="76200" cy="76200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8" name="Oval 77"/>
          <p:cNvSpPr/>
          <p:nvPr/>
        </p:nvSpPr>
        <p:spPr>
          <a:xfrm>
            <a:off x="14820900" y="6762750"/>
            <a:ext cx="76200" cy="76200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9" name="Oval 78"/>
          <p:cNvSpPr/>
          <p:nvPr/>
        </p:nvSpPr>
        <p:spPr>
          <a:xfrm>
            <a:off x="17049750" y="6477000"/>
            <a:ext cx="76200" cy="76200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15373350" y="3343275"/>
            <a:ext cx="190500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+232%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5373350" y="6610350"/>
            <a:ext cx="190500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+68%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714500" y="3448050"/>
            <a:ext cx="22860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2019300" y="3390900"/>
            <a:ext cx="30480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200" b="1" i="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Top 0.1% Portfolio </a:t>
            </a:r>
            <a:r>
              <a:rPr lang="zh-TW" altLang="en-US" sz="1200" b="1" i="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─</a:t>
            </a:r>
            <a:r>
              <a:rPr lang="en-US" sz="1200" b="1" i="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Avg. 4 Stocks</a:t>
            </a:r>
            <a:endParaRPr sz="1200" b="1" i="0" dirty="0">
              <a:solidFill>
                <a:srgbClr val="06B6D4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1714500" y="3733800"/>
            <a:ext cx="228600" cy="190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2019300" y="3676650"/>
            <a:ext cx="30480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2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0050 ETF </a:t>
            </a:r>
            <a:r>
              <a:rPr lang="zh-TW" altLang="en-US" sz="12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─</a:t>
            </a:r>
            <a:r>
              <a:rPr lang="en-US" sz="12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TWSE Benchmark</a:t>
            </a:r>
            <a:endParaRPr sz="1200" b="0" i="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86" name="Rectangle 85"/>
          <p:cNvSpPr/>
          <p:nvPr/>
        </p:nvSpPr>
        <p:spPr>
          <a:xfrm>
            <a:off x="914400" y="8267700"/>
            <a:ext cx="394335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914400" y="8267700"/>
            <a:ext cx="394335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1085850" y="8382000"/>
            <a:ext cx="2286000" cy="1679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2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CAGR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85850" y="8610600"/>
            <a:ext cx="19050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6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+16.4%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009900" y="8664518"/>
            <a:ext cx="952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+6.7%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057650" y="8664518"/>
            <a:ext cx="8001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+9.7 pp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85850" y="8972550"/>
            <a:ext cx="1905000" cy="134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800" b="0" i="0" spc="180" dirty="0">
                <a:solidFill>
                  <a:srgbClr val="94A3B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Strategy / 0050 / Edge</a:t>
            </a:r>
            <a:endParaRPr sz="800" b="0" i="0" spc="180" dirty="0">
              <a:solidFill>
                <a:srgbClr val="94A3B8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93" name="Rectangle 92"/>
          <p:cNvSpPr/>
          <p:nvPr/>
        </p:nvSpPr>
        <p:spPr>
          <a:xfrm>
            <a:off x="5086350" y="8267700"/>
            <a:ext cx="394335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4" name="Rectangle 93"/>
          <p:cNvSpPr/>
          <p:nvPr/>
        </p:nvSpPr>
        <p:spPr>
          <a:xfrm>
            <a:off x="5086350" y="8267700"/>
            <a:ext cx="394335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5257800" y="8382000"/>
            <a:ext cx="2286000" cy="1678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000" b="1" i="0" spc="22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Sharpe Ratio</a:t>
            </a:r>
            <a:endParaRPr sz="1000" b="1" i="0" spc="22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5257800" y="8610600"/>
            <a:ext cx="19050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6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2.41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181850" y="8664518"/>
            <a:ext cx="952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0.78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229600" y="8664518"/>
            <a:ext cx="8001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+1.63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257800" y="8972550"/>
            <a:ext cx="1905000" cy="134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800" b="0" i="0" spc="180" dirty="0">
                <a:solidFill>
                  <a:srgbClr val="94A3B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Strategy / 0050 / Edge</a:t>
            </a:r>
            <a:endParaRPr sz="800" b="0" i="0" spc="180" dirty="0">
              <a:solidFill>
                <a:srgbClr val="94A3B8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00" name="Rectangle 99"/>
          <p:cNvSpPr/>
          <p:nvPr/>
        </p:nvSpPr>
        <p:spPr>
          <a:xfrm>
            <a:off x="9258300" y="8267700"/>
            <a:ext cx="394335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1" name="Rectangle 100"/>
          <p:cNvSpPr/>
          <p:nvPr/>
        </p:nvSpPr>
        <p:spPr>
          <a:xfrm>
            <a:off x="9258300" y="8267700"/>
            <a:ext cx="394335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9429750" y="8382000"/>
            <a:ext cx="2286000" cy="1679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000" b="1" i="0" spc="22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Max Drawdown</a:t>
            </a:r>
            <a:endParaRPr sz="1000" b="1" i="0" spc="22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9429750" y="8610600"/>
            <a:ext cx="19050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6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-18.2%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1353800" y="8664518"/>
            <a:ext cx="952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-32.4%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2401550" y="8664518"/>
            <a:ext cx="8001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+14.2 pp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429750" y="8972550"/>
            <a:ext cx="1905000" cy="134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TW" sz="800" spc="180" dirty="0">
                <a:solidFill>
                  <a:srgbClr val="94A3B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Strategy / 0050 / Edge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3430250" y="8267700"/>
            <a:ext cx="394335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8" name="Rectangle 107"/>
          <p:cNvSpPr/>
          <p:nvPr/>
        </p:nvSpPr>
        <p:spPr>
          <a:xfrm>
            <a:off x="13430250" y="8267700"/>
            <a:ext cx="394335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13601700" y="8382000"/>
            <a:ext cx="2286000" cy="1679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000" b="1" i="0" spc="22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Monthly Hit Rate</a:t>
            </a:r>
            <a:endParaRPr sz="1000" b="1" i="0" spc="22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13601700" y="8610600"/>
            <a:ext cx="19050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6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64%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5525750" y="8664518"/>
            <a:ext cx="952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52%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6573500" y="8664518"/>
            <a:ext cx="8001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+12 pp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3601700" y="8972550"/>
            <a:ext cx="1905000" cy="134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TW" sz="800" spc="180" dirty="0">
                <a:solidFill>
                  <a:srgbClr val="94A3B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Strategy / 0050 / Edge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429259"/>
            <a:ext cx="342900" cy="1511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404060"/>
            <a:ext cx="3619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多因子股票預測系統 · 附錄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404060"/>
            <a:ext cx="6667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Drawdown &amp; Cost Sensitivity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746959"/>
            <a:ext cx="12382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Source · 自行整理 · round-trip cost from 0 to 30 bps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59000" y="9753600"/>
            <a:ext cx="19050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4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APPENDIX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40200" y="9801225"/>
            <a:ext cx="7620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954500" y="9738560"/>
            <a:ext cx="571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A.16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104900"/>
            <a:ext cx="6667500" cy="2358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TW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A.16 </a:t>
            </a:r>
            <a:r>
              <a:rPr lang="zh-TW" altLang="en-US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→</a:t>
            </a:r>
            <a:r>
              <a:rPr lang="en-US" altLang="zh-TW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zh-TW" altLang="en-US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成本敏感度測試</a:t>
            </a:r>
            <a:endParaRPr sz="1400" b="1" i="0" spc="24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1371600"/>
            <a:ext cx="16668750" cy="1157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lang="zh-TW" altLang="en-US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成本壓力測試顯示 </a:t>
            </a:r>
            <a:r>
              <a:rPr lang="en-US" altLang="zh-TW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D+20 </a:t>
            </a:r>
            <a:r>
              <a:rPr lang="zh-TW" altLang="en-US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策略仍具交易摩擦緩衝</a:t>
            </a:r>
            <a:endParaRPr lang="en-US" altLang="zh-TW" sz="4000" b="1" spc="-8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  <a:p>
            <a:pPr>
              <a:lnSpc>
                <a:spcPct val="118000"/>
              </a:lnSpc>
            </a:pPr>
            <a:r>
              <a:rPr lang="zh-TW" altLang="en-US" sz="2600" b="1" spc="-8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短週期策略受成本侵蝕更明顯。</a:t>
            </a:r>
            <a:endParaRPr lang="en-US" altLang="zh-TW" sz="2600" b="1" spc="-80" dirty="0"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14400" y="2552700"/>
            <a:ext cx="7620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14400" y="2933700"/>
            <a:ext cx="525780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14400" y="2933700"/>
            <a:ext cx="52578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43000" y="3143250"/>
            <a:ext cx="48006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200" b="1" i="0" spc="24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5 bps · Base Case</a:t>
            </a:r>
            <a:endParaRPr sz="1200" b="1" i="0" spc="24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43000" y="3448050"/>
            <a:ext cx="4800600" cy="772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600" b="1" i="0" spc="-14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+16.4%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4101438"/>
            <a:ext cx="48006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100" b="0" i="0" spc="15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CAGR · Annualized</a:t>
            </a:r>
            <a:endParaRPr sz="1100" b="0" i="0" spc="15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143000" y="4343400"/>
            <a:ext cx="571500" cy="28575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143000" y="4697676"/>
            <a:ext cx="19050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100" b="0" i="0" spc="2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Sharpe Ratio</a:t>
            </a:r>
            <a:endParaRPr sz="1100" b="0" i="0" spc="20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819400" y="4596738"/>
            <a:ext cx="31623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2.41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5345376"/>
            <a:ext cx="19050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100" b="0" i="0" spc="2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Max Drawdown</a:t>
            </a:r>
            <a:endParaRPr sz="1100" b="0" i="0" spc="20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819400" y="5271734"/>
            <a:ext cx="31623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-18.2%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6362700"/>
            <a:ext cx="4800600" cy="3332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lang="zh-TW" altLang="en-US" sz="16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本研究預設情境，接近一般交易成本假設。</a:t>
            </a:r>
            <a:endParaRPr sz="16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400800" y="2933700"/>
            <a:ext cx="525780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400800" y="2933700"/>
            <a:ext cx="5257800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629400" y="3143250"/>
            <a:ext cx="48006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200" b="1" i="0" spc="240" dirty="0">
                <a:solidFill>
                  <a:srgbClr val="EA580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15 bps </a:t>
            </a:r>
            <a:r>
              <a:rPr lang="zh-TW" altLang="en-US" sz="1200" b="1" i="0" spc="240" dirty="0">
                <a:solidFill>
                  <a:srgbClr val="EA580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─</a:t>
            </a:r>
            <a:r>
              <a:rPr lang="en-US" sz="1200" b="1" i="0" spc="240" dirty="0">
                <a:solidFill>
                  <a:srgbClr val="EA580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Stress Case</a:t>
            </a:r>
            <a:endParaRPr sz="1200" b="1" i="0" spc="240" dirty="0">
              <a:solidFill>
                <a:srgbClr val="EA580C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629400" y="3448050"/>
            <a:ext cx="4800600" cy="772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600" b="1" i="0" spc="-140">
                <a:solidFill>
                  <a:srgbClr val="EA580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+12.1%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4101438"/>
            <a:ext cx="48006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100" b="0" i="0" spc="15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CAGR · Annualized</a:t>
            </a:r>
            <a:endParaRPr sz="1100" b="0" i="0" spc="15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629400" y="4343400"/>
            <a:ext cx="571500" cy="28575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629400" y="4697676"/>
            <a:ext cx="19050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100" b="0" i="0" spc="2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Sharpe Ratio</a:t>
            </a:r>
            <a:endParaRPr sz="1100" b="0" i="0" spc="20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305800" y="4596738"/>
            <a:ext cx="31623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1.78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5345376"/>
            <a:ext cx="19050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100" b="0" i="0" spc="2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Max Drawdown</a:t>
            </a:r>
            <a:endParaRPr sz="1100" b="0" i="0" spc="20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305800" y="5271734"/>
            <a:ext cx="31623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-21.6%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6362700"/>
            <a:ext cx="4800600" cy="3332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lang="zh-TW" altLang="en-US" sz="16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較高滑價與交易摩擦情境，用於檢驗策略韌性。</a:t>
            </a:r>
            <a:endParaRPr sz="16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11887200" y="2933700"/>
            <a:ext cx="525780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11887200" y="2933700"/>
            <a:ext cx="52578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2115800" y="3143250"/>
            <a:ext cx="48006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200" b="1" i="0" spc="24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30 bps </a:t>
            </a:r>
            <a:r>
              <a:rPr lang="zh-TW" altLang="en-US" sz="1200" b="1" i="0" spc="24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─</a:t>
            </a:r>
            <a:r>
              <a:rPr lang="en-US" sz="1200" b="1" i="0" spc="24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Worst Case</a:t>
            </a:r>
            <a:endParaRPr sz="1200" b="1" i="0" spc="240" dirty="0">
              <a:solidFill>
                <a:srgbClr val="F43F5E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2115800" y="3448050"/>
            <a:ext cx="4800600" cy="772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600" b="1" i="0" spc="-14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+5.8%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115800" y="4101438"/>
            <a:ext cx="48006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100" b="0" i="0" spc="15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CAGR · Annualized</a:t>
            </a:r>
            <a:endParaRPr sz="1100" b="0" i="0" spc="15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12115800" y="4343400"/>
            <a:ext cx="571500" cy="2857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2115800" y="4697676"/>
            <a:ext cx="19050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100" b="0" i="0" spc="2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Sharpe Ratio</a:t>
            </a:r>
            <a:endParaRPr sz="1100" b="0" i="0" spc="20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3792200" y="4596738"/>
            <a:ext cx="31623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0.92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115800" y="5345376"/>
            <a:ext cx="19050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100" b="0" i="0" spc="2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Max Drawdown</a:t>
            </a:r>
            <a:endParaRPr sz="1100" b="0" i="0" spc="20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3792200" y="5271734"/>
            <a:ext cx="31623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-25.4%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115800" y="6362700"/>
            <a:ext cx="4800600" cy="3332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lang="zh-TW" altLang="en-US" sz="16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極端交易成本情境，模擬低流動性與高週轉壓力。</a:t>
            </a:r>
            <a:endParaRPr sz="16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914400" y="7315200"/>
            <a:ext cx="16459200" cy="1980208"/>
          </a:xfrm>
          <a:prstGeom prst="rect">
            <a:avLst/>
          </a:prstGeom>
          <a:solidFill>
            <a:srgbClr val="FE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914400" y="7315200"/>
            <a:ext cx="57150" cy="1980208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162050" y="7486650"/>
            <a:ext cx="5715000" cy="268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600" b="1" i="0" spc="26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Cost Resilience </a:t>
            </a:r>
            <a:r>
              <a:rPr lang="zh-TW" altLang="en-US" sz="1600" b="1" i="0" spc="26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─</a:t>
            </a:r>
            <a:r>
              <a:rPr lang="en-US" sz="1600" b="1" i="0" spc="26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zh-TW" altLang="en-US" sz="1600" b="1" i="0" spc="26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成本韌性</a:t>
            </a:r>
            <a:endParaRPr sz="1600" b="1" i="0" spc="260" dirty="0">
              <a:solidFill>
                <a:srgbClr val="F43F5E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162050" y="7772400"/>
            <a:ext cx="15887700" cy="6269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即使在 </a:t>
            </a:r>
            <a:r>
              <a:rPr lang="en-US" altLang="zh-TW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30 </a:t>
            </a:r>
            <a:r>
              <a:rPr 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bps </a:t>
            </a: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極端成本下，策略仍維持 </a:t>
            </a:r>
            <a:r>
              <a:rPr lang="en-US" altLang="zh-TW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+5.8% </a:t>
            </a:r>
            <a:r>
              <a:rPr 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CAGR </a:t>
            </a: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與 </a:t>
            </a:r>
            <a:r>
              <a:rPr lang="en-US" altLang="zh-TW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0.92 </a:t>
            </a:r>
            <a:r>
              <a:rPr 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Sharpe Ratio。</a:t>
            </a:r>
          </a:p>
          <a:p>
            <a:pPr algn="l">
              <a:lnSpc>
                <a:spcPct val="150000"/>
              </a:lnSpc>
            </a:pPr>
            <a:r>
              <a:rPr lang="en-US" sz="14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5 bps base case </a:t>
            </a:r>
            <a:r>
              <a:rPr lang="zh-TW" altLang="en-US" sz="14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作為本研究主要回測口徑，用於衡量策略在合理交易摩擦下的可行性。</a:t>
            </a:r>
            <a:endParaRPr sz="1400" b="1" i="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53" name="TextBox 48">
            <a:extLst>
              <a:ext uri="{FF2B5EF4-FFF2-40B4-BE49-F238E27FC236}">
                <a16:creationId xmlns:a16="http://schemas.microsoft.com/office/drawing/2014/main" id="{F266A544-7473-7705-79FE-F9D2CDC1B1D1}"/>
              </a:ext>
            </a:extLst>
          </p:cNvPr>
          <p:cNvSpPr txBox="1"/>
          <p:nvPr/>
        </p:nvSpPr>
        <p:spPr>
          <a:xfrm>
            <a:off x="1143000" y="8475286"/>
            <a:ext cx="5715000" cy="268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600" b="1" i="0" spc="26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Implication</a:t>
            </a:r>
            <a:endParaRPr sz="1600" b="1" i="0" spc="260" dirty="0">
              <a:solidFill>
                <a:srgbClr val="F43F5E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54" name="TextBox 49">
            <a:extLst>
              <a:ext uri="{FF2B5EF4-FFF2-40B4-BE49-F238E27FC236}">
                <a16:creationId xmlns:a16="http://schemas.microsoft.com/office/drawing/2014/main" id="{429C590C-A128-6162-C80E-5E0FF94E6A1C}"/>
              </a:ext>
            </a:extLst>
          </p:cNvPr>
          <p:cNvSpPr txBox="1"/>
          <p:nvPr/>
        </p:nvSpPr>
        <p:spPr>
          <a:xfrm>
            <a:off x="1162050" y="8825843"/>
            <a:ext cx="15887700" cy="2835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TW" altLang="en-US" sz="14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策略績效並非建立在零成本假設上；</a:t>
            </a:r>
            <a:r>
              <a:rPr lang="en-US" altLang="zh-TW" sz="14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D+20 </a:t>
            </a:r>
            <a:r>
              <a:rPr lang="zh-TW" altLang="en-US" sz="14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持有期使交易摩擦對績效的侵蝕相對可控。</a:t>
            </a:r>
            <a:endParaRPr sz="1400" b="1" i="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429259"/>
            <a:ext cx="342900" cy="1511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404060"/>
            <a:ext cx="3619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多因子股票預測系統 · 附錄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404060"/>
            <a:ext cx="6667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Dashboard · 13 Pages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746959"/>
            <a:ext cx="12382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Source · dashboard/ · Streamlit 1.31 · launch via `make serve`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59000" y="9753600"/>
            <a:ext cx="19050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4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APPENDIX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40200" y="9801225"/>
            <a:ext cx="7620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954500" y="9738560"/>
            <a:ext cx="571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A.17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104900"/>
            <a:ext cx="6667500" cy="2358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A.17 </a:t>
            </a:r>
            <a:r>
              <a:rPr lang="zh-TW" altLang="en-US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→</a:t>
            </a:r>
            <a:r>
              <a:rPr lang="en-US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Dashboard </a:t>
            </a:r>
            <a:r>
              <a:rPr lang="zh-TW" altLang="en-US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決策介面</a:t>
            </a:r>
            <a:endParaRPr sz="1400" b="1" i="0" spc="24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1371600"/>
            <a:ext cx="16668750" cy="1157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lang="zh-TW" altLang="en-US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互動儀表板將研究結果轉化為跨角色共用的決策介面</a:t>
            </a:r>
            <a:endParaRPr lang="en-US" altLang="zh-TW" sz="4000" b="1" spc="-8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  <a:p>
            <a:pPr>
              <a:lnSpc>
                <a:spcPct val="118000"/>
              </a:lnSpc>
            </a:pPr>
            <a:r>
              <a:rPr lang="zh-TW" altLang="en-US" sz="2600" b="1" spc="-8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研究員與投資決策者可使用同一事實基礎。</a:t>
            </a:r>
            <a:endParaRPr lang="en-US" altLang="zh-TW" sz="2600" b="1" spc="-80" dirty="0"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14400" y="2552700"/>
            <a:ext cx="7620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14400" y="2933700"/>
            <a:ext cx="396240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14400" y="2933700"/>
            <a:ext cx="39624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85850" y="3105150"/>
            <a:ext cx="57150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-4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143250"/>
            <a:ext cx="3086100" cy="251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Overview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3409950"/>
            <a:ext cx="381000" cy="190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600200" y="3486150"/>
            <a:ext cx="3086100" cy="2361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lang="en-US" altLang="zh-TW" sz="12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KPI </a:t>
            </a:r>
            <a:r>
              <a:rPr lang="zh-TW" altLang="en-US" sz="12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速讀與系統總覽</a:t>
            </a:r>
            <a:endParaRPr sz="12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029200" y="2933700"/>
            <a:ext cx="396240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029200" y="2933700"/>
            <a:ext cx="39624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200650" y="3105150"/>
            <a:ext cx="57150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-4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5000" y="3143250"/>
            <a:ext cx="3086100" cy="251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Data Health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15000" y="3409950"/>
            <a:ext cx="381000" cy="190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715000" y="3486150"/>
            <a:ext cx="3086100" cy="2361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PSI / KS 漂移監控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0" y="2933700"/>
            <a:ext cx="396240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9144000" y="2933700"/>
            <a:ext cx="39624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315450" y="3105150"/>
            <a:ext cx="57150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-4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29800" y="3143250"/>
            <a:ext cx="3086100" cy="251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Feature Catalog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829800" y="3409950"/>
            <a:ext cx="381000" cy="190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829800" y="3486150"/>
            <a:ext cx="3086100" cy="2361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lang="en-US" sz="12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91 features </a:t>
            </a:r>
            <a:r>
              <a:rPr lang="zh-TW" altLang="en-US" sz="12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與九支柱速查</a:t>
            </a:r>
            <a:endParaRPr sz="12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13258800" y="2933700"/>
            <a:ext cx="396240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13258800" y="2933700"/>
            <a:ext cx="396240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3430250" y="3105150"/>
            <a:ext cx="57150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-4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944600" y="3143250"/>
            <a:ext cx="3086100" cy="251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Model Performance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944600" y="3409950"/>
            <a:ext cx="381000" cy="1905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3944600" y="3486150"/>
            <a:ext cx="3086100" cy="2361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lang="en-US" sz="12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AUC / ICIR / fold </a:t>
            </a:r>
            <a:r>
              <a:rPr lang="zh-TW" altLang="en-US" sz="12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檢視</a:t>
            </a:r>
            <a:endParaRPr sz="12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914400" y="4133850"/>
            <a:ext cx="396240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914400" y="4133850"/>
            <a:ext cx="396240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085850" y="4305300"/>
            <a:ext cx="57150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-4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00200" y="4343400"/>
            <a:ext cx="3086100" cy="251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ICIR Heatmap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00200" y="4610100"/>
            <a:ext cx="381000" cy="1905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600200" y="4686300"/>
            <a:ext cx="3086100" cy="2361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lang="en-US" sz="12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pillar × month </a:t>
            </a:r>
            <a:r>
              <a:rPr lang="zh-TW" altLang="en-US" sz="12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穩定性熱圖</a:t>
            </a:r>
            <a:endParaRPr sz="12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5029200" y="4133850"/>
            <a:ext cx="396240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5029200" y="4133850"/>
            <a:ext cx="396240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200650" y="4305300"/>
            <a:ext cx="57150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-4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15000" y="4343400"/>
            <a:ext cx="3086100" cy="251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SHAP Explorer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715000" y="4610100"/>
            <a:ext cx="381000" cy="1905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715000" y="4686300"/>
            <a:ext cx="3086100" cy="2361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lang="en-US" sz="12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Top-20 features / </a:t>
            </a:r>
            <a:r>
              <a:rPr lang="zh-TW" altLang="en-US" sz="12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個股透視</a:t>
            </a:r>
            <a:endParaRPr sz="12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9144000" y="4133850"/>
            <a:ext cx="396240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9144000" y="4133850"/>
            <a:ext cx="396240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9315450" y="4305300"/>
            <a:ext cx="57150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-4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829800" y="4343400"/>
            <a:ext cx="3086100" cy="251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Decile Hit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829800" y="4610100"/>
            <a:ext cx="381000" cy="1905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9829800" y="4686300"/>
            <a:ext cx="3086100" cy="2361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lang="en-US" sz="12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D1–D10 </a:t>
            </a:r>
            <a:r>
              <a:rPr lang="zh-TW" altLang="en-US" sz="12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命中率</a:t>
            </a:r>
            <a:endParaRPr sz="12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13258800" y="4133850"/>
            <a:ext cx="396240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13258800" y="4133850"/>
            <a:ext cx="3962400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3430250" y="4305300"/>
            <a:ext cx="57150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-40">
                <a:solidFill>
                  <a:srgbClr val="EA580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3944600" y="4343400"/>
            <a:ext cx="3086100" cy="251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Threshold Sweep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944600" y="4610100"/>
            <a:ext cx="381000" cy="1905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3944600" y="4686300"/>
            <a:ext cx="3086100" cy="2361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lang="en-US" altLang="zh-TW" sz="12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40 </a:t>
            </a:r>
            <a:r>
              <a:rPr lang="zh-TW" altLang="en-US" sz="12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組 </a:t>
            </a:r>
            <a:r>
              <a:rPr lang="en-US" sz="12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threshold sweep</a:t>
            </a:r>
            <a:endParaRPr sz="12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914400" y="5334000"/>
            <a:ext cx="396240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914400" y="5334000"/>
            <a:ext cx="3962400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1085850" y="5505450"/>
            <a:ext cx="57150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-40">
                <a:solidFill>
                  <a:srgbClr val="EA580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09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600200" y="5543550"/>
            <a:ext cx="3086100" cy="251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Backtest Equity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600200" y="5810250"/>
            <a:ext cx="381000" cy="1905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1600200" y="5886450"/>
            <a:ext cx="3086100" cy="2361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lang="zh-TW" altLang="en-US" sz="12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策略淨值 </a:t>
            </a:r>
            <a:r>
              <a:rPr lang="en-US" sz="12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vs. 0050</a:t>
            </a:r>
            <a:endParaRPr sz="12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5029200" y="5334000"/>
            <a:ext cx="396240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5029200" y="5334000"/>
            <a:ext cx="3962400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5200650" y="5505450"/>
            <a:ext cx="57150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-40">
                <a:solidFill>
                  <a:srgbClr val="EA580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715000" y="5543550"/>
            <a:ext cx="3086100" cy="251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Drawdown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715000" y="5810250"/>
            <a:ext cx="381000" cy="1905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5715000" y="5886450"/>
            <a:ext cx="3086100" cy="2361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lang="zh-TW" altLang="en-US" sz="12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回撤期間與 </a:t>
            </a:r>
            <a:r>
              <a:rPr lang="en-US" sz="12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Calmar</a:t>
            </a:r>
            <a:endParaRPr sz="12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9144000" y="5334000"/>
            <a:ext cx="396240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9144000" y="5334000"/>
            <a:ext cx="39624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9315450" y="5505450"/>
            <a:ext cx="57150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-4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829800" y="5543550"/>
            <a:ext cx="3086100" cy="251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Text Sentiment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829800" y="5810250"/>
            <a:ext cx="381000" cy="190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9829800" y="5886450"/>
            <a:ext cx="3086100" cy="2361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lang="en-US" sz="12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500 keywords </a:t>
            </a:r>
            <a:r>
              <a:rPr lang="zh-TW" altLang="en-US" sz="12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─</a:t>
            </a:r>
            <a:r>
              <a:rPr lang="en-US" sz="12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Lift × </a:t>
            </a:r>
            <a:r>
              <a:rPr lang="el-GR" sz="12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χ²</a:t>
            </a:r>
            <a:endParaRPr sz="12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13258800" y="5334000"/>
            <a:ext cx="396240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1" name="Rectangle 80"/>
          <p:cNvSpPr/>
          <p:nvPr/>
        </p:nvSpPr>
        <p:spPr>
          <a:xfrm>
            <a:off x="13258800" y="5334000"/>
            <a:ext cx="39624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13430250" y="5505450"/>
            <a:ext cx="57150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-4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3944600" y="5543550"/>
            <a:ext cx="3086100" cy="251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Daily Watchlist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3944600" y="5810250"/>
            <a:ext cx="381000" cy="190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13944600" y="5886450"/>
            <a:ext cx="3086100" cy="2361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lang="zh-TW" altLang="en-US" sz="12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今日研究清單與 </a:t>
            </a:r>
            <a:r>
              <a:rPr lang="en-US" altLang="zh-TW" sz="12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Q1 </a:t>
            </a:r>
            <a:r>
              <a:rPr lang="zh-TW" altLang="en-US" sz="12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情緒警示</a:t>
            </a:r>
            <a:endParaRPr sz="12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86" name="Rectangle 85"/>
          <p:cNvSpPr/>
          <p:nvPr/>
        </p:nvSpPr>
        <p:spPr>
          <a:xfrm>
            <a:off x="914400" y="6534150"/>
            <a:ext cx="396240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914400" y="6534150"/>
            <a:ext cx="3962400" cy="381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1085850" y="6705600"/>
            <a:ext cx="57150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-40">
                <a:solidFill>
                  <a:srgbClr val="EC489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13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600200" y="6743700"/>
            <a:ext cx="3086100" cy="251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Governance Gates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600200" y="7010400"/>
            <a:ext cx="381000" cy="1905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1600200" y="7086600"/>
            <a:ext cx="3086100" cy="2361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lang="en-US" sz="12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9/9 gates </a:t>
            </a:r>
            <a:r>
              <a:rPr lang="zh-TW" altLang="en-US" sz="12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狀態追蹤</a:t>
            </a:r>
            <a:endParaRPr sz="12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914400" y="8420100"/>
            <a:ext cx="16459200" cy="1166060"/>
          </a:xfrm>
          <a:prstGeom prst="rect">
            <a:avLst/>
          </a:prstGeom>
          <a:solidFill>
            <a:srgbClr val="FE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3" name="Rectangle 92"/>
          <p:cNvSpPr/>
          <p:nvPr/>
        </p:nvSpPr>
        <p:spPr>
          <a:xfrm>
            <a:off x="914400" y="8420100"/>
            <a:ext cx="57150" cy="116606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1162050" y="8591550"/>
            <a:ext cx="5715000" cy="268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600" b="1" i="0" spc="26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Operational Ready </a:t>
            </a:r>
            <a:r>
              <a:rPr lang="zh-TW" altLang="en-US" sz="1600" b="1" i="0" spc="26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─</a:t>
            </a:r>
            <a:r>
              <a:rPr lang="en-US" sz="1600" b="1" i="0" spc="26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zh-TW" altLang="en-US" sz="1600" b="1" i="0" spc="26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原型可交付</a:t>
            </a:r>
            <a:endParaRPr sz="1600" b="1" i="0" spc="260" dirty="0">
              <a:solidFill>
                <a:srgbClr val="F43F5E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1162050" y="8877300"/>
            <a:ext cx="15887700" cy="6067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1400" b="0" i="0" dirty="0" err="1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Streamlit</a:t>
            </a:r>
            <a:r>
              <a:rPr 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原型已完成部署；所有圖表可匯出 </a:t>
            </a:r>
            <a:r>
              <a:rPr 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PNG，</a:t>
            </a: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並對應 </a:t>
            </a:r>
            <a:r>
              <a:rPr 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JSON artifact。</a:t>
            </a:r>
          </a:p>
          <a:p>
            <a:pPr algn="l">
              <a:lnSpc>
                <a:spcPct val="150000"/>
              </a:lnSpc>
            </a:pP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研究員與投資決策者可在同一介面追溯資料、模型、回測與治理狀態。</a:t>
            </a:r>
            <a:endParaRPr sz="1400" b="0" i="0" dirty="0">
              <a:solidFill>
                <a:srgbClr val="0F172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429259"/>
            <a:ext cx="342900" cy="1511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404060"/>
            <a:ext cx="3619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多因子股票預測系統 · 附錄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404060"/>
            <a:ext cx="6667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Sentiment Asset ·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746959"/>
            <a:ext cx="12382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Source · 自行整理 · sentiment lexicon under src/text/lexicon/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59000" y="9753600"/>
            <a:ext cx="19050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4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APPENDIX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40200" y="9801225"/>
            <a:ext cx="7620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954500" y="9738560"/>
            <a:ext cx="571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A.18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104900"/>
            <a:ext cx="6667500" cy="2358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TW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A.18 </a:t>
            </a:r>
            <a:r>
              <a:rPr lang="zh-TW" altLang="en-US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→</a:t>
            </a:r>
            <a:r>
              <a:rPr lang="en-US" altLang="zh-TW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zh-TW" altLang="en-US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文本情緒資產</a:t>
            </a:r>
            <a:endParaRPr sz="1400" b="1" i="0" spc="24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1371600"/>
            <a:ext cx="16668750" cy="1157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lang="zh-TW" altLang="en-US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新聞與論壇文本已被轉化為可建模的台股情緒資產</a:t>
            </a:r>
            <a:endParaRPr lang="en-US" altLang="zh-TW" sz="4000" b="1" spc="-8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  <a:p>
            <a:pPr>
              <a:lnSpc>
                <a:spcPct val="118000"/>
              </a:lnSpc>
            </a:pPr>
            <a:r>
              <a:rPr lang="en-US" altLang="zh-TW" sz="2600" b="1" spc="-8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1.12M articles </a:t>
            </a:r>
            <a:r>
              <a:rPr lang="zh-TW" altLang="en-US" sz="2600" b="1" spc="-8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與 </a:t>
            </a:r>
            <a:r>
              <a:rPr lang="en-US" altLang="zh-TW" sz="2600" b="1" spc="-8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500 keywords </a:t>
            </a:r>
            <a:r>
              <a:rPr lang="zh-TW" altLang="en-US" sz="2600" b="1" spc="-8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支撐文本訊號。</a:t>
            </a:r>
            <a:endParaRPr lang="en-US" altLang="zh-TW" sz="2600" b="1" spc="-80" dirty="0"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14400" y="2552700"/>
            <a:ext cx="7620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14400" y="2933700"/>
            <a:ext cx="394335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14400" y="2933700"/>
            <a:ext cx="394335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43000" y="3143250"/>
            <a:ext cx="348615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100" b="1" i="0" spc="2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Articles</a:t>
            </a:r>
            <a:endParaRPr sz="1100" b="1" i="0" spc="24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43000" y="3409950"/>
            <a:ext cx="3486150" cy="738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 i="0" spc="-14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1,125,134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4152900"/>
            <a:ext cx="3486150" cy="2228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11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15 sources, since 2008</a:t>
            </a:r>
            <a:endParaRPr sz="1100" b="0" i="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086350" y="2933700"/>
            <a:ext cx="394335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086350" y="2933700"/>
            <a:ext cx="394335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314950" y="3143250"/>
            <a:ext cx="348615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100" b="1" i="0" spc="2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Keywords</a:t>
            </a:r>
            <a:endParaRPr sz="1100" b="1" i="0" spc="24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314950" y="3409950"/>
            <a:ext cx="3486150" cy="738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 i="0" spc="-14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500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14950" y="4152900"/>
            <a:ext cx="3486150" cy="2228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11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Bull 256 </a:t>
            </a:r>
            <a:r>
              <a:rPr lang="zh-TW" altLang="en-US" sz="11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、</a:t>
            </a:r>
            <a:r>
              <a:rPr lang="en-US" sz="11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Bear 244</a:t>
            </a:r>
            <a:endParaRPr sz="1100" b="0" i="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9258300" y="2933700"/>
            <a:ext cx="394335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9258300" y="2933700"/>
            <a:ext cx="394335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486900" y="3143250"/>
            <a:ext cx="348615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100" b="1" i="0" spc="2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Entity Linking</a:t>
            </a:r>
            <a:endParaRPr sz="1100" b="1" i="0" spc="24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486900" y="3409950"/>
            <a:ext cx="3486150" cy="738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 i="0" spc="-140" dirty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92%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86900" y="4152900"/>
            <a:ext cx="3486150" cy="2228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11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ticker coverage</a:t>
            </a:r>
            <a:endParaRPr sz="1100" b="0" i="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13430250" y="2933700"/>
            <a:ext cx="394335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13430250" y="2933700"/>
            <a:ext cx="3943350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3658850" y="3143250"/>
            <a:ext cx="348615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100" b="1" i="0" spc="2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Deduplication</a:t>
            </a:r>
            <a:endParaRPr sz="1100" b="1" i="0" spc="24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3658850" y="3409950"/>
            <a:ext cx="3486150" cy="738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 i="0" spc="-140" dirty="0">
                <a:solidFill>
                  <a:srgbClr val="EA580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23%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658850" y="4152900"/>
            <a:ext cx="3486150" cy="2227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1100" b="0" i="0" dirty="0" err="1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MinHash</a:t>
            </a:r>
            <a:r>
              <a:rPr lang="en-US" sz="11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LSH </a:t>
            </a:r>
            <a:r>
              <a:rPr lang="zh-TW" altLang="en-US" sz="11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─</a:t>
            </a:r>
            <a:r>
              <a:rPr lang="en-US" sz="11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J ≥ 0.85</a:t>
            </a:r>
            <a:endParaRPr sz="1100" b="0" i="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14400" y="4819650"/>
            <a:ext cx="57150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100" b="1" i="0" spc="20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Lexicon Construction </a:t>
            </a:r>
            <a:r>
              <a:rPr lang="zh-TW" altLang="en-US" sz="1100" b="1" i="0" spc="20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─</a:t>
            </a:r>
            <a:r>
              <a:rPr lang="en-US" sz="1100" b="1" i="0" spc="20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zh-TW" altLang="en-US" sz="1100" b="1" i="0" spc="20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詞表建構</a:t>
            </a:r>
            <a:endParaRPr sz="1100" b="1" i="0" spc="20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914400" y="5143500"/>
            <a:ext cx="8096250" cy="3962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914400" y="5143500"/>
            <a:ext cx="809625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104900" y="5372100"/>
            <a:ext cx="7715250" cy="27306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lang="en-US" altLang="zh-TW" sz="20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500-keyword </a:t>
            </a:r>
            <a:r>
              <a:rPr lang="zh-TW" altLang="en-US" sz="20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台股情緒詞表 </a:t>
            </a:r>
            <a:r>
              <a:rPr lang="en-US" altLang="zh-TW" sz="20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· </a:t>
            </a:r>
            <a:r>
              <a:rPr lang="zh-TW" altLang="en-US" sz="20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三步驟</a:t>
            </a:r>
            <a:endParaRPr lang="en-US" altLang="zh-TW" sz="2000" b="1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  <a:p>
            <a:pPr algn="l">
              <a:lnSpc>
                <a:spcPct val="155000"/>
              </a:lnSpc>
            </a:pPr>
            <a:r>
              <a:rPr sz="1400" b="1" i="0" spc="16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01  </a:t>
            </a:r>
            <a:r>
              <a:rPr lang="en-US" altLang="zh-TW" sz="1400" b="1" i="0" spc="16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TF-IDF </a:t>
            </a:r>
            <a:r>
              <a:rPr lang="zh-TW" altLang="en-US" sz="1400" b="1" i="0" spc="16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候選：</a:t>
            </a:r>
            <a:r>
              <a:rPr lang="zh-TW" altLang="en-US" sz="1400" b="1" i="0" spc="16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從 </a:t>
            </a:r>
            <a:r>
              <a:rPr lang="en-US" altLang="zh-TW" sz="1400" b="1" i="0" spc="16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400K+ </a:t>
            </a:r>
            <a:r>
              <a:rPr lang="zh-TW" altLang="en-US" sz="1400" b="1" i="0" spc="16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高品質新聞萃取 </a:t>
            </a:r>
            <a:r>
              <a:rPr lang="en-US" altLang="zh-TW" sz="1400" b="1" i="0" spc="16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5,000 </a:t>
            </a:r>
            <a:r>
              <a:rPr lang="zh-TW" altLang="en-US" sz="1400" b="1" i="0" spc="16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個候選詞。</a:t>
            </a:r>
            <a:b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sz="1400" b="1" i="0" spc="16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02  </a:t>
            </a:r>
            <a:r>
              <a:rPr lang="en-US" sz="1400" b="1" i="0" spc="16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Lift × </a:t>
            </a:r>
            <a:r>
              <a:rPr lang="el-GR" sz="1400" b="1" i="0" spc="16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χ² </a:t>
            </a:r>
            <a:r>
              <a:rPr lang="zh-TW" altLang="en-US" sz="1400" b="1" i="0" spc="16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篩選：</a:t>
            </a:r>
            <a:r>
              <a:rPr lang="zh-TW" altLang="en-US" sz="1400" b="1" i="0" spc="16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計算每個詞的 </a:t>
            </a:r>
            <a:r>
              <a:rPr lang="en-US" sz="1400" b="1" i="0" spc="16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Lift vs. neutral </a:t>
            </a:r>
            <a:r>
              <a:rPr lang="zh-TW" altLang="en-US" sz="1400" b="1" i="0" spc="16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與卡方值，保留 </a:t>
            </a:r>
            <a:r>
              <a:rPr lang="en-US" altLang="zh-TW" sz="1400" b="1" i="0" spc="16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500 </a:t>
            </a:r>
            <a:r>
              <a:rPr lang="zh-TW" altLang="en-US" sz="1400" b="1" i="0" spc="16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個詞。</a:t>
            </a:r>
            <a:b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sz="1400" b="1" i="0" spc="16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03</a:t>
            </a:r>
            <a:r>
              <a:rPr lang="zh-TW" altLang="en-US" sz="1400" b="1" i="0" spc="16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 專家校驗：</a:t>
            </a:r>
            <a:r>
              <a:rPr lang="zh-TW" altLang="en-US" sz="1400" b="1" i="0" spc="16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兩位金融研究生雙盲標註，</a:t>
            </a:r>
            <a:r>
              <a:rPr lang="en-US" altLang="zh-TW" sz="1400" b="1" i="0" spc="16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κ = 0.78</a:t>
            </a:r>
            <a:r>
              <a:rPr lang="zh-TW" altLang="en-US" sz="1400" b="1" i="0" spc="16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。</a:t>
            </a:r>
            <a:endParaRPr lang="en-US" altLang="zh-TW" sz="1400" b="1" i="0" spc="160" dirty="0"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  <a:p>
            <a:pPr algn="l">
              <a:lnSpc>
                <a:spcPct val="155000"/>
              </a:lnSpc>
            </a:pPr>
            <a:r>
              <a:rPr lang="zh-TW" altLang="en-US" sz="16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為何不使用通用情感詞表？</a:t>
            </a:r>
            <a:b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sz="13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LIWC / NTUSD </a:t>
            </a:r>
            <a:r>
              <a:rPr lang="zh-TW" altLang="en-US" sz="13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的「正面」不等於股價的「正面」。</a:t>
            </a:r>
            <a:endParaRPr lang="en-US" altLang="zh-TW" sz="13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  <a:p>
            <a:pPr algn="l">
              <a:lnSpc>
                <a:spcPct val="155000"/>
              </a:lnSpc>
            </a:pPr>
            <a:r>
              <a:rPr lang="zh-TW" altLang="en-US" sz="13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例如：「擴產」可能因 </a:t>
            </a:r>
            <a:r>
              <a:rPr lang="en-US" altLang="zh-TW" sz="13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EPS </a:t>
            </a:r>
            <a:r>
              <a:rPr lang="zh-TW" altLang="en-US" sz="13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稀釋而呈中性偏負。</a:t>
            </a:r>
            <a:endParaRPr lang="en-US" altLang="zh-TW" sz="13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  <a:p>
            <a:pPr algn="l">
              <a:lnSpc>
                <a:spcPct val="155000"/>
              </a:lnSpc>
            </a:pPr>
            <a:r>
              <a:rPr lang="zh-TW" altLang="en-US" sz="1200" b="0" i="0" spc="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完整詞表：</a:t>
            </a:r>
            <a:r>
              <a:rPr lang="en-US" sz="1200" b="0" i="0" spc="40" dirty="0" err="1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src</a:t>
            </a:r>
            <a:r>
              <a:rPr lang="en-US" sz="1200" b="0" i="0" spc="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/text/lexicon/twstock500.csv</a:t>
            </a:r>
            <a:endParaRPr sz="1200" b="0" i="0" spc="4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9277350" y="4819650"/>
            <a:ext cx="57150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100" b="1" i="0" spc="20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Source Breakdown </a:t>
            </a:r>
            <a:r>
              <a:rPr lang="zh-TW" altLang="en-US" sz="1100" b="1" i="0" spc="20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─</a:t>
            </a:r>
            <a:r>
              <a:rPr lang="en-US" sz="1100" b="1" i="0" spc="20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15 Sources</a:t>
            </a:r>
            <a:endParaRPr sz="1100" b="1" i="0" spc="20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9277350" y="5143500"/>
            <a:ext cx="8096250" cy="3962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9277350" y="5143500"/>
            <a:ext cx="809625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486900" y="5559368"/>
            <a:ext cx="30480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Anue 鉅亨網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2763500" y="5638800"/>
            <a:ext cx="342900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12763500" y="5638800"/>
            <a:ext cx="3429000" cy="76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6383000" y="5559368"/>
            <a:ext cx="7620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24%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86900" y="6016568"/>
            <a:ext cx="30480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PTT Stock 板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2763500" y="6096000"/>
            <a:ext cx="342900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12763500" y="6096000"/>
            <a:ext cx="257175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6383000" y="6016568"/>
            <a:ext cx="7620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18%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86900" y="6473768"/>
            <a:ext cx="30480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經濟日報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2763500" y="6553200"/>
            <a:ext cx="342900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12763500" y="6553200"/>
            <a:ext cx="1714500" cy="76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6383000" y="6473768"/>
            <a:ext cx="7620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12%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86900" y="6930968"/>
            <a:ext cx="30480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工商時報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2763500" y="7010400"/>
            <a:ext cx="342900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12763500" y="7010400"/>
            <a:ext cx="1571625" cy="76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6383000" y="6930968"/>
            <a:ext cx="7620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11%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486900" y="7388168"/>
            <a:ext cx="30480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Money DJ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2763500" y="7467600"/>
            <a:ext cx="342900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12763500" y="7467600"/>
            <a:ext cx="1143000" cy="762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16383000" y="7388168"/>
            <a:ext cx="7620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8%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486900" y="7845368"/>
            <a:ext cx="30480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Yahoo 股市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2763500" y="7924800"/>
            <a:ext cx="342900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12763500" y="7924800"/>
            <a:ext cx="1000125" cy="762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16383000" y="7845368"/>
            <a:ext cx="7620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7%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486900" y="8302568"/>
            <a:ext cx="30480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其他 9 來源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2763500" y="8382000"/>
            <a:ext cx="342900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12763500" y="8382000"/>
            <a:ext cx="2857500" cy="762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16383000" y="8302568"/>
            <a:ext cx="7620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20%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14400" y="9105900"/>
            <a:ext cx="16459200" cy="514350"/>
          </a:xfrm>
          <a:prstGeom prst="rect">
            <a:avLst/>
          </a:prstGeom>
          <a:solidFill>
            <a:srgbClr val="FE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914400" y="9105900"/>
            <a:ext cx="57150" cy="5143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1162050" y="9239250"/>
            <a:ext cx="15887700" cy="263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TW" sz="13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15 </a:t>
            </a:r>
            <a:r>
              <a:rPr lang="zh-TW" altLang="en-US" sz="13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個來源中，前 </a:t>
            </a:r>
            <a:r>
              <a:rPr lang="en-US" altLang="zh-TW" sz="13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6 </a:t>
            </a:r>
            <a:r>
              <a:rPr lang="zh-TW" altLang="en-US" sz="13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大來源占 </a:t>
            </a:r>
            <a:r>
              <a:rPr lang="en-US" altLang="zh-TW" sz="13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80%</a:t>
            </a:r>
            <a:r>
              <a:rPr lang="zh-TW" altLang="en-US" sz="13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；經濟日報、工商時報與 </a:t>
            </a:r>
            <a:r>
              <a:rPr lang="en-US" altLang="zh-TW" sz="13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Anue </a:t>
            </a:r>
            <a:r>
              <a:rPr lang="zh-TW" altLang="en-US" sz="13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構成新聞主幹，</a:t>
            </a:r>
            <a:r>
              <a:rPr lang="en-US" altLang="zh-TW" sz="13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PTT </a:t>
            </a:r>
            <a:r>
              <a:rPr lang="zh-TW" altLang="en-US" sz="13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則作為散戶情緒來源。</a:t>
            </a:r>
            <a:endParaRPr sz="1300" b="1" i="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429259"/>
            <a:ext cx="342900" cy="1511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404060"/>
            <a:ext cx="3619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多因子股票預測系統 · 附錄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404060"/>
            <a:ext cx="6667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Keyword Spectrum · Top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746959"/>
            <a:ext cx="12382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Source · 自行整理 · Lift = P(bull|word)/P(bull) · χ² independence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59000" y="9753600"/>
            <a:ext cx="19050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4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APPENDIX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40200" y="9801225"/>
            <a:ext cx="7620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954500" y="9738560"/>
            <a:ext cx="571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A.19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104900"/>
            <a:ext cx="6667500" cy="2358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A.19 </a:t>
            </a:r>
            <a:r>
              <a:rPr lang="zh-TW" altLang="en-US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→</a:t>
            </a:r>
            <a:r>
              <a:rPr lang="en-US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zh-TW" altLang="en-US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關鍵字光譜</a:t>
            </a:r>
            <a:endParaRPr sz="1400" b="1" i="0" spc="24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1371600"/>
            <a:ext cx="16668750" cy="1157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lang="zh-TW" altLang="en-US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關鍵字篩選以統計檢定取代主觀詞表，降低文本因子偏誤</a:t>
            </a:r>
            <a:endParaRPr lang="en-US" altLang="zh-TW" sz="4000" b="1" spc="-8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  <a:p>
            <a:pPr>
              <a:lnSpc>
                <a:spcPct val="118000"/>
              </a:lnSpc>
            </a:pPr>
            <a:r>
              <a:rPr lang="en-US" altLang="zh-TW" sz="2600" b="1" spc="-8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Lift</a:t>
            </a:r>
            <a:r>
              <a:rPr lang="zh-TW" altLang="en-US" sz="2600" b="1" spc="-8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、</a:t>
            </a:r>
            <a:r>
              <a:rPr lang="en-US" altLang="zh-TW" sz="2600" b="1" spc="-8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χ² </a:t>
            </a:r>
            <a:r>
              <a:rPr lang="zh-TW" altLang="en-US" sz="2600" b="1" spc="-8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與 </a:t>
            </a:r>
            <a:r>
              <a:rPr lang="en-US" altLang="zh-TW" sz="2600" b="1" spc="-8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IC </a:t>
            </a:r>
            <a:r>
              <a:rPr lang="zh-TW" altLang="en-US" sz="2600" b="1" spc="-8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檢驗共同篩選語料特徵。</a:t>
            </a:r>
            <a:endParaRPr lang="en-US" altLang="zh-TW" sz="2600" b="1" spc="-80" dirty="0"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14400" y="2552700"/>
            <a:ext cx="7620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14400" y="2933700"/>
            <a:ext cx="8134350" cy="58102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14400" y="2933700"/>
            <a:ext cx="813435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43000" y="3105150"/>
            <a:ext cx="76771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200" b="1" i="0" spc="240" dirty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Bull Keywords </a:t>
            </a:r>
            <a:r>
              <a:rPr lang="zh-TW" altLang="en-US" sz="1200" b="1" i="0" spc="240" dirty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─</a:t>
            </a:r>
            <a:r>
              <a:rPr lang="en-US" sz="1200" b="1" i="0" spc="240" dirty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Lift &gt; 1</a:t>
            </a:r>
            <a:endParaRPr sz="1200" b="1" i="0" spc="240" dirty="0">
              <a:solidFill>
                <a:srgbClr val="10B98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143000" y="3429000"/>
            <a:ext cx="7677150" cy="2857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257300" y="3498559"/>
            <a:ext cx="22860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100" b="1" i="0" spc="2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Keyword</a:t>
            </a:r>
            <a:endParaRPr sz="1100" b="1" i="0" spc="20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953250" y="3498559"/>
            <a:ext cx="952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sz="1100" b="1" i="0" spc="2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Lift</a:t>
            </a:r>
            <a:endParaRPr sz="1100" b="1" i="0" spc="20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096250" y="3498559"/>
            <a:ext cx="7620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lang="el-GR" sz="1100" b="1" i="0" spc="2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χ² </a:t>
            </a:r>
            <a:r>
              <a:rPr lang="en-US" sz="1100" b="1" i="0" spc="2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Rank</a:t>
            </a:r>
            <a:endParaRPr sz="1100" b="1" i="0" spc="20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257300" y="3893618"/>
            <a:ext cx="19050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01  創高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0" y="3943350"/>
            <a:ext cx="394335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200400" y="3943350"/>
            <a:ext cx="3171825" cy="76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953250" y="3902018"/>
            <a:ext cx="952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2.42×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6250" y="3918785"/>
            <a:ext cx="762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1,842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57300" y="4350818"/>
            <a:ext cx="19050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02  營收創高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0" y="4400550"/>
            <a:ext cx="394335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200400" y="4400550"/>
            <a:ext cx="3028950" cy="76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953250" y="4359218"/>
            <a:ext cx="952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2.31×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6250" y="4375985"/>
            <a:ext cx="762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1,654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57300" y="4808018"/>
            <a:ext cx="19050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03  法說會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0" y="4857750"/>
            <a:ext cx="394335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3200400" y="4857750"/>
            <a:ext cx="2600325" cy="76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953250" y="4816418"/>
            <a:ext cx="952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1.98×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96250" y="4833185"/>
            <a:ext cx="762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1,428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57300" y="5265218"/>
            <a:ext cx="19050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04  擴產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0" y="5314950"/>
            <a:ext cx="394335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3200400" y="5314950"/>
            <a:ext cx="2514600" cy="76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953250" y="5273618"/>
            <a:ext cx="952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1.92×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96250" y="5290385"/>
            <a:ext cx="762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1,322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57300" y="5722418"/>
            <a:ext cx="19050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05  受惠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0" y="5772150"/>
            <a:ext cx="394335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3200400" y="5772150"/>
            <a:ext cx="2409825" cy="76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953250" y="5730818"/>
            <a:ext cx="952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1.84×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96250" y="5747585"/>
            <a:ext cx="762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2,104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57300" y="6179618"/>
            <a:ext cx="19050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06  重押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0" y="6229350"/>
            <a:ext cx="394335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3200400" y="6229350"/>
            <a:ext cx="2333625" cy="76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953250" y="6188018"/>
            <a:ext cx="952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1.78×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96250" y="6204785"/>
            <a:ext cx="762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892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57300" y="6636818"/>
            <a:ext cx="19050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07  升級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00400" y="6686550"/>
            <a:ext cx="394335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3200400" y="6686550"/>
            <a:ext cx="2257425" cy="76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953250" y="6645218"/>
            <a:ext cx="952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1.72×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96250" y="6661985"/>
            <a:ext cx="762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1,186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57300" y="7094018"/>
            <a:ext cx="19050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08  看好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00400" y="7143750"/>
            <a:ext cx="394335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3200400" y="7143750"/>
            <a:ext cx="2200275" cy="76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6953250" y="7102418"/>
            <a:ext cx="952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1.68×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096250" y="7119185"/>
            <a:ext cx="762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2,842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257300" y="7551218"/>
            <a:ext cx="19050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09  題材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200400" y="7600950"/>
            <a:ext cx="394335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3200400" y="7600950"/>
            <a:ext cx="2124075" cy="76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6953250" y="7559618"/>
            <a:ext cx="952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1.62×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096250" y="7576385"/>
            <a:ext cx="762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1,942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257300" y="8008418"/>
            <a:ext cx="19050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10  新訂單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200400" y="8058150"/>
            <a:ext cx="394335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3200400" y="8058150"/>
            <a:ext cx="2076450" cy="76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6953250" y="8016818"/>
            <a:ext cx="952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1.58×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096250" y="8033585"/>
            <a:ext cx="762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784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239250" y="2933700"/>
            <a:ext cx="8134350" cy="58102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9239250" y="2933700"/>
            <a:ext cx="813435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9467850" y="3105150"/>
            <a:ext cx="76771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200" b="1" i="0" spc="24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Bear Keywords </a:t>
            </a:r>
            <a:r>
              <a:rPr lang="zh-TW" altLang="en-US" sz="1200" b="1" i="0" spc="24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─</a:t>
            </a:r>
            <a:r>
              <a:rPr lang="en-US" sz="1200" b="1" i="0" spc="24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Lift &gt; 1</a:t>
            </a:r>
            <a:endParaRPr sz="1200" b="1" i="0" spc="240" dirty="0">
              <a:solidFill>
                <a:srgbClr val="F43F5E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9467850" y="3429000"/>
            <a:ext cx="7677150" cy="2857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9582150" y="3498559"/>
            <a:ext cx="22860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100" b="1" i="0" spc="2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Keyword</a:t>
            </a:r>
            <a:endParaRPr sz="1100" b="1" i="0" spc="20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15278100" y="3498559"/>
            <a:ext cx="952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sz="1100" b="1" i="0" spc="2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Lift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6421100" y="3498559"/>
            <a:ext cx="7620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lang="el-GR" altLang="zh-TW" sz="1100" b="1" spc="2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χ² </a:t>
            </a:r>
            <a:r>
              <a:rPr lang="en-US" altLang="zh-TW" sz="1100" b="1" spc="2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Rank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582150" y="3893618"/>
            <a:ext cx="19050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01  砍單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1525250" y="3943350"/>
            <a:ext cx="394335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11525250" y="3943350"/>
            <a:ext cx="375285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15278100" y="3902018"/>
            <a:ext cx="952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2.86×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6421100" y="3918785"/>
            <a:ext cx="762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1,124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582150" y="4350818"/>
            <a:ext cx="19050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02  裁員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1525250" y="4400550"/>
            <a:ext cx="394335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11525250" y="4400550"/>
            <a:ext cx="333375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15278100" y="4359218"/>
            <a:ext cx="952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2.54×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6421100" y="4375985"/>
            <a:ext cx="762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642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582150" y="4808018"/>
            <a:ext cx="19050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03  下修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1525250" y="4857750"/>
            <a:ext cx="394335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0" name="Rectangle 89"/>
          <p:cNvSpPr/>
          <p:nvPr/>
        </p:nvSpPr>
        <p:spPr>
          <a:xfrm>
            <a:off x="11525250" y="4857750"/>
            <a:ext cx="3171825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15278100" y="4816418"/>
            <a:ext cx="952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2.42×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6421100" y="4833185"/>
            <a:ext cx="762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1,844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582150" y="5265218"/>
            <a:ext cx="19050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04  警報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1525250" y="5314950"/>
            <a:ext cx="394335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5" name="Rectangle 94"/>
          <p:cNvSpPr/>
          <p:nvPr/>
        </p:nvSpPr>
        <p:spPr>
          <a:xfrm>
            <a:off x="11525250" y="5314950"/>
            <a:ext cx="285750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15278100" y="5273618"/>
            <a:ext cx="952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2.18×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6421100" y="5290385"/>
            <a:ext cx="762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584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582150" y="5722418"/>
            <a:ext cx="19050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05  遞延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1525250" y="5772150"/>
            <a:ext cx="394335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0" name="Rectangle 99"/>
          <p:cNvSpPr/>
          <p:nvPr/>
        </p:nvSpPr>
        <p:spPr>
          <a:xfrm>
            <a:off x="11525250" y="5772150"/>
            <a:ext cx="2676525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15278100" y="5730818"/>
            <a:ext cx="952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2.04×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6421100" y="5747585"/>
            <a:ext cx="762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728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582150" y="6179618"/>
            <a:ext cx="19050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06  衰退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1525250" y="6229350"/>
            <a:ext cx="394335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5" name="Rectangle 104"/>
          <p:cNvSpPr/>
          <p:nvPr/>
        </p:nvSpPr>
        <p:spPr>
          <a:xfrm>
            <a:off x="11525250" y="6229350"/>
            <a:ext cx="251460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15278100" y="6188018"/>
            <a:ext cx="952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1.92×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6421100" y="6204785"/>
            <a:ext cx="762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1,462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582150" y="6636818"/>
            <a:ext cx="19050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07  低於預期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1525250" y="6686550"/>
            <a:ext cx="394335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0" name="Rectangle 109"/>
          <p:cNvSpPr/>
          <p:nvPr/>
        </p:nvSpPr>
        <p:spPr>
          <a:xfrm>
            <a:off x="11525250" y="6686550"/>
            <a:ext cx="2409825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15278100" y="6645218"/>
            <a:ext cx="952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1.84×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6421100" y="6661985"/>
            <a:ext cx="762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1,102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582150" y="7094018"/>
            <a:ext cx="19050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08  虧損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1525250" y="7143750"/>
            <a:ext cx="394335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5" name="Rectangle 114"/>
          <p:cNvSpPr/>
          <p:nvPr/>
        </p:nvSpPr>
        <p:spPr>
          <a:xfrm>
            <a:off x="11525250" y="7143750"/>
            <a:ext cx="2333625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15278100" y="7102418"/>
            <a:ext cx="952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1.78×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6421100" y="7119185"/>
            <a:ext cx="762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1,842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582150" y="7551218"/>
            <a:ext cx="19050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09  違約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1525250" y="7600950"/>
            <a:ext cx="394335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0" name="Rectangle 119"/>
          <p:cNvSpPr/>
          <p:nvPr/>
        </p:nvSpPr>
        <p:spPr>
          <a:xfrm>
            <a:off x="11525250" y="7600950"/>
            <a:ext cx="2257425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1" name="TextBox 120"/>
          <p:cNvSpPr txBox="1"/>
          <p:nvPr/>
        </p:nvSpPr>
        <p:spPr>
          <a:xfrm>
            <a:off x="15278100" y="7559618"/>
            <a:ext cx="952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1.72×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6421100" y="7576385"/>
            <a:ext cx="762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342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582150" y="8008418"/>
            <a:ext cx="19050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10  觀望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1525250" y="8058150"/>
            <a:ext cx="394335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5" name="Rectangle 124"/>
          <p:cNvSpPr/>
          <p:nvPr/>
        </p:nvSpPr>
        <p:spPr>
          <a:xfrm>
            <a:off x="11525250" y="8058150"/>
            <a:ext cx="2124075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15278100" y="8016818"/>
            <a:ext cx="952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1.62×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6421100" y="8033585"/>
            <a:ext cx="762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2,104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914400" y="8915400"/>
            <a:ext cx="16459200" cy="746960"/>
          </a:xfrm>
          <a:prstGeom prst="rect">
            <a:avLst/>
          </a:prstGeom>
          <a:solidFill>
            <a:srgbClr val="FE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9" name="Rectangle 128"/>
          <p:cNvSpPr/>
          <p:nvPr/>
        </p:nvSpPr>
        <p:spPr>
          <a:xfrm>
            <a:off x="914400" y="8915400"/>
            <a:ext cx="57150" cy="74696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1162050" y="9021454"/>
            <a:ext cx="15887700" cy="5633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TW" altLang="en-US" sz="13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空方詞 </a:t>
            </a:r>
            <a:r>
              <a:rPr lang="en-US" altLang="zh-TW" sz="13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Lift </a:t>
            </a:r>
            <a:r>
              <a:rPr lang="zh-TW" altLang="en-US" sz="13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上限較高（砍單 </a:t>
            </a:r>
            <a:r>
              <a:rPr lang="en-US" altLang="zh-TW" sz="13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2.86× &gt; </a:t>
            </a:r>
            <a:r>
              <a:rPr lang="zh-TW" altLang="en-US" sz="13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創高 </a:t>
            </a:r>
            <a:r>
              <a:rPr lang="en-US" altLang="zh-TW" sz="13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2.42×</a:t>
            </a:r>
            <a:r>
              <a:rPr lang="zh-TW" altLang="en-US" sz="13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），顯示負面語彙的市場反應更集中。</a:t>
            </a:r>
            <a:endParaRPr lang="en-US" altLang="zh-TW" sz="1300" b="0" i="0" dirty="0">
              <a:solidFill>
                <a:srgbClr val="0F172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  <a:p>
            <a:pPr algn="l">
              <a:lnSpc>
                <a:spcPct val="150000"/>
              </a:lnSpc>
            </a:pPr>
            <a:r>
              <a:rPr lang="zh-TW" altLang="en-US" sz="13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此結果可解釋 </a:t>
            </a:r>
            <a:r>
              <a:rPr lang="en-US" sz="13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Q1 </a:t>
            </a:r>
            <a:r>
              <a:rPr lang="zh-TW" altLang="en-US" sz="13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悲觀分位出現 </a:t>
            </a:r>
            <a:r>
              <a:rPr lang="en-US" sz="13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contrarian effect </a:t>
            </a:r>
            <a:r>
              <a:rPr lang="zh-TW" altLang="en-US" sz="13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的文本來源。</a:t>
            </a:r>
            <a:endParaRPr sz="1300" b="1" i="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429259"/>
            <a:ext cx="342900" cy="1511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404060"/>
            <a:ext cx="3619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多因子股票預測系統 · 附錄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404060"/>
            <a:ext cx="6667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Sentiment Quintile · Detail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746959"/>
            <a:ext cx="12382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Source · 自行整理 · forward 20-day excess return by quintile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59000" y="9753600"/>
            <a:ext cx="19050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4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APPENDIX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40200" y="9801225"/>
            <a:ext cx="7620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954500" y="9738560"/>
            <a:ext cx="571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A.20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104900"/>
            <a:ext cx="6667500" cy="2358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A.20 </a:t>
            </a:r>
            <a:r>
              <a:rPr lang="zh-TW" altLang="en-US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→</a:t>
            </a:r>
            <a:r>
              <a:rPr lang="en-US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zh-TW" altLang="en-US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情緒五分位 </a:t>
            </a:r>
            <a:r>
              <a:rPr lang="en-US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U-Shape</a:t>
            </a:r>
            <a:endParaRPr sz="1400" b="1" i="0" spc="24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1371600"/>
            <a:ext cx="16668750" cy="1157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lang="zh-TW" altLang="en-US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情緒五分位呈 </a:t>
            </a:r>
            <a:r>
              <a:rPr lang="en-US" altLang="zh-TW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U-shape</a:t>
            </a:r>
            <a:r>
              <a:rPr lang="zh-TW" altLang="en-US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，顯示極端情緒比中性情緒更有資訊量</a:t>
            </a:r>
            <a:endParaRPr lang="en-US" altLang="zh-TW" sz="4000" b="1" spc="-8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  <a:p>
            <a:pPr>
              <a:lnSpc>
                <a:spcPct val="118000"/>
              </a:lnSpc>
            </a:pPr>
            <a:r>
              <a:rPr lang="zh-TW" altLang="en-US" sz="2600" b="1" spc="-8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情緒不是單調買賣訊號。</a:t>
            </a:r>
            <a:endParaRPr lang="en-US" altLang="zh-TW" sz="2600" b="1" spc="-80" dirty="0"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14400" y="2552700"/>
            <a:ext cx="7620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14400" y="2933700"/>
            <a:ext cx="10287000" cy="55245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04900" y="3105150"/>
            <a:ext cx="66675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100" b="1" i="0" spc="16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Forward 20-Day Excess Return by Sentiment Quintile</a:t>
            </a:r>
            <a:endParaRPr sz="1100" b="1" i="0" spc="16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485900" y="6953250"/>
            <a:ext cx="8382000" cy="9525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485900" y="4819650"/>
            <a:ext cx="1524000" cy="21336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295400" y="4522268"/>
            <a:ext cx="19050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+3.2%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5400" y="8614369"/>
            <a:ext cx="1905000" cy="48776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Q1
極負面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76600" y="6953250"/>
            <a:ext cx="1524000" cy="120015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086100" y="8226368"/>
            <a:ext cx="19050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94A3B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-1.8%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86100" y="8614369"/>
            <a:ext cx="1905000" cy="48776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Q2
偏負面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67300" y="6953250"/>
            <a:ext cx="1524000" cy="2667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876800" y="7292918"/>
            <a:ext cx="19050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94A3B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-0.4%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76800" y="8614369"/>
            <a:ext cx="1905000" cy="48776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Q3
中性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6553200"/>
            <a:ext cx="1524000" cy="4000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667500" y="6255818"/>
            <a:ext cx="19050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+0.6%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67500" y="8614369"/>
            <a:ext cx="1905000" cy="48776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Q4
偏正面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48700" y="5353050"/>
            <a:ext cx="1524000" cy="1600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458200" y="5055668"/>
            <a:ext cx="19050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+2.4%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8614369"/>
            <a:ext cx="1905000" cy="48776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Q5
極正面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391900" y="2933700"/>
            <a:ext cx="598170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11391900" y="2933700"/>
            <a:ext cx="59817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1620500" y="3143250"/>
            <a:ext cx="381000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8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Q1 Contrarian</a:t>
            </a:r>
            <a:endParaRPr sz="1800" b="1" i="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1620500" y="3568038"/>
            <a:ext cx="1905000" cy="4366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 spc="-6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+3.2%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868400" y="3443248"/>
            <a:ext cx="3505200" cy="32406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TW" altLang="en-US" sz="16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極端負面情緒 → 過度反應 → 後續反彈</a:t>
            </a:r>
            <a:endParaRPr sz="16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11391900" y="4343400"/>
            <a:ext cx="598170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11391900" y="4343400"/>
            <a:ext cx="59817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1620500" y="4552950"/>
            <a:ext cx="381000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Q5 momentum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620500" y="4977738"/>
            <a:ext cx="1905000" cy="4366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 spc="-6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+2.4%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868400" y="4852948"/>
            <a:ext cx="3505200" cy="32406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TW" altLang="en-US" sz="16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極端正面情緒 → 動能延續</a:t>
            </a:r>
            <a:endParaRPr sz="16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11391900" y="5753100"/>
            <a:ext cx="598170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11391900" y="5753100"/>
            <a:ext cx="5981700" cy="381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1620500" y="5962650"/>
            <a:ext cx="381000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8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Q3 Neutral</a:t>
            </a:r>
            <a:endParaRPr sz="1800" b="1" i="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1620500" y="6387438"/>
            <a:ext cx="1905000" cy="4366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 spc="-6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-0.4%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868400" y="6262648"/>
            <a:ext cx="3505200" cy="32406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TW" altLang="en-US" sz="16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方向性不足 </a:t>
            </a:r>
            <a:r>
              <a:rPr lang="en-US" altLang="zh-TW" sz="16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· </a:t>
            </a:r>
            <a:r>
              <a:rPr lang="zh-TW" altLang="en-US" sz="16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雜訊主導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1391900" y="7162800"/>
            <a:ext cx="598170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11391900" y="7162800"/>
            <a:ext cx="59817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1620500" y="7372350"/>
            <a:ext cx="3810000" cy="3021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8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Spread </a:t>
            </a:r>
            <a:r>
              <a:rPr lang="zh-TW" altLang="en-US" sz="18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─</a:t>
            </a:r>
            <a:r>
              <a:rPr lang="en-US" sz="18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Q1–Q3</a:t>
            </a:r>
            <a:endParaRPr sz="1800" b="1" i="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1620500" y="7797138"/>
            <a:ext cx="1905000" cy="4366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 spc="-6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+3.6 pp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3868400" y="7672348"/>
            <a:ext cx="3505200" cy="32406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TW" altLang="en-US" sz="16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可作為情緒 </a:t>
            </a:r>
            <a:r>
              <a:rPr lang="en-US" altLang="zh-TW" sz="16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overlay </a:t>
            </a:r>
            <a:r>
              <a:rPr lang="zh-TW" altLang="en-US" sz="16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的候選訊號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14400" y="8610599"/>
            <a:ext cx="16459200" cy="1098259"/>
          </a:xfrm>
          <a:prstGeom prst="rect">
            <a:avLst/>
          </a:prstGeom>
          <a:solidFill>
            <a:srgbClr val="FE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914400" y="8610599"/>
            <a:ext cx="57150" cy="1098259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162050" y="8782050"/>
            <a:ext cx="5715000" cy="268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600" b="1" i="0" spc="26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Behavioral Finance </a:t>
            </a:r>
            <a:r>
              <a:rPr lang="zh-TW" altLang="en-US" sz="1600" b="1" i="0" spc="26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─</a:t>
            </a:r>
            <a:r>
              <a:rPr lang="en-US" sz="1600" b="1" i="0" spc="26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zh-TW" altLang="en-US" sz="1600" b="1" i="0" spc="26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行為財務學印證</a:t>
            </a:r>
            <a:endParaRPr sz="1600" b="1" i="0" spc="260" dirty="0">
              <a:solidFill>
                <a:srgbClr val="F43F5E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162050" y="9067800"/>
            <a:ext cx="15887700" cy="6067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TW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Q1 </a:t>
            </a: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反向效應與過度反應假說（</a:t>
            </a:r>
            <a:r>
              <a:rPr lang="en-US" altLang="zh-TW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DeBondt &amp; Thaler, 1985</a:t>
            </a: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）方向一致，顯示極端悲觀情緒可能蘊含反彈資訊。</a:t>
            </a:r>
            <a:endParaRPr lang="en-US" altLang="zh-TW" sz="1400" b="0" i="0" dirty="0">
              <a:solidFill>
                <a:srgbClr val="0F172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  <a:p>
            <a:pPr algn="l">
              <a:lnSpc>
                <a:spcPct val="150000"/>
              </a:lnSpc>
            </a:pPr>
            <a:r>
              <a:rPr lang="zh-TW" altLang="en-US" sz="14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詳細機制見 </a:t>
            </a:r>
            <a:r>
              <a:rPr lang="en-US" sz="14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Appendix A.21。</a:t>
            </a:r>
            <a:endParaRPr sz="1400" b="0" i="0" dirty="0">
              <a:solidFill>
                <a:schemeClr val="tx1">
                  <a:lumMod val="50000"/>
                  <a:lumOff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429259"/>
            <a:ext cx="342900" cy="1511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404060"/>
            <a:ext cx="3619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多因子股票預測系統 · 附錄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404060"/>
            <a:ext cx="6667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Q1 Contrarian · Elaboration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746959"/>
            <a:ext cx="12382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Source · DeBondt &amp; Thaler (1985) · empirical: artifact 自行整理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59000" y="9753600"/>
            <a:ext cx="19050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4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APPENDIX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40200" y="9801225"/>
            <a:ext cx="7620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954500" y="9738560"/>
            <a:ext cx="571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A.21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104900"/>
            <a:ext cx="6667500" cy="2358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TW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A.21 </a:t>
            </a:r>
            <a:r>
              <a:rPr lang="zh-TW" altLang="en-US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→</a:t>
            </a:r>
            <a:r>
              <a:rPr lang="en-US" altLang="zh-TW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Q1 </a:t>
            </a:r>
            <a:r>
              <a:rPr lang="zh-TW" altLang="en-US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反向訊號機制</a:t>
            </a:r>
            <a:endParaRPr sz="1400" b="1" i="0" spc="24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1371600"/>
            <a:ext cx="16668750" cy="1157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lang="zh-TW" altLang="en-US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極端悲觀對應過度反應後的修正空間，可作為反向訊號</a:t>
            </a:r>
            <a:endParaRPr lang="en-US" altLang="zh-TW" sz="4000" b="1" spc="-8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  <a:p>
            <a:pPr>
              <a:lnSpc>
                <a:spcPct val="118000"/>
              </a:lnSpc>
            </a:pPr>
            <a:r>
              <a:rPr lang="zh-TW" altLang="en-US" sz="2600" b="1" spc="-8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恐慌情緒未必代表基本面惡化。</a:t>
            </a:r>
            <a:endParaRPr lang="en-US" altLang="zh-TW" sz="2600" b="1" spc="-80" dirty="0"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14400" y="2552700"/>
            <a:ext cx="7620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14400" y="2933700"/>
            <a:ext cx="16459200" cy="1447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14400" y="2933700"/>
            <a:ext cx="164592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04900" y="3162300"/>
            <a:ext cx="160782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100" b="1" i="0" spc="24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The Finding</a:t>
            </a:r>
            <a:endParaRPr sz="1100" b="1" i="0" spc="240" dirty="0">
              <a:solidFill>
                <a:srgbClr val="F43F5E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04900" y="3429000"/>
            <a:ext cx="16078200" cy="4202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TW" altLang="en-US" sz="2200" b="1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當輿情落在極端負面分位（</a:t>
            </a:r>
            <a:r>
              <a:rPr lang="en-US" sz="2200" b="1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Q1）</a:t>
            </a:r>
            <a:r>
              <a:rPr lang="zh-TW" altLang="en-US" sz="2200" b="1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時，未來 </a:t>
            </a:r>
            <a:r>
              <a:rPr lang="en-US" altLang="zh-TW" sz="2200" b="1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20 </a:t>
            </a:r>
            <a:r>
              <a:rPr lang="zh-TW" altLang="en-US" sz="2200" b="1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日 </a:t>
            </a:r>
            <a:r>
              <a:rPr lang="en-US" sz="2200" b="1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excess return </a:t>
            </a:r>
            <a:r>
              <a:rPr lang="zh-TW" altLang="en-US" sz="2200" b="1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反而達 </a:t>
            </a:r>
            <a:r>
              <a:rPr lang="en-US" altLang="zh-TW" sz="2200" b="1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+3.2%</a:t>
            </a:r>
            <a:r>
              <a:rPr lang="zh-TW" altLang="en-US" sz="2200" b="1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。</a:t>
            </a:r>
            <a:endParaRPr sz="2200" b="1" i="0" dirty="0">
              <a:solidFill>
                <a:srgbClr val="0F172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04900" y="3886200"/>
            <a:ext cx="16078200" cy="3358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TW" altLang="en-US" sz="20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其可能路徑為：空頭過度反應 → 賣壓出清 → 散戶恐慌底 → 機構接手修正。</a:t>
            </a:r>
            <a:endParaRPr sz="20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914400" y="4648200"/>
            <a:ext cx="52578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914400" y="4648200"/>
            <a:ext cx="52578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43000" y="4876800"/>
            <a:ext cx="762000" cy="738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 i="0" spc="-14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5524500"/>
            <a:ext cx="19050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STEP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5791200"/>
            <a:ext cx="48006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TW" altLang="en-US" sz="22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負面消息快速放大</a:t>
            </a:r>
            <a:endParaRPr sz="2200" b="1" i="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143000" y="6191250"/>
            <a:ext cx="571500" cy="2857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143000" y="6343650"/>
            <a:ext cx="4800600" cy="7106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5000"/>
              </a:lnSpc>
            </a:pPr>
            <a:r>
              <a:rPr lang="zh-TW" altLang="en-US" sz="15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砍單、警報等負面語彙在 </a:t>
            </a:r>
            <a:r>
              <a:rPr lang="en-US" altLang="zh-TW" sz="15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1–3 </a:t>
            </a:r>
            <a:r>
              <a:rPr lang="zh-TW" altLang="en-US" sz="15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日內快速擴散，帶動短期賣壓與價格急跌。</a:t>
            </a:r>
            <a:endParaRPr sz="15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400800" y="4648200"/>
            <a:ext cx="52578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400800" y="4648200"/>
            <a:ext cx="5257800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629400" y="4876800"/>
            <a:ext cx="762000" cy="738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 i="0" spc="-140">
                <a:solidFill>
                  <a:srgbClr val="EA580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5524500"/>
            <a:ext cx="19050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EA580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STEP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5791200"/>
            <a:ext cx="48006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TW" altLang="en-US" sz="22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賣壓與融資壓力出清</a:t>
            </a:r>
            <a:endParaRPr sz="2200" b="1" i="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629400" y="6191250"/>
            <a:ext cx="571500" cy="28575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629400" y="6343650"/>
            <a:ext cx="4800600" cy="7106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5000"/>
              </a:lnSpc>
            </a:pPr>
            <a:r>
              <a:rPr lang="zh-TW" altLang="en-US" sz="15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散戶停損與融資去化同步發生，週轉率放大，短期籌碼壓力逐步釋放。</a:t>
            </a:r>
            <a:endParaRPr sz="15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11887200" y="4648200"/>
            <a:ext cx="52578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11887200" y="4648200"/>
            <a:ext cx="52578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2115800" y="4876800"/>
            <a:ext cx="762000" cy="738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 i="0" spc="-14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115800" y="5524500"/>
            <a:ext cx="19050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STEP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115800" y="5791200"/>
            <a:ext cx="48006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TW" altLang="en-US" sz="22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基本面未惡化時出現修正反彈</a:t>
            </a:r>
            <a:endParaRPr sz="2200" b="1" i="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12115800" y="6191250"/>
            <a:ext cx="571500" cy="2857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2115800" y="6343650"/>
            <a:ext cx="4800600" cy="7106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5000"/>
              </a:lnSpc>
            </a:pPr>
            <a:r>
              <a:rPr lang="zh-TW" altLang="en-US" sz="15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若基本面未出現結構性惡化，機構資金可能於賣壓出清後回補，形成 </a:t>
            </a:r>
            <a:r>
              <a:rPr lang="en-US" altLang="zh-TW" sz="15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T+20 </a:t>
            </a:r>
            <a:r>
              <a:rPr lang="zh-TW" altLang="en-US" sz="15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修正反彈。</a:t>
            </a:r>
            <a:endParaRPr sz="15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914400" y="8267700"/>
            <a:ext cx="16459200" cy="1273320"/>
          </a:xfrm>
          <a:prstGeom prst="rect">
            <a:avLst/>
          </a:prstGeom>
          <a:solidFill>
            <a:srgbClr val="FE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914400" y="8267700"/>
            <a:ext cx="57150" cy="127332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162050" y="8439150"/>
            <a:ext cx="5715000" cy="268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600" b="1" i="0" spc="26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Execution Caveat </a:t>
            </a:r>
            <a:r>
              <a:rPr lang="zh-TW" altLang="en-US" sz="1600" b="1" i="0" spc="26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─</a:t>
            </a:r>
            <a:r>
              <a:rPr lang="en-US" sz="1600" b="1" i="0" spc="26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zh-TW" altLang="en-US" sz="1600" b="1" i="0" spc="26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執行注意</a:t>
            </a:r>
            <a:endParaRPr sz="1600" b="1" i="0" spc="260" dirty="0">
              <a:solidFill>
                <a:srgbClr val="F43F5E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162050" y="8724900"/>
            <a:ext cx="15887700" cy="6067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此效應僅適用於基本面未受結構性傷害的標的；模型需搭配 </a:t>
            </a:r>
            <a:r>
              <a:rPr lang="en-US" altLang="zh-TW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ROE</a:t>
            </a: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、</a:t>
            </a:r>
            <a:r>
              <a:rPr lang="en-US" altLang="zh-TW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debt </a:t>
            </a: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與流動性條件作為 </a:t>
            </a:r>
            <a:r>
              <a:rPr lang="en-US" altLang="zh-TW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sanity guardrail</a:t>
            </a: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。</a:t>
            </a:r>
            <a:endParaRPr lang="en-US" altLang="zh-TW" sz="1400" b="0" i="0" dirty="0">
              <a:solidFill>
                <a:srgbClr val="0F172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  <a:p>
            <a:pPr algn="l">
              <a:lnSpc>
                <a:spcPct val="150000"/>
              </a:lnSpc>
            </a:pPr>
            <a:r>
              <a:rPr lang="zh-TW" altLang="en-US" sz="14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雖然 </a:t>
            </a:r>
            <a:r>
              <a:rPr lang="en-US" altLang="zh-TW" sz="14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OOS </a:t>
            </a:r>
            <a:r>
              <a:rPr lang="zh-TW" altLang="en-US" sz="14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回測顯示效果穩定，但個股級使用仍需研究員進行 </a:t>
            </a:r>
            <a:r>
              <a:rPr lang="en-US" altLang="zh-TW" sz="14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final review</a:t>
            </a:r>
            <a:r>
              <a:rPr lang="zh-TW" altLang="en-US" sz="14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。</a:t>
            </a:r>
            <a:endParaRPr sz="1400" b="0" i="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429259"/>
            <a:ext cx="342900" cy="1511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404060"/>
            <a:ext cx="3619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多因子股票預測系統 · 附錄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404060"/>
            <a:ext cx="6667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U-shape Multi-Horizon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746959"/>
            <a:ext cx="12382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Source · 自行整理 · forward 1d/5d/20d excess return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59000" y="9753600"/>
            <a:ext cx="19050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4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APPENDIX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40200" y="9801225"/>
            <a:ext cx="7620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954500" y="9738560"/>
            <a:ext cx="571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A.22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104900"/>
            <a:ext cx="666750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A.22 </a:t>
            </a:r>
            <a:r>
              <a:rPr lang="zh-TW" altLang="en-US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→</a:t>
            </a:r>
            <a:r>
              <a:rPr lang="en-US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zh-TW" altLang="en-US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多持有期 </a:t>
            </a:r>
            <a:r>
              <a:rPr lang="en-US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U-Shape</a:t>
            </a:r>
            <a:endParaRPr sz="1400" b="1" i="0" spc="24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1371600"/>
            <a:ext cx="16668750" cy="1157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lang="en-US" altLang="zh-TW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U-shape </a:t>
            </a:r>
            <a:r>
              <a:rPr lang="zh-TW" altLang="en-US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在 </a:t>
            </a:r>
            <a:r>
              <a:rPr lang="en-US" altLang="zh-TW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1d</a:t>
            </a:r>
            <a:r>
              <a:rPr lang="zh-TW" altLang="en-US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、</a:t>
            </a:r>
            <a:r>
              <a:rPr lang="en-US" altLang="zh-TW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5d</a:t>
            </a:r>
            <a:r>
              <a:rPr lang="zh-TW" altLang="en-US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、</a:t>
            </a:r>
            <a:r>
              <a:rPr lang="en-US" altLang="zh-TW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20d </a:t>
            </a:r>
            <a:r>
              <a:rPr lang="zh-TW" altLang="en-US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重複出現，支持情緒訊號具時間穩定性</a:t>
            </a:r>
            <a:endParaRPr lang="en-US" altLang="zh-TW" sz="4000" b="1" spc="-8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  <a:p>
            <a:pPr>
              <a:lnSpc>
                <a:spcPct val="118000"/>
              </a:lnSpc>
            </a:pPr>
            <a:r>
              <a:rPr lang="zh-TW" altLang="en-US" sz="2600" b="1" spc="-8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多持有期一致性降低噪聲疑慮。</a:t>
            </a:r>
            <a:endParaRPr lang="en-US" altLang="zh-TW" sz="2600" b="1" spc="-80" dirty="0"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14400" y="2552700"/>
            <a:ext cx="7620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14400" y="2933700"/>
            <a:ext cx="5257800" cy="50482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14400" y="2933700"/>
            <a:ext cx="52578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43000" y="3105150"/>
            <a:ext cx="48006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200" b="1" i="0" spc="24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Horizon </a:t>
            </a:r>
            <a:r>
              <a:rPr lang="zh-TW" altLang="en-US" sz="1200" b="1" i="0" spc="24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─</a:t>
            </a:r>
            <a:r>
              <a:rPr lang="en-US" sz="1200" b="1" i="0" spc="24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T+1</a:t>
            </a:r>
            <a:endParaRPr sz="1200" b="1" i="0" spc="24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43000" y="3409950"/>
            <a:ext cx="4800600" cy="251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TW" altLang="en-US" sz="15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短期仍以慣性與雜訊主導</a:t>
            </a:r>
            <a:endParaRPr sz="1500" b="1" i="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143000" y="5219700"/>
            <a:ext cx="4800600" cy="9525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447800" y="5219700"/>
            <a:ext cx="666750" cy="2000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257300" y="5470234"/>
            <a:ext cx="104775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-0.6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57300" y="6641809"/>
            <a:ext cx="104775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Q1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62200" y="5219700"/>
            <a:ext cx="666750" cy="4667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171700" y="5736934"/>
            <a:ext cx="104775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-1.4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71700" y="6641809"/>
            <a:ext cx="104775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Q2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76600" y="5219700"/>
            <a:ext cx="666750" cy="1333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086100" y="5403559"/>
            <a:ext cx="104775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-0.4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86100" y="6641809"/>
            <a:ext cx="104775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Q3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91000" y="5219700"/>
            <a:ext cx="666750" cy="6667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000500" y="5336884"/>
            <a:ext cx="104775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-0.2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00500" y="6641809"/>
            <a:ext cx="104775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Q4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05400" y="5153025"/>
            <a:ext cx="666750" cy="6667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914900" y="4917784"/>
            <a:ext cx="104775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+0.2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14900" y="6641809"/>
            <a:ext cx="104775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Q5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7543800"/>
            <a:ext cx="48006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100" b="0" i="0" spc="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Unit · % excess return</a:t>
            </a:r>
            <a:endParaRPr sz="1100" b="0" i="0" spc="4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6400800" y="2933700"/>
            <a:ext cx="5257800" cy="50482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6400800" y="2933700"/>
            <a:ext cx="525780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629400" y="3105150"/>
            <a:ext cx="48006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200" b="1" i="0" spc="24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Horizon </a:t>
            </a:r>
            <a:r>
              <a:rPr lang="zh-TW" altLang="en-US" sz="1200" b="1" i="0" spc="24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─</a:t>
            </a:r>
            <a:r>
              <a:rPr lang="en-US" sz="1200" b="1" i="0" spc="24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T+5</a:t>
            </a:r>
            <a:endParaRPr sz="1200" b="1" i="0" spc="240" dirty="0">
              <a:solidFill>
                <a:srgbClr val="06B6D4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629400" y="3409950"/>
            <a:ext cx="4800600" cy="251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TW" altLang="en-US" sz="15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反向效應開始浮現</a:t>
            </a:r>
            <a:endParaRPr sz="1500" b="1" i="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629400" y="5219700"/>
            <a:ext cx="4800600" cy="9525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6934200" y="4953000"/>
            <a:ext cx="666750" cy="2667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743700" y="4717759"/>
            <a:ext cx="104775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+0.8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43700" y="6641809"/>
            <a:ext cx="104775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Q1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848600" y="5219700"/>
            <a:ext cx="666750" cy="5334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658100" y="5803609"/>
            <a:ext cx="104775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-1.6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58100" y="6641809"/>
            <a:ext cx="104775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Q2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763000" y="5219700"/>
            <a:ext cx="666750" cy="1333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8572500" y="5403559"/>
            <a:ext cx="104775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-0.4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72500" y="6641809"/>
            <a:ext cx="104775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Q3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77400" y="5086350"/>
            <a:ext cx="666750" cy="1333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486900" y="4851109"/>
            <a:ext cx="104775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+0.4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86900" y="6641809"/>
            <a:ext cx="104775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Q4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591800" y="4686300"/>
            <a:ext cx="666750" cy="53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0401300" y="4451059"/>
            <a:ext cx="104775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+1.6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401300" y="6641809"/>
            <a:ext cx="104775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Q5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29400" y="7543800"/>
            <a:ext cx="48006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100" b="0" i="0" spc="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Unit · % excess return</a:t>
            </a:r>
            <a:endParaRPr sz="1100" b="0" i="0" spc="4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11887200" y="2933700"/>
            <a:ext cx="5257800" cy="50482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11887200" y="2933700"/>
            <a:ext cx="52578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2115800" y="3105150"/>
            <a:ext cx="48006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200" b="1" i="0" spc="240" dirty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Horizon </a:t>
            </a:r>
            <a:r>
              <a:rPr lang="zh-TW" altLang="en-US" sz="1200" b="1" i="0" spc="240" dirty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─</a:t>
            </a:r>
            <a:r>
              <a:rPr lang="en-US" sz="1200" b="1" i="0" spc="240" dirty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T+20</a:t>
            </a:r>
            <a:endParaRPr sz="1200" b="1" i="0" spc="240" dirty="0">
              <a:solidFill>
                <a:srgbClr val="10B98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2115800" y="3409950"/>
            <a:ext cx="4800600" cy="251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U-shape 完整成型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2115800" y="5219700"/>
            <a:ext cx="4800600" cy="9525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12420600" y="4152900"/>
            <a:ext cx="666750" cy="1066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12230100" y="3917659"/>
            <a:ext cx="104775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+3.2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230100" y="6641809"/>
            <a:ext cx="104775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Q1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3335000" y="5219700"/>
            <a:ext cx="666750" cy="60007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13144500" y="5870284"/>
            <a:ext cx="104775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-1.8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3144500" y="6641809"/>
            <a:ext cx="104775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Q2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4249400" y="5219700"/>
            <a:ext cx="666750" cy="1333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14058900" y="5403559"/>
            <a:ext cx="104775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-0.4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4058900" y="6641809"/>
            <a:ext cx="104775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Q3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5163800" y="5019675"/>
            <a:ext cx="666750" cy="20002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14973300" y="4784434"/>
            <a:ext cx="104775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+0.6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4973300" y="6641809"/>
            <a:ext cx="104775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Q4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6078200" y="4419600"/>
            <a:ext cx="666750" cy="800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15887700" y="4184359"/>
            <a:ext cx="104775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+2.4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5887700" y="6641809"/>
            <a:ext cx="104775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Q5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2115800" y="7543800"/>
            <a:ext cx="48006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100" b="0" i="0" spc="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Unit · % excess return</a:t>
            </a:r>
            <a:endParaRPr sz="1100" b="0" i="0" spc="4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914400" y="8153400"/>
            <a:ext cx="16459200" cy="1217932"/>
          </a:xfrm>
          <a:prstGeom prst="rect">
            <a:avLst/>
          </a:prstGeom>
          <a:solidFill>
            <a:srgbClr val="FE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914400" y="8153400"/>
            <a:ext cx="57150" cy="1217932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1162050" y="8324850"/>
            <a:ext cx="5715000" cy="268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600" b="1" i="0" spc="26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Time Evolution </a:t>
            </a:r>
            <a:r>
              <a:rPr lang="zh-TW" altLang="en-US" sz="1600" b="1" i="0" spc="26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─</a:t>
            </a:r>
            <a:r>
              <a:rPr lang="en-US" sz="1600" b="1" i="0" spc="26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zh-TW" altLang="en-US" sz="1600" b="1" i="0" spc="26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時間演化</a:t>
            </a:r>
            <a:endParaRPr sz="1600" b="1" i="0" spc="260" dirty="0">
              <a:solidFill>
                <a:srgbClr val="F43F5E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1162050" y="8610600"/>
            <a:ext cx="15887700" cy="65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TW" sz="15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T+1 </a:t>
            </a:r>
            <a:r>
              <a:rPr lang="zh-TW" altLang="en-US" sz="15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仍受短期慣性與雜訊主導；</a:t>
            </a:r>
            <a:r>
              <a:rPr lang="en-US" altLang="zh-TW" sz="15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T+5 </a:t>
            </a:r>
            <a:r>
              <a:rPr lang="zh-TW" altLang="en-US" sz="15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開始出現反向修正；</a:t>
            </a:r>
            <a:r>
              <a:rPr lang="en-US" altLang="zh-TW" sz="15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T+20 </a:t>
            </a:r>
            <a:r>
              <a:rPr lang="zh-TW" altLang="en-US" sz="15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則形成完整 </a:t>
            </a:r>
            <a:r>
              <a:rPr lang="en-US" altLang="zh-TW" sz="15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U-shape</a:t>
            </a:r>
            <a:r>
              <a:rPr lang="zh-TW" altLang="en-US" sz="15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。</a:t>
            </a:r>
            <a:endParaRPr lang="en-US" altLang="zh-TW" sz="1500" b="0" i="0" dirty="0">
              <a:solidFill>
                <a:srgbClr val="0F172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  <a:p>
            <a:pPr algn="l">
              <a:lnSpc>
                <a:spcPct val="150000"/>
              </a:lnSpc>
            </a:pPr>
            <a:r>
              <a:rPr lang="zh-TW" altLang="en-US" sz="15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此結果支持以 </a:t>
            </a:r>
            <a:r>
              <a:rPr lang="en-US" altLang="zh-TW" sz="15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D+20 </a:t>
            </a:r>
            <a:r>
              <a:rPr lang="zh-TW" altLang="en-US" sz="15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作為主標籤，並將 </a:t>
            </a:r>
            <a:r>
              <a:rPr lang="en-US" altLang="zh-TW" sz="15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5–20 </a:t>
            </a:r>
            <a:r>
              <a:rPr lang="zh-TW" altLang="en-US" sz="15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日作為情緒訊號的主要觀察視窗。</a:t>
            </a:r>
            <a:endParaRPr sz="1500" b="0" i="0" dirty="0">
              <a:solidFill>
                <a:srgbClr val="0F172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429259"/>
            <a:ext cx="342900" cy="1511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404060"/>
            <a:ext cx="3619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多因子股票預測系統 · 附錄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404060"/>
            <a:ext cx="6667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News × Forum Consensus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746959"/>
            <a:ext cx="12382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Source · 自行整理 · joint distribution news_sent × forum_sent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59000" y="9753600"/>
            <a:ext cx="19050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4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APPENDIX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40200" y="9801225"/>
            <a:ext cx="7620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954500" y="9738560"/>
            <a:ext cx="571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A.23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104900"/>
            <a:ext cx="6667500" cy="2358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TW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A.23 </a:t>
            </a:r>
            <a:r>
              <a:rPr lang="zh-TW" altLang="en-US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→</a:t>
            </a:r>
            <a:r>
              <a:rPr lang="en-US" altLang="zh-TW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zh-TW" altLang="en-US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新聞 </a:t>
            </a:r>
            <a:r>
              <a:rPr lang="en-US" altLang="zh-TW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× </a:t>
            </a:r>
            <a:r>
              <a:rPr lang="zh-TW" altLang="en-US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論壇情緒共識</a:t>
            </a:r>
            <a:endParaRPr sz="1400" b="1" i="0" spc="24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1371600"/>
            <a:ext cx="16668750" cy="1157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lang="zh-TW" altLang="en-US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新聞與論壇共識能提升情緒訊號的決策可信度</a:t>
            </a:r>
            <a:endParaRPr lang="en-US" altLang="zh-TW" sz="4000" b="1" spc="-8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  <a:p>
            <a:pPr>
              <a:lnSpc>
                <a:spcPct val="118000"/>
              </a:lnSpc>
            </a:pPr>
            <a:r>
              <a:rPr lang="zh-TW" altLang="en-US" sz="2600" b="1" spc="-8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跨來源一致時，訊號品質最高。</a:t>
            </a:r>
            <a:endParaRPr lang="en-US" altLang="zh-TW" sz="2600" b="1" spc="-80" dirty="0"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14400" y="2552700"/>
            <a:ext cx="7620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14400" y="2933700"/>
            <a:ext cx="6858000" cy="2667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14400" y="2933700"/>
            <a:ext cx="68580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43000" y="3143250"/>
            <a:ext cx="64008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200" b="1" i="0" spc="240" dirty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Both Bull </a:t>
            </a:r>
            <a:r>
              <a:rPr lang="zh-TW" altLang="en-US" sz="1200" b="1" i="0" spc="240" dirty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─</a:t>
            </a:r>
            <a:r>
              <a:rPr lang="en-US" sz="1200" b="1" i="0" spc="240" dirty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zh-TW" altLang="en-US" sz="1200" b="1" i="0" spc="240" dirty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共識多</a:t>
            </a:r>
            <a:endParaRPr sz="1200" b="1" i="0" spc="240" dirty="0">
              <a:solidFill>
                <a:srgbClr val="10B98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43000" y="3467100"/>
            <a:ext cx="6400800" cy="10747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6400" b="1" i="0" spc="-20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+4.1%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4362450"/>
            <a:ext cx="571500" cy="2857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43000" y="4552950"/>
            <a:ext cx="6400800" cy="3124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lang="zh-TW" altLang="en-US" sz="15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新聞正向 </a:t>
            </a:r>
            <a:r>
              <a:rPr lang="en-US" altLang="zh-TW" sz="15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 </a:t>
            </a:r>
            <a:r>
              <a:rPr lang="zh-TW" altLang="en-US" sz="15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論壇正向；訊號最強，占樣本 </a:t>
            </a:r>
            <a:r>
              <a:rPr lang="en-US" altLang="zh-TW" sz="15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18%</a:t>
            </a:r>
            <a:r>
              <a:rPr lang="zh-TW" altLang="en-US" sz="15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。</a:t>
            </a:r>
            <a:endParaRPr sz="15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057900" y="3143250"/>
            <a:ext cx="15240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i="0" spc="15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T+20 fwd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01000" y="2933700"/>
            <a:ext cx="6858000" cy="2667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001000" y="2933700"/>
            <a:ext cx="68580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229600" y="3143250"/>
            <a:ext cx="64008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200" b="1" i="0" spc="240" dirty="0">
                <a:solidFill>
                  <a:srgbClr val="F59E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News Bull / Forum Bear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3467100"/>
            <a:ext cx="6400800" cy="10747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6400" b="1" i="0" spc="-200">
                <a:solidFill>
                  <a:srgbClr val="F59E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+0.4%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4362450"/>
            <a:ext cx="571500" cy="2857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229600" y="4552950"/>
            <a:ext cx="6400800" cy="3124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lang="zh-TW" altLang="en-US" sz="15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新聞正向、論壇負向；訊號不一致，僅保留觀察。</a:t>
            </a:r>
            <a:endParaRPr sz="15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3144500" y="3143250"/>
            <a:ext cx="15240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i="0" spc="15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T+20 fwd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" y="5829300"/>
            <a:ext cx="6858000" cy="2667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914400" y="5829300"/>
            <a:ext cx="6858000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143000" y="6038850"/>
            <a:ext cx="64008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200" b="1" i="0" spc="240" dirty="0">
                <a:solidFill>
                  <a:srgbClr val="EA580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News Bear / Forum Bull</a:t>
            </a:r>
            <a:endParaRPr sz="1200" b="1" i="0" spc="240" dirty="0">
              <a:solidFill>
                <a:srgbClr val="EA580C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143000" y="6362700"/>
            <a:ext cx="6400800" cy="10747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6400" b="1" i="0" spc="-200">
                <a:solidFill>
                  <a:srgbClr val="EA580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-0.6%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7258050"/>
            <a:ext cx="571500" cy="28575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143000" y="7448550"/>
            <a:ext cx="6400800" cy="3124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lang="zh-TW" altLang="en-US" sz="15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新聞負向、論壇正向；可能反映散戶過度樂觀，列為警示區。</a:t>
            </a:r>
            <a:endParaRPr sz="15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057900" y="6038850"/>
            <a:ext cx="15240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i="0" spc="15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T+20 fwd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01000" y="5829300"/>
            <a:ext cx="6858000" cy="2667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8001000" y="5829300"/>
            <a:ext cx="68580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229600" y="6038850"/>
            <a:ext cx="64008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200" b="1" i="0" spc="24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Both Bear </a:t>
            </a:r>
            <a:r>
              <a:rPr lang="zh-TW" altLang="en-US" sz="1200" b="1" i="0" spc="24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─</a:t>
            </a:r>
            <a:r>
              <a:rPr lang="en-US" sz="1200" b="1" i="0" spc="24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zh-TW" altLang="en-US" sz="1200" b="1" i="0" spc="24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共識空</a:t>
            </a:r>
            <a:endParaRPr sz="1200" b="1" i="0" spc="240" dirty="0">
              <a:solidFill>
                <a:srgbClr val="F43F5E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229600" y="6362700"/>
            <a:ext cx="6400800" cy="10747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6400" b="1" i="0" spc="-20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+1.8%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29600" y="7258050"/>
            <a:ext cx="571500" cy="2857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229600" y="7448550"/>
            <a:ext cx="6400800" cy="3124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lang="zh-TW" altLang="en-US" sz="15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新聞負向 </a:t>
            </a:r>
            <a:r>
              <a:rPr lang="en-US" altLang="zh-TW" sz="15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 </a:t>
            </a:r>
            <a:r>
              <a:rPr lang="zh-TW" altLang="en-US" sz="15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論壇負向；可能形成反向修正訊號，占樣本 </a:t>
            </a:r>
            <a:r>
              <a:rPr lang="en-US" altLang="zh-TW" sz="15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14%</a:t>
            </a:r>
            <a:r>
              <a:rPr lang="zh-TW" altLang="en-US" sz="15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。</a:t>
            </a:r>
            <a:endParaRPr sz="15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3144500" y="6038850"/>
            <a:ext cx="15240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i="0" spc="15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T+20 fwd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859000" y="2933700"/>
            <a:ext cx="25146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100" b="1" i="0" spc="20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Decision Rules</a:t>
            </a:r>
            <a:endParaRPr sz="1100" b="1" i="0" spc="20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14859000" y="3314700"/>
            <a:ext cx="25146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14859000" y="3314700"/>
            <a:ext cx="25146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5030450" y="3448050"/>
            <a:ext cx="2286000" cy="1679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000" b="1" i="0" spc="180" dirty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Consensus Bull</a:t>
            </a:r>
            <a:endParaRPr sz="1000" b="1" i="0" spc="180" dirty="0">
              <a:solidFill>
                <a:srgbClr val="10B98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5030450" y="3676650"/>
            <a:ext cx="228600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-4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+4.1%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030450" y="3943350"/>
            <a:ext cx="2286000" cy="461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lang="zh-TW" altLang="en-US" sz="11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兩者皆 ≥ </a:t>
            </a:r>
            <a:r>
              <a:rPr lang="en-US" altLang="zh-TW" sz="11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+1.5σ </a:t>
            </a:r>
            <a:br>
              <a:rPr lang="en-US" altLang="zh-TW" sz="11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</a:br>
            <a:r>
              <a:rPr lang="en-US" altLang="zh-TW" sz="11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→ </a:t>
            </a:r>
            <a:r>
              <a:rPr lang="zh-TW" altLang="en-US" sz="11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納入高確信觀察名單</a:t>
            </a:r>
            <a:endParaRPr sz="11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14859000" y="4572000"/>
            <a:ext cx="25146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14859000" y="4572000"/>
            <a:ext cx="25146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5030450" y="4705350"/>
            <a:ext cx="2286000" cy="1679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000" b="1" i="0" spc="18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Contrarian</a:t>
            </a:r>
            <a:endParaRPr sz="1000" b="1" i="0" spc="180" dirty="0">
              <a:solidFill>
                <a:srgbClr val="F43F5E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5030450" y="4933950"/>
            <a:ext cx="228600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-4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+1.8%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5030450" y="5200650"/>
            <a:ext cx="2286000" cy="461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lang="zh-TW" altLang="en-US" sz="11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兩者皆 ≤ −</a:t>
            </a:r>
            <a:r>
              <a:rPr lang="en-US" altLang="zh-TW" sz="11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1.5σ </a:t>
            </a:r>
            <a:br>
              <a:rPr lang="en-US" altLang="zh-TW" sz="11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</a:br>
            <a:r>
              <a:rPr lang="en-US" altLang="zh-TW" sz="11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→ </a:t>
            </a:r>
            <a:r>
              <a:rPr lang="zh-TW" altLang="en-US" sz="11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納入反向情緒觀察名單</a:t>
            </a:r>
            <a:endParaRPr sz="11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14859000" y="5829300"/>
            <a:ext cx="25146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14859000" y="5829300"/>
            <a:ext cx="25146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5030450" y="5962650"/>
            <a:ext cx="2286000" cy="1679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000" b="1" i="0" spc="180" dirty="0">
                <a:solidFill>
                  <a:srgbClr val="F59E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Avoid</a:t>
            </a:r>
            <a:endParaRPr sz="1000" b="1" i="0" spc="180" dirty="0">
              <a:solidFill>
                <a:srgbClr val="F59E0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5030450" y="6191250"/>
            <a:ext cx="228600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-40">
                <a:solidFill>
                  <a:srgbClr val="F59E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+0.4%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5030450" y="6457950"/>
            <a:ext cx="2286000" cy="461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lang="en-US" sz="11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News+ / Forum− </a:t>
            </a:r>
            <a:br>
              <a:rPr lang="en-US" sz="11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</a:br>
            <a:r>
              <a:rPr lang="en-US" sz="11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→ </a:t>
            </a:r>
            <a:r>
              <a:rPr lang="zh-TW" altLang="en-US" sz="11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觀察，不直接進場</a:t>
            </a:r>
            <a:endParaRPr sz="11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14859000" y="7086600"/>
            <a:ext cx="25146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14859000" y="7086600"/>
            <a:ext cx="2514600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15030450" y="7219950"/>
            <a:ext cx="2286000" cy="1679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000" b="1" i="0" spc="180" dirty="0">
                <a:solidFill>
                  <a:srgbClr val="EA580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Short-List</a:t>
            </a:r>
            <a:endParaRPr sz="1000" b="1" i="0" spc="180" dirty="0">
              <a:solidFill>
                <a:srgbClr val="EA580C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5030450" y="7448550"/>
            <a:ext cx="228600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-40">
                <a:solidFill>
                  <a:srgbClr val="EA580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-0.6%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5030450" y="7715250"/>
            <a:ext cx="228600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buNone/>
            </a:pPr>
            <a:r>
              <a:rPr lang="en-US" altLang="zh-TW" sz="1100" dirty="0">
                <a:latin typeface="Courier New" panose="02070309020205020404" pitchFamily="49" charset="0"/>
              </a:rPr>
              <a:t>News− / Forum+ </a:t>
            </a:r>
            <a:br>
              <a:rPr lang="en-US" altLang="zh-TW" sz="1100" dirty="0">
                <a:latin typeface="Courier New" panose="02070309020205020404" pitchFamily="49" charset="0"/>
              </a:rPr>
            </a:br>
            <a:r>
              <a:rPr lang="en-US" altLang="zh-TW" sz="1100" dirty="0">
                <a:latin typeface="Courier New" panose="02070309020205020404" pitchFamily="49" charset="0"/>
              </a:rPr>
              <a:t>→ </a:t>
            </a:r>
            <a:r>
              <a:rPr lang="zh-TW" altLang="en-US" sz="1100" dirty="0">
                <a:latin typeface="Courier New" panose="02070309020205020404" pitchFamily="49" charset="0"/>
              </a:rPr>
              <a:t>列入風險警示</a:t>
            </a:r>
            <a:endParaRPr lang="zh-TW" altLang="en-US" sz="1100" dirty="0"/>
          </a:p>
        </p:txBody>
      </p:sp>
      <p:sp>
        <p:nvSpPr>
          <p:cNvPr id="63" name="Rectangle 62"/>
          <p:cNvSpPr/>
          <p:nvPr/>
        </p:nvSpPr>
        <p:spPr>
          <a:xfrm>
            <a:off x="914400" y="8610599"/>
            <a:ext cx="16459200" cy="1113631"/>
          </a:xfrm>
          <a:prstGeom prst="rect">
            <a:avLst/>
          </a:prstGeom>
          <a:solidFill>
            <a:srgbClr val="FE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914400" y="8610599"/>
            <a:ext cx="57150" cy="1113631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1162050" y="8782050"/>
            <a:ext cx="5715000" cy="268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600" b="1" i="0" spc="26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Cross-Channel Validation</a:t>
            </a:r>
            <a:endParaRPr sz="1600" b="1" i="0" spc="260" dirty="0">
              <a:solidFill>
                <a:srgbClr val="F43F5E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1162050" y="9067800"/>
            <a:ext cx="15887700" cy="6067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兩源共識下，</a:t>
            </a:r>
            <a:r>
              <a:rPr 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Both Bull </a:t>
            </a: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的 </a:t>
            </a:r>
            <a:r>
              <a:rPr 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T+20 excess return </a:t>
            </a: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達 </a:t>
            </a:r>
            <a:r>
              <a:rPr lang="en-US" altLang="zh-TW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+4.1%</a:t>
            </a: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，高於單一來源訊號。</a:t>
            </a:r>
            <a:endParaRPr lang="en-US" altLang="zh-TW" sz="1400" b="0" i="0" dirty="0">
              <a:solidFill>
                <a:srgbClr val="0F172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  <a:p>
            <a:pPr algn="l">
              <a:lnSpc>
                <a:spcPct val="150000"/>
              </a:lnSpc>
            </a:pP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跨來源驗證可作為情緒訊號的品質濾網。</a:t>
            </a:r>
            <a:endParaRPr sz="1400" b="0" i="0" dirty="0">
              <a:solidFill>
                <a:srgbClr val="0F172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429259"/>
            <a:ext cx="342900" cy="1511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404060"/>
            <a:ext cx="3619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多因子股票預測系統 · 附錄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404060"/>
            <a:ext cx="6667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Coverage &amp; Daily Sentiment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746959"/>
            <a:ext cx="12382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Source · 自行整理 · 1932 stocks × 4380 days panel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59000" y="9753600"/>
            <a:ext cx="19050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4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APPENDIX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40200" y="9801225"/>
            <a:ext cx="7620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954500" y="9738560"/>
            <a:ext cx="571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A.24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104900"/>
            <a:ext cx="6667500" cy="2358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TW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A.24 </a:t>
            </a:r>
            <a:r>
              <a:rPr lang="zh-TW" altLang="en-US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→</a:t>
            </a:r>
            <a:r>
              <a:rPr lang="en-US" altLang="zh-TW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zh-TW" altLang="en-US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文本覆蓋率與情緒序列</a:t>
            </a:r>
            <a:endParaRPr sz="1400" b="1" i="0" spc="24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1371600"/>
            <a:ext cx="16668750" cy="1157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lang="zh-TW" altLang="en-US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文本覆蓋率決定情緒因子的適用範圍與解讀強度</a:t>
            </a:r>
            <a:endParaRPr lang="en-US" altLang="zh-TW" sz="4000" b="1" spc="-8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  <a:p>
            <a:pPr>
              <a:lnSpc>
                <a:spcPct val="118000"/>
              </a:lnSpc>
            </a:pPr>
            <a:r>
              <a:rPr lang="zh-TW" altLang="en-US" sz="2600" b="1" spc="-8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大型股訊號可信度較高，小型股需折扣解讀。</a:t>
            </a:r>
            <a:endParaRPr lang="en-US" altLang="zh-TW" sz="2600" b="1" spc="-80" dirty="0"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14400" y="2552700"/>
            <a:ext cx="7620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14400" y="2933699"/>
            <a:ext cx="3943350" cy="1800225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14400" y="2933700"/>
            <a:ext cx="394335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43000" y="3143250"/>
            <a:ext cx="348615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100" b="1" i="0" spc="2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Top 50 Stocks</a:t>
            </a:r>
            <a:endParaRPr sz="1100" b="1" i="0" spc="24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43000" y="3409950"/>
            <a:ext cx="3486150" cy="9403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600" b="1" i="0" spc="-14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92%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4262084"/>
            <a:ext cx="3486150" cy="2835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14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Daily coverage</a:t>
            </a:r>
            <a:endParaRPr sz="1400" b="0" i="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086350" y="2933699"/>
            <a:ext cx="3943350" cy="1800225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086350" y="2933700"/>
            <a:ext cx="394335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314950" y="3143250"/>
            <a:ext cx="348615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100" b="1" i="0" spc="2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Top 200 Stocks</a:t>
            </a:r>
            <a:endParaRPr sz="1100" b="1" i="0" spc="24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314950" y="3409950"/>
            <a:ext cx="3486150" cy="9403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600" b="1" i="0" spc="-14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74%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14950" y="4262084"/>
            <a:ext cx="3486150" cy="2835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14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Daily coverage</a:t>
            </a:r>
            <a:endParaRPr sz="1400" b="0" i="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9258300" y="2933699"/>
            <a:ext cx="3943350" cy="1800225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9258300" y="2933700"/>
            <a:ext cx="394335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486900" y="3143250"/>
            <a:ext cx="348615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100" b="1" i="0" spc="2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1,500+ Small Caps</a:t>
            </a:r>
            <a:endParaRPr sz="1100" b="1" i="0" spc="24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486900" y="3409950"/>
            <a:ext cx="3486150" cy="9403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600" b="1" i="0" spc="-140">
                <a:solidFill>
                  <a:srgbClr val="F59E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38%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86900" y="4262084"/>
            <a:ext cx="3486150" cy="2835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14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Daily coverage </a:t>
            </a:r>
            <a:r>
              <a:rPr lang="zh-TW" altLang="en-US" sz="14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─</a:t>
            </a:r>
            <a:r>
              <a:rPr lang="en-US" sz="14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Use with caution</a:t>
            </a:r>
            <a:endParaRPr sz="1400" b="0" i="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13430250" y="2933699"/>
            <a:ext cx="3943350" cy="1800225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13430250" y="2933700"/>
            <a:ext cx="3943350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3658850" y="3143250"/>
            <a:ext cx="348615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100" b="1" i="0" spc="2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Peak Articles</a:t>
            </a:r>
            <a:endParaRPr sz="1100" b="1" i="0" spc="24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3658850" y="3409950"/>
            <a:ext cx="3486150" cy="9403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600" b="1" i="0" spc="-140">
                <a:solidFill>
                  <a:srgbClr val="EA580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4,210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658850" y="4262084"/>
            <a:ext cx="3486150" cy="2835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14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Single-day peak </a:t>
            </a:r>
            <a:r>
              <a:rPr lang="zh-TW" altLang="en-US" sz="14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─</a:t>
            </a:r>
            <a:r>
              <a:rPr lang="en-US" sz="14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2024-08</a:t>
            </a:r>
            <a:endParaRPr sz="1400" b="0" i="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14400" y="4819650"/>
            <a:ext cx="57150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100" b="1" i="0" spc="20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Daily Market Sentiment Index </a:t>
            </a:r>
            <a:r>
              <a:rPr lang="zh-TW" altLang="en-US" sz="1100" b="1" i="0" spc="20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─</a:t>
            </a:r>
            <a:r>
              <a:rPr lang="en-US" sz="1100" b="1" i="0" spc="20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2018–2025</a:t>
            </a:r>
            <a:endParaRPr sz="1100" b="1" i="0" spc="20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914400" y="5143500"/>
            <a:ext cx="16459200" cy="36195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1485900" y="8420100"/>
            <a:ext cx="1560195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1485900" y="5429250"/>
            <a:ext cx="9525" cy="29908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1485900" y="8420100"/>
            <a:ext cx="9525" cy="571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200150" y="8534400"/>
            <a:ext cx="5715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2018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714750" y="8420100"/>
            <a:ext cx="9525" cy="571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429000" y="8534400"/>
            <a:ext cx="5715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2019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43600" y="8420100"/>
            <a:ext cx="9525" cy="571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657850" y="8534400"/>
            <a:ext cx="5715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2020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172450" y="8420100"/>
            <a:ext cx="9525" cy="571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886700" y="8534400"/>
            <a:ext cx="5715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2021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401300" y="8420100"/>
            <a:ext cx="9525" cy="571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0115550" y="8534400"/>
            <a:ext cx="5715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2022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2630150" y="8420100"/>
            <a:ext cx="9525" cy="571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2344400" y="8534400"/>
            <a:ext cx="5715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2023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4859000" y="8420100"/>
            <a:ext cx="9525" cy="571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4573250" y="8534400"/>
            <a:ext cx="5715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2024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7087850" y="8420100"/>
            <a:ext cx="9525" cy="571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6802100" y="8534400"/>
            <a:ext cx="5715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2025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428750" y="8420100"/>
            <a:ext cx="57150" cy="9525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009650" y="8324850"/>
            <a:ext cx="381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-1.0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485900" y="8420100"/>
            <a:ext cx="1560195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1428750" y="7667625"/>
            <a:ext cx="57150" cy="9525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009650" y="7572375"/>
            <a:ext cx="381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-0.5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485900" y="7667625"/>
            <a:ext cx="1560195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1428750" y="6924675"/>
            <a:ext cx="57150" cy="9525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009650" y="6829425"/>
            <a:ext cx="381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+0.0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485900" y="6924675"/>
            <a:ext cx="15601950" cy="9525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1428750" y="6181725"/>
            <a:ext cx="57150" cy="9525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1009650" y="6086475"/>
            <a:ext cx="381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+0.5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485900" y="6181725"/>
            <a:ext cx="1560195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1428750" y="5429250"/>
            <a:ext cx="57150" cy="9525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1009650" y="5334000"/>
            <a:ext cx="381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+1.0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485900" y="5429250"/>
            <a:ext cx="1560195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69" name="Connector 68"/>
          <p:cNvCxnSpPr/>
          <p:nvPr/>
        </p:nvCxnSpPr>
        <p:spPr>
          <a:xfrm>
            <a:off x="1485900" y="6553200"/>
            <a:ext cx="533400" cy="104775"/>
          </a:xfrm>
          <a:prstGeom prst="line">
            <a:avLst/>
          </a:prstGeom>
          <a:ln w="254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2019300" y="6657975"/>
            <a:ext cx="533400" cy="885825"/>
          </a:xfrm>
          <a:prstGeom prst="line">
            <a:avLst/>
          </a:prstGeom>
          <a:ln w="254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2552700" y="6448425"/>
            <a:ext cx="542925" cy="1095375"/>
          </a:xfrm>
          <a:prstGeom prst="line">
            <a:avLst/>
          </a:prstGeom>
          <a:ln w="254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3095625" y="6210300"/>
            <a:ext cx="533400" cy="238125"/>
          </a:xfrm>
          <a:prstGeom prst="line">
            <a:avLst/>
          </a:prstGeom>
          <a:ln w="254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3629025" y="6210300"/>
            <a:ext cx="542925" cy="981075"/>
          </a:xfrm>
          <a:prstGeom prst="line">
            <a:avLst/>
          </a:prstGeom>
          <a:ln w="254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4171950" y="7191375"/>
            <a:ext cx="533400" cy="657225"/>
          </a:xfrm>
          <a:prstGeom prst="line">
            <a:avLst/>
          </a:prstGeom>
          <a:ln w="254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4705350" y="7400925"/>
            <a:ext cx="542925" cy="447675"/>
          </a:xfrm>
          <a:prstGeom prst="line">
            <a:avLst/>
          </a:prstGeom>
          <a:ln w="254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5248275" y="6981825"/>
            <a:ext cx="533400" cy="419100"/>
          </a:xfrm>
          <a:prstGeom prst="line">
            <a:avLst/>
          </a:prstGeom>
          <a:ln w="254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5781675" y="6657975"/>
            <a:ext cx="542925" cy="323850"/>
          </a:xfrm>
          <a:prstGeom prst="line">
            <a:avLst/>
          </a:prstGeom>
          <a:ln w="254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6324600" y="6391275"/>
            <a:ext cx="533400" cy="266700"/>
          </a:xfrm>
          <a:prstGeom prst="line">
            <a:avLst/>
          </a:prstGeom>
          <a:ln w="254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6858000" y="6305550"/>
            <a:ext cx="542925" cy="85725"/>
          </a:xfrm>
          <a:prstGeom prst="line">
            <a:avLst/>
          </a:prstGeom>
          <a:ln w="254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400925" y="6305550"/>
            <a:ext cx="533400" cy="209550"/>
          </a:xfrm>
          <a:prstGeom prst="line">
            <a:avLst/>
          </a:prstGeom>
          <a:ln w="254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934325" y="6515100"/>
            <a:ext cx="542925" cy="238125"/>
          </a:xfrm>
          <a:prstGeom prst="line">
            <a:avLst/>
          </a:prstGeom>
          <a:ln w="254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8477250" y="6753225"/>
            <a:ext cx="533400" cy="523875"/>
          </a:xfrm>
          <a:prstGeom prst="line">
            <a:avLst/>
          </a:prstGeom>
          <a:ln w="254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9010650" y="7191375"/>
            <a:ext cx="542925" cy="85725"/>
          </a:xfrm>
          <a:prstGeom prst="line">
            <a:avLst/>
          </a:prstGeom>
          <a:ln w="254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9553575" y="6810375"/>
            <a:ext cx="533400" cy="381000"/>
          </a:xfrm>
          <a:prstGeom prst="line">
            <a:avLst/>
          </a:prstGeom>
          <a:ln w="254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10086975" y="6448425"/>
            <a:ext cx="542925" cy="361950"/>
          </a:xfrm>
          <a:prstGeom prst="line">
            <a:avLst/>
          </a:prstGeom>
          <a:ln w="254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10629900" y="6153150"/>
            <a:ext cx="533400" cy="295275"/>
          </a:xfrm>
          <a:prstGeom prst="line">
            <a:avLst/>
          </a:prstGeom>
          <a:ln w="254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11163300" y="6153150"/>
            <a:ext cx="542925" cy="209550"/>
          </a:xfrm>
          <a:prstGeom prst="line">
            <a:avLst/>
          </a:prstGeom>
          <a:ln w="254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11706225" y="6362700"/>
            <a:ext cx="533400" cy="295275"/>
          </a:xfrm>
          <a:prstGeom prst="line">
            <a:avLst/>
          </a:prstGeom>
          <a:ln w="254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12239625" y="6657975"/>
            <a:ext cx="542925" cy="438150"/>
          </a:xfrm>
          <a:prstGeom prst="line">
            <a:avLst/>
          </a:prstGeom>
          <a:ln w="254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12782550" y="7096125"/>
            <a:ext cx="533400" cy="304800"/>
          </a:xfrm>
          <a:prstGeom prst="line">
            <a:avLst/>
          </a:prstGeom>
          <a:ln w="254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13315950" y="7191375"/>
            <a:ext cx="542925" cy="209550"/>
          </a:xfrm>
          <a:prstGeom prst="line">
            <a:avLst/>
          </a:prstGeom>
          <a:ln w="254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13858875" y="6600825"/>
            <a:ext cx="533400" cy="590550"/>
          </a:xfrm>
          <a:prstGeom prst="line">
            <a:avLst/>
          </a:prstGeom>
          <a:ln w="254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14392275" y="6391275"/>
            <a:ext cx="542925" cy="209550"/>
          </a:xfrm>
          <a:prstGeom prst="line">
            <a:avLst/>
          </a:prstGeom>
          <a:ln w="254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14935200" y="6210300"/>
            <a:ext cx="533400" cy="180975"/>
          </a:xfrm>
          <a:prstGeom prst="line">
            <a:avLst/>
          </a:prstGeom>
          <a:ln w="254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15468600" y="6210300"/>
            <a:ext cx="542925" cy="95250"/>
          </a:xfrm>
          <a:prstGeom prst="line">
            <a:avLst/>
          </a:prstGeom>
          <a:ln w="254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16011525" y="6305550"/>
            <a:ext cx="533400" cy="352425"/>
          </a:xfrm>
          <a:prstGeom prst="line">
            <a:avLst/>
          </a:prstGeom>
          <a:ln w="254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16544925" y="6657975"/>
            <a:ext cx="542925" cy="209550"/>
          </a:xfrm>
          <a:prstGeom prst="line">
            <a:avLst/>
          </a:prstGeom>
          <a:ln w="254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Rectangle 97"/>
          <p:cNvSpPr/>
          <p:nvPr/>
        </p:nvSpPr>
        <p:spPr>
          <a:xfrm>
            <a:off x="5943600" y="5524500"/>
            <a:ext cx="9525" cy="28956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5181600" y="5543550"/>
            <a:ext cx="15240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COVID-19 crash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14400" y="8915399"/>
            <a:ext cx="16459200" cy="831559"/>
          </a:xfrm>
          <a:prstGeom prst="rect">
            <a:avLst/>
          </a:prstGeom>
          <a:solidFill>
            <a:srgbClr val="FE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1" name="Rectangle 100"/>
          <p:cNvSpPr/>
          <p:nvPr/>
        </p:nvSpPr>
        <p:spPr>
          <a:xfrm>
            <a:off x="914400" y="8915399"/>
            <a:ext cx="57150" cy="831559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1162050" y="9048750"/>
            <a:ext cx="15887700" cy="6067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極端事件期間，如 </a:t>
            </a:r>
            <a:r>
              <a:rPr lang="en-US" altLang="zh-TW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COVID-19 </a:t>
            </a: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與 </a:t>
            </a:r>
            <a:r>
              <a:rPr lang="en-US" altLang="zh-TW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2022 </a:t>
            </a: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升息循環，情緒指數皆出現明顯下修。</a:t>
            </a:r>
            <a:endParaRPr lang="en-US" altLang="zh-TW" sz="1400" b="0" i="0" dirty="0">
              <a:solidFill>
                <a:srgbClr val="0F172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  <a:p>
            <a:pPr algn="l">
              <a:lnSpc>
                <a:spcPct val="150000"/>
              </a:lnSpc>
            </a:pPr>
            <a:r>
              <a:rPr lang="zh-TW" altLang="en-US" sz="14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因此，文本情緒因子更適合用於覆蓋率較高的標的，並在低覆蓋股票上採折扣解讀。</a:t>
            </a:r>
            <a:endParaRPr sz="1400" b="1" i="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429259"/>
            <a:ext cx="342900" cy="1511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404060"/>
            <a:ext cx="3619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多因子股票預測系統 · 附錄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404060"/>
            <a:ext cx="6667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Signal Decay · PSI by Pillar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746959"/>
            <a:ext cx="12382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Source · 自行整理 · PSI computed on 30-day rolling window vs train 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59000" y="9753600"/>
            <a:ext cx="19050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4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APPENDIX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40200" y="9801225"/>
            <a:ext cx="7620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954500" y="9738560"/>
            <a:ext cx="571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A.25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104900"/>
            <a:ext cx="6667500" cy="2358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A.25 </a:t>
            </a:r>
            <a:r>
              <a:rPr lang="zh-TW" altLang="en-US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→</a:t>
            </a:r>
            <a:r>
              <a:rPr lang="en-US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PSI </a:t>
            </a:r>
            <a:r>
              <a:rPr lang="zh-TW" altLang="en-US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漂移監控</a:t>
            </a:r>
            <a:endParaRPr sz="1400" b="1" i="0" spc="24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1371600"/>
            <a:ext cx="16668750" cy="1157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lang="en-US" altLang="zh-TW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PSI </a:t>
            </a:r>
            <a:r>
              <a:rPr lang="zh-TW" altLang="en-US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監控將模型衰退從事後檢討轉為事前預警</a:t>
            </a:r>
            <a:endParaRPr lang="en-US" altLang="zh-TW" sz="4000" b="1" spc="-8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  <a:p>
            <a:pPr>
              <a:lnSpc>
                <a:spcPct val="118000"/>
              </a:lnSpc>
            </a:pPr>
            <a:r>
              <a:rPr lang="en-US" altLang="zh-TW" sz="2600" b="1" spc="-8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Drift governance </a:t>
            </a:r>
            <a:r>
              <a:rPr lang="zh-TW" altLang="en-US" sz="2600" b="1" spc="-8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是部署後的必要條件。</a:t>
            </a:r>
            <a:endParaRPr lang="en-US" altLang="zh-TW" sz="2600" b="1" spc="-80" dirty="0"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14400" y="2552700"/>
            <a:ext cx="7620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14400" y="2933700"/>
            <a:ext cx="16459200" cy="55245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04900" y="3105150"/>
            <a:ext cx="7620000" cy="268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600" b="1" i="0" spc="16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Population Stability Index by Pillar · 30-Day Rolling</a:t>
            </a:r>
            <a:endParaRPr sz="1600" b="1" i="0" spc="16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4859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6002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7145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8288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9431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0574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1717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2860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24003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5146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26289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7432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28575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9718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0861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32004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33147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34290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35433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36576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37719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38862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40005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41148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42291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43434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44577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45720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46863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48006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49149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50292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51435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52578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53721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54864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56007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57150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58293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59436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60579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61722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62865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64008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65151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66294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67437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68580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69723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70866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72009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73152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74295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75438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76581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77724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78867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80010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81153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82296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83439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84582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85725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86868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88011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1" name="Rectangle 80"/>
          <p:cNvSpPr/>
          <p:nvPr/>
        </p:nvSpPr>
        <p:spPr>
          <a:xfrm>
            <a:off x="89154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90297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91440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92583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93726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6" name="Rectangle 85"/>
          <p:cNvSpPr/>
          <p:nvPr/>
        </p:nvSpPr>
        <p:spPr>
          <a:xfrm>
            <a:off x="94869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96012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8" name="Rectangle 87"/>
          <p:cNvSpPr/>
          <p:nvPr/>
        </p:nvSpPr>
        <p:spPr>
          <a:xfrm>
            <a:off x="97155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98298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0" name="Rectangle 89"/>
          <p:cNvSpPr/>
          <p:nvPr/>
        </p:nvSpPr>
        <p:spPr>
          <a:xfrm>
            <a:off x="99441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100584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101727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3" name="Rectangle 92"/>
          <p:cNvSpPr/>
          <p:nvPr/>
        </p:nvSpPr>
        <p:spPr>
          <a:xfrm>
            <a:off x="102870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4" name="Rectangle 93"/>
          <p:cNvSpPr/>
          <p:nvPr/>
        </p:nvSpPr>
        <p:spPr>
          <a:xfrm>
            <a:off x="104013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5" name="Rectangle 94"/>
          <p:cNvSpPr/>
          <p:nvPr/>
        </p:nvSpPr>
        <p:spPr>
          <a:xfrm>
            <a:off x="105156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6" name="Rectangle 95"/>
          <p:cNvSpPr/>
          <p:nvPr/>
        </p:nvSpPr>
        <p:spPr>
          <a:xfrm>
            <a:off x="106299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7" name="Rectangle 96"/>
          <p:cNvSpPr/>
          <p:nvPr/>
        </p:nvSpPr>
        <p:spPr>
          <a:xfrm>
            <a:off x="107442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8" name="Rectangle 97"/>
          <p:cNvSpPr/>
          <p:nvPr/>
        </p:nvSpPr>
        <p:spPr>
          <a:xfrm>
            <a:off x="108585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9" name="Rectangle 98"/>
          <p:cNvSpPr/>
          <p:nvPr/>
        </p:nvSpPr>
        <p:spPr>
          <a:xfrm>
            <a:off x="109728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0" name="Rectangle 99"/>
          <p:cNvSpPr/>
          <p:nvPr/>
        </p:nvSpPr>
        <p:spPr>
          <a:xfrm>
            <a:off x="110871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1" name="Rectangle 100"/>
          <p:cNvSpPr/>
          <p:nvPr/>
        </p:nvSpPr>
        <p:spPr>
          <a:xfrm>
            <a:off x="112014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2" name="Rectangle 101"/>
          <p:cNvSpPr/>
          <p:nvPr/>
        </p:nvSpPr>
        <p:spPr>
          <a:xfrm>
            <a:off x="113157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3" name="Rectangle 102"/>
          <p:cNvSpPr/>
          <p:nvPr/>
        </p:nvSpPr>
        <p:spPr>
          <a:xfrm>
            <a:off x="114300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4" name="Rectangle 103"/>
          <p:cNvSpPr/>
          <p:nvPr/>
        </p:nvSpPr>
        <p:spPr>
          <a:xfrm>
            <a:off x="115443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5" name="Rectangle 104"/>
          <p:cNvSpPr/>
          <p:nvPr/>
        </p:nvSpPr>
        <p:spPr>
          <a:xfrm>
            <a:off x="116586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6" name="Rectangle 105"/>
          <p:cNvSpPr/>
          <p:nvPr/>
        </p:nvSpPr>
        <p:spPr>
          <a:xfrm>
            <a:off x="117729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7" name="Rectangle 106"/>
          <p:cNvSpPr/>
          <p:nvPr/>
        </p:nvSpPr>
        <p:spPr>
          <a:xfrm>
            <a:off x="118872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8" name="Rectangle 107"/>
          <p:cNvSpPr/>
          <p:nvPr/>
        </p:nvSpPr>
        <p:spPr>
          <a:xfrm>
            <a:off x="120015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9" name="Rectangle 108"/>
          <p:cNvSpPr/>
          <p:nvPr/>
        </p:nvSpPr>
        <p:spPr>
          <a:xfrm>
            <a:off x="121158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0" name="Rectangle 109"/>
          <p:cNvSpPr/>
          <p:nvPr/>
        </p:nvSpPr>
        <p:spPr>
          <a:xfrm>
            <a:off x="122301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1" name="Rectangle 110"/>
          <p:cNvSpPr/>
          <p:nvPr/>
        </p:nvSpPr>
        <p:spPr>
          <a:xfrm>
            <a:off x="123444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2" name="Rectangle 111"/>
          <p:cNvSpPr/>
          <p:nvPr/>
        </p:nvSpPr>
        <p:spPr>
          <a:xfrm>
            <a:off x="124587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3" name="Rectangle 112"/>
          <p:cNvSpPr/>
          <p:nvPr/>
        </p:nvSpPr>
        <p:spPr>
          <a:xfrm>
            <a:off x="125730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4" name="Rectangle 113"/>
          <p:cNvSpPr/>
          <p:nvPr/>
        </p:nvSpPr>
        <p:spPr>
          <a:xfrm>
            <a:off x="126873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5" name="Rectangle 114"/>
          <p:cNvSpPr/>
          <p:nvPr/>
        </p:nvSpPr>
        <p:spPr>
          <a:xfrm>
            <a:off x="128016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6" name="Rectangle 115"/>
          <p:cNvSpPr/>
          <p:nvPr/>
        </p:nvSpPr>
        <p:spPr>
          <a:xfrm>
            <a:off x="129159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7" name="Rectangle 116"/>
          <p:cNvSpPr/>
          <p:nvPr/>
        </p:nvSpPr>
        <p:spPr>
          <a:xfrm>
            <a:off x="130302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8" name="Rectangle 117"/>
          <p:cNvSpPr/>
          <p:nvPr/>
        </p:nvSpPr>
        <p:spPr>
          <a:xfrm>
            <a:off x="131445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9" name="Rectangle 118"/>
          <p:cNvSpPr/>
          <p:nvPr/>
        </p:nvSpPr>
        <p:spPr>
          <a:xfrm>
            <a:off x="132588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0" name="Rectangle 119"/>
          <p:cNvSpPr/>
          <p:nvPr/>
        </p:nvSpPr>
        <p:spPr>
          <a:xfrm>
            <a:off x="133731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1" name="Rectangle 120"/>
          <p:cNvSpPr/>
          <p:nvPr/>
        </p:nvSpPr>
        <p:spPr>
          <a:xfrm>
            <a:off x="134874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2" name="Rectangle 121"/>
          <p:cNvSpPr/>
          <p:nvPr/>
        </p:nvSpPr>
        <p:spPr>
          <a:xfrm>
            <a:off x="136017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3" name="Rectangle 122"/>
          <p:cNvSpPr/>
          <p:nvPr/>
        </p:nvSpPr>
        <p:spPr>
          <a:xfrm>
            <a:off x="137160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4" name="Rectangle 123"/>
          <p:cNvSpPr/>
          <p:nvPr/>
        </p:nvSpPr>
        <p:spPr>
          <a:xfrm>
            <a:off x="138303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5" name="Rectangle 124"/>
          <p:cNvSpPr/>
          <p:nvPr/>
        </p:nvSpPr>
        <p:spPr>
          <a:xfrm>
            <a:off x="139446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6" name="Rectangle 125"/>
          <p:cNvSpPr/>
          <p:nvPr/>
        </p:nvSpPr>
        <p:spPr>
          <a:xfrm>
            <a:off x="140589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7" name="Rectangle 126"/>
          <p:cNvSpPr/>
          <p:nvPr/>
        </p:nvSpPr>
        <p:spPr>
          <a:xfrm>
            <a:off x="141732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8" name="Rectangle 127"/>
          <p:cNvSpPr/>
          <p:nvPr/>
        </p:nvSpPr>
        <p:spPr>
          <a:xfrm>
            <a:off x="142875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9" name="Rectangle 128"/>
          <p:cNvSpPr/>
          <p:nvPr/>
        </p:nvSpPr>
        <p:spPr>
          <a:xfrm>
            <a:off x="144018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0" name="Rectangle 129"/>
          <p:cNvSpPr/>
          <p:nvPr/>
        </p:nvSpPr>
        <p:spPr>
          <a:xfrm>
            <a:off x="145161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1" name="Rectangle 130"/>
          <p:cNvSpPr/>
          <p:nvPr/>
        </p:nvSpPr>
        <p:spPr>
          <a:xfrm>
            <a:off x="146304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2" name="Rectangle 131"/>
          <p:cNvSpPr/>
          <p:nvPr/>
        </p:nvSpPr>
        <p:spPr>
          <a:xfrm>
            <a:off x="147447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3" name="Rectangle 132"/>
          <p:cNvSpPr/>
          <p:nvPr/>
        </p:nvSpPr>
        <p:spPr>
          <a:xfrm>
            <a:off x="148590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4" name="Rectangle 133"/>
          <p:cNvSpPr/>
          <p:nvPr/>
        </p:nvSpPr>
        <p:spPr>
          <a:xfrm>
            <a:off x="149733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5" name="Rectangle 134"/>
          <p:cNvSpPr/>
          <p:nvPr/>
        </p:nvSpPr>
        <p:spPr>
          <a:xfrm>
            <a:off x="150876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6" name="Rectangle 135"/>
          <p:cNvSpPr/>
          <p:nvPr/>
        </p:nvSpPr>
        <p:spPr>
          <a:xfrm>
            <a:off x="152019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7" name="Rectangle 136"/>
          <p:cNvSpPr/>
          <p:nvPr/>
        </p:nvSpPr>
        <p:spPr>
          <a:xfrm>
            <a:off x="153162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8" name="Rectangle 137"/>
          <p:cNvSpPr/>
          <p:nvPr/>
        </p:nvSpPr>
        <p:spPr>
          <a:xfrm>
            <a:off x="154305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9" name="Rectangle 138"/>
          <p:cNvSpPr/>
          <p:nvPr/>
        </p:nvSpPr>
        <p:spPr>
          <a:xfrm>
            <a:off x="155448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156591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157734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2" name="Rectangle 141"/>
          <p:cNvSpPr/>
          <p:nvPr/>
        </p:nvSpPr>
        <p:spPr>
          <a:xfrm>
            <a:off x="158877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3" name="Rectangle 142"/>
          <p:cNvSpPr/>
          <p:nvPr/>
        </p:nvSpPr>
        <p:spPr>
          <a:xfrm>
            <a:off x="160020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4" name="Rectangle 143"/>
          <p:cNvSpPr/>
          <p:nvPr/>
        </p:nvSpPr>
        <p:spPr>
          <a:xfrm>
            <a:off x="161163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5" name="Rectangle 144"/>
          <p:cNvSpPr/>
          <p:nvPr/>
        </p:nvSpPr>
        <p:spPr>
          <a:xfrm>
            <a:off x="162306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6" name="Rectangle 145"/>
          <p:cNvSpPr/>
          <p:nvPr/>
        </p:nvSpPr>
        <p:spPr>
          <a:xfrm>
            <a:off x="163449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7" name="Rectangle 146"/>
          <p:cNvSpPr/>
          <p:nvPr/>
        </p:nvSpPr>
        <p:spPr>
          <a:xfrm>
            <a:off x="164592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8" name="Rectangle 147"/>
          <p:cNvSpPr/>
          <p:nvPr/>
        </p:nvSpPr>
        <p:spPr>
          <a:xfrm>
            <a:off x="165735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9" name="Rectangle 148"/>
          <p:cNvSpPr/>
          <p:nvPr/>
        </p:nvSpPr>
        <p:spPr>
          <a:xfrm>
            <a:off x="166878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0" name="Rectangle 149"/>
          <p:cNvSpPr/>
          <p:nvPr/>
        </p:nvSpPr>
        <p:spPr>
          <a:xfrm>
            <a:off x="168021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1" name="Rectangle 150"/>
          <p:cNvSpPr/>
          <p:nvPr/>
        </p:nvSpPr>
        <p:spPr>
          <a:xfrm>
            <a:off x="169164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2" name="Rectangle 151"/>
          <p:cNvSpPr/>
          <p:nvPr/>
        </p:nvSpPr>
        <p:spPr>
          <a:xfrm>
            <a:off x="170307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3" name="TextBox 152"/>
          <p:cNvSpPr txBox="1"/>
          <p:nvPr/>
        </p:nvSpPr>
        <p:spPr>
          <a:xfrm>
            <a:off x="15906750" y="6375286"/>
            <a:ext cx="133350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sz="1400" b="1" i="0" dirty="0">
                <a:solidFill>
                  <a:srgbClr val="F59E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Warning = 0.10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14859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5" name="Rectangle 154"/>
          <p:cNvSpPr/>
          <p:nvPr/>
        </p:nvSpPr>
        <p:spPr>
          <a:xfrm>
            <a:off x="16002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6" name="Rectangle 155"/>
          <p:cNvSpPr/>
          <p:nvPr/>
        </p:nvSpPr>
        <p:spPr>
          <a:xfrm>
            <a:off x="17145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7" name="Rectangle 156"/>
          <p:cNvSpPr/>
          <p:nvPr/>
        </p:nvSpPr>
        <p:spPr>
          <a:xfrm>
            <a:off x="18288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8" name="Rectangle 157"/>
          <p:cNvSpPr/>
          <p:nvPr/>
        </p:nvSpPr>
        <p:spPr>
          <a:xfrm>
            <a:off x="19431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9" name="Rectangle 158"/>
          <p:cNvSpPr/>
          <p:nvPr/>
        </p:nvSpPr>
        <p:spPr>
          <a:xfrm>
            <a:off x="20574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0" name="Rectangle 159"/>
          <p:cNvSpPr/>
          <p:nvPr/>
        </p:nvSpPr>
        <p:spPr>
          <a:xfrm>
            <a:off x="21717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1" name="Rectangle 160"/>
          <p:cNvSpPr/>
          <p:nvPr/>
        </p:nvSpPr>
        <p:spPr>
          <a:xfrm>
            <a:off x="22860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2" name="Rectangle 161"/>
          <p:cNvSpPr/>
          <p:nvPr/>
        </p:nvSpPr>
        <p:spPr>
          <a:xfrm>
            <a:off x="24003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3" name="Rectangle 162"/>
          <p:cNvSpPr/>
          <p:nvPr/>
        </p:nvSpPr>
        <p:spPr>
          <a:xfrm>
            <a:off x="25146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4" name="Rectangle 163"/>
          <p:cNvSpPr/>
          <p:nvPr/>
        </p:nvSpPr>
        <p:spPr>
          <a:xfrm>
            <a:off x="26289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5" name="Rectangle 164"/>
          <p:cNvSpPr/>
          <p:nvPr/>
        </p:nvSpPr>
        <p:spPr>
          <a:xfrm>
            <a:off x="27432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6" name="Rectangle 165"/>
          <p:cNvSpPr/>
          <p:nvPr/>
        </p:nvSpPr>
        <p:spPr>
          <a:xfrm>
            <a:off x="28575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7" name="Rectangle 166"/>
          <p:cNvSpPr/>
          <p:nvPr/>
        </p:nvSpPr>
        <p:spPr>
          <a:xfrm>
            <a:off x="29718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8" name="Rectangle 167"/>
          <p:cNvSpPr/>
          <p:nvPr/>
        </p:nvSpPr>
        <p:spPr>
          <a:xfrm>
            <a:off x="30861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9" name="Rectangle 168"/>
          <p:cNvSpPr/>
          <p:nvPr/>
        </p:nvSpPr>
        <p:spPr>
          <a:xfrm>
            <a:off x="32004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0" name="Rectangle 169"/>
          <p:cNvSpPr/>
          <p:nvPr/>
        </p:nvSpPr>
        <p:spPr>
          <a:xfrm>
            <a:off x="33147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1" name="Rectangle 170"/>
          <p:cNvSpPr/>
          <p:nvPr/>
        </p:nvSpPr>
        <p:spPr>
          <a:xfrm>
            <a:off x="34290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2" name="Rectangle 171"/>
          <p:cNvSpPr/>
          <p:nvPr/>
        </p:nvSpPr>
        <p:spPr>
          <a:xfrm>
            <a:off x="35433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3" name="Rectangle 172"/>
          <p:cNvSpPr/>
          <p:nvPr/>
        </p:nvSpPr>
        <p:spPr>
          <a:xfrm>
            <a:off x="36576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4" name="Rectangle 173"/>
          <p:cNvSpPr/>
          <p:nvPr/>
        </p:nvSpPr>
        <p:spPr>
          <a:xfrm>
            <a:off x="37719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5" name="Rectangle 174"/>
          <p:cNvSpPr/>
          <p:nvPr/>
        </p:nvSpPr>
        <p:spPr>
          <a:xfrm>
            <a:off x="38862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6" name="Rectangle 175"/>
          <p:cNvSpPr/>
          <p:nvPr/>
        </p:nvSpPr>
        <p:spPr>
          <a:xfrm>
            <a:off x="40005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7" name="Rectangle 176"/>
          <p:cNvSpPr/>
          <p:nvPr/>
        </p:nvSpPr>
        <p:spPr>
          <a:xfrm>
            <a:off x="41148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8" name="Rectangle 177"/>
          <p:cNvSpPr/>
          <p:nvPr/>
        </p:nvSpPr>
        <p:spPr>
          <a:xfrm>
            <a:off x="42291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9" name="Rectangle 178"/>
          <p:cNvSpPr/>
          <p:nvPr/>
        </p:nvSpPr>
        <p:spPr>
          <a:xfrm>
            <a:off x="43434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0" name="Rectangle 179"/>
          <p:cNvSpPr/>
          <p:nvPr/>
        </p:nvSpPr>
        <p:spPr>
          <a:xfrm>
            <a:off x="44577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1" name="Rectangle 180"/>
          <p:cNvSpPr/>
          <p:nvPr/>
        </p:nvSpPr>
        <p:spPr>
          <a:xfrm>
            <a:off x="45720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2" name="Rectangle 181"/>
          <p:cNvSpPr/>
          <p:nvPr/>
        </p:nvSpPr>
        <p:spPr>
          <a:xfrm>
            <a:off x="46863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3" name="Rectangle 182"/>
          <p:cNvSpPr/>
          <p:nvPr/>
        </p:nvSpPr>
        <p:spPr>
          <a:xfrm>
            <a:off x="48006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4" name="Rectangle 183"/>
          <p:cNvSpPr/>
          <p:nvPr/>
        </p:nvSpPr>
        <p:spPr>
          <a:xfrm>
            <a:off x="49149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5" name="Rectangle 184"/>
          <p:cNvSpPr/>
          <p:nvPr/>
        </p:nvSpPr>
        <p:spPr>
          <a:xfrm>
            <a:off x="50292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6" name="Rectangle 185"/>
          <p:cNvSpPr/>
          <p:nvPr/>
        </p:nvSpPr>
        <p:spPr>
          <a:xfrm>
            <a:off x="51435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7" name="Rectangle 186"/>
          <p:cNvSpPr/>
          <p:nvPr/>
        </p:nvSpPr>
        <p:spPr>
          <a:xfrm>
            <a:off x="52578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8" name="Rectangle 187"/>
          <p:cNvSpPr/>
          <p:nvPr/>
        </p:nvSpPr>
        <p:spPr>
          <a:xfrm>
            <a:off x="53721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9" name="Rectangle 188"/>
          <p:cNvSpPr/>
          <p:nvPr/>
        </p:nvSpPr>
        <p:spPr>
          <a:xfrm>
            <a:off x="54864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0" name="Rectangle 189"/>
          <p:cNvSpPr/>
          <p:nvPr/>
        </p:nvSpPr>
        <p:spPr>
          <a:xfrm>
            <a:off x="56007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1" name="Rectangle 190"/>
          <p:cNvSpPr/>
          <p:nvPr/>
        </p:nvSpPr>
        <p:spPr>
          <a:xfrm>
            <a:off x="57150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2" name="Rectangle 191"/>
          <p:cNvSpPr/>
          <p:nvPr/>
        </p:nvSpPr>
        <p:spPr>
          <a:xfrm>
            <a:off x="58293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3" name="Rectangle 192"/>
          <p:cNvSpPr/>
          <p:nvPr/>
        </p:nvSpPr>
        <p:spPr>
          <a:xfrm>
            <a:off x="59436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4" name="Rectangle 193"/>
          <p:cNvSpPr/>
          <p:nvPr/>
        </p:nvSpPr>
        <p:spPr>
          <a:xfrm>
            <a:off x="60579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5" name="Rectangle 194"/>
          <p:cNvSpPr/>
          <p:nvPr/>
        </p:nvSpPr>
        <p:spPr>
          <a:xfrm>
            <a:off x="61722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6" name="Rectangle 195"/>
          <p:cNvSpPr/>
          <p:nvPr/>
        </p:nvSpPr>
        <p:spPr>
          <a:xfrm>
            <a:off x="62865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7" name="Rectangle 196"/>
          <p:cNvSpPr/>
          <p:nvPr/>
        </p:nvSpPr>
        <p:spPr>
          <a:xfrm>
            <a:off x="64008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8" name="Rectangle 197"/>
          <p:cNvSpPr/>
          <p:nvPr/>
        </p:nvSpPr>
        <p:spPr>
          <a:xfrm>
            <a:off x="65151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9" name="Rectangle 198"/>
          <p:cNvSpPr/>
          <p:nvPr/>
        </p:nvSpPr>
        <p:spPr>
          <a:xfrm>
            <a:off x="66294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0" name="Rectangle 199"/>
          <p:cNvSpPr/>
          <p:nvPr/>
        </p:nvSpPr>
        <p:spPr>
          <a:xfrm>
            <a:off x="67437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1" name="Rectangle 200"/>
          <p:cNvSpPr/>
          <p:nvPr/>
        </p:nvSpPr>
        <p:spPr>
          <a:xfrm>
            <a:off x="68580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2" name="Rectangle 201"/>
          <p:cNvSpPr/>
          <p:nvPr/>
        </p:nvSpPr>
        <p:spPr>
          <a:xfrm>
            <a:off x="69723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3" name="Rectangle 202"/>
          <p:cNvSpPr/>
          <p:nvPr/>
        </p:nvSpPr>
        <p:spPr>
          <a:xfrm>
            <a:off x="70866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4" name="Rectangle 203"/>
          <p:cNvSpPr/>
          <p:nvPr/>
        </p:nvSpPr>
        <p:spPr>
          <a:xfrm>
            <a:off x="72009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5" name="Rectangle 204"/>
          <p:cNvSpPr/>
          <p:nvPr/>
        </p:nvSpPr>
        <p:spPr>
          <a:xfrm>
            <a:off x="73152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6" name="Rectangle 205"/>
          <p:cNvSpPr/>
          <p:nvPr/>
        </p:nvSpPr>
        <p:spPr>
          <a:xfrm>
            <a:off x="74295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7" name="Rectangle 206"/>
          <p:cNvSpPr/>
          <p:nvPr/>
        </p:nvSpPr>
        <p:spPr>
          <a:xfrm>
            <a:off x="75438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8" name="Rectangle 207"/>
          <p:cNvSpPr/>
          <p:nvPr/>
        </p:nvSpPr>
        <p:spPr>
          <a:xfrm>
            <a:off x="76581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9" name="Rectangle 208"/>
          <p:cNvSpPr/>
          <p:nvPr/>
        </p:nvSpPr>
        <p:spPr>
          <a:xfrm>
            <a:off x="77724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0" name="Rectangle 209"/>
          <p:cNvSpPr/>
          <p:nvPr/>
        </p:nvSpPr>
        <p:spPr>
          <a:xfrm>
            <a:off x="78867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1" name="Rectangle 210"/>
          <p:cNvSpPr/>
          <p:nvPr/>
        </p:nvSpPr>
        <p:spPr>
          <a:xfrm>
            <a:off x="80010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2" name="Rectangle 211"/>
          <p:cNvSpPr/>
          <p:nvPr/>
        </p:nvSpPr>
        <p:spPr>
          <a:xfrm>
            <a:off x="81153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3" name="Rectangle 212"/>
          <p:cNvSpPr/>
          <p:nvPr/>
        </p:nvSpPr>
        <p:spPr>
          <a:xfrm>
            <a:off x="82296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4" name="Rectangle 213"/>
          <p:cNvSpPr/>
          <p:nvPr/>
        </p:nvSpPr>
        <p:spPr>
          <a:xfrm>
            <a:off x="83439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5" name="Rectangle 214"/>
          <p:cNvSpPr/>
          <p:nvPr/>
        </p:nvSpPr>
        <p:spPr>
          <a:xfrm>
            <a:off x="84582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6" name="Rectangle 215"/>
          <p:cNvSpPr/>
          <p:nvPr/>
        </p:nvSpPr>
        <p:spPr>
          <a:xfrm>
            <a:off x="85725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7" name="Rectangle 216"/>
          <p:cNvSpPr/>
          <p:nvPr/>
        </p:nvSpPr>
        <p:spPr>
          <a:xfrm>
            <a:off x="86868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8" name="Rectangle 217"/>
          <p:cNvSpPr/>
          <p:nvPr/>
        </p:nvSpPr>
        <p:spPr>
          <a:xfrm>
            <a:off x="88011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9" name="Rectangle 218"/>
          <p:cNvSpPr/>
          <p:nvPr/>
        </p:nvSpPr>
        <p:spPr>
          <a:xfrm>
            <a:off x="89154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0" name="Rectangle 219"/>
          <p:cNvSpPr/>
          <p:nvPr/>
        </p:nvSpPr>
        <p:spPr>
          <a:xfrm>
            <a:off x="90297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1" name="Rectangle 220"/>
          <p:cNvSpPr/>
          <p:nvPr/>
        </p:nvSpPr>
        <p:spPr>
          <a:xfrm>
            <a:off x="91440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2" name="Rectangle 221"/>
          <p:cNvSpPr/>
          <p:nvPr/>
        </p:nvSpPr>
        <p:spPr>
          <a:xfrm>
            <a:off x="92583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3" name="Rectangle 222"/>
          <p:cNvSpPr/>
          <p:nvPr/>
        </p:nvSpPr>
        <p:spPr>
          <a:xfrm>
            <a:off x="93726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4" name="Rectangle 223"/>
          <p:cNvSpPr/>
          <p:nvPr/>
        </p:nvSpPr>
        <p:spPr>
          <a:xfrm>
            <a:off x="94869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5" name="Rectangle 224"/>
          <p:cNvSpPr/>
          <p:nvPr/>
        </p:nvSpPr>
        <p:spPr>
          <a:xfrm>
            <a:off x="96012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6" name="Rectangle 225"/>
          <p:cNvSpPr/>
          <p:nvPr/>
        </p:nvSpPr>
        <p:spPr>
          <a:xfrm>
            <a:off x="97155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7" name="Rectangle 226"/>
          <p:cNvSpPr/>
          <p:nvPr/>
        </p:nvSpPr>
        <p:spPr>
          <a:xfrm>
            <a:off x="98298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8" name="Rectangle 227"/>
          <p:cNvSpPr/>
          <p:nvPr/>
        </p:nvSpPr>
        <p:spPr>
          <a:xfrm>
            <a:off x="99441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9" name="Rectangle 228"/>
          <p:cNvSpPr/>
          <p:nvPr/>
        </p:nvSpPr>
        <p:spPr>
          <a:xfrm>
            <a:off x="100584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0" name="Rectangle 229"/>
          <p:cNvSpPr/>
          <p:nvPr/>
        </p:nvSpPr>
        <p:spPr>
          <a:xfrm>
            <a:off x="101727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1" name="Rectangle 230"/>
          <p:cNvSpPr/>
          <p:nvPr/>
        </p:nvSpPr>
        <p:spPr>
          <a:xfrm>
            <a:off x="102870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2" name="Rectangle 231"/>
          <p:cNvSpPr/>
          <p:nvPr/>
        </p:nvSpPr>
        <p:spPr>
          <a:xfrm>
            <a:off x="104013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3" name="Rectangle 232"/>
          <p:cNvSpPr/>
          <p:nvPr/>
        </p:nvSpPr>
        <p:spPr>
          <a:xfrm>
            <a:off x="105156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4" name="Rectangle 233"/>
          <p:cNvSpPr/>
          <p:nvPr/>
        </p:nvSpPr>
        <p:spPr>
          <a:xfrm>
            <a:off x="106299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5" name="Rectangle 234"/>
          <p:cNvSpPr/>
          <p:nvPr/>
        </p:nvSpPr>
        <p:spPr>
          <a:xfrm>
            <a:off x="107442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6" name="Rectangle 235"/>
          <p:cNvSpPr/>
          <p:nvPr/>
        </p:nvSpPr>
        <p:spPr>
          <a:xfrm>
            <a:off x="108585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7" name="Rectangle 236"/>
          <p:cNvSpPr/>
          <p:nvPr/>
        </p:nvSpPr>
        <p:spPr>
          <a:xfrm>
            <a:off x="109728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8" name="Rectangle 237"/>
          <p:cNvSpPr/>
          <p:nvPr/>
        </p:nvSpPr>
        <p:spPr>
          <a:xfrm>
            <a:off x="110871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9" name="Rectangle 238"/>
          <p:cNvSpPr/>
          <p:nvPr/>
        </p:nvSpPr>
        <p:spPr>
          <a:xfrm>
            <a:off x="112014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0" name="Rectangle 239"/>
          <p:cNvSpPr/>
          <p:nvPr/>
        </p:nvSpPr>
        <p:spPr>
          <a:xfrm>
            <a:off x="113157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1" name="Rectangle 240"/>
          <p:cNvSpPr/>
          <p:nvPr/>
        </p:nvSpPr>
        <p:spPr>
          <a:xfrm>
            <a:off x="114300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2" name="Rectangle 241"/>
          <p:cNvSpPr/>
          <p:nvPr/>
        </p:nvSpPr>
        <p:spPr>
          <a:xfrm>
            <a:off x="115443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3" name="Rectangle 242"/>
          <p:cNvSpPr/>
          <p:nvPr/>
        </p:nvSpPr>
        <p:spPr>
          <a:xfrm>
            <a:off x="116586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4" name="Rectangle 243"/>
          <p:cNvSpPr/>
          <p:nvPr/>
        </p:nvSpPr>
        <p:spPr>
          <a:xfrm>
            <a:off x="117729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5" name="Rectangle 244"/>
          <p:cNvSpPr/>
          <p:nvPr/>
        </p:nvSpPr>
        <p:spPr>
          <a:xfrm>
            <a:off x="118872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6" name="Rectangle 245"/>
          <p:cNvSpPr/>
          <p:nvPr/>
        </p:nvSpPr>
        <p:spPr>
          <a:xfrm>
            <a:off x="120015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7" name="Rectangle 246"/>
          <p:cNvSpPr/>
          <p:nvPr/>
        </p:nvSpPr>
        <p:spPr>
          <a:xfrm>
            <a:off x="121158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8" name="Rectangle 247"/>
          <p:cNvSpPr/>
          <p:nvPr/>
        </p:nvSpPr>
        <p:spPr>
          <a:xfrm>
            <a:off x="122301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9" name="Rectangle 248"/>
          <p:cNvSpPr/>
          <p:nvPr/>
        </p:nvSpPr>
        <p:spPr>
          <a:xfrm>
            <a:off x="123444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0" name="Rectangle 249"/>
          <p:cNvSpPr/>
          <p:nvPr/>
        </p:nvSpPr>
        <p:spPr>
          <a:xfrm>
            <a:off x="124587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1" name="Rectangle 250"/>
          <p:cNvSpPr/>
          <p:nvPr/>
        </p:nvSpPr>
        <p:spPr>
          <a:xfrm>
            <a:off x="125730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2" name="Rectangle 251"/>
          <p:cNvSpPr/>
          <p:nvPr/>
        </p:nvSpPr>
        <p:spPr>
          <a:xfrm>
            <a:off x="126873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3" name="Rectangle 252"/>
          <p:cNvSpPr/>
          <p:nvPr/>
        </p:nvSpPr>
        <p:spPr>
          <a:xfrm>
            <a:off x="128016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4" name="Rectangle 253"/>
          <p:cNvSpPr/>
          <p:nvPr/>
        </p:nvSpPr>
        <p:spPr>
          <a:xfrm>
            <a:off x="129159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5" name="Rectangle 254"/>
          <p:cNvSpPr/>
          <p:nvPr/>
        </p:nvSpPr>
        <p:spPr>
          <a:xfrm>
            <a:off x="130302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6" name="Rectangle 255"/>
          <p:cNvSpPr/>
          <p:nvPr/>
        </p:nvSpPr>
        <p:spPr>
          <a:xfrm>
            <a:off x="131445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7" name="Rectangle 256"/>
          <p:cNvSpPr/>
          <p:nvPr/>
        </p:nvSpPr>
        <p:spPr>
          <a:xfrm>
            <a:off x="132588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8" name="Rectangle 257"/>
          <p:cNvSpPr/>
          <p:nvPr/>
        </p:nvSpPr>
        <p:spPr>
          <a:xfrm>
            <a:off x="133731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9" name="Rectangle 258"/>
          <p:cNvSpPr/>
          <p:nvPr/>
        </p:nvSpPr>
        <p:spPr>
          <a:xfrm>
            <a:off x="134874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0" name="Rectangle 259"/>
          <p:cNvSpPr/>
          <p:nvPr/>
        </p:nvSpPr>
        <p:spPr>
          <a:xfrm>
            <a:off x="136017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1" name="Rectangle 260"/>
          <p:cNvSpPr/>
          <p:nvPr/>
        </p:nvSpPr>
        <p:spPr>
          <a:xfrm>
            <a:off x="137160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2" name="Rectangle 261"/>
          <p:cNvSpPr/>
          <p:nvPr/>
        </p:nvSpPr>
        <p:spPr>
          <a:xfrm>
            <a:off x="138303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3" name="Rectangle 262"/>
          <p:cNvSpPr/>
          <p:nvPr/>
        </p:nvSpPr>
        <p:spPr>
          <a:xfrm>
            <a:off x="139446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4" name="Rectangle 263"/>
          <p:cNvSpPr/>
          <p:nvPr/>
        </p:nvSpPr>
        <p:spPr>
          <a:xfrm>
            <a:off x="140589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5" name="Rectangle 264"/>
          <p:cNvSpPr/>
          <p:nvPr/>
        </p:nvSpPr>
        <p:spPr>
          <a:xfrm>
            <a:off x="141732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6" name="Rectangle 265"/>
          <p:cNvSpPr/>
          <p:nvPr/>
        </p:nvSpPr>
        <p:spPr>
          <a:xfrm>
            <a:off x="142875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7" name="Rectangle 266"/>
          <p:cNvSpPr/>
          <p:nvPr/>
        </p:nvSpPr>
        <p:spPr>
          <a:xfrm>
            <a:off x="144018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8" name="Rectangle 267"/>
          <p:cNvSpPr/>
          <p:nvPr/>
        </p:nvSpPr>
        <p:spPr>
          <a:xfrm>
            <a:off x="145161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9" name="Rectangle 268"/>
          <p:cNvSpPr/>
          <p:nvPr/>
        </p:nvSpPr>
        <p:spPr>
          <a:xfrm>
            <a:off x="146304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0" name="Rectangle 269"/>
          <p:cNvSpPr/>
          <p:nvPr/>
        </p:nvSpPr>
        <p:spPr>
          <a:xfrm>
            <a:off x="147447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1" name="Rectangle 270"/>
          <p:cNvSpPr/>
          <p:nvPr/>
        </p:nvSpPr>
        <p:spPr>
          <a:xfrm>
            <a:off x="148590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2" name="Rectangle 271"/>
          <p:cNvSpPr/>
          <p:nvPr/>
        </p:nvSpPr>
        <p:spPr>
          <a:xfrm>
            <a:off x="149733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3" name="Rectangle 272"/>
          <p:cNvSpPr/>
          <p:nvPr/>
        </p:nvSpPr>
        <p:spPr>
          <a:xfrm>
            <a:off x="150876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4" name="Rectangle 273"/>
          <p:cNvSpPr/>
          <p:nvPr/>
        </p:nvSpPr>
        <p:spPr>
          <a:xfrm>
            <a:off x="152019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5" name="Rectangle 274"/>
          <p:cNvSpPr/>
          <p:nvPr/>
        </p:nvSpPr>
        <p:spPr>
          <a:xfrm>
            <a:off x="153162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6" name="Rectangle 275"/>
          <p:cNvSpPr/>
          <p:nvPr/>
        </p:nvSpPr>
        <p:spPr>
          <a:xfrm>
            <a:off x="154305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7" name="Rectangle 276"/>
          <p:cNvSpPr/>
          <p:nvPr/>
        </p:nvSpPr>
        <p:spPr>
          <a:xfrm>
            <a:off x="155448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8" name="Rectangle 277"/>
          <p:cNvSpPr/>
          <p:nvPr/>
        </p:nvSpPr>
        <p:spPr>
          <a:xfrm>
            <a:off x="156591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9" name="Rectangle 278"/>
          <p:cNvSpPr/>
          <p:nvPr/>
        </p:nvSpPr>
        <p:spPr>
          <a:xfrm>
            <a:off x="157734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0" name="Rectangle 279"/>
          <p:cNvSpPr/>
          <p:nvPr/>
        </p:nvSpPr>
        <p:spPr>
          <a:xfrm>
            <a:off x="158877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1" name="Rectangle 280"/>
          <p:cNvSpPr/>
          <p:nvPr/>
        </p:nvSpPr>
        <p:spPr>
          <a:xfrm>
            <a:off x="160020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2" name="Rectangle 281"/>
          <p:cNvSpPr/>
          <p:nvPr/>
        </p:nvSpPr>
        <p:spPr>
          <a:xfrm>
            <a:off x="161163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3" name="Rectangle 282"/>
          <p:cNvSpPr/>
          <p:nvPr/>
        </p:nvSpPr>
        <p:spPr>
          <a:xfrm>
            <a:off x="162306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4" name="Rectangle 283"/>
          <p:cNvSpPr/>
          <p:nvPr/>
        </p:nvSpPr>
        <p:spPr>
          <a:xfrm>
            <a:off x="163449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5" name="Rectangle 284"/>
          <p:cNvSpPr/>
          <p:nvPr/>
        </p:nvSpPr>
        <p:spPr>
          <a:xfrm>
            <a:off x="164592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6" name="Rectangle 285"/>
          <p:cNvSpPr/>
          <p:nvPr/>
        </p:nvSpPr>
        <p:spPr>
          <a:xfrm>
            <a:off x="165735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7" name="Rectangle 286"/>
          <p:cNvSpPr/>
          <p:nvPr/>
        </p:nvSpPr>
        <p:spPr>
          <a:xfrm>
            <a:off x="166878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8" name="Rectangle 287"/>
          <p:cNvSpPr/>
          <p:nvPr/>
        </p:nvSpPr>
        <p:spPr>
          <a:xfrm>
            <a:off x="168021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9" name="Rectangle 288"/>
          <p:cNvSpPr/>
          <p:nvPr/>
        </p:nvSpPr>
        <p:spPr>
          <a:xfrm>
            <a:off x="169164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0" name="Rectangle 289"/>
          <p:cNvSpPr/>
          <p:nvPr/>
        </p:nvSpPr>
        <p:spPr>
          <a:xfrm>
            <a:off x="170307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1" name="TextBox 290"/>
          <p:cNvSpPr txBox="1"/>
          <p:nvPr/>
        </p:nvSpPr>
        <p:spPr>
          <a:xfrm>
            <a:off x="16097250" y="4582170"/>
            <a:ext cx="114300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sz="1400" b="1" i="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Alert = 0.25</a:t>
            </a:r>
            <a:endParaRPr sz="1400" b="1" i="0" dirty="0">
              <a:solidFill>
                <a:srgbClr val="F43F5E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92" name="Rectangle 291"/>
          <p:cNvSpPr/>
          <p:nvPr/>
        </p:nvSpPr>
        <p:spPr>
          <a:xfrm>
            <a:off x="1485900" y="7334250"/>
            <a:ext cx="1238250" cy="4762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3" name="TextBox 292"/>
          <p:cNvSpPr txBox="1"/>
          <p:nvPr/>
        </p:nvSpPr>
        <p:spPr>
          <a:xfrm>
            <a:off x="1295400" y="7045268"/>
            <a:ext cx="161925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0.04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1295400" y="7937209"/>
            <a:ext cx="161925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Risk</a:t>
            </a:r>
          </a:p>
        </p:txBody>
      </p:sp>
      <p:sp>
        <p:nvSpPr>
          <p:cNvPr id="295" name="Rectangle 294"/>
          <p:cNvSpPr/>
          <p:nvPr/>
        </p:nvSpPr>
        <p:spPr>
          <a:xfrm>
            <a:off x="1800225" y="8172450"/>
            <a:ext cx="609600" cy="2095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6" name="TextBox 295"/>
          <p:cNvSpPr txBox="1"/>
          <p:nvPr/>
        </p:nvSpPr>
        <p:spPr>
          <a:xfrm>
            <a:off x="1800225" y="8193259"/>
            <a:ext cx="609600" cy="1679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OK</a:t>
            </a:r>
          </a:p>
        </p:txBody>
      </p:sp>
      <p:sp>
        <p:nvSpPr>
          <p:cNvPr id="297" name="Rectangle 296"/>
          <p:cNvSpPr/>
          <p:nvPr/>
        </p:nvSpPr>
        <p:spPr>
          <a:xfrm>
            <a:off x="3200400" y="7210425"/>
            <a:ext cx="1238250" cy="600075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8" name="TextBox 297"/>
          <p:cNvSpPr txBox="1"/>
          <p:nvPr/>
        </p:nvSpPr>
        <p:spPr>
          <a:xfrm>
            <a:off x="3009900" y="6921443"/>
            <a:ext cx="161925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1E40A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0.05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3009900" y="7937209"/>
            <a:ext cx="161925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Trend</a:t>
            </a:r>
          </a:p>
        </p:txBody>
      </p:sp>
      <p:sp>
        <p:nvSpPr>
          <p:cNvPr id="300" name="Rectangle 299"/>
          <p:cNvSpPr/>
          <p:nvPr/>
        </p:nvSpPr>
        <p:spPr>
          <a:xfrm>
            <a:off x="3514725" y="8172450"/>
            <a:ext cx="609600" cy="2095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1" name="TextBox 300"/>
          <p:cNvSpPr txBox="1"/>
          <p:nvPr/>
        </p:nvSpPr>
        <p:spPr>
          <a:xfrm>
            <a:off x="3514725" y="8193259"/>
            <a:ext cx="609600" cy="1679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OK</a:t>
            </a:r>
          </a:p>
        </p:txBody>
      </p:sp>
      <p:sp>
        <p:nvSpPr>
          <p:cNvPr id="302" name="Rectangle 301"/>
          <p:cNvSpPr/>
          <p:nvPr/>
        </p:nvSpPr>
        <p:spPr>
          <a:xfrm>
            <a:off x="4914900" y="7086600"/>
            <a:ext cx="1238250" cy="7239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3" name="TextBox 302"/>
          <p:cNvSpPr txBox="1"/>
          <p:nvPr/>
        </p:nvSpPr>
        <p:spPr>
          <a:xfrm>
            <a:off x="4724400" y="6797618"/>
            <a:ext cx="161925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0.06</a:t>
            </a:r>
          </a:p>
        </p:txBody>
      </p:sp>
      <p:sp>
        <p:nvSpPr>
          <p:cNvPr id="304" name="TextBox 303"/>
          <p:cNvSpPr txBox="1"/>
          <p:nvPr/>
        </p:nvSpPr>
        <p:spPr>
          <a:xfrm>
            <a:off x="4724400" y="7937209"/>
            <a:ext cx="161925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Momentum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5229225" y="8172450"/>
            <a:ext cx="609600" cy="2095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6" name="TextBox 305"/>
          <p:cNvSpPr txBox="1"/>
          <p:nvPr/>
        </p:nvSpPr>
        <p:spPr>
          <a:xfrm>
            <a:off x="5229225" y="8193259"/>
            <a:ext cx="609600" cy="1679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OK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6629400" y="6972300"/>
            <a:ext cx="1238250" cy="8382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8" name="TextBox 307"/>
          <p:cNvSpPr txBox="1"/>
          <p:nvPr/>
        </p:nvSpPr>
        <p:spPr>
          <a:xfrm>
            <a:off x="6438900" y="6683318"/>
            <a:ext cx="161925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0891B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0.07</a:t>
            </a:r>
          </a:p>
        </p:txBody>
      </p:sp>
      <p:sp>
        <p:nvSpPr>
          <p:cNvPr id="309" name="TextBox 308"/>
          <p:cNvSpPr txBox="1"/>
          <p:nvPr/>
        </p:nvSpPr>
        <p:spPr>
          <a:xfrm>
            <a:off x="6438900" y="7937209"/>
            <a:ext cx="161925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Valuation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6943725" y="8172450"/>
            <a:ext cx="609600" cy="2095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11" name="TextBox 310"/>
          <p:cNvSpPr txBox="1"/>
          <p:nvPr/>
        </p:nvSpPr>
        <p:spPr>
          <a:xfrm>
            <a:off x="6943725" y="8193259"/>
            <a:ext cx="609600" cy="1679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OK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8343900" y="7334250"/>
            <a:ext cx="1238250" cy="4762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13" name="TextBox 312"/>
          <p:cNvSpPr txBox="1"/>
          <p:nvPr/>
        </p:nvSpPr>
        <p:spPr>
          <a:xfrm>
            <a:off x="8153400" y="7045268"/>
            <a:ext cx="161925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0.04</a:t>
            </a:r>
          </a:p>
        </p:txBody>
      </p:sp>
      <p:sp>
        <p:nvSpPr>
          <p:cNvPr id="314" name="TextBox 313"/>
          <p:cNvSpPr txBox="1"/>
          <p:nvPr/>
        </p:nvSpPr>
        <p:spPr>
          <a:xfrm>
            <a:off x="8153400" y="7937209"/>
            <a:ext cx="161925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100" b="1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Fundamental</a:t>
            </a:r>
            <a:endParaRPr sz="1100" b="1" i="0" dirty="0">
              <a:solidFill>
                <a:srgbClr val="0F172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315" name="Rectangle 314"/>
          <p:cNvSpPr/>
          <p:nvPr/>
        </p:nvSpPr>
        <p:spPr>
          <a:xfrm>
            <a:off x="8658225" y="8172450"/>
            <a:ext cx="609600" cy="2095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16" name="TextBox 315"/>
          <p:cNvSpPr txBox="1"/>
          <p:nvPr/>
        </p:nvSpPr>
        <p:spPr>
          <a:xfrm>
            <a:off x="8658225" y="8193259"/>
            <a:ext cx="609600" cy="1679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OK</a:t>
            </a:r>
          </a:p>
        </p:txBody>
      </p:sp>
      <p:sp>
        <p:nvSpPr>
          <p:cNvPr id="317" name="Rectangle 316"/>
          <p:cNvSpPr/>
          <p:nvPr/>
        </p:nvSpPr>
        <p:spPr>
          <a:xfrm>
            <a:off x="10058400" y="6848475"/>
            <a:ext cx="1238250" cy="9620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18" name="TextBox 317"/>
          <p:cNvSpPr txBox="1"/>
          <p:nvPr/>
        </p:nvSpPr>
        <p:spPr>
          <a:xfrm>
            <a:off x="9867900" y="6559493"/>
            <a:ext cx="161925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59E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0.08</a:t>
            </a:r>
          </a:p>
        </p:txBody>
      </p:sp>
      <p:sp>
        <p:nvSpPr>
          <p:cNvPr id="319" name="TextBox 318"/>
          <p:cNvSpPr txBox="1"/>
          <p:nvPr/>
        </p:nvSpPr>
        <p:spPr>
          <a:xfrm>
            <a:off x="9867900" y="7937209"/>
            <a:ext cx="161925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Industry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10372725" y="8172450"/>
            <a:ext cx="609600" cy="2095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21" name="TextBox 320"/>
          <p:cNvSpPr txBox="1"/>
          <p:nvPr/>
        </p:nvSpPr>
        <p:spPr>
          <a:xfrm>
            <a:off x="10372725" y="8193259"/>
            <a:ext cx="609600" cy="1679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OK</a:t>
            </a:r>
          </a:p>
        </p:txBody>
      </p:sp>
      <p:sp>
        <p:nvSpPr>
          <p:cNvPr id="322" name="Rectangle 321"/>
          <p:cNvSpPr/>
          <p:nvPr/>
        </p:nvSpPr>
        <p:spPr>
          <a:xfrm>
            <a:off x="11772900" y="6724650"/>
            <a:ext cx="1238250" cy="108585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23" name="TextBox 322"/>
          <p:cNvSpPr txBox="1"/>
          <p:nvPr/>
        </p:nvSpPr>
        <p:spPr>
          <a:xfrm>
            <a:off x="11582400" y="6435668"/>
            <a:ext cx="161925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EA580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0.09</a:t>
            </a:r>
          </a:p>
        </p:txBody>
      </p:sp>
      <p:sp>
        <p:nvSpPr>
          <p:cNvPr id="324" name="TextBox 323"/>
          <p:cNvSpPr txBox="1"/>
          <p:nvPr/>
        </p:nvSpPr>
        <p:spPr>
          <a:xfrm>
            <a:off x="11582400" y="7937209"/>
            <a:ext cx="161925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Chip</a:t>
            </a:r>
          </a:p>
        </p:txBody>
      </p:sp>
      <p:sp>
        <p:nvSpPr>
          <p:cNvPr id="325" name="Rectangle 324"/>
          <p:cNvSpPr/>
          <p:nvPr/>
        </p:nvSpPr>
        <p:spPr>
          <a:xfrm>
            <a:off x="12087225" y="8172450"/>
            <a:ext cx="609600" cy="2095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26" name="TextBox 325"/>
          <p:cNvSpPr txBox="1"/>
          <p:nvPr/>
        </p:nvSpPr>
        <p:spPr>
          <a:xfrm>
            <a:off x="12087225" y="8193259"/>
            <a:ext cx="609600" cy="1679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OK</a:t>
            </a:r>
          </a:p>
        </p:txBody>
      </p:sp>
      <p:sp>
        <p:nvSpPr>
          <p:cNvPr id="327" name="Rectangle 326"/>
          <p:cNvSpPr/>
          <p:nvPr/>
        </p:nvSpPr>
        <p:spPr>
          <a:xfrm>
            <a:off x="13487400" y="6248400"/>
            <a:ext cx="1238250" cy="1562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28" name="TextBox 327"/>
          <p:cNvSpPr txBox="1"/>
          <p:nvPr/>
        </p:nvSpPr>
        <p:spPr>
          <a:xfrm>
            <a:off x="13296900" y="5959418"/>
            <a:ext cx="161925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0.13</a:t>
            </a:r>
          </a:p>
        </p:txBody>
      </p:sp>
      <p:sp>
        <p:nvSpPr>
          <p:cNvPr id="329" name="TextBox 328"/>
          <p:cNvSpPr txBox="1"/>
          <p:nvPr/>
        </p:nvSpPr>
        <p:spPr>
          <a:xfrm>
            <a:off x="13296900" y="7937209"/>
            <a:ext cx="161925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Sentiment</a:t>
            </a:r>
          </a:p>
        </p:txBody>
      </p:sp>
      <p:sp>
        <p:nvSpPr>
          <p:cNvPr id="330" name="Rectangle 329"/>
          <p:cNvSpPr/>
          <p:nvPr/>
        </p:nvSpPr>
        <p:spPr>
          <a:xfrm>
            <a:off x="13801725" y="8172450"/>
            <a:ext cx="609600" cy="2095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31" name="TextBox 330"/>
          <p:cNvSpPr txBox="1"/>
          <p:nvPr/>
        </p:nvSpPr>
        <p:spPr>
          <a:xfrm>
            <a:off x="13801725" y="8193259"/>
            <a:ext cx="609600" cy="1679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WARN</a:t>
            </a:r>
          </a:p>
        </p:txBody>
      </p:sp>
      <p:sp>
        <p:nvSpPr>
          <p:cNvPr id="332" name="Rectangle 331"/>
          <p:cNvSpPr/>
          <p:nvPr/>
        </p:nvSpPr>
        <p:spPr>
          <a:xfrm>
            <a:off x="15201900" y="7086600"/>
            <a:ext cx="1238250" cy="7239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33" name="TextBox 332"/>
          <p:cNvSpPr txBox="1"/>
          <p:nvPr/>
        </p:nvSpPr>
        <p:spPr>
          <a:xfrm>
            <a:off x="15011400" y="6797618"/>
            <a:ext cx="161925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EC489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0.06</a:t>
            </a:r>
          </a:p>
        </p:txBody>
      </p:sp>
      <p:sp>
        <p:nvSpPr>
          <p:cNvPr id="334" name="TextBox 333"/>
          <p:cNvSpPr txBox="1"/>
          <p:nvPr/>
        </p:nvSpPr>
        <p:spPr>
          <a:xfrm>
            <a:off x="15011400" y="7937209"/>
            <a:ext cx="161925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Event</a:t>
            </a:r>
          </a:p>
        </p:txBody>
      </p:sp>
      <p:sp>
        <p:nvSpPr>
          <p:cNvPr id="335" name="Rectangle 334"/>
          <p:cNvSpPr/>
          <p:nvPr/>
        </p:nvSpPr>
        <p:spPr>
          <a:xfrm>
            <a:off x="15516225" y="8172450"/>
            <a:ext cx="609600" cy="2095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36" name="TextBox 335"/>
          <p:cNvSpPr txBox="1"/>
          <p:nvPr/>
        </p:nvSpPr>
        <p:spPr>
          <a:xfrm>
            <a:off x="15516225" y="8193259"/>
            <a:ext cx="609600" cy="1679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OK</a:t>
            </a:r>
          </a:p>
        </p:txBody>
      </p:sp>
      <p:sp>
        <p:nvSpPr>
          <p:cNvPr id="337" name="Rectangle 336"/>
          <p:cNvSpPr/>
          <p:nvPr/>
        </p:nvSpPr>
        <p:spPr>
          <a:xfrm>
            <a:off x="914400" y="8610600"/>
            <a:ext cx="16459200" cy="1127960"/>
          </a:xfrm>
          <a:prstGeom prst="rect">
            <a:avLst/>
          </a:prstGeom>
          <a:solidFill>
            <a:srgbClr val="FE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38" name="Rectangle 337"/>
          <p:cNvSpPr/>
          <p:nvPr/>
        </p:nvSpPr>
        <p:spPr>
          <a:xfrm>
            <a:off x="914400" y="8610600"/>
            <a:ext cx="57150" cy="112796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39" name="TextBox 338"/>
          <p:cNvSpPr txBox="1"/>
          <p:nvPr/>
        </p:nvSpPr>
        <p:spPr>
          <a:xfrm>
            <a:off x="1162050" y="8782050"/>
            <a:ext cx="5715000" cy="268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600" b="1" i="0" spc="26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Early Warning </a:t>
            </a:r>
            <a:r>
              <a:rPr lang="zh-TW" altLang="en-US" sz="1600" b="1" i="0" spc="26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─</a:t>
            </a:r>
            <a:r>
              <a:rPr lang="en-US" sz="1600" b="1" i="0" spc="26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zh-TW" altLang="en-US" sz="1600" b="1" i="0" spc="26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早期警示</a:t>
            </a:r>
            <a:endParaRPr sz="1600" b="1" i="0" spc="260" dirty="0">
              <a:solidFill>
                <a:srgbClr val="F43F5E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340" name="TextBox 339"/>
          <p:cNvSpPr txBox="1"/>
          <p:nvPr/>
        </p:nvSpPr>
        <p:spPr>
          <a:xfrm>
            <a:off x="1162050" y="9067800"/>
            <a:ext cx="15887700" cy="6067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Sentiment PSI = 0.13，</a:t>
            </a: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已高於 </a:t>
            </a:r>
            <a:r>
              <a:rPr lang="en-US" altLang="zh-TW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0.10 </a:t>
            </a:r>
            <a:r>
              <a:rPr 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warning line，</a:t>
            </a: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但仍低於 </a:t>
            </a:r>
            <a:r>
              <a:rPr lang="en-US" altLang="zh-TW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0.25 </a:t>
            </a:r>
            <a:r>
              <a:rPr 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alert line。</a:t>
            </a:r>
          </a:p>
          <a:p>
            <a:pPr algn="l">
              <a:lnSpc>
                <a:spcPct val="150000"/>
              </a:lnSpc>
            </a:pP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建議每月檢查詞表與語意漂移，避免文本訊號衰減；其餘支柱目前維持穩定。</a:t>
            </a:r>
            <a:endParaRPr sz="1400" b="0" i="0" dirty="0">
              <a:solidFill>
                <a:srgbClr val="0F172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429259"/>
            <a:ext cx="342900" cy="1511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404060"/>
            <a:ext cx="3619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多因子股票預測系統 · 附錄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404060"/>
            <a:ext cx="6667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Limitations &amp; Future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746959"/>
            <a:ext cx="12382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Source · Self-assessment per BCG due diligence template · open issues tracked at issues/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59000" y="9753600"/>
            <a:ext cx="19050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4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APPENDIX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40200" y="9801225"/>
            <a:ext cx="7620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954500" y="9738560"/>
            <a:ext cx="571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A.26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104900"/>
            <a:ext cx="666750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TW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A.26 </a:t>
            </a:r>
            <a:r>
              <a:rPr lang="zh-TW" altLang="en-US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→</a:t>
            </a:r>
            <a:r>
              <a:rPr lang="en-US" altLang="zh-TW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zh-TW" altLang="en-US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限制與未來工作</a:t>
            </a:r>
            <a:endParaRPr sz="1400" b="1" i="0" spc="24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1371600"/>
            <a:ext cx="16668750" cy="1157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lang="zh-TW" altLang="en-US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模型限制清楚揭露，才能使部署建議具備可信度</a:t>
            </a:r>
            <a:endParaRPr lang="en-US" altLang="zh-TW" sz="4000" b="1" spc="-8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  <a:p>
            <a:pPr>
              <a:lnSpc>
                <a:spcPct val="118000"/>
              </a:lnSpc>
            </a:pPr>
            <a:r>
              <a:rPr lang="en-US" altLang="zh-TW" sz="2600" b="1" spc="-8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Intraday</a:t>
            </a:r>
            <a:r>
              <a:rPr lang="zh-TW" altLang="en-US" sz="2600" b="1" spc="-8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、極端市場事件與跨市場外推仍需補強。</a:t>
            </a:r>
            <a:endParaRPr lang="en-US" altLang="zh-TW" sz="2600" b="1" spc="-80" dirty="0"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14400" y="2552700"/>
            <a:ext cx="7620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14400" y="2819400"/>
            <a:ext cx="76200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100" b="1" i="0" spc="24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Limitations </a:t>
            </a:r>
            <a:r>
              <a:rPr lang="zh-TW" altLang="en-US" sz="1100" b="1" spc="24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─</a:t>
            </a:r>
            <a:r>
              <a:rPr lang="en-US" sz="1100" b="1" i="0" spc="24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zh-TW" altLang="en-US" sz="1100" b="1" i="0" spc="24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五大限制</a:t>
            </a:r>
            <a:endParaRPr sz="1100" b="1" i="0" spc="240" dirty="0">
              <a:solidFill>
                <a:srgbClr val="F43F5E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14400" y="3162300"/>
            <a:ext cx="809625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914400" y="3162300"/>
            <a:ext cx="809625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04900" y="3333750"/>
            <a:ext cx="5715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5450" y="3333750"/>
            <a:ext cx="628650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TW" altLang="en-US" sz="18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日頻限制</a:t>
            </a:r>
            <a:endParaRPr sz="1800" b="1" i="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695450" y="3657600"/>
            <a:ext cx="6286500" cy="255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lang="zh-TW" altLang="en-US" sz="13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未納入 </a:t>
            </a:r>
            <a:r>
              <a:rPr lang="en-US" sz="13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intraday </a:t>
            </a:r>
            <a:r>
              <a:rPr lang="zh-TW" altLang="en-US" sz="13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微結構訊號，例如 </a:t>
            </a:r>
            <a:r>
              <a:rPr lang="en-US" sz="1300" b="0" i="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tick、order</a:t>
            </a:r>
            <a:r>
              <a:rPr lang="en-US" sz="13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book </a:t>
            </a:r>
            <a:r>
              <a:rPr lang="zh-TW" altLang="en-US" sz="13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與 </a:t>
            </a:r>
            <a:r>
              <a:rPr lang="en-US" sz="13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order flow。</a:t>
            </a:r>
            <a:endParaRPr sz="13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914400" y="4267200"/>
            <a:ext cx="809625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914400" y="4267200"/>
            <a:ext cx="809625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04900" y="4438650"/>
            <a:ext cx="5715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5450" y="4438650"/>
            <a:ext cx="628650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TW" altLang="en-US" sz="18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台股市場限制</a:t>
            </a:r>
            <a:endParaRPr sz="1800" b="1" i="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695450" y="4762500"/>
            <a:ext cx="6286500" cy="255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lang="zh-TW" altLang="en-US" sz="13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目前僅驗證台股樣本，尚未處理 </a:t>
            </a:r>
            <a:r>
              <a:rPr lang="en-US" altLang="zh-TW" sz="13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HK</a:t>
            </a:r>
            <a:r>
              <a:rPr lang="zh-TW" altLang="en-US" sz="13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、</a:t>
            </a:r>
            <a:r>
              <a:rPr lang="en-US" altLang="zh-TW" sz="13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SG</a:t>
            </a:r>
            <a:r>
              <a:rPr lang="zh-TW" altLang="en-US" sz="13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、</a:t>
            </a:r>
            <a:r>
              <a:rPr lang="en-US" altLang="zh-TW" sz="13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US ADR </a:t>
            </a:r>
            <a:r>
              <a:rPr lang="zh-TW" altLang="en-US" sz="13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等跨市場外推。</a:t>
            </a:r>
            <a:endParaRPr sz="13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914400" y="5372100"/>
            <a:ext cx="809625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914400" y="5372100"/>
            <a:ext cx="809625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104900" y="5543550"/>
            <a:ext cx="5715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95450" y="5543550"/>
            <a:ext cx="628650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TW" altLang="en-US" sz="18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極端市場事件不足</a:t>
            </a:r>
            <a:endParaRPr sz="1800" b="1" i="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695450" y="5867400"/>
            <a:ext cx="6286500" cy="255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lang="zh-TW" altLang="en-US" sz="13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戰爭、疫情與流動性危機等極端事件樣本仍不足。</a:t>
            </a:r>
            <a:endParaRPr sz="13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914400" y="6477000"/>
            <a:ext cx="809625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914400" y="6477000"/>
            <a:ext cx="809625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104900" y="6648450"/>
            <a:ext cx="5715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95450" y="6648450"/>
            <a:ext cx="628650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文本來源偏誤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95450" y="6972300"/>
            <a:ext cx="6286500" cy="255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lang="zh-TW" altLang="en-US" sz="13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文本集中於熱門股，中小型股 </a:t>
            </a:r>
            <a:r>
              <a:rPr lang="en-US" sz="13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coverage </a:t>
            </a:r>
            <a:r>
              <a:rPr lang="zh-TW" altLang="en-US" sz="13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較低，需折扣解讀。</a:t>
            </a:r>
            <a:endParaRPr sz="13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914400" y="7581900"/>
            <a:ext cx="809625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914400" y="7581900"/>
            <a:ext cx="809625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104900" y="7753350"/>
            <a:ext cx="5715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95450" y="7753350"/>
            <a:ext cx="628650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TW" altLang="en-US" sz="18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靜態詞表衰退</a:t>
            </a:r>
            <a:endParaRPr sz="1800" b="1" i="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695450" y="8077200"/>
            <a:ext cx="6286500" cy="255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lang="en-US" altLang="zh-TW" sz="13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500 </a:t>
            </a:r>
            <a:r>
              <a:rPr lang="zh-TW" altLang="en-US" sz="13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詞表需定期校驗；語言漂移可能導致 </a:t>
            </a:r>
            <a:r>
              <a:rPr lang="en-US" sz="13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PSI </a:t>
            </a:r>
            <a:r>
              <a:rPr lang="zh-TW" altLang="en-US" sz="13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超過 </a:t>
            </a:r>
            <a:r>
              <a:rPr lang="en-US" altLang="zh-TW" sz="13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0.1 </a:t>
            </a:r>
            <a:r>
              <a:rPr lang="en-US" sz="13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warning line。</a:t>
            </a:r>
            <a:endParaRPr sz="13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277350" y="2819400"/>
            <a:ext cx="76200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100" b="1" i="0" spc="240" dirty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Future Work </a:t>
            </a:r>
            <a:r>
              <a:rPr lang="zh-TW" altLang="en-US" sz="1100" b="1" i="0" spc="240" dirty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─</a:t>
            </a:r>
            <a:r>
              <a:rPr lang="en-US" sz="1100" b="1" i="0" spc="240" dirty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zh-TW" altLang="en-US" sz="1100" b="1" i="0" spc="240" dirty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五大未來方向</a:t>
            </a:r>
            <a:endParaRPr sz="1100" b="1" i="0" spc="240" dirty="0">
              <a:solidFill>
                <a:srgbClr val="10B98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9277350" y="3162300"/>
            <a:ext cx="809625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9277350" y="3162300"/>
            <a:ext cx="809625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9467850" y="3333750"/>
            <a:ext cx="5715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0" y="3333750"/>
            <a:ext cx="628650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TW" altLang="en-US" sz="18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加入 </a:t>
            </a:r>
            <a:r>
              <a:rPr lang="en-US" sz="18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Intraday </a:t>
            </a:r>
            <a:r>
              <a:rPr lang="zh-TW" altLang="en-US" sz="18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訊號</a:t>
            </a:r>
            <a:endParaRPr sz="1800" b="1" i="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0058400" y="3657600"/>
            <a:ext cx="6286500" cy="255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lang="zh-TW" altLang="en-US" sz="13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納入 </a:t>
            </a:r>
            <a:r>
              <a:rPr lang="en-US" sz="13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tick、1-min K </a:t>
            </a:r>
            <a:r>
              <a:rPr lang="zh-TW" altLang="en-US" sz="13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與 </a:t>
            </a:r>
            <a:r>
              <a:rPr lang="en-US" sz="13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order flow imbalance，</a:t>
            </a:r>
            <a:r>
              <a:rPr lang="zh-TW" altLang="en-US" sz="13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補強短線市場微結構。</a:t>
            </a:r>
            <a:endParaRPr sz="13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9277350" y="4267200"/>
            <a:ext cx="809625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9277350" y="4267200"/>
            <a:ext cx="809625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9467850" y="4438650"/>
            <a:ext cx="5715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58400" y="4438650"/>
            <a:ext cx="628650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TW" altLang="en-US" sz="18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擴展跨市場 </a:t>
            </a:r>
            <a:r>
              <a:rPr lang="en-US" sz="18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portfolio</a:t>
            </a:r>
            <a:endParaRPr sz="1800" b="1" i="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0058400" y="4762500"/>
            <a:ext cx="6286500" cy="255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lang="zh-TW" altLang="en-US" sz="13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將 </a:t>
            </a:r>
            <a:r>
              <a:rPr lang="en-US" altLang="zh-TW" sz="13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TW</a:t>
            </a:r>
            <a:r>
              <a:rPr lang="zh-TW" altLang="en-US" sz="13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、</a:t>
            </a:r>
            <a:r>
              <a:rPr lang="en-US" altLang="zh-TW" sz="13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HK</a:t>
            </a:r>
            <a:r>
              <a:rPr lang="zh-TW" altLang="en-US" sz="13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、</a:t>
            </a:r>
            <a:r>
              <a:rPr lang="en-US" altLang="zh-TW" sz="13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ADR </a:t>
            </a:r>
            <a:r>
              <a:rPr lang="zh-TW" altLang="en-US" sz="13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納入統一 </a:t>
            </a:r>
            <a:r>
              <a:rPr lang="en-US" altLang="zh-TW" sz="13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9-pillar </a:t>
            </a:r>
            <a:r>
              <a:rPr lang="zh-TW" altLang="en-US" sz="13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框架，檢驗模型外推性。</a:t>
            </a:r>
            <a:endParaRPr sz="13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9277350" y="5372100"/>
            <a:ext cx="809625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9277350" y="5372100"/>
            <a:ext cx="809625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9467850" y="5543550"/>
            <a:ext cx="5715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058400" y="5543550"/>
            <a:ext cx="628650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TW" altLang="en-US" sz="18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建立線上學習機制</a:t>
            </a:r>
            <a:endParaRPr sz="1800" b="1" i="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0058400" y="5867400"/>
            <a:ext cx="6286500" cy="255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lang="zh-TW" altLang="en-US" sz="13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導入 </a:t>
            </a:r>
            <a:r>
              <a:rPr lang="en-US" sz="13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EWMA </a:t>
            </a:r>
            <a:r>
              <a:rPr lang="zh-TW" altLang="en-US" sz="13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與 </a:t>
            </a:r>
            <a:r>
              <a:rPr lang="en-US" sz="13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concept drift detection，</a:t>
            </a:r>
            <a:r>
              <a:rPr lang="zh-TW" altLang="en-US" sz="13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支援月度更新。</a:t>
            </a:r>
            <a:endParaRPr sz="13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9277350" y="6477000"/>
            <a:ext cx="809625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9277350" y="6477000"/>
            <a:ext cx="809625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9467850" y="6648450"/>
            <a:ext cx="5715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58400" y="6648450"/>
            <a:ext cx="628650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TW" altLang="en-US" sz="18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以 </a:t>
            </a:r>
            <a:r>
              <a:rPr lang="en-US" altLang="zh-TW" sz="18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LLM </a:t>
            </a:r>
            <a:r>
              <a:rPr lang="zh-TW" altLang="en-US" sz="18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強化文本情緒</a:t>
            </a:r>
            <a:endParaRPr sz="1800" b="1" i="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10058400" y="6972300"/>
            <a:ext cx="6286500" cy="255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lang="zh-TW" altLang="en-US" sz="13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以 </a:t>
            </a:r>
            <a:r>
              <a:rPr lang="en-US" altLang="zh-TW" sz="13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embedding </a:t>
            </a:r>
            <a:r>
              <a:rPr lang="zh-TW" altLang="en-US" sz="13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補強靜態詞表限制，提升中小型股文本訊號品質。</a:t>
            </a:r>
            <a:endParaRPr sz="13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9277350" y="7581900"/>
            <a:ext cx="809625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9277350" y="7581900"/>
            <a:ext cx="809625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9467850" y="7753350"/>
            <a:ext cx="5715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058400" y="7753350"/>
            <a:ext cx="628650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TW" altLang="en-US" sz="18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補強因果機制建模</a:t>
            </a:r>
            <a:endParaRPr sz="1800" b="1" i="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10058400" y="8077200"/>
            <a:ext cx="6286500" cy="255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lang="zh-TW" altLang="en-US" sz="13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以 </a:t>
            </a:r>
            <a:r>
              <a:rPr lang="en-US" altLang="zh-TW" sz="13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IV</a:t>
            </a:r>
            <a:r>
              <a:rPr lang="zh-TW" altLang="en-US" sz="13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、事件研究與因果推論方法，區分相關訊號與因果機制。</a:t>
            </a:r>
            <a:endParaRPr sz="13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914400" y="8763000"/>
            <a:ext cx="16459200" cy="514350"/>
          </a:xfrm>
          <a:prstGeom prst="rect">
            <a:avLst/>
          </a:prstGeom>
          <a:solidFill>
            <a:srgbClr val="FE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914400" y="8763000"/>
            <a:ext cx="57150" cy="5143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1162050" y="8896350"/>
            <a:ext cx="15887700" cy="2835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系統設計需明確承認模型邊界，可信部署不是宣稱模型萬能，而是知道何時應使用、何時應降載、何時需要重新訓練。</a:t>
            </a:r>
            <a:endParaRPr sz="1400" b="1" i="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429259"/>
            <a:ext cx="342900" cy="1511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404060"/>
            <a:ext cx="3619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多因子股票預測系統 · 附錄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404060"/>
            <a:ext cx="6667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Bibliography · 15 References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746959"/>
            <a:ext cx="12382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fr-FR" sz="1100" b="0" i="0" spc="5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Source · 自行整理；references documented in code comments</a:t>
            </a:r>
            <a:endParaRPr sz="1100" b="0" i="0" spc="5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859000" y="9753600"/>
            <a:ext cx="19050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4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APPENDIX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40200" y="9801225"/>
            <a:ext cx="7620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954500" y="9738560"/>
            <a:ext cx="571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A.27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104900"/>
            <a:ext cx="6667500" cy="2358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A.27 </a:t>
            </a:r>
            <a:r>
              <a:rPr lang="zh-TW" altLang="en-US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→</a:t>
            </a:r>
            <a:r>
              <a:rPr lang="en-US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zh-TW" altLang="en-US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文獻基礎</a:t>
            </a:r>
            <a:endParaRPr sz="1400" b="1" i="0" spc="24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1371600"/>
            <a:ext cx="16668750" cy="1157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lang="zh-TW" altLang="en-US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文獻基礎支撐本研究在因子模型、行為財務與量化治理上的選擇</a:t>
            </a:r>
            <a:endParaRPr lang="en-US" altLang="zh-TW" sz="4000" b="1" spc="-8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  <a:p>
            <a:pPr>
              <a:lnSpc>
                <a:spcPct val="118000"/>
              </a:lnSpc>
            </a:pPr>
            <a:r>
              <a:rPr lang="zh-TW" altLang="en-US" sz="2600" b="1" spc="-8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方法不是任意拼裝，而是有理論來源。</a:t>
            </a:r>
            <a:endParaRPr lang="en-US" altLang="zh-TW" sz="2600" b="1" spc="-80" dirty="0"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14400" y="2552700"/>
            <a:ext cx="7620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14400" y="2933700"/>
            <a:ext cx="8096250" cy="29337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14400" y="2933700"/>
            <a:ext cx="809625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43000" y="3143250"/>
            <a:ext cx="763905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100" b="1" i="0" spc="24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Methodology </a:t>
            </a:r>
            <a:r>
              <a:rPr lang="zh-TW" altLang="en-US" sz="1100" b="1" i="0" spc="24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─</a:t>
            </a:r>
            <a:r>
              <a:rPr lang="en-US" sz="1100" b="1" i="0" spc="24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zh-TW" altLang="en-US" sz="1100" b="1" i="0" spc="24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方法論</a:t>
            </a:r>
            <a:endParaRPr sz="1100" b="1" i="0" spc="24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43000" y="3451570"/>
            <a:ext cx="228600" cy="33586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33500" y="3505200"/>
            <a:ext cx="7410450" cy="2292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López de Prado (2018). Advances in Financial Machine Learning. Wiley.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965920"/>
            <a:ext cx="228600" cy="33586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33500" y="4019550"/>
            <a:ext cx="7410450" cy="2292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Bailey &amp; López de Prado (2014). The Deflated Sharpe Ratio. SSRN 2460551.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480270"/>
            <a:ext cx="228600" cy="33586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3500" y="4533900"/>
            <a:ext cx="7410450" cy="4877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lang="en-US" sz="12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Harvey, Liu &amp; Zhu (2016). … and the Cross-Section of Expected Returns. Review of Financial Studies, 29(1).</a:t>
            </a:r>
            <a:endParaRPr sz="12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143000" y="4994620"/>
            <a:ext cx="228600" cy="33586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33500" y="5048250"/>
            <a:ext cx="7410450" cy="4877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lang="en-US" sz="12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López de Prado &amp; Lewis (2019). Detection of False Investment Strategies. Journal of Portfolio Management, 45.</a:t>
            </a:r>
            <a:endParaRPr sz="12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9239250" y="2933700"/>
            <a:ext cx="8096250" cy="29337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9239250" y="2933700"/>
            <a:ext cx="809625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467850" y="3143250"/>
            <a:ext cx="763905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100" b="1" i="0" spc="24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Factor Models </a:t>
            </a:r>
            <a:r>
              <a:rPr lang="zh-TW" altLang="en-US" sz="1100" b="1" i="0" spc="24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─</a:t>
            </a:r>
            <a:r>
              <a:rPr lang="en-US" sz="1100" b="1" i="0" spc="24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zh-TW" altLang="en-US" sz="1100" b="1" i="0" spc="24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因子模型</a:t>
            </a:r>
            <a:endParaRPr sz="1100" b="1" i="0" spc="240" dirty="0">
              <a:solidFill>
                <a:srgbClr val="06B6D4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467850" y="3451570"/>
            <a:ext cx="228600" cy="33586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58350" y="3505200"/>
            <a:ext cx="7410450" cy="4877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lang="en-US" sz="12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Fama &amp; French (1993). Common Risk Factors in the Returns on Stocks and Bonds. Journal of Financial Economics, 33.</a:t>
            </a:r>
            <a:endParaRPr sz="12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467850" y="3965920"/>
            <a:ext cx="228600" cy="33586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58350" y="4019550"/>
            <a:ext cx="7410450" cy="2292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lang="en-US" sz="12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Carhart (1997). On Persistence in Mutual Fund Performance. Journal of Finance, 52.</a:t>
            </a:r>
            <a:endParaRPr sz="12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467850" y="4480270"/>
            <a:ext cx="228600" cy="33586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58350" y="4533900"/>
            <a:ext cx="7410450" cy="2292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lang="en-US" sz="1200" b="0" i="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Asness</a:t>
            </a:r>
            <a:r>
              <a:rPr lang="en-US" sz="12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, Moskowitz &amp; Pedersen (2013). Value and Momentum Everywhere. Journal of Finance, 68.</a:t>
            </a:r>
            <a:endParaRPr sz="12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467850" y="4994620"/>
            <a:ext cx="228600" cy="33586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58350" y="5048250"/>
            <a:ext cx="7410450" cy="4877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lang="en-US" sz="12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Hou, Xue &amp; Zhang (2015). Digesting Anomalies: An Investment Approach. Review of Financial Studies, 28.</a:t>
            </a:r>
            <a:endParaRPr sz="12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914400" y="6096000"/>
            <a:ext cx="8096250" cy="29337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914400" y="6096000"/>
            <a:ext cx="809625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143000" y="6305550"/>
            <a:ext cx="763905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100" b="1" i="0" spc="24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Behavioral Finance </a:t>
            </a:r>
            <a:r>
              <a:rPr lang="zh-TW" altLang="en-US" sz="1100" b="1" i="0" spc="24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─</a:t>
            </a:r>
            <a:r>
              <a:rPr lang="en-US" sz="1100" b="1" i="0" spc="24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zh-TW" altLang="en-US" sz="1100" b="1" i="0" spc="24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行為財務學</a:t>
            </a:r>
            <a:endParaRPr sz="1100" b="1" i="0" spc="240" dirty="0">
              <a:solidFill>
                <a:srgbClr val="F43F5E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143000" y="6613870"/>
            <a:ext cx="228600" cy="33586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·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33500" y="6667500"/>
            <a:ext cx="7410450" cy="2292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lang="en-US" sz="12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De Bondt &amp; Thaler (1985). Does the Stock Market Overreact? Journal of Finance, 40.</a:t>
            </a:r>
            <a:endParaRPr sz="12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143000" y="7128220"/>
            <a:ext cx="228600" cy="33586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·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33500" y="7181850"/>
            <a:ext cx="7410450" cy="2292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lang="en-US" sz="12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Tetlock (2007). Giving Content to Investor Sentiment. Journal of Finance, 62.</a:t>
            </a:r>
            <a:endParaRPr sz="12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143000" y="7642570"/>
            <a:ext cx="228600" cy="33586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·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33500" y="7696200"/>
            <a:ext cx="7410450" cy="2292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lang="en-US" sz="12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Loughran &amp; McDonald (2011). When Is a Liability Not a Liability? Journal of Finance, 66.</a:t>
            </a:r>
            <a:endParaRPr sz="12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9239250" y="6096000"/>
            <a:ext cx="8096250" cy="29337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9239250" y="6096000"/>
            <a:ext cx="8096250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9467850" y="6305550"/>
            <a:ext cx="763905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TW" sz="1100" b="1" i="0" spc="240" dirty="0">
                <a:solidFill>
                  <a:srgbClr val="EA580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ML &amp; Text </a:t>
            </a:r>
            <a:r>
              <a:rPr lang="zh-TW" altLang="en-US" sz="1100" b="1" i="0" spc="240" dirty="0">
                <a:solidFill>
                  <a:srgbClr val="EA580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─</a:t>
            </a:r>
            <a:r>
              <a:rPr lang="en-US" altLang="zh-TW" sz="1100" b="1" i="0" spc="240" dirty="0">
                <a:solidFill>
                  <a:srgbClr val="EA580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zh-TW" altLang="en-US" sz="1100" b="1" i="0" spc="240" dirty="0">
                <a:solidFill>
                  <a:srgbClr val="EA580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機器學習與文本</a:t>
            </a:r>
            <a:endParaRPr sz="1100" b="1" i="0" spc="240" dirty="0">
              <a:solidFill>
                <a:srgbClr val="EA580C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9467850" y="6613870"/>
            <a:ext cx="228600" cy="33586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EA580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·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58350" y="6667500"/>
            <a:ext cx="7410450" cy="2292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Chen &amp; Guestrin (2016). XGBoost: A Scalable Tree Boosting System. KDD.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67850" y="7128220"/>
            <a:ext cx="228600" cy="33586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EA580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·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58350" y="7181850"/>
            <a:ext cx="7410450" cy="2292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Lundberg &amp; Lee (2017). A Unified Approach to Interpreting Model Predictions. NeurIPS.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67850" y="7642570"/>
            <a:ext cx="228600" cy="33586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EA580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·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58350" y="7696200"/>
            <a:ext cx="7410450" cy="2292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Ke et al. (2017). LightGBM: A Highly Efficient Gradient Boosting Decision Tree. NeurIPS.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467850" y="8156920"/>
            <a:ext cx="228600" cy="33586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EA580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·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58350" y="8210550"/>
            <a:ext cx="7410450" cy="4877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lang="en-US" sz="12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Ardia et al. (2021). </a:t>
            </a:r>
            <a:r>
              <a:rPr lang="en-US" sz="1200" b="0" i="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Sentometrics</a:t>
            </a:r>
            <a:r>
              <a:rPr lang="en-US" sz="12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: Computing Time Series of Sentiment. Journal of Statistical Software, 99.</a:t>
            </a:r>
            <a:endParaRPr sz="12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914400" y="9067800"/>
            <a:ext cx="16459200" cy="514350"/>
          </a:xfrm>
          <a:prstGeom prst="rect">
            <a:avLst/>
          </a:prstGeom>
          <a:solidFill>
            <a:srgbClr val="FE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914400" y="9067800"/>
            <a:ext cx="57150" cy="5143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162050" y="9201150"/>
            <a:ext cx="15887700" cy="2835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本研究的方法選擇皆可對應至既有文獻脈絡；本系統可視為因子模型、機器學習與行為財務在台股資料上的工程化實作。</a:t>
            </a:r>
            <a:endParaRPr sz="1400" b="0" i="0" dirty="0">
              <a:solidFill>
                <a:srgbClr val="0F172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429259"/>
            <a:ext cx="342900" cy="1511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404060"/>
            <a:ext cx="3619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多因子股票預測系統 · 附錄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404060"/>
            <a:ext cx="6667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Tools · Python Ecosystem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746959"/>
            <a:ext cx="12382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Source · requirements.txt · pyproject.toml · 5 functional groups × 3 libs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59000" y="9753600"/>
            <a:ext cx="19050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4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APPENDIX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40200" y="9801225"/>
            <a:ext cx="7620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954500" y="9738560"/>
            <a:ext cx="571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A.28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104900"/>
            <a:ext cx="6667500" cy="2358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A.28 </a:t>
            </a:r>
            <a:r>
              <a:rPr lang="zh-TW" altLang="en-US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→</a:t>
            </a:r>
            <a:r>
              <a:rPr lang="en-US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Python </a:t>
            </a:r>
            <a:r>
              <a:rPr lang="zh-TW" altLang="en-US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工具箱</a:t>
            </a:r>
            <a:endParaRPr sz="1400" b="1" i="0" spc="24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1371600"/>
            <a:ext cx="16668750" cy="1157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lang="en-US" altLang="zh-TW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Python </a:t>
            </a:r>
            <a:r>
              <a:rPr lang="zh-TW" altLang="en-US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工具鏈已覆蓋資料工程、模型訓練、</a:t>
            </a:r>
            <a:r>
              <a:rPr lang="en-US" altLang="zh-TW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NLP </a:t>
            </a:r>
            <a:r>
              <a:rPr lang="zh-TW" altLang="en-US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與治理監控需求</a:t>
            </a:r>
            <a:endParaRPr lang="en-US" altLang="zh-TW" sz="4000" b="1" spc="-8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  <a:p>
            <a:pPr>
              <a:lnSpc>
                <a:spcPct val="118000"/>
              </a:lnSpc>
            </a:pPr>
            <a:r>
              <a:rPr lang="zh-TW" altLang="en-US" sz="2600" b="1" spc="-8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技術選型足以支撐端到端原型交付。</a:t>
            </a:r>
            <a:endParaRPr lang="en-US" altLang="zh-TW" sz="2600" b="1" spc="-80" dirty="0"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14400" y="2552700"/>
            <a:ext cx="7620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14400" y="2933700"/>
            <a:ext cx="33337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14400" y="2933700"/>
            <a:ext cx="333375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23950" y="3143250"/>
            <a:ext cx="291465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100" b="1" i="0" spc="24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Data </a:t>
            </a:r>
            <a:r>
              <a:rPr lang="zh-TW" altLang="en-US" sz="1100" b="1" i="0" spc="24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─</a:t>
            </a:r>
            <a:r>
              <a:rPr lang="en-US" sz="1100" b="1" i="0" spc="24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zh-TW" altLang="en-US" sz="1100" b="1" i="0" spc="24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資料層</a:t>
            </a:r>
            <a:endParaRPr sz="1100" b="1" i="0" spc="24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123950" y="3676650"/>
            <a:ext cx="38100" cy="6096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238250" y="3600450"/>
            <a:ext cx="280035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-4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pandas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250" y="3886200"/>
            <a:ext cx="9525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6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v2.2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8250" y="4095750"/>
            <a:ext cx="2800350" cy="2101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panel data 主鍵對齊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23950" y="4552950"/>
            <a:ext cx="38100" cy="6096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238250" y="4476750"/>
            <a:ext cx="280035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-4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numpy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8250" y="4762500"/>
            <a:ext cx="9525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6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v2.0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8250" y="4972050"/>
            <a:ext cx="2800350" cy="2101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TW" altLang="en-US" sz="11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向量運算與統計</a:t>
            </a:r>
            <a:endParaRPr sz="11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123950" y="5429250"/>
            <a:ext cx="38100" cy="6096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238250" y="5353050"/>
            <a:ext cx="280035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-4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duckdb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8250" y="5638800"/>
            <a:ext cx="9525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6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v0.10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8250" y="5848350"/>
            <a:ext cx="2800350" cy="2101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TW" altLang="en-US" sz="11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本地 </a:t>
            </a:r>
            <a:r>
              <a:rPr lang="en-US" sz="11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OLAP；WAL off</a:t>
            </a:r>
            <a:endParaRPr sz="11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4362450" y="2933700"/>
            <a:ext cx="33337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4362450" y="2933700"/>
            <a:ext cx="333375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572000" y="3143250"/>
            <a:ext cx="291465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ML </a:t>
            </a:r>
            <a:r>
              <a:rPr lang="zh-TW" altLang="en-US" sz="1100" b="1" i="0" spc="24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─</a:t>
            </a:r>
            <a:r>
              <a:rPr sz="1100" b="1" i="0" spc="24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sz="1100" b="1" i="0" spc="240" dirty="0" err="1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模型層</a:t>
            </a:r>
            <a:endParaRPr sz="1100" b="1" i="0" spc="240" dirty="0">
              <a:solidFill>
                <a:srgbClr val="06B6D4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4572000" y="3676650"/>
            <a:ext cx="38100" cy="6096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686300" y="3600450"/>
            <a:ext cx="280035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-4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xgboost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86300" y="3886200"/>
            <a:ext cx="9525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6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v1.7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86300" y="4095750"/>
            <a:ext cx="2800350" cy="2101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lang="de-DE" sz="11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Winner </a:t>
            </a:r>
            <a:r>
              <a:rPr lang="zh-TW" altLang="en-US" sz="11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─</a:t>
            </a:r>
            <a:r>
              <a:rPr lang="de-DE" sz="11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D+20 OOS AUC 0.6455</a:t>
            </a:r>
            <a:endParaRPr sz="11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4572000" y="4552950"/>
            <a:ext cx="38100" cy="6096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686300" y="4476750"/>
            <a:ext cx="280035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-4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lightgbm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86300" y="4762500"/>
            <a:ext cx="9525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6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v4.x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86300" y="4972050"/>
            <a:ext cx="2895600" cy="2101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lang="en-US" sz="11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Secondary engine </a:t>
            </a:r>
            <a:r>
              <a:rPr lang="zh-TW" altLang="en-US" sz="11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─</a:t>
            </a:r>
            <a:r>
              <a:rPr lang="en-US" sz="11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D+20 OOS AUC 0.6391</a:t>
            </a:r>
            <a:endParaRPr sz="11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4572000" y="5429250"/>
            <a:ext cx="38100" cy="6096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686300" y="5353050"/>
            <a:ext cx="280035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-4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scikit-learn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86300" y="5638800"/>
            <a:ext cx="9525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6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v1.5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86300" y="5848350"/>
            <a:ext cx="2800350" cy="2101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lang="en-US" sz="11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preprocess </a:t>
            </a:r>
            <a:r>
              <a:rPr lang="zh-TW" altLang="en-US" sz="11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─</a:t>
            </a:r>
            <a:r>
              <a:rPr lang="en-US" sz="11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metrics</a:t>
            </a:r>
            <a:r>
              <a:rPr lang="zh-TW" altLang="en-US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zh-TW" altLang="en-US" sz="11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─</a:t>
            </a:r>
            <a:r>
              <a:rPr lang="en-US" sz="11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split</a:t>
            </a:r>
            <a:endParaRPr sz="11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7810500" y="2933700"/>
            <a:ext cx="33337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7810500" y="2933700"/>
            <a:ext cx="333375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020050" y="3143250"/>
            <a:ext cx="291465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100" b="1" i="0" spc="240" dirty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Tune </a:t>
            </a:r>
            <a:r>
              <a:rPr lang="zh-TW" altLang="en-US" sz="1100" b="1" i="0" spc="240" dirty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─</a:t>
            </a:r>
            <a:r>
              <a:rPr lang="en-US" sz="1100" b="1" i="0" spc="240" dirty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zh-TW" altLang="en-US" sz="1100" b="1" i="0" spc="240" dirty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搜尋層</a:t>
            </a:r>
            <a:endParaRPr sz="1100" b="1" i="0" spc="240" dirty="0">
              <a:solidFill>
                <a:srgbClr val="10B98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8020050" y="3676650"/>
            <a:ext cx="38100" cy="609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8134350" y="3600450"/>
            <a:ext cx="280035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-4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optuna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34350" y="3886200"/>
            <a:ext cx="9525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6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v3.6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34350" y="4095750"/>
            <a:ext cx="2800350" cy="2101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lang="en-US" sz="11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TPE sampler · 50 trials</a:t>
            </a:r>
            <a:endParaRPr sz="11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8020050" y="4552950"/>
            <a:ext cx="38100" cy="609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8134350" y="4476750"/>
            <a:ext cx="280035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-4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shap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34350" y="4762500"/>
            <a:ext cx="9525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6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v0.46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34350" y="4972050"/>
            <a:ext cx="2800350" cy="2101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lang="en-US" sz="1100" b="0" i="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TreeExplainer</a:t>
            </a:r>
            <a:r>
              <a:rPr lang="en-US" sz="11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· top-20 features</a:t>
            </a:r>
            <a:endParaRPr sz="11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8020050" y="5429250"/>
            <a:ext cx="38100" cy="609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8134350" y="5353050"/>
            <a:ext cx="280035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-4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joblib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34350" y="5638800"/>
            <a:ext cx="9525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6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v1.4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34350" y="5848350"/>
            <a:ext cx="2800350" cy="2101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model serialization · 6 horizons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1258550" y="2933700"/>
            <a:ext cx="33337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11258550" y="2933700"/>
            <a:ext cx="333375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1468100" y="3143250"/>
            <a:ext cx="291465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 dirty="0">
                <a:solidFill>
                  <a:srgbClr val="F59E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NLP </a:t>
            </a:r>
            <a:r>
              <a:rPr lang="zh-TW" altLang="en-US" sz="1100" b="1" i="0" spc="240" dirty="0">
                <a:solidFill>
                  <a:srgbClr val="F59E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─</a:t>
            </a:r>
            <a:r>
              <a:rPr sz="1100" b="1" i="0" spc="240" dirty="0">
                <a:solidFill>
                  <a:srgbClr val="F59E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sz="1100" b="1" i="0" spc="240" dirty="0" err="1">
                <a:solidFill>
                  <a:srgbClr val="F59E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文本層</a:t>
            </a:r>
            <a:endParaRPr sz="1100" b="1" i="0" spc="240" dirty="0">
              <a:solidFill>
                <a:srgbClr val="F59E0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11468100" y="3676650"/>
            <a:ext cx="38100" cy="609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1582400" y="3600450"/>
            <a:ext cx="280035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-4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jieba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582400" y="3886200"/>
            <a:ext cx="9525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60">
                <a:solidFill>
                  <a:srgbClr val="F59E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v0.42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582400" y="4095750"/>
            <a:ext cx="2800350" cy="2101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TW" altLang="en-US" sz="11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中文斷詞與自定義金融詞典</a:t>
            </a:r>
            <a:endParaRPr sz="11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11468100" y="4552950"/>
            <a:ext cx="38100" cy="609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11582400" y="4476750"/>
            <a:ext cx="280035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-4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snownlp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582400" y="4762500"/>
            <a:ext cx="9525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60">
                <a:solidFill>
                  <a:srgbClr val="F59E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v0.12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582400" y="4972050"/>
            <a:ext cx="2800350" cy="2101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TW" altLang="en-US" sz="11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中文情緒五分位</a:t>
            </a:r>
            <a:endParaRPr sz="11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11468100" y="5429250"/>
            <a:ext cx="38100" cy="609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11582400" y="5353050"/>
            <a:ext cx="280035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-4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wordcloud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582400" y="5638800"/>
            <a:ext cx="9525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60">
                <a:solidFill>
                  <a:srgbClr val="F59E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v1.9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582400" y="5848350"/>
            <a:ext cx="2800350" cy="2101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TW" altLang="en-US" sz="11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視覺化 </a:t>
            </a:r>
            <a:r>
              <a:rPr lang="zh-TW" altLang="en-US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─</a:t>
            </a:r>
            <a:r>
              <a:rPr lang="en-US" altLang="zh-TW" sz="11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Q1 vs. Q5 </a:t>
            </a:r>
            <a:r>
              <a:rPr lang="zh-TW" altLang="en-US" sz="11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對比</a:t>
            </a:r>
            <a:endParaRPr sz="11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14706600" y="2933700"/>
            <a:ext cx="33337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14706600" y="2933700"/>
            <a:ext cx="333375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14916150" y="3143250"/>
            <a:ext cx="291465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VIZ + GOV · 服務層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4916150" y="3676650"/>
            <a:ext cx="38100" cy="6096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15030450" y="3600450"/>
            <a:ext cx="280035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-4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streamlit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5030450" y="3886200"/>
            <a:ext cx="9525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6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v1.39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5030450" y="4095750"/>
            <a:ext cx="2800350" cy="2101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lang="en-US" sz="11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13-page interactive dashboard</a:t>
            </a:r>
            <a:endParaRPr sz="11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81" name="Rectangle 80"/>
          <p:cNvSpPr/>
          <p:nvPr/>
        </p:nvSpPr>
        <p:spPr>
          <a:xfrm>
            <a:off x="14916150" y="4552950"/>
            <a:ext cx="38100" cy="6096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15030450" y="4476750"/>
            <a:ext cx="280035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-4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plotly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5030450" y="4762500"/>
            <a:ext cx="9525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6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v5.24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5030450" y="4972050"/>
            <a:ext cx="2800350" cy="2101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lang="en-US" sz="11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interactive charting</a:t>
            </a:r>
            <a:endParaRPr sz="11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14916150" y="5429250"/>
            <a:ext cx="38100" cy="6096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15030450" y="5353050"/>
            <a:ext cx="280035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-4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matplotlib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5030450" y="5638800"/>
            <a:ext cx="9525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6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v3.9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5030450" y="5848350"/>
            <a:ext cx="2800350" cy="2101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lang="en-US" sz="11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static report figures</a:t>
            </a:r>
            <a:endParaRPr sz="11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914400" y="6667500"/>
            <a:ext cx="16459200" cy="1885950"/>
          </a:xfrm>
          <a:prstGeom prst="rect">
            <a:avLst/>
          </a:prstGeom>
          <a:solidFill>
            <a:srgbClr val="FE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0" name="Rectangle 89"/>
          <p:cNvSpPr/>
          <p:nvPr/>
        </p:nvSpPr>
        <p:spPr>
          <a:xfrm>
            <a:off x="914400" y="6667500"/>
            <a:ext cx="57150" cy="18859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1162050" y="6838950"/>
            <a:ext cx="5715000" cy="268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600" b="1" i="0" spc="26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Why This Stack</a:t>
            </a:r>
            <a:endParaRPr sz="1600" b="1" i="0" spc="260" dirty="0">
              <a:solidFill>
                <a:srgbClr val="F43F5E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1162050" y="7124700"/>
            <a:ext cx="15887700" cy="1345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全套工具皆以 </a:t>
            </a:r>
            <a:r>
              <a:rPr 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Python </a:t>
            </a: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為核心，主要採 </a:t>
            </a:r>
            <a:r>
              <a:rPr 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MIT / Apache </a:t>
            </a: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授權，可於 </a:t>
            </a:r>
            <a:r>
              <a:rPr lang="en-US" sz="1400" b="0" i="0" dirty="0" err="1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Streamlit</a:t>
            </a:r>
            <a:r>
              <a:rPr 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en-US" sz="1400" b="0" i="0" dirty="0" err="1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Cloud、Docker</a:t>
            </a:r>
            <a:r>
              <a:rPr 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或 </a:t>
            </a:r>
            <a:r>
              <a:rPr 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Conda </a:t>
            </a: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環境重現。</a:t>
            </a:r>
            <a:endParaRPr lang="en-US" altLang="zh-TW" sz="1400" b="0" i="0" dirty="0">
              <a:solidFill>
                <a:srgbClr val="0F172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  <a:p>
            <a:pPr algn="l">
              <a:lnSpc>
                <a:spcPct val="150000"/>
              </a:lnSpc>
            </a:pPr>
            <a:r>
              <a:rPr lang="en-US" altLang="zh-TW" sz="1400" b="0" i="0" dirty="0" err="1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XGBoost</a:t>
            </a:r>
            <a:r>
              <a:rPr lang="en-US" altLang="zh-TW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與 </a:t>
            </a:r>
            <a:r>
              <a:rPr lang="en-US" altLang="zh-TW" sz="1400" b="0" i="0" dirty="0" err="1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LightGBM</a:t>
            </a:r>
            <a:r>
              <a:rPr lang="en-US" altLang="zh-TW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作為雙引擎對照；</a:t>
            </a:r>
            <a:r>
              <a:rPr lang="en-US" altLang="zh-TW" sz="1400" b="0" i="0" dirty="0" err="1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Optuna</a:t>
            </a:r>
            <a:r>
              <a:rPr lang="en-US" altLang="zh-TW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支援大規模超參數搜尋，</a:t>
            </a:r>
            <a:r>
              <a:rPr lang="en-US" altLang="zh-TW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SHAP </a:t>
            </a: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提供個股可解釋性，</a:t>
            </a:r>
            <a:r>
              <a:rPr lang="en-US" altLang="zh-TW" sz="1400" b="0" i="0" dirty="0" err="1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Streamlit</a:t>
            </a:r>
            <a:r>
              <a:rPr lang="en-US" altLang="zh-TW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將模型結果轉為互動決策介面。</a:t>
            </a:r>
            <a:endParaRPr lang="en-US" altLang="zh-TW" sz="1400" b="0" i="0" dirty="0">
              <a:solidFill>
                <a:srgbClr val="0F172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  <a:p>
            <a:pPr algn="l">
              <a:lnSpc>
                <a:spcPct val="150000"/>
              </a:lnSpc>
            </a:pPr>
            <a:r>
              <a:rPr lang="en-US" sz="1600" b="1" i="0" spc="20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Audit</a:t>
            </a:r>
            <a:b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所有依賴版本鎖定於 </a:t>
            </a:r>
            <a:r>
              <a:rPr 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requirements.txt，</a:t>
            </a: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並以 </a:t>
            </a:r>
            <a:r>
              <a:rPr 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commit hash </a:t>
            </a: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與 </a:t>
            </a:r>
            <a:r>
              <a:rPr lang="en-US" sz="1400" b="0" i="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joblib</a:t>
            </a:r>
            <a:r>
              <a:rPr 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artifact </a:t>
            </a: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對齊；任一績效結果皆可由原始資料重跑至分數差 </a:t>
            </a:r>
            <a:r>
              <a:rPr lang="en-US" altLang="zh-TW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&lt; 1</a:t>
            </a:r>
            <a:r>
              <a:rPr 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e-6。</a:t>
            </a:r>
            <a:endParaRPr sz="1300" b="1" i="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429259"/>
            <a:ext cx="342900" cy="1511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404060"/>
            <a:ext cx="3619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多因子股票預測系統 · 附錄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404060"/>
            <a:ext cx="6667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Methodology · 5 Core Methods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746959"/>
            <a:ext cx="12382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Source · López de Prado (2018) · Bailey &amp; López de Prado (2014) · Lundberg &amp; Lee (2017)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59000" y="9753600"/>
            <a:ext cx="19050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4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APPENDIX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40200" y="9801225"/>
            <a:ext cx="7620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954500" y="9738560"/>
            <a:ext cx="571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A.29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104900"/>
            <a:ext cx="666750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A.29 </a:t>
            </a:r>
            <a:r>
              <a:rPr lang="zh-TW" altLang="en-US" sz="1400" b="1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→</a:t>
            </a:r>
            <a:r>
              <a:rPr lang="en-US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zh-TW" altLang="en-US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五大核心方法</a:t>
            </a:r>
            <a:endParaRPr sz="1400" b="1" i="0" spc="24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1371600"/>
            <a:ext cx="16668750" cy="1157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lang="zh-TW" altLang="en-US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五大方法分別處理時序洩漏、過擬合、黑箱、歸因與漂移風險</a:t>
            </a:r>
            <a:endParaRPr lang="en-US" altLang="zh-TW" sz="4000" b="1" spc="-8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  <a:p>
            <a:pPr>
              <a:lnSpc>
                <a:spcPct val="118000"/>
              </a:lnSpc>
            </a:pPr>
            <a:r>
              <a:rPr lang="en-US" altLang="zh-TW" sz="2600" b="1" spc="-8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WFPK</a:t>
            </a:r>
            <a:r>
              <a:rPr lang="zh-TW" altLang="en-US" sz="2600" b="1" spc="-8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、</a:t>
            </a:r>
            <a:r>
              <a:rPr lang="en-US" altLang="zh-TW" sz="2600" b="1" spc="-8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DSR</a:t>
            </a:r>
            <a:r>
              <a:rPr lang="zh-TW" altLang="en-US" sz="2600" b="1" spc="-8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、</a:t>
            </a:r>
            <a:r>
              <a:rPr lang="en-US" altLang="zh-TW" sz="2600" b="1" spc="-8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SHAP</a:t>
            </a:r>
            <a:r>
              <a:rPr lang="zh-TW" altLang="en-US" sz="2600" b="1" spc="-8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、</a:t>
            </a:r>
            <a:r>
              <a:rPr lang="en-US" altLang="zh-TW" sz="2600" b="1" spc="-8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LOPO</a:t>
            </a:r>
            <a:r>
              <a:rPr lang="zh-TW" altLang="en-US" sz="2600" b="1" spc="-8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、</a:t>
            </a:r>
            <a:r>
              <a:rPr lang="en-US" altLang="zh-TW" sz="2600" b="1" spc="-8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PSI </a:t>
            </a:r>
            <a:r>
              <a:rPr lang="zh-TW" altLang="en-US" sz="2600" b="1" spc="-8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各自對應一類模型風險。</a:t>
            </a:r>
            <a:endParaRPr lang="en-US" altLang="zh-TW" sz="2600" b="1" spc="-80" dirty="0"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14400" y="2552700"/>
            <a:ext cx="7620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14400" y="2933700"/>
            <a:ext cx="16459200" cy="10287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14400" y="2933700"/>
            <a:ext cx="76200" cy="10287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200150" y="3086100"/>
            <a:ext cx="7620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52600" y="3124200"/>
            <a:ext cx="209550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0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Purged WF-CV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52600" y="3390900"/>
            <a:ext cx="2286000" cy="3358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時序交叉驗證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52600" y="3714750"/>
            <a:ext cx="3429000" cy="1678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4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↪ López de Prado (2018) §7.4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95900" y="3086100"/>
            <a:ext cx="9525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900" b="1" i="0" spc="2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Formula</a:t>
            </a:r>
            <a:endParaRPr sz="900" b="1" i="0" spc="20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295900" y="3295650"/>
            <a:ext cx="5143500" cy="5334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429250" y="3428050"/>
            <a:ext cx="4857750" cy="26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600" b="1" i="0" spc="-20" dirty="0" err="1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Train_k</a:t>
            </a:r>
            <a:r>
              <a:rPr lang="en-US" sz="1600" b="1" i="0" spc="-2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∩ </a:t>
            </a:r>
            <a:r>
              <a:rPr lang="en-US" sz="1600" b="1" i="0" spc="-20" dirty="0" err="1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Test_k</a:t>
            </a:r>
            <a:r>
              <a:rPr lang="en-US" sz="1600" b="1" i="0" spc="-2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(</a:t>
            </a:r>
            <a:r>
              <a:rPr lang="en-US" sz="1600" b="1" i="0" spc="-20" dirty="0" err="1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t+h</a:t>
            </a:r>
            <a:r>
              <a:rPr lang="en-US" sz="1600" b="1" i="0" spc="-2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) = ∅</a:t>
            </a:r>
            <a:endParaRPr sz="1600" b="1" i="0" spc="-2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668000" y="3086100"/>
            <a:ext cx="19050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900" b="1" i="0" spc="2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Our Application</a:t>
            </a:r>
            <a:endParaRPr sz="900" b="1" i="0" spc="20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668000" y="3295650"/>
            <a:ext cx="6477000" cy="2835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4-fold × 20d embargo，</a:t>
            </a: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防止 </a:t>
            </a:r>
            <a:r>
              <a:rPr 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D+20 </a:t>
            </a: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標籤跨期重疊洩漏。</a:t>
            </a:r>
            <a:endParaRPr sz="14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914400" y="4038600"/>
            <a:ext cx="16459200" cy="10287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914400" y="4038600"/>
            <a:ext cx="76200" cy="10287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200150" y="4191000"/>
            <a:ext cx="7620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52600" y="4229100"/>
            <a:ext cx="209550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0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Deflated Sharpe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52600" y="4495800"/>
            <a:ext cx="2286000" cy="3358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TW" altLang="en-US" sz="20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多重檢定修正</a:t>
            </a:r>
            <a:endParaRPr sz="2000" b="1" i="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752600" y="4819650"/>
            <a:ext cx="3429000" cy="1678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4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↪ Bailey &amp; López de Prado (2014)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95900" y="4191000"/>
            <a:ext cx="9525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900" b="1" i="0" spc="2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Formula</a:t>
            </a:r>
            <a:endParaRPr sz="900" b="1" i="0" spc="20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5295900" y="4400550"/>
            <a:ext cx="5143500" cy="5334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429250" y="4532950"/>
            <a:ext cx="4857750" cy="26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-2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DSR = (SR̂ − E[max SR_n]) · √(T−1) / Φ⁻¹(1−α)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68000" y="4191000"/>
            <a:ext cx="19050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900" b="1" i="0" spc="2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Our Application</a:t>
            </a:r>
            <a:endParaRPr sz="900" b="1" i="0" spc="20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668000" y="4400550"/>
            <a:ext cx="6477000" cy="2834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SR 2.41 → DSR 12.12；</a:t>
            </a: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扣除 </a:t>
            </a:r>
            <a:r>
              <a:rPr lang="en-US" altLang="zh-TW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150 </a:t>
            </a:r>
            <a:r>
              <a:rPr 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trials </a:t>
            </a: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與 </a:t>
            </a:r>
            <a:r>
              <a:rPr 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skew / </a:t>
            </a:r>
            <a:r>
              <a:rPr lang="en-US" sz="1400" b="0" i="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kurt</a:t>
            </a:r>
            <a:r>
              <a:rPr 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修正後，</a:t>
            </a:r>
            <a:r>
              <a:rPr 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 &lt; 0.001。</a:t>
            </a:r>
            <a:endParaRPr sz="14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914400" y="5143500"/>
            <a:ext cx="16459200" cy="10287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914400" y="5143500"/>
            <a:ext cx="76200" cy="10287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200150" y="5295900"/>
            <a:ext cx="7620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52600" y="5334000"/>
            <a:ext cx="209550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0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LOPO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52600" y="5600700"/>
            <a:ext cx="2286000" cy="3358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支柱貢獻分析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52600" y="5924550"/>
            <a:ext cx="3429000" cy="1678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4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↪ Custom · feature ablation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95900" y="5295900"/>
            <a:ext cx="9525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900" b="1" i="0" spc="2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Formula</a:t>
            </a:r>
            <a:endParaRPr sz="900" b="1" i="0" spc="20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5295900" y="5505450"/>
            <a:ext cx="5143500" cy="5334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429250" y="5637850"/>
            <a:ext cx="4857750" cy="26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el-GR" sz="1600" b="1" i="0" spc="-2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Δ</a:t>
            </a:r>
            <a:r>
              <a:rPr lang="en-US" sz="1600" b="1" i="0" spc="-20" dirty="0" err="1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AUC_p</a:t>
            </a:r>
            <a:r>
              <a:rPr lang="en-US" sz="1600" b="1" i="0" spc="-2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= AUC(all 91) − AUC(excluding pillar p)</a:t>
            </a:r>
            <a:endParaRPr sz="1600" b="1" i="0" spc="-2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0668000" y="5295900"/>
            <a:ext cx="19050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900" b="1" i="0" spc="2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Our Application</a:t>
            </a:r>
            <a:endParaRPr sz="900" b="1" i="0" spc="20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0668000" y="5505450"/>
            <a:ext cx="6477000" cy="2834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Risk +138.6 </a:t>
            </a:r>
            <a:r>
              <a:rPr lang="en-US" sz="1400" b="0" i="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bps；Trend</a:t>
            </a:r>
            <a:r>
              <a:rPr 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+64.9 </a:t>
            </a:r>
            <a:r>
              <a:rPr lang="en-US" sz="1400" b="0" i="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bps；Chip</a:t>
            </a:r>
            <a:r>
              <a:rPr 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/ Event / Industry </a:t>
            </a: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合計 −</a:t>
            </a:r>
            <a:r>
              <a:rPr lang="en-US" altLang="zh-TW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49 </a:t>
            </a:r>
            <a:r>
              <a:rPr 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bps。</a:t>
            </a:r>
            <a:endParaRPr sz="14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914400" y="6248400"/>
            <a:ext cx="16459200" cy="10287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914400" y="6248400"/>
            <a:ext cx="7620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200150" y="6400800"/>
            <a:ext cx="7620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F59E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752600" y="6438900"/>
            <a:ext cx="257175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00" dirty="0">
                <a:solidFill>
                  <a:srgbClr val="F59E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SHAP </a:t>
            </a:r>
            <a:r>
              <a:rPr sz="1400" b="1" i="0" spc="200" dirty="0" err="1">
                <a:solidFill>
                  <a:srgbClr val="F59E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TreeExplainer</a:t>
            </a:r>
            <a:endParaRPr sz="1400" b="1" i="0" spc="200" dirty="0">
              <a:solidFill>
                <a:srgbClr val="F59E0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752600" y="6705600"/>
            <a:ext cx="2286000" cy="3358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TW" altLang="en-US" sz="20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個股層級可解釋性</a:t>
            </a:r>
            <a:endParaRPr sz="2000" b="1" i="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752600" y="7029450"/>
            <a:ext cx="3429000" cy="1678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4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↪ Lundberg &amp; Lee (2017)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95900" y="6400800"/>
            <a:ext cx="9525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900" b="1" i="0" spc="2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Formula</a:t>
            </a:r>
            <a:endParaRPr sz="900" b="1" i="0" spc="20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5295900" y="6610350"/>
            <a:ext cx="5143500" cy="5334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5429250" y="6742750"/>
            <a:ext cx="4857750" cy="26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-2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φ_i(x) = E[f(x) | x_i] − E[f(x)]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668000" y="6400800"/>
            <a:ext cx="19050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900" b="1" i="0" spc="2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Our Application</a:t>
            </a:r>
            <a:endParaRPr sz="900" b="1" i="0" spc="20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0668000" y="6610350"/>
            <a:ext cx="6477000" cy="2835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Top-20 global features </a:t>
            </a: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與 </a:t>
            </a:r>
            <a:r>
              <a:rPr 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per-stock explanation，</a:t>
            </a: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對應 </a:t>
            </a:r>
            <a:r>
              <a:rPr lang="en-US" sz="1400" b="0" i="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Streamlit</a:t>
            </a:r>
            <a:r>
              <a:rPr 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個股檢視頁。</a:t>
            </a:r>
            <a:endParaRPr sz="14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914400" y="7353300"/>
            <a:ext cx="16459200" cy="10287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914400" y="7353300"/>
            <a:ext cx="76200" cy="10287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1200150" y="7505700"/>
            <a:ext cx="7620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752600" y="7543800"/>
            <a:ext cx="209550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0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PSI / KS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752600" y="7810500"/>
            <a:ext cx="2286000" cy="3358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漂移監控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752600" y="8134350"/>
            <a:ext cx="3429000" cy="1678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4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↪ Basel III FRTB · industry standard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295900" y="7505700"/>
            <a:ext cx="9525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900" b="1" i="0" spc="2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Formula</a:t>
            </a:r>
            <a:endParaRPr sz="900" b="1" i="0" spc="20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5295900" y="7715250"/>
            <a:ext cx="5143500" cy="5334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5429250" y="7847650"/>
            <a:ext cx="4857750" cy="26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-2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PSI = Σ (p_i − q_i) ln(p_i / q_i)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668000" y="7505700"/>
            <a:ext cx="19050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900" b="1" i="0" spc="2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Our Application</a:t>
            </a:r>
            <a:endParaRPr sz="900" b="1" i="0" spc="20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10668000" y="7715250"/>
            <a:ext cx="6477000" cy="6067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91 features monthly </a:t>
            </a:r>
            <a:r>
              <a:rPr lang="en-US" sz="1400" b="0" i="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check；Text</a:t>
            </a:r>
            <a:r>
              <a:rPr 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PSI = 0.13 </a:t>
            </a: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觸發 </a:t>
            </a:r>
            <a:r>
              <a:rPr 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warning，</a:t>
            </a: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對應每月詞向量重訓。</a:t>
            </a:r>
            <a:endParaRPr sz="14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914400" y="8532128"/>
            <a:ext cx="16459200" cy="1126648"/>
          </a:xfrm>
          <a:prstGeom prst="rect">
            <a:avLst/>
          </a:prstGeom>
          <a:solidFill>
            <a:srgbClr val="FE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914400" y="8532128"/>
            <a:ext cx="57150" cy="1126648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1162050" y="8703578"/>
            <a:ext cx="5715000" cy="268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600" b="1" i="0" spc="26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Method-to-Evidence</a:t>
            </a:r>
            <a:endParaRPr sz="1600" b="1" i="0" spc="260" dirty="0">
              <a:solidFill>
                <a:srgbClr val="F43F5E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1162050" y="8989328"/>
            <a:ext cx="15887700" cy="6067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每個主要結論均可回溯至一項方法設計，且每項方法皆有對應文獻基礎。</a:t>
            </a:r>
            <a:endParaRPr lang="en-US" altLang="zh-TW" sz="1400" b="0" i="0" dirty="0">
              <a:solidFill>
                <a:srgbClr val="0F172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  <a:p>
            <a:pPr algn="l">
              <a:lnSpc>
                <a:spcPct val="150000"/>
              </a:lnSpc>
            </a:pP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五大方法共同形成從原始資料到 </a:t>
            </a:r>
            <a:r>
              <a:rPr lang="en-US" altLang="zh-TW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9/9 </a:t>
            </a:r>
            <a:r>
              <a:rPr 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governance gates PASS </a:t>
            </a: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的審計鏈。</a:t>
            </a:r>
            <a:endParaRPr sz="14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429259"/>
            <a:ext cx="342900" cy="1511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404060"/>
            <a:ext cx="3619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多因子股票預測系統 · 附錄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404060"/>
            <a:ext cx="6667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Data Sources &amp; Extended References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965327"/>
            <a:ext cx="12382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100" b="0" i="0" spc="5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Source · TWSE / TPEX、</a:t>
            </a:r>
            <a:r>
              <a:rPr lang="zh-TW" altLang="en-US" sz="1100" b="0" i="0" spc="5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公開資訊觀測站、</a:t>
            </a:r>
            <a:r>
              <a:rPr lang="en-US" sz="1100" b="0" i="0" spc="50" dirty="0" err="1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CMoney</a:t>
            </a:r>
            <a:r>
              <a:rPr lang="en-US" sz="1100" b="0" i="0" spc="5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zh-TW" altLang="en-US" sz="1100" b="0" i="0" spc="5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文本、</a:t>
            </a:r>
            <a:r>
              <a:rPr lang="en-US" sz="1100" b="0" i="0" spc="5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BDA-2026 </a:t>
            </a:r>
            <a:r>
              <a:rPr lang="zh-TW" altLang="en-US" sz="1100" b="0" i="0" spc="5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課程指定資料庫</a:t>
            </a:r>
            <a:endParaRPr sz="1100" b="0" i="0" spc="5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859000" y="9753600"/>
            <a:ext cx="19050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4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APPENDIX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40200" y="9801225"/>
            <a:ext cx="7620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954500" y="9738560"/>
            <a:ext cx="571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A.30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104900"/>
            <a:ext cx="6667500" cy="2358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A.30 </a:t>
            </a:r>
            <a:r>
              <a:rPr lang="zh-TW" altLang="en-US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→</a:t>
            </a:r>
            <a:r>
              <a:rPr lang="en-US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Data Lineage </a:t>
            </a:r>
            <a:r>
              <a:rPr lang="zh-TW" altLang="en-US"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與資料來源</a:t>
            </a:r>
            <a:endParaRPr sz="1400" b="1" i="0" spc="24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1371600"/>
            <a:ext cx="16668750" cy="1157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lang="zh-TW" altLang="en-US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資料來源與 </a:t>
            </a:r>
            <a:r>
              <a:rPr lang="en-US" altLang="zh-TW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lineage </a:t>
            </a:r>
            <a:r>
              <a:rPr lang="zh-TW" altLang="en-US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決定模型結果能否被複查與重現</a:t>
            </a:r>
            <a:endParaRPr lang="en-US" altLang="zh-TW" sz="4000" b="1" spc="-8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  <a:p>
            <a:pPr>
              <a:lnSpc>
                <a:spcPct val="118000"/>
              </a:lnSpc>
            </a:pPr>
            <a:r>
              <a:rPr lang="zh-TW" altLang="en-US" sz="2600" b="1" spc="-8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每一筆資料與每一個特徵都應可回溯。</a:t>
            </a:r>
            <a:endParaRPr lang="en-US" altLang="zh-TW" sz="2600" b="1" spc="-80" dirty="0"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14400" y="2552700"/>
            <a:ext cx="7620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14400" y="2819400"/>
            <a:ext cx="57150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100" b="1" i="0" spc="2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Data Sources </a:t>
            </a:r>
            <a:r>
              <a:rPr lang="zh-TW" altLang="en-US" sz="1100" b="1" i="0" spc="2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─</a:t>
            </a:r>
            <a:r>
              <a:rPr lang="en-US" sz="1100" b="1" i="0" spc="2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zh-TW" altLang="en-US" sz="1100" b="1" i="0" spc="2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資料來源</a:t>
            </a:r>
            <a:endParaRPr sz="1100" b="1" i="0" spc="24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14400" y="3105150"/>
            <a:ext cx="809625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914400" y="3105150"/>
            <a:ext cx="809625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43000" y="3314700"/>
            <a:ext cx="763905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100" b="1" i="0" spc="24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Price / Volume</a:t>
            </a:r>
            <a:endParaRPr sz="1100" b="1" i="0" spc="24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43000" y="3619500"/>
            <a:ext cx="763905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TWSE · TPEx · 公開資訊觀測站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019550"/>
            <a:ext cx="7639050" cy="263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TW" sz="13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1,930 </a:t>
            </a:r>
            <a:r>
              <a:rPr lang="zh-TW" altLang="en-US" sz="13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檔股票 </a:t>
            </a:r>
            <a:r>
              <a:rPr lang="en-US" altLang="zh-TW" sz="13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× 505 </a:t>
            </a:r>
            <a:r>
              <a:rPr lang="zh-TW" altLang="en-US" sz="13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交易日；</a:t>
            </a:r>
            <a:r>
              <a:rPr lang="en-US" altLang="zh-TW" sz="13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OHLCV</a:t>
            </a:r>
            <a:r>
              <a:rPr lang="zh-TW" altLang="en-US" sz="13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、融資融券。</a:t>
            </a:r>
            <a:endParaRPr sz="13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143000" y="4514850"/>
            <a:ext cx="763905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100" b="0" i="0" spc="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Source </a:t>
            </a:r>
            <a:r>
              <a:rPr lang="en-US" sz="1100" b="0" i="0" spc="40" dirty="0" err="1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File｜data</a:t>
            </a:r>
            <a:r>
              <a:rPr lang="en-US" sz="1100" b="0" i="0" spc="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/raw/</a:t>
            </a:r>
            <a:r>
              <a:rPr lang="en-US" sz="1100" b="0" i="0" spc="40" dirty="0" err="1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stock_prices.parquet</a:t>
            </a:r>
            <a:r>
              <a:rPr lang="en-US" sz="1100" b="0" i="0" spc="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· 4.2 GB</a:t>
            </a:r>
            <a:endParaRPr sz="1100" b="0" i="0" spc="4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914400" y="5048250"/>
            <a:ext cx="809625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914400" y="5048250"/>
            <a:ext cx="809625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143000" y="5257800"/>
            <a:ext cx="763905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100" b="1" i="0" spc="24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Fundamentals</a:t>
            </a:r>
            <a:endParaRPr sz="1100" b="1" i="0" spc="240" dirty="0">
              <a:solidFill>
                <a:srgbClr val="06B6D4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43000" y="5562600"/>
            <a:ext cx="763905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財報資料庫 · 季頻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5962650"/>
            <a:ext cx="7639050" cy="263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13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IFRS </a:t>
            </a:r>
            <a:r>
              <a:rPr lang="zh-TW" altLang="en-US" sz="13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財報三表；主鍵 </a:t>
            </a:r>
            <a:r>
              <a:rPr lang="en-US" altLang="zh-TW" sz="13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(</a:t>
            </a:r>
            <a:r>
              <a:rPr lang="en-US" sz="1300" b="0" i="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stock_id</a:t>
            </a:r>
            <a:r>
              <a:rPr lang="en-US" sz="13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, period)；lag 45 </a:t>
            </a:r>
            <a:r>
              <a:rPr lang="zh-TW" altLang="en-US" sz="13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天。</a:t>
            </a:r>
            <a:endParaRPr sz="13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43000" y="6457950"/>
            <a:ext cx="763905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100" b="0" i="0" spc="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Source </a:t>
            </a:r>
            <a:r>
              <a:rPr lang="en-US" sz="1100" b="0" i="0" spc="40" dirty="0" err="1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File｜data</a:t>
            </a:r>
            <a:r>
              <a:rPr lang="en-US" sz="1100" b="0" i="0" spc="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/raw/</a:t>
            </a:r>
            <a:r>
              <a:rPr lang="en-US" sz="1100" b="0" i="0" spc="40" dirty="0" err="1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financial_statements.parquet</a:t>
            </a:r>
            <a:r>
              <a:rPr lang="en-US" sz="1100" b="0" i="0" spc="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· 312 MB</a:t>
            </a:r>
            <a:endParaRPr sz="1100" b="0" i="0" spc="4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914400" y="6991350"/>
            <a:ext cx="8096250" cy="1708665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914400" y="6991350"/>
            <a:ext cx="809625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143000" y="7200900"/>
            <a:ext cx="763905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100" b="1" i="0" spc="240" dirty="0">
                <a:solidFill>
                  <a:srgbClr val="F59E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Text Corpus</a:t>
            </a:r>
            <a:endParaRPr sz="1100" b="1" i="0" spc="240" dirty="0">
              <a:solidFill>
                <a:srgbClr val="F59E0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143000" y="7505700"/>
            <a:ext cx="763905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800" b="1" i="0" dirty="0" err="1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CMoney</a:t>
            </a:r>
            <a:r>
              <a:rPr lang="en-US" sz="18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zh-TW" altLang="en-US" sz="18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新聞與 </a:t>
            </a:r>
            <a:r>
              <a:rPr lang="en-US" sz="18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PTT Stock </a:t>
            </a:r>
            <a:r>
              <a:rPr lang="zh-TW" altLang="en-US" sz="18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論壇</a:t>
            </a:r>
            <a:endParaRPr sz="1800" b="1" i="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143000" y="7905750"/>
            <a:ext cx="7639050" cy="263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TW" sz="13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948K </a:t>
            </a:r>
            <a:r>
              <a:rPr lang="zh-TW" altLang="en-US" sz="13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文本；僅取 </a:t>
            </a:r>
            <a:r>
              <a:rPr lang="en-US" altLang="zh-TW" sz="13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 </a:t>
            </a:r>
            <a:r>
              <a:rPr lang="zh-TW" altLang="en-US" sz="13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日 </a:t>
            </a:r>
            <a:r>
              <a:rPr lang="en-US" altLang="zh-TW" sz="13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15:00 </a:t>
            </a:r>
            <a:r>
              <a:rPr lang="zh-TW" altLang="en-US" sz="13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前資訊；自定義金融詞典 </a:t>
            </a:r>
            <a:r>
              <a:rPr lang="en-US" altLang="zh-TW" sz="13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1,521 </a:t>
            </a:r>
            <a:r>
              <a:rPr lang="zh-TW" altLang="en-US" sz="13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詞。</a:t>
            </a:r>
            <a:endParaRPr sz="13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143000" y="8401050"/>
            <a:ext cx="763905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100" b="0" i="0" spc="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Source </a:t>
            </a:r>
            <a:r>
              <a:rPr lang="en-US" sz="1100" b="0" i="0" spc="40" dirty="0" err="1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File｜data</a:t>
            </a:r>
            <a:r>
              <a:rPr lang="en-US" sz="1100" b="0" i="0" spc="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/raw/text/ · 8.7 GB · </a:t>
            </a:r>
            <a:r>
              <a:rPr lang="en-US" sz="1100" b="0" i="0" spc="40" dirty="0" err="1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jieba</a:t>
            </a:r>
            <a:r>
              <a:rPr lang="en-US" sz="1100" b="0" i="0" spc="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zh-TW" altLang="en-US" sz="1100" b="0" i="0" spc="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斷詞</a:t>
            </a:r>
            <a:endParaRPr sz="1100" b="0" i="0" spc="4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334500" y="2819400"/>
            <a:ext cx="57150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100" b="1" i="0" spc="2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Extended References </a:t>
            </a:r>
            <a:r>
              <a:rPr lang="zh-TW" altLang="en-US" sz="1100" b="1" i="0" spc="2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─</a:t>
            </a:r>
            <a:r>
              <a:rPr lang="en-US" sz="1100" b="1" i="0" spc="2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zh-TW" altLang="en-US" sz="1100" b="1" i="0" spc="2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延伸文獻</a:t>
            </a:r>
            <a:endParaRPr sz="1100" b="1" i="0" spc="24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9334500" y="3105150"/>
            <a:ext cx="8039100" cy="85725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9334500" y="3105150"/>
            <a:ext cx="8039100" cy="381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544050" y="3276600"/>
            <a:ext cx="7620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000" b="1" i="0" spc="200" dirty="0">
                <a:solidFill>
                  <a:srgbClr val="7C3AE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Taiwan Market </a:t>
            </a:r>
            <a:r>
              <a:rPr lang="zh-TW" altLang="en-US" sz="1000" b="1" i="0" spc="200" dirty="0">
                <a:solidFill>
                  <a:srgbClr val="7C3AE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─</a:t>
            </a:r>
            <a:r>
              <a:rPr lang="en-US" sz="1000" b="1" i="0" spc="200" dirty="0">
                <a:solidFill>
                  <a:srgbClr val="7C3AE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zh-TW" altLang="en-US" sz="1000" b="1" i="0" spc="200" dirty="0">
                <a:solidFill>
                  <a:srgbClr val="7C3AE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台股</a:t>
            </a:r>
            <a:endParaRPr sz="1000" b="1" i="0" spc="200" dirty="0">
              <a:solidFill>
                <a:srgbClr val="7C3AED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544050" y="3467100"/>
            <a:ext cx="152400" cy="201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7C3AE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·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96450" y="3467100"/>
            <a:ext cx="74676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Lin &amp; Lee (2010). 台股報酬可預測性. 臺大管理論叢 21(1).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44050" y="3676650"/>
            <a:ext cx="152400" cy="201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7C3AE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·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96450" y="3676650"/>
            <a:ext cx="74676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張 (2018). 台灣股市規模效應與動能效應. 中山管理評論 26(2).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516350" y="3752850"/>
            <a:ext cx="7620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 spc="40">
                <a:solidFill>
                  <a:srgbClr val="94A3B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+ 1 more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334500" y="4038600"/>
            <a:ext cx="8039100" cy="85725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9334500" y="4038600"/>
            <a:ext cx="80391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544050" y="4210050"/>
            <a:ext cx="7620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000" b="1" i="0" spc="20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Time-Series Validation</a:t>
            </a:r>
            <a:endParaRPr sz="1000" b="1" i="0" spc="20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9544050" y="4400550"/>
            <a:ext cx="152400" cy="201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·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96450" y="4400550"/>
            <a:ext cx="74676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Cerqueira et al. (2020). Evaluating time series forecasting models. ML 109.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44050" y="4610100"/>
            <a:ext cx="152400" cy="201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·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96450" y="4610100"/>
            <a:ext cx="74676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Hyndman &amp; Athanasopoulos (2021). Forecasting: Principles and Practice (3e).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34500" y="4972050"/>
            <a:ext cx="8039100" cy="85725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9334500" y="4972050"/>
            <a:ext cx="80391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9544050" y="5143500"/>
            <a:ext cx="7620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000" b="1" i="0" spc="200" dirty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Governance · </a:t>
            </a:r>
            <a:r>
              <a:rPr lang="zh-TW" altLang="en-US" sz="1000" b="1" i="0" spc="200" dirty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治理規範</a:t>
            </a:r>
            <a:endParaRPr sz="1000" b="1" i="0" spc="200" dirty="0">
              <a:solidFill>
                <a:srgbClr val="10B98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9544050" y="5334000"/>
            <a:ext cx="152400" cy="201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·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96450" y="5334000"/>
            <a:ext cx="74676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Basel III · FRTB (2019). Minimum capital requirements for market risk.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544050" y="5543550"/>
            <a:ext cx="152400" cy="201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·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96450" y="5543550"/>
            <a:ext cx="74676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EU AI Act (2024). High-risk AI systems Article 9 — risk management.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334500" y="5905500"/>
            <a:ext cx="8039100" cy="85725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9334500" y="5905500"/>
            <a:ext cx="80391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9544050" y="6076950"/>
            <a:ext cx="7620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000" b="1" i="0" spc="200" dirty="0">
                <a:solidFill>
                  <a:srgbClr val="F59E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Data &amp; Tooling</a:t>
            </a:r>
            <a:endParaRPr sz="1000" b="1" i="0" spc="200" dirty="0">
              <a:solidFill>
                <a:srgbClr val="F59E0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9544050" y="6267450"/>
            <a:ext cx="152400" cy="201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F59E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·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696450" y="6267450"/>
            <a:ext cx="74676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McKinney (2011). pandas: a Foundational Python Library for DA. PyHPC.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544050" y="6477000"/>
            <a:ext cx="152400" cy="201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F59E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·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96450" y="6477000"/>
            <a:ext cx="74676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Akiba et al. (2019). Optuna: A Next-generation Hyperparameter Optimization Framework. KDD.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6516350" y="6553200"/>
            <a:ext cx="7620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 spc="40">
                <a:solidFill>
                  <a:srgbClr val="94A3B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+ 1 more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14400" y="8820149"/>
            <a:ext cx="16459200" cy="1057275"/>
          </a:xfrm>
          <a:prstGeom prst="rect">
            <a:avLst/>
          </a:prstGeom>
          <a:solidFill>
            <a:srgbClr val="FE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914400" y="8820149"/>
            <a:ext cx="57150" cy="105727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1162050" y="8909712"/>
            <a:ext cx="5715000" cy="268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600" b="1" i="0" spc="26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Provenance</a:t>
            </a:r>
            <a:endParaRPr sz="1600" b="1" i="0" spc="260" dirty="0">
              <a:solidFill>
                <a:srgbClr val="F43F5E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1162050" y="9195462"/>
            <a:ext cx="15887700" cy="6067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TW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948,976 </a:t>
            </a: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筆樣本、</a:t>
            </a:r>
            <a:r>
              <a:rPr lang="en-US" altLang="zh-TW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1,623 </a:t>
            </a: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個候選因子與 </a:t>
            </a:r>
            <a:r>
              <a:rPr lang="en-US" altLang="zh-TW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91 </a:t>
            </a: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個生產特徵皆可透過 </a:t>
            </a:r>
            <a:r>
              <a:rPr lang="en-US" altLang="zh-TW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SQL lineage </a:t>
            </a:r>
            <a:r>
              <a:rPr lang="zh-TW" altLang="en-US"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回溯。</a:t>
            </a:r>
            <a:endParaRPr lang="en-US" altLang="zh-TW" sz="1400" b="0" i="0" dirty="0">
              <a:solidFill>
                <a:srgbClr val="0F172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  <a:p>
            <a:pPr algn="l">
              <a:lnSpc>
                <a:spcPct val="150000"/>
              </a:lnSpc>
            </a:pP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本研究遵循 </a:t>
            </a:r>
            <a:r>
              <a:rPr lang="en-US" altLang="zh-TW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BDA-2026 </a:t>
            </a:r>
            <a:r>
              <a:rPr lang="zh-TW" altLang="en-US"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課堂資料規範；所有外部引用均標明出處，所有方法論皆可獨立復現。</a:t>
            </a:r>
            <a:endParaRPr sz="14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</TotalTime>
  <Words>10269</Words>
  <Application>Microsoft Office PowerPoint</Application>
  <PresentationFormat>自訂</PresentationFormat>
  <Paragraphs>1987</Paragraphs>
  <Slides>41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41</vt:i4>
      </vt:variant>
    </vt:vector>
  </HeadingPairs>
  <TitlesOfParts>
    <vt:vector size="46" baseType="lpstr">
      <vt:lpstr>微軟正黑體</vt:lpstr>
      <vt:lpstr>Arial</vt:lpstr>
      <vt:lpstr>Calibri</vt:lpstr>
      <vt:lpstr>Courier New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陳柏寰</cp:lastModifiedBy>
  <cp:revision>77</cp:revision>
  <dcterms:created xsi:type="dcterms:W3CDTF">2013-01-27T09:14:16Z</dcterms:created>
  <dcterms:modified xsi:type="dcterms:W3CDTF">2026-04-26T14:45:22Z</dcterms:modified>
  <cp:category/>
</cp:coreProperties>
</file>