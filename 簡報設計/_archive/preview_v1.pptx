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3619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Taiwan Equity · Quant Research Terminal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11000" y="36195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Big Data &amp; Business Analytics · NCCU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371600"/>
            <a:ext cx="6667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— 9-PILLAR FACTOR FRAMEWORK · GLINT-LIGHT · v11.5.17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90700"/>
            <a:ext cx="8572500" cy="2190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 spc="-25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台股多因子</a:t>
            </a:r>
            <a:r>
              <a:t/>
            </a:r>
            <a:br/>
            <a:r>
              <a:rPr sz="9600" b="1" i="0" spc="-250">
                <a:solidFill>
                  <a:srgbClr val="0D9488"/>
                </a:solidFill>
                <a:latin typeface="Inter"/>
                <a:ea typeface="Microsoft JhengHei"/>
                <a:cs typeface="Microsoft JhengHei"/>
              </a:rPr>
              <a:t>預測系統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229100"/>
            <a:ext cx="76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95800"/>
            <a:ext cx="85725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22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量化研究終端機 · Strategic Research Deck</a:t>
            </a:r>
          </a:p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從 </a:t>
            </a:r>
            <a:r>
              <a:rPr sz="18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1,930</a:t>
            </a: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檔上市櫃 × </a:t>
            </a:r>
            <a:r>
              <a:rPr sz="18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948,976</a:t>
            </a: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樣本 × </a:t>
            </a:r>
            <a:r>
              <a:rPr sz="18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505</a:t>
            </a: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交易日淬煉 9 支柱因子棋盤</a:t>
            </a:r>
          </a:p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於 D+20 方向預測達到 </a:t>
            </a:r>
            <a:r>
              <a:rPr sz="18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OOS AUC 0.6490</a:t>
            </a: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· ICIR </a:t>
            </a:r>
            <a:r>
              <a:rPr sz="18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0.7431</a:t>
            </a: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· DSR </a:t>
            </a:r>
            <a:r>
              <a:rPr sz="18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12.12</a:t>
            </a:r>
          </a:p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Top 0.1% 選股 edge </a:t>
            </a:r>
            <a:r>
              <a:rPr sz="1800" b="1" i="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+19.5 pp</a:t>
            </a:r>
            <a:r>
              <a:rPr sz="18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· 9/9 治理閘門全數通過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0250" y="1790700"/>
            <a:ext cx="80010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20250" y="1790700"/>
            <a:ext cx="2667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282487" y="1790700"/>
            <a:ext cx="4762" cy="2095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20250" y="3881437"/>
            <a:ext cx="2667000" cy="47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48850" y="209550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OOS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48850" y="2400300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2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0.6490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850" y="329565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6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D+20 horizon · 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87250" y="1790700"/>
            <a:ext cx="2667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949487" y="1790700"/>
            <a:ext cx="4762" cy="2095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87250" y="3881437"/>
            <a:ext cx="2667000" cy="47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515850" y="209550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ICIR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15850" y="2400300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2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0.7431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15850" y="329565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6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Mean IC / 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954250" y="1790700"/>
            <a:ext cx="2667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954250" y="3881437"/>
            <a:ext cx="2667000" cy="47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82850" y="209550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DSR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82850" y="2400300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2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12.12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82850" y="329565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6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 ≪ 0.001 · 閾 2.0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20250" y="3886200"/>
            <a:ext cx="2667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282487" y="3886200"/>
            <a:ext cx="4762" cy="2095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8850" y="419100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850" y="4495800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2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850" y="539115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6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/ 1,623 · 保留 5.6%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87250" y="3886200"/>
            <a:ext cx="2667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949487" y="3886200"/>
            <a:ext cx="4762" cy="2095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515850" y="419100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TOP 0.1%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15850" y="4495800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2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45.79%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15850" y="539115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6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edge +19.5 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954250" y="3886200"/>
            <a:ext cx="26670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82850" y="4191000"/>
            <a:ext cx="22098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GATES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182850" y="4495800"/>
            <a:ext cx="2209800" cy="819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20">
                <a:solidFill>
                  <a:srgbClr val="059669"/>
                </a:solidFill>
                <a:latin typeface="Consolas"/>
                <a:ea typeface="Microsoft JhengHei"/>
                <a:cs typeface="Microsoft JhengHei"/>
              </a:rPr>
              <a:t>9/9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82850" y="5391150"/>
            <a:ext cx="2209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6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Governance PASS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8382000"/>
            <a:ext cx="1676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861060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" y="8839200"/>
            <a:ext cx="666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台股多因子 Research Group · 7 人課程專案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9000" y="8610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COURSE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39000" y="8839200"/>
            <a:ext cx="3619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NCCU · Big Data &amp; Business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39500" y="8610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VERSION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39500" y="88392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Consolas"/>
                <a:ea typeface="Microsoft JhengHei"/>
                <a:cs typeface="Microsoft JhengHei"/>
              </a:rPr>
              <a:t>v11.5.17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097000" y="861060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 spc="26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097000" y="8839200"/>
            <a:ext cx="342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600" b="1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April 2026 · Academic Project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954500" y="96964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0" y="3619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Source：Team · 台股多因子 Research Group · April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31445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— CONTENTS · 導覽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600200"/>
            <a:ext cx="16192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本日議程 · </a:t>
            </a:r>
            <a:r>
              <a:rPr sz="5000" b="1" i="0" spc="-120">
                <a:solidFill>
                  <a:srgbClr val="0D9488"/>
                </a:solidFill>
                <a:latin typeface="Inter"/>
                <a:ea typeface="Microsoft JhengHei"/>
                <a:cs typeface="Microsoft JhengHei"/>
              </a:rPr>
              <a:t>8 章節 </a:t>
            </a:r>
            <a:r>
              <a:rPr sz="50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· 共 35 頁完整呈現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552700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7623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2004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5000" y="32194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Executive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2575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一頁摘要 · 三項核心發現 · 三項落地建議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430500" y="32575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P.03 — 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4862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243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5000" y="39433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Problem &amp; Approach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9814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三重結構性難題 · 6 階段流水線 · 三大承諾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30500" y="39814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P.06 — 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2101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6482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5000" y="46672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Data &amp;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7053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7 表 ETL 1,932 家 · 948,976 樣本 · 5-層技術棧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30500" y="47053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P.09 — 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9340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721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5000" y="53911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9-Pillar Framework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00" y="54292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LOPO ΔAUC · Risk +138.6 bps · Top 10 因子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30500" y="54292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P.13 — 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66579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0960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5000" y="61150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Model Performance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6500" y="61531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AUC 0.6490 · DSR 12.12 · Top 0.1% 命中 45.79%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430500" y="61531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P.17 — 21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73818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68199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5000" y="68389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Productionization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6500" y="68770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Streamlit Dashboard 13 頁 · 雙軌決策 0.40 / 0.50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430500" y="68770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8105775"/>
            <a:ext cx="16459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75438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05000" y="75628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Governance &amp;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6500" y="76009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9 / 9 治理閘門 · Limitations · Next Steps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430500" y="76009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P.23 — 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8267700"/>
            <a:ext cx="762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spc="-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05000" y="8286750"/>
            <a:ext cx="438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-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Appendix · Sentiment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6500" y="8324850"/>
            <a:ext cx="9048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500 keyword Lift · U-shape · News × Forum 共識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430500" y="83248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 spc="12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P.26 — 35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335500" y="96964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7315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229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0058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097000" y="0"/>
            <a:ext cx="3429000" cy="381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487900" y="0"/>
            <a:ext cx="38100" cy="762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429000"/>
            <a:ext cx="57150" cy="51435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573000" y="7620000"/>
            <a:ext cx="4800600" cy="1905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573000" y="7620000"/>
            <a:ext cx="4800600" cy="381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63500" y="78105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—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500" y="809625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  <a:r>
              <a:t/>
            </a:r>
            <a:br/>
            <a:r>
              <a:rPr sz="1200" b="0" i="0" spc="14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v11.5.17 · 2026-04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5F1E8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24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SECTION DIVIDER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325850" y="428625"/>
            <a:ext cx="9525" cy="1524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21100" y="3619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5F1E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8250" y="36195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8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SECTION 01 / 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4076700"/>
            <a:ext cx="112395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0" b="1" i="0" spc="-260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Executive</a:t>
            </a:r>
            <a:r>
              <a:t/>
            </a:r>
            <a:br/>
            <a:r>
              <a:rPr sz="8800" b="1" i="0" spc="-260">
                <a:solidFill>
                  <a:srgbClr val="5EEAD4"/>
                </a:solidFill>
                <a:latin typeface="Inter"/>
                <a:ea typeface="Microsoft JhengHei"/>
                <a:cs typeface="Microsoft JhengHei"/>
              </a:rPr>
              <a:t>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72390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F5F1E8"/>
                </a:solidFill>
                <a:latin typeface="Inter"/>
                <a:ea typeface="Microsoft JhengHei"/>
                <a:cs typeface="Microsoft JhengHei"/>
              </a:rPr>
              <a:t>從統計驗證到落地建議的一頁摘要：AUC 0.6490 三重指標、Top 0.1% edge +19.5 pp、9/9 治理閘門。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0" y="3619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Source：phase2_report_20260419_152643.json · lopo_pillar_contribution_D20.json · threshold_sweep_xgb_D20.json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— EXECUTIVE SUMMARY · 一頁摘要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16668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800" b="1" i="0" spc="-8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本系統以 </a:t>
            </a:r>
            <a:r>
              <a:rPr sz="3800" b="1" i="0" spc="-8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AUC 0.6490 · ICIR 0.7431 · DSR 12.12</a:t>
            </a:r>
            <a:r>
              <a:rPr sz="3800" b="1" i="0" spc="-8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 三重驗證</a:t>
            </a:r>
            <a:r>
              <a:t/>
            </a:r>
            <a:br/>
            <a:r>
              <a:rPr sz="3800" b="1" i="0" spc="-8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Top 0.1% 選股 edge </a:t>
            </a:r>
            <a:r>
              <a:rPr sz="3800" b="1" i="0" spc="-8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+19.5 pp</a:t>
            </a:r>
            <a:r>
              <a:rPr sz="3800" b="1" i="0" spc="-8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，9/9 治理閘門全數通過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571750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2933700"/>
            <a:ext cx="4114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933700"/>
            <a:ext cx="4114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14325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OOS AUC (D+20)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409950"/>
            <a:ext cx="3657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0.6490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52900"/>
            <a:ext cx="3657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Inter"/>
                <a:ea typeface="Microsoft JhengHei"/>
                <a:cs typeface="Microsoft JhengHei"/>
              </a:rPr>
              <a:t>XGBoost · Walk-Forward Purged K-Fold · 948,976 樣本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81600" y="2933700"/>
            <a:ext cx="4114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81600" y="2933700"/>
            <a:ext cx="41148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10200" y="314325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ICIR · DSR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0200" y="3409950"/>
            <a:ext cx="3657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0.7431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0200" y="4152900"/>
            <a:ext cx="3657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Inter"/>
                <a:ea typeface="Microsoft JhengHei"/>
                <a:cs typeface="Microsoft JhengHei"/>
              </a:rPr>
              <a:t>Mean IC +0.0145 · σ 0.0195 · DSR 12.12 (閾 2.0)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48800" y="2933700"/>
            <a:ext cx="4114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48800" y="2933700"/>
            <a:ext cx="41148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7400" y="314325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Features Retained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7400" y="3409950"/>
            <a:ext cx="3657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 spc="-14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91/1,623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7400" y="4152900"/>
            <a:ext cx="3657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Inter"/>
                <a:ea typeface="Microsoft JhengHei"/>
                <a:cs typeface="Microsoft JhengHei"/>
              </a:rPr>
              <a:t>Corr → MI → VIF 三層漏斗 · 保留率 5.6%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0" y="2933700"/>
            <a:ext cx="4114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716000" y="2933700"/>
            <a:ext cx="41148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44600" y="3143250"/>
            <a:ext cx="36576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Governance Gates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44600" y="3409950"/>
            <a:ext cx="36576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600" b="1" i="0" spc="-140">
                <a:solidFill>
                  <a:srgbClr val="059669"/>
                </a:solidFill>
                <a:latin typeface="Consolas"/>
                <a:ea typeface="Microsoft JhengHei"/>
                <a:cs typeface="Microsoft JhengHei"/>
              </a:rPr>
              <a:t>9/9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44600" y="4152900"/>
            <a:ext cx="3657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  <a:latin typeface="Inter"/>
                <a:ea typeface="Microsoft JhengHei"/>
                <a:cs typeface="Microsoft JhengHei"/>
              </a:rPr>
              <a:t>DSR · PSI · KS · Worst Fold · Embargo · Leak · Lineage · Repro · Sign-off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781550"/>
            <a:ext cx="838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三項核心發現 · KEY FINDINGS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067300"/>
            <a:ext cx="8382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① Risk 支柱為預測引擎地基 ·</a:t>
            </a: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LOPO ΔAUC Risk +138.6 bps、Trend +64.9、Val +9.5、Txt +8.5 排名前四；Chip / Event / Ind 為負貢獻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48350"/>
            <a:ext cx="8382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② 門檻越嚴、edge 越陡 ·</a:t>
            </a: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Top 1% → 0.5% → 0.1% 命中率由 36.82% → 39.64% → 45.79%（基準 26.28%、Top 0.1% 提升 +74.3%）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629400"/>
            <a:ext cx="8382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③ 文本情緒具增量訊號 ·</a:t>
            </a: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Text 支柱 LOPO +8.5 bps · News × Forum 共識相關 0.08 互補非重疊 · 500 keyword Lift × χ² 雙軸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5000" y="4781550"/>
            <a:ext cx="838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三項落地建議 · RECOMMENDATIONS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5000" y="5067300"/>
            <a:ext cx="8382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A580C"/>
                </a:solidFill>
                <a:latin typeface="Inter"/>
                <a:ea typeface="Microsoft JhengHei"/>
                <a:cs typeface="Microsoft JhengHei"/>
              </a:rPr>
              <a:t>01 作為 alpha 過濾器 ·</a:t>
            </a: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Top 1% 候選池每日 4,047 檔取高機率作為主動基金 rebalancing 清單，命中率 36.82% 較基準 +10.54 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0" y="5848350"/>
            <a:ext cx="8382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A580C"/>
                </a:solidFill>
                <a:latin typeface="Inter"/>
                <a:ea typeface="Microsoft JhengHei"/>
                <a:cs typeface="Microsoft JhengHei"/>
              </a:rPr>
              <a:t>02 建立雙軌決策 ·</a:t>
            </a: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保守門檻 0.50（召回 0.70%・命中 37.98%・edge +11.70 pp）／探索門檻 0.40（召回 8.83%・命中 29.41%）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5000" y="6629400"/>
            <a:ext cx="8382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EA580C"/>
                </a:solidFill>
                <a:latin typeface="Inter"/>
                <a:ea typeface="Microsoft JhengHei"/>
                <a:cs typeface="Microsoft JhengHei"/>
              </a:rPr>
              <a:t>03 文本模組獨立治理 ·</a:t>
            </a: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 2025-Q1 txt 支柱 PSI 0.13 飄移警示 · 每月重訓詞向量 · 每季檢視 500 keyword Lift × χ² 清單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7810500"/>
            <a:ext cx="16459200" cy="12573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" y="7810500"/>
            <a:ext cx="57150" cy="12573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2050" y="80010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BOTTOM 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2050" y="8229600"/>
            <a:ext cx="15811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本系統通過 AUC 0.6490 / ICIR 0.7431 / DSR 12.12 三重統計驗證，9 道治理閘門全數通過，</a:t>
            </a:r>
            <a:r>
              <a:rPr sz="16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具備可複製、可驗證、可落地</a:t>
            </a:r>
            <a:r>
              <a:rPr sz="16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 之決策品質；</a:t>
            </a:r>
            <a:r>
              <a:rPr sz="1600" b="1" i="0">
                <a:solidFill>
                  <a:srgbClr val="EA580C"/>
                </a:solidFill>
                <a:latin typeface="Inter"/>
                <a:ea typeface="Microsoft JhengHei"/>
                <a:cs typeface="Microsoft JhengHei"/>
              </a:rPr>
              <a:t>Prob ≥ 0.50 候選池</a:t>
            </a:r>
            <a:r>
              <a:rPr sz="16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 為最具商業價值輸出，適用每日 rebalancing 與風控 overlay。本系統為課程研究成果，不構成任何投資建議。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0" y="3619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Three Commitments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Source：Methodology reference: López de Prado (2018) · Bailey &amp; López de Prado (2014) DSR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— SECTION 01 · 研究立場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1666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不做 </a:t>
            </a:r>
            <a:r>
              <a:rPr sz="4600" b="1" i="0" spc="-120">
                <a:solidFill>
                  <a:srgbClr val="0D9488"/>
                </a:solidFill>
                <a:latin typeface="Inter"/>
                <a:ea typeface="Microsoft JhengHei"/>
                <a:cs typeface="Microsoft JhengHei"/>
              </a:rPr>
              <a:t>黑箱、overfitting、無法重現 </a:t>
            </a:r>
            <a:r>
              <a:rPr sz="46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的研究</a:t>
            </a:r>
            <a:r>
              <a:t/>
            </a:r>
            <a:br/>
            <a:r>
              <a:rPr sz="2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—— 三大學術承諾構成本專案的方法論底線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762250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238500"/>
            <a:ext cx="52578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7300" y="3562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" y="44577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透明 ·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47625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不做黑箱模型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7300" y="54483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7300" y="57150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提供 SHAP Top-20、LOPO ΔAUC、500 keyword Lift × χ²；儀表板「ICIR / Text / Feature Analysis」三頁專用於可解釋性展示。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238500"/>
            <a:ext cx="5257800" cy="57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3700" y="3562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3700" y="44577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嚴謹 · RIGOR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3700" y="47625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不做 overfitting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43700" y="54483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3700" y="57150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Walk-Forward Purged K-Fold + 20 日 embargo · DSR 12.12 通過 150 trials 多重檢定 · PSI / KS 漂移監控 9 支柱 × 30 日。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200" y="3238500"/>
            <a:ext cx="5257800" cy="3924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87200" y="3238500"/>
            <a:ext cx="5257800" cy="571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30100" y="35623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400" b="1" i="0" spc="-200">
                <a:solidFill>
                  <a:srgbClr val="059669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230100" y="4457700"/>
            <a:ext cx="457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240">
                <a:solidFill>
                  <a:srgbClr val="059669"/>
                </a:solidFill>
                <a:latin typeface="Consolas"/>
                <a:ea typeface="Microsoft JhengHei"/>
                <a:cs typeface="Microsoft JhengHei"/>
              </a:rPr>
              <a:t>可重現 · REPRODUCIBILITY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30100" y="47625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不做無法重現的研究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230100" y="5448300"/>
            <a:ext cx="57150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230100" y="571500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每階段 JSON artifact + rng=42 + lineage · Phase 1–6 六份報告 + 13 頁互動 dashboard，可逐頁追溯模型決策。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7391400"/>
            <a:ext cx="16459200" cy="16002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" y="7391400"/>
            <a:ext cx="57150" cy="1600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2050" y="760095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ACADEMIC BASELINE · 學術底線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2050" y="7886700"/>
            <a:ext cx="15811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三承諾為 Phase 1–6 設計約束；任一未守，則統計結論失效。</a:t>
            </a:r>
            <a:r>
              <a:t/>
            </a:r>
            <a:br/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這是與一般「回測看起來很好」的量化原型</a:t>
            </a:r>
            <a:r>
              <a:rPr sz="17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最根本的區隔</a:t>
            </a: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——所有產出可獨立稽核、可第三方重訓。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657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572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73152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82296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91440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0058400"/>
            <a:ext cx="18288000" cy="952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0" y="0"/>
            <a:ext cx="9525" cy="10287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097000" y="0"/>
            <a:ext cx="3429000" cy="381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487900" y="0"/>
            <a:ext cx="38100" cy="7620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429000"/>
            <a:ext cx="57150" cy="51435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573000" y="7620000"/>
            <a:ext cx="4800600" cy="19050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573000" y="7620000"/>
            <a:ext cx="4800600" cy="3810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63500" y="78105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—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500" y="8096250"/>
            <a:ext cx="4572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  <a:r>
              <a:t/>
            </a:r>
            <a:br/>
            <a:r>
              <a:rPr sz="1200" b="0" i="0" spc="14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v11.5.17 · 2026-04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5F1E8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0" y="361950"/>
            <a:ext cx="3619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 spc="24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SECTION DIVIDER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325850" y="428625"/>
            <a:ext cx="9525" cy="15240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21100" y="36195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F5F1E8"/>
                </a:solidFill>
                <a:latin typeface="Consolas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8250" y="3619500"/>
            <a:ext cx="5715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280">
                <a:solidFill>
                  <a:srgbClr val="5EEAD4"/>
                </a:solidFill>
                <a:latin typeface="Consolas"/>
                <a:ea typeface="Microsoft JhengHei"/>
                <a:cs typeface="Microsoft JhengHei"/>
              </a:rPr>
              <a:t>SECTION 02 / 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4076700"/>
            <a:ext cx="112395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0" b="1" i="0" spc="-260">
                <a:solidFill>
                  <a:srgbClr val="FFFFFF"/>
                </a:solidFill>
                <a:latin typeface="Inter"/>
                <a:ea typeface="Microsoft JhengHei"/>
                <a:cs typeface="Microsoft JhengHei"/>
              </a:rPr>
              <a:t>Problem</a:t>
            </a:r>
            <a:r>
              <a:t/>
            </a:r>
            <a:br/>
            <a:r>
              <a:rPr sz="8800" b="1" i="0" spc="-260">
                <a:solidFill>
                  <a:srgbClr val="5EEAD4"/>
                </a:solidFill>
                <a:latin typeface="Inter"/>
                <a:ea typeface="Microsoft JhengHei"/>
                <a:cs typeface="Microsoft JhengHei"/>
              </a:rPr>
              <a:t>&amp;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7239000"/>
            <a:ext cx="1047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F5F1E8"/>
                </a:solidFill>
                <a:latin typeface="Inter"/>
                <a:ea typeface="Microsoft JhengHei"/>
                <a:cs typeface="Microsoft JhengHei"/>
              </a:rPr>
              <a:t>台股短線預測為何無法穿透？三重結構性難題與我們的 6 階段流水線設計。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0" y="3619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Source：Methodology: López de Prado (2018) · 台股文本驗證於 phase1_report_20260419_112854.json §data_integrity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— PROBLEM · 市場痛點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1666875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台股短線預測面臨 </a:t>
            </a:r>
            <a:r>
              <a:rPr sz="4400" b="1" i="0" spc="-120">
                <a:solidFill>
                  <a:srgbClr val="0D9488"/>
                </a:solidFill>
                <a:latin typeface="Inter"/>
                <a:ea typeface="Microsoft JhengHei"/>
                <a:cs typeface="Microsoft JhengHei"/>
              </a:rPr>
              <a:t>三重結構性難題</a:t>
            </a:r>
            <a:r>
              <a:t/>
            </a:r>
            <a:br/>
            <a:r>
              <a:rPr sz="44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傳統單一因子模型無法穿透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71800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1666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主動基金與量化策略瓶頸不在資料取得，而在於「如何在嚴格時序下整合異質訊號並防範洩漏」。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5257800" cy="3771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657600"/>
            <a:ext cx="5257800" cy="571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8200" y="39433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800" b="1" i="0" spc="-1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7300" y="39814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STRUCTURAL 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7300" y="4343400"/>
            <a:ext cx="3543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訊號雜訊比極低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57300" y="4953000"/>
            <a:ext cx="571500" cy="28575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7300" y="51816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日頻波動真正可預測 edge 1–5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5676900"/>
            <a:ext cx="457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Walk-Forward Purged K-Fold + 20 日 embargo 阻斷 forward-looking bias；對應 DSR 12.12 通過 150 trials 多重檢定。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657600"/>
            <a:ext cx="5257800" cy="3771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657600"/>
            <a:ext cx="5257800" cy="571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4600" y="39433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800" b="1" i="0" spc="-16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3700" y="39814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STRUCTURAL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3700" y="4343400"/>
            <a:ext cx="3543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異質訊號難對齊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43700" y="4953000"/>
            <a:ext cx="571500" cy="2857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43700" y="51816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價量 tick / 財報季頻 / PTT 事件頻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3700" y="5676900"/>
            <a:ext cx="457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以 T 日收盤可取得為邊界、財報 lag 45 天、文本僅取 T 日 15:00 前；Feature Store (stock_id, date) 主鍵統一對齊。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0" y="3657600"/>
            <a:ext cx="5257800" cy="37719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887200" y="3657600"/>
            <a:ext cx="5257800" cy="571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621000" y="3943350"/>
            <a:ext cx="1238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800" b="1" i="0" spc="-160">
                <a:solidFill>
                  <a:srgbClr val="E11D48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398145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40">
                <a:solidFill>
                  <a:srgbClr val="94A3B8"/>
                </a:solidFill>
                <a:latin typeface="Consolas"/>
                <a:ea typeface="Microsoft JhengHei"/>
                <a:cs typeface="Microsoft JhengHei"/>
              </a:rPr>
              <a:t>STRUCTURAL TRAP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30100" y="4343400"/>
            <a:ext cx="35433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文本資料品質混雜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230100" y="4953000"/>
            <a:ext cx="571500" cy="2857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230100" y="5181600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>
                <a:solidFill>
                  <a:srgbClr val="E11D48"/>
                </a:solidFill>
                <a:latin typeface="Consolas"/>
                <a:ea typeface="Microsoft JhengHei"/>
                <a:cs typeface="Microsoft JhengHei"/>
              </a:rPr>
              <a:t>1,125,134 筆文本中 ~40% 集中於 Top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676900"/>
            <a:ext cx="457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5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自建台股 500 keyword Lift × χ² 詞表 + 覆蓋率衰減校正 + tickers entity linking 92% 涵蓋率。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7543800"/>
            <a:ext cx="16459200" cy="14478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7543800"/>
            <a:ext cx="57150" cy="1447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2050" y="77533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SO WHAT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2050" y="8039100"/>
            <a:ext cx="1581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三難題構成「短期預測不可重現」的陷阱；本系統以 </a:t>
            </a:r>
            <a:r>
              <a:rPr sz="17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嚴格時序治理 + 多源對齊</a:t>
            </a: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 證明 </a:t>
            </a:r>
            <a:r>
              <a:rPr sz="1700" b="1" i="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AUC 0.6490 / ICIR 0.7431 / DSR 12.12</a:t>
            </a: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 可在未來週期穩定複現，而非回測過擬合的假象。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95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onsolas"/>
                <a:ea typeface="Microsoft JhengHei"/>
                <a:cs typeface="Microsoft JhengHei"/>
              </a:rPr>
              <a:t>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6350" y="36195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多因子股票預測系統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73000" y="361950"/>
            <a:ext cx="4572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 i="0" spc="20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Research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40250" y="428625"/>
            <a:ext cx="9525" cy="152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35500" y="361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 i="0">
                <a:solidFill>
                  <a:srgbClr val="334155"/>
                </a:solidFill>
                <a:latin typeface="Consolas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696450"/>
            <a:ext cx="1238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5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Source：Pipeline doc: 專案說明文件 §3 · artifacts in outputs/reports/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92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344900" y="9810750"/>
            <a:ext cx="1143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97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97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8021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545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069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259300" y="9810750"/>
            <a:ext cx="114300" cy="28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11049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4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— APPROACH · 研究方法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371600"/>
            <a:ext cx="1666875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以 </a:t>
            </a:r>
            <a:r>
              <a:rPr sz="4400" b="1" i="0" spc="-120">
                <a:solidFill>
                  <a:srgbClr val="0D9488"/>
                </a:solidFill>
                <a:latin typeface="Inter"/>
                <a:ea typeface="Microsoft JhengHei"/>
                <a:cs typeface="Microsoft JhengHei"/>
              </a:rPr>
              <a:t>6 階段流水線 </a:t>
            </a:r>
            <a:r>
              <a:rPr sz="44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從原始資料走到決策清單</a:t>
            </a:r>
            <a:r>
              <a:t/>
            </a:r>
            <a:br/>
            <a:r>
              <a:rPr sz="4400" b="1" i="0" spc="-12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每階段皆有可稽核產出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971800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33375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33375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5433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5623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Ingest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9243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資料清洗與對齊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34340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7 表 · 3,483,598 列 ETL · 除權息補償、RSI 異常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501015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1244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↪ phase1_report.json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333375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53200" y="333375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1800" y="35433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9000" y="35623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Feature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39243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特徵工程與選擇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434340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1,623 → 91 · Purged K-Fold · 20 日 embargo · 948,976 樣本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81800" y="501015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81800" y="51244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↪ phase2_report.json · feature_store.parquet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92000" y="333375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192000" y="3333750"/>
            <a:ext cx="54102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20600" y="35433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77800" y="35623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1E3A8A"/>
                </a:solidFill>
                <a:latin typeface="Consolas"/>
                <a:ea typeface="Microsoft JhengHei"/>
                <a:cs typeface="Microsoft JhengHei"/>
              </a:rPr>
              <a:t>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20600" y="39243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模型訓練與調參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20600" y="434340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XGBoost / LightGBM / Logistic / RF · Optuna 150 trials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420600" y="501015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420600" y="51244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↪ model_registry/*.pkl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65785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" y="565785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58674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58864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Explain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62484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歸因分析 · LOPO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666750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Leave-One-Pillar-Out · SHAP summary · ΔAUC × 10,000 bps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733425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74485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↪ lopo_pillar_contribution_D20.json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565785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53200" y="565785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81800" y="58674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39000" y="58864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Backtest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1800" y="62484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門檻掃描 · 回測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81800" y="666750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門檻 0.40 / 0.50 / 0.60 命中 58.7 / 67.8 / 72.3% · 三情境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81800" y="733425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81800" y="74485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↪ threshold_sweep_xgb_D20.json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92000" y="5657850"/>
            <a:ext cx="54102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192000" y="5657850"/>
            <a:ext cx="54102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420600" y="5867400"/>
            <a:ext cx="76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-6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77800" y="588645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 spc="200">
                <a:solidFill>
                  <a:srgbClr val="EA580C"/>
                </a:solidFill>
                <a:latin typeface="Consolas"/>
                <a:ea typeface="Microsoft JhengHei"/>
                <a:cs typeface="Microsoft JhengHei"/>
              </a:rPr>
              <a:t>Govern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420600" y="6248400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治理閘門 · 交付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420600" y="6667500"/>
            <a:ext cx="49530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334155"/>
                </a:solidFill>
                <a:latin typeface="Inter"/>
                <a:ea typeface="Microsoft JhengHei"/>
                <a:cs typeface="Microsoft JhengHei"/>
              </a:rPr>
              <a:t>DSR / PSI / KS / embargo / 最差 fold / lineage 9 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420600" y="7334250"/>
            <a:ext cx="495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420600" y="7448550"/>
            <a:ext cx="4953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40">
                <a:solidFill>
                  <a:srgbClr val="64748B"/>
                </a:solidFill>
                <a:latin typeface="Consolas"/>
                <a:ea typeface="Microsoft JhengHei"/>
                <a:cs typeface="Microsoft JhengHei"/>
              </a:rPr>
              <a:t>↪ phase6_gates.json · dashboard/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400" y="7848600"/>
            <a:ext cx="16459200" cy="11811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4400" y="7848600"/>
            <a:ext cx="57150" cy="1181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62050" y="80581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0D9488"/>
                </a:solidFill>
                <a:latin typeface="Consolas"/>
                <a:ea typeface="Microsoft JhengHei"/>
                <a:cs typeface="Microsoft JhengHei"/>
              </a:rPr>
              <a:t>DESIGN PRINCIPLE · 設計原則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62050" y="8343900"/>
            <a:ext cx="15811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每階段皆產出 JSON 報告 + 摘要 + artifact，dashboard 可逐頁追溯；</a:t>
            </a: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所有 random seed = 42、所有切分 lineage 可重訓，</a:t>
            </a:r>
            <a:r>
              <a:rPr sz="1700" b="1" i="0">
                <a:solidFill>
                  <a:srgbClr val="1E3A8A"/>
                </a:solidFill>
                <a:latin typeface="Inter"/>
                <a:ea typeface="Microsoft JhengHei"/>
                <a:cs typeface="Microsoft JhengHei"/>
              </a:rPr>
              <a:t>從 raw → 決策清單</a:t>
            </a:r>
            <a:r>
              <a:rPr sz="1700" b="0" i="0">
                <a:solidFill>
                  <a:srgbClr val="0F172A"/>
                </a:solidFill>
                <a:latin typeface="Inter"/>
                <a:ea typeface="Microsoft JhengHei"/>
                <a:cs typeface="Microsoft JhengHei"/>
              </a:rPr>
              <a:t> 任一節點皆可被獨立復現。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