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91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TAIWAN EQUITY · QUANT RESEARCH TERMINAL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419100"/>
            <a:ext cx="6286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NTU · BIG DATA &amp; BUSINESS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00200"/>
            <a:ext cx="5715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90700"/>
            <a:ext cx="6667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spc="2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STRATEGIC RESEARCH DECK · v11.5.18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0750"/>
            <a:ext cx="9525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0" b="1" i="0" spc="-2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台股多因子</a:t>
            </a:r>
            <a:r>
              <a:t/>
            </a:r>
            <a:br/>
            <a:r>
              <a:rPr sz="7800" b="1" i="0" spc="-20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預測系統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648200"/>
            <a:ext cx="9525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57750"/>
            <a:ext cx="9525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台股短線是噪聲、</a:t>
            </a:r>
            <a:r>
              <a:rPr sz="22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alpha 在中長線基本面結構</a:t>
            </a:r>
            <a:r>
              <a:t/>
            </a:r>
            <a:br/>
            <a:r>
              <a:rPr sz="17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以 9 支柱因子棋盤、</a:t>
            </a:r>
            <a:r>
              <a:rPr sz="17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948,976</a:t>
            </a:r>
            <a:r>
              <a:rPr sz="17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 樣本、</a:t>
            </a:r>
            <a:r>
              <a:rPr sz="17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505</a:t>
            </a:r>
            <a:r>
              <a:rPr sz="17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 交易日，</a:t>
            </a:r>
            <a:r>
              <a:t/>
            </a:r>
            <a:br/>
            <a:r>
              <a:rPr sz="17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於 D+20 方向預測產出可部署的選股訊號。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6572250"/>
            <a:ext cx="95250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6572250"/>
            <a:ext cx="9525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1100" y="6781800"/>
            <a:ext cx="29051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OOS AUC · D+20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1100" y="7010400"/>
            <a:ext cx="29051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6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0.6455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1100" y="7600950"/>
            <a:ext cx="29051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XGBoost · 4-fold WFPK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86225" y="6781800"/>
            <a:ext cx="9525" cy="8191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2925" y="6781800"/>
            <a:ext cx="29051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DSR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2925" y="7010400"/>
            <a:ext cx="29051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6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12.12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2925" y="7600950"/>
            <a:ext cx="29051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閾 3.0 · 多重檢定通過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58050" y="6781800"/>
            <a:ext cx="9525" cy="8191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4750" y="6781800"/>
            <a:ext cx="29051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CAGR · TOP 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4750" y="7010400"/>
            <a:ext cx="29051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6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+36.8%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4750" y="7600950"/>
            <a:ext cx="29051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vs TAIEX +12.4%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029950" y="1790700"/>
            <a:ext cx="30480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029950" y="1790700"/>
            <a:ext cx="3048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39500" y="2000250"/>
            <a:ext cx="2628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39500" y="2266950"/>
            <a:ext cx="26289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 spc="-1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91 / 1,623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39500" y="3105150"/>
            <a:ext cx="2628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三層漏斗 · 保留 5.6%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154150" y="1790700"/>
            <a:ext cx="30480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154150" y="1790700"/>
            <a:ext cx="3048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363700" y="2000250"/>
            <a:ext cx="2628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ICIR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363700" y="2266950"/>
            <a:ext cx="26289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 spc="-10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0.7431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63700" y="3105150"/>
            <a:ext cx="2628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4 折 IC 一致性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029950" y="3771900"/>
            <a:ext cx="30480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029950" y="3771900"/>
            <a:ext cx="30480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239500" y="3981450"/>
            <a:ext cx="2628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GATES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39500" y="4248150"/>
            <a:ext cx="26289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 spc="-10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9 / 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39500" y="5086350"/>
            <a:ext cx="2628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治理關卡全數通過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154150" y="3771900"/>
            <a:ext cx="30480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4154150" y="3771900"/>
            <a:ext cx="3048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363700" y="3981450"/>
            <a:ext cx="2628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SAMPLES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363700" y="4248150"/>
            <a:ext cx="26289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 spc="-1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948,976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363700" y="5086350"/>
            <a:ext cx="2628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1,930 檔 × 505 交易日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029950" y="6572250"/>
            <a:ext cx="62865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029950" y="6572250"/>
            <a:ext cx="62865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239500" y="6781800"/>
            <a:ext cx="590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WHAT YOU'LL HEAR · 12 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39500" y="7067550"/>
            <a:ext cx="5905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一個結論：</a:t>
            </a: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台股 D+20 alpha 可預測、可驗證、可部署。</a:t>
            </a:r>
            <a:r>
              <a:t/>
            </a:r>
            <a:br/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三段路徑：</a:t>
            </a: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切角 → 方法 → 證據 → 落地。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8172450"/>
            <a:ext cx="16459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8343900"/>
            <a:ext cx="3429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6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TEAM · 6 MEMBERS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8591550"/>
            <a:ext cx="857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R13724054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8591550"/>
            <a:ext cx="1143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陳柏寰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90850" y="8591550"/>
            <a:ext cx="857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R13724035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05250" y="8591550"/>
            <a:ext cx="1143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陳又萍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67300" y="8591550"/>
            <a:ext cx="857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R13724051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81700" y="8591550"/>
            <a:ext cx="1143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謝瑞洋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8839200"/>
            <a:ext cx="857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R13724056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28800" y="8839200"/>
            <a:ext cx="1143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李泰坤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90850" y="8839200"/>
            <a:ext cx="857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B12302131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05250" y="8839200"/>
            <a:ext cx="1143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林芮靚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67300" y="8839200"/>
            <a:ext cx="857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B13102133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81700" y="8839200"/>
            <a:ext cx="1143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沈承寬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20000" y="8343900"/>
            <a:ext cx="2286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6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COURSE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20000" y="8591550"/>
            <a:ext cx="3619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NTU · Big Data &amp; Business Analytics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20000" y="8839200"/>
            <a:ext cx="3619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大數據與商業分析專案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620500" y="8343900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6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VERSION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620500" y="859155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v11.5.18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4097000" y="8343900"/>
            <a:ext cx="3276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 spc="26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DATE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4097000" y="8591550"/>
            <a:ext cx="32766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April 2026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097000" y="8839200"/>
            <a:ext cx="3276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Academic Project · 課堂簡報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954500" y="96964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72050" y="40005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8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· v11.5.18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Problem Framing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phase1_report_20260419_112854.json · López de Prado (2018) §7.4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59000" y="975360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SETUP</a:t>
            </a:r>
          </a:p>
        </p:txBody>
      </p:sp>
      <p:sp>
        <p:nvSpPr>
          <p:cNvPr id="12" name="Oval 11"/>
          <p:cNvSpPr/>
          <p:nvPr/>
        </p:nvSpPr>
        <p:spPr>
          <a:xfrm>
            <a:off x="16525875" y="97917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74495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9545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0668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— PROBLEM · 為什麼鎖定 D+20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352550"/>
            <a:ext cx="164592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8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台股短線是噪聲、</a:t>
            </a:r>
            <a:r>
              <a:rPr sz="3800" b="1" i="0" spc="-8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alpha 在中長線基本面結構</a:t>
            </a:r>
            <a:r>
              <a:t/>
            </a:r>
            <a:br/>
            <a:r>
              <a:rPr sz="18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我們的切點：以 D+20 為視窗、結構化基本面 × 文本 × 籌碼三軸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667000"/>
            <a:ext cx="762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2933700"/>
            <a:ext cx="5257800" cy="3962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2933700"/>
            <a:ext cx="52578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1100" y="3162300"/>
            <a:ext cx="4724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EVIDENCE · 短線是噪聲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1100" y="3448050"/>
            <a:ext cx="4724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日頻 edge 多落 1–5 pp、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1100" y="3790950"/>
            <a:ext cx="4724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統計 IC 跨 fold 不一致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1100" y="4248150"/>
            <a:ext cx="571500" cy="285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1100" y="4438650"/>
            <a:ext cx="4724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日頻波動由 </a:t>
            </a: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HFT 飽和 + 散戶情緒</a:t>
            </a:r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 主導、</a:t>
            </a:r>
            <a:r>
              <a:t/>
            </a:r>
            <a:br/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可預測 edge 多落 1–5 pp、跨 fold 方向反覆。</a:t>
            </a:r>
            <a:r>
              <a:t/>
            </a:r>
            <a:br/>
            <a:r>
              <a:t/>
            </a:r>
            <a:br/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在 Walk-Forward 嚴格時序驗證下、</a:t>
            </a:r>
            <a:r>
              <a:t/>
            </a:r>
            <a:br/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短線預測無法穩定複現、</a:t>
            </a:r>
            <a:r>
              <a:t/>
            </a:r>
            <a:br/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回測亮眼亦多為過擬合假象。</a:t>
            </a:r>
            <a:r>
              <a:t/>
            </a:r>
            <a:br/>
            <a:r>
              <a:t/>
            </a:r>
            <a:br/>
            <a:r>
              <a:rPr sz="1300" b="0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→ </a:t>
            </a:r>
            <a:r>
              <a:rPr sz="1300" b="0" i="1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不應在日頻層做下注決策。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15100" y="2933700"/>
            <a:ext cx="5257800" cy="3962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15100" y="2933700"/>
            <a:ext cx="52578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1800" y="3162300"/>
            <a:ext cx="4724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OUR ANGLE · 三軸對齊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1800" y="3448050"/>
            <a:ext cx="4724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基本面 × 文本 × 籌碼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1800" y="3790950"/>
            <a:ext cx="4724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於 D+20 收斂為共振訊號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81800" y="4248150"/>
            <a:ext cx="571500" cy="285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1800" y="4438650"/>
            <a:ext cx="4724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財報季頻、文本日頻、籌碼日頻，</a:t>
            </a:r>
            <a:r>
              <a:t/>
            </a:r>
            <a:br/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以 </a:t>
            </a: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(stock_id, date)</a:t>
            </a:r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 為主鍵對齊；</a:t>
            </a:r>
            <a:r>
              <a:t/>
            </a:r>
            <a:br/>
            <a:r>
              <a:t/>
            </a:r>
            <a:br/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財報 lag 45 天、文本只取 T 日 15:00 前、</a:t>
            </a:r>
            <a:r>
              <a:t/>
            </a:r>
            <a:br/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point-in-time 規範全面落地、</a:t>
            </a:r>
            <a:r>
              <a:t/>
            </a:r>
            <a:br/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forward-looking bias 從源頭阻斷。</a:t>
            </a:r>
            <a:r>
              <a:t/>
            </a:r>
            <a:br/>
            <a:r>
              <a:t/>
            </a:r>
            <a:br/>
            <a:r>
              <a:rPr sz="1300" b="0" i="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→ </a:t>
            </a:r>
            <a:r>
              <a:rPr sz="1300" b="0" i="1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同一決策日只看當下可見的訊息。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115800" y="2933700"/>
            <a:ext cx="5257800" cy="3962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115800" y="2933700"/>
            <a:ext cx="52578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82500" y="3162300"/>
            <a:ext cx="4724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HORIZON · 為什麼 D+20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82500" y="3448050"/>
            <a:ext cx="4724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D+20 為訊號收斂、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82500" y="3790950"/>
            <a:ext cx="4724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雜訊衰退的最佳視窗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382500" y="4248150"/>
            <a:ext cx="5715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382500" y="4438650"/>
            <a:ext cx="4724400" cy="123825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496800" y="4533900"/>
            <a:ext cx="4495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ICIR vs HORIZON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687300" y="5381625"/>
            <a:ext cx="533400" cy="10477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611100" y="5229225"/>
            <a:ext cx="6858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0.18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611100" y="5524500"/>
            <a:ext cx="6858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D+1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00" y="5286375"/>
            <a:ext cx="533400" cy="2000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639800" y="5133975"/>
            <a:ext cx="6858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0.32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639800" y="5524500"/>
            <a:ext cx="6858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D+5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744700" y="5029200"/>
            <a:ext cx="533400" cy="457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668500" y="4876800"/>
            <a:ext cx="6858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0.74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668500" y="5524500"/>
            <a:ext cx="6858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D+20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773400" y="5210175"/>
            <a:ext cx="533400" cy="2762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697200" y="5057775"/>
            <a:ext cx="6858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0.45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697200" y="5524500"/>
            <a:ext cx="6858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D+60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382500" y="5829300"/>
            <a:ext cx="47244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D+20 ICIR 0.7431 顯著高於 D+1 / D+5；</a:t>
            </a:r>
            <a:r>
              <a:t/>
            </a:r>
            <a:br/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基本面訊號約於 1 個月窗口進入價格、</a:t>
            </a:r>
            <a:r>
              <a:t/>
            </a:r>
            <a:br/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半衰期 &gt; 1 個月，</a:t>
            </a:r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對應中長線部位。</a:t>
            </a:r>
            <a:r>
              <a:t/>
            </a:r>
            <a:br/>
            <a:r>
              <a:rPr sz="1300" b="0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→ </a:t>
            </a:r>
            <a:r>
              <a:rPr sz="1300" b="0" i="1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D+20 是訊號最強、雜訊已收斂的甜蜜點。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7162800"/>
            <a:ext cx="16459200" cy="14859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4400" y="7162800"/>
            <a:ext cx="57150" cy="14859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62050" y="73342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SO WHAT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62050" y="7620000"/>
            <a:ext cx="158877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台股 alpha 並非不存在、</a:t>
            </a:r>
            <a:r>
              <a:rPr sz="16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而是被錯誤時序與單一因子框架所遮蔽；</a:t>
            </a:r>
            <a:r>
              <a:t/>
            </a:r>
            <a:br/>
            <a:r>
              <a:rPr sz="16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把切點放到 D+20 中長線、</a:t>
            </a:r>
            <a:r>
              <a:rPr sz="16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以三軸結構化訊號、Walk-Forward 嚴格驗證，</a:t>
            </a:r>
            <a:r>
              <a:rPr sz="16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下一頁交代資料、特徵、模型、驗證的完整流水。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72050" y="40005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8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· v11.5.18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Methodology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phase1_report_20260419_112854.json · phase2_report_20260419_152643.json · López de Prado (2018) §7.4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59000" y="975360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SETUP</a:t>
            </a:r>
          </a:p>
        </p:txBody>
      </p:sp>
      <p:sp>
        <p:nvSpPr>
          <p:cNvPr id="12" name="Oval 11"/>
          <p:cNvSpPr/>
          <p:nvPr/>
        </p:nvSpPr>
        <p:spPr>
          <a:xfrm>
            <a:off x="16525875" y="97917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74495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9545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0668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— METHODOLOGY · 一頁交代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352550"/>
            <a:ext cx="164592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1,623 → 91 特徵 · XGBoost · </a:t>
            </a:r>
            <a:r>
              <a:rPr sz="3600" b="1" i="0" spc="-8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Walk-Forward Purged K-Fold</a:t>
            </a:r>
            <a:r>
              <a:t/>
            </a:r>
            <a:br/>
            <a:r>
              <a:rPr sz="17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資料 → 特徵 → 模型 → 驗證、</a:t>
            </a:r>
            <a:r>
              <a:rPr sz="17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948,976 樣本、</a:t>
            </a:r>
            <a:r>
              <a:rPr sz="17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20 日 embargo 阻斷洩漏。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667000"/>
            <a:ext cx="762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2971800"/>
            <a:ext cx="5410200" cy="36957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2971800"/>
            <a:ext cx="54102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3200400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01 · FEATURE FUNNEL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486150"/>
            <a:ext cx="4953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 spc="-16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1,623</a:t>
            </a:r>
            <a:r>
              <a:rPr sz="3600" b="0" i="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  →  </a:t>
            </a:r>
            <a:r>
              <a:rPr sz="6000" b="1" i="0" spc="-1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91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267200"/>
            <a:ext cx="4953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保留率 5.6% · Corr → MI → VIF 三層漏斗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629150"/>
            <a:ext cx="2724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原始候選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7150" y="4629150"/>
            <a:ext cx="1238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4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跨 9 支柱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8250" y="4629150"/>
            <a:ext cx="1047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1,623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4838700"/>
            <a:ext cx="4953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4838700"/>
            <a:ext cx="4953000" cy="76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048250"/>
            <a:ext cx="2724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Corr ≤ 0.85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67150" y="5048250"/>
            <a:ext cx="1238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4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剔除共線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8250" y="5048250"/>
            <a:ext cx="1047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870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5257800"/>
            <a:ext cx="4953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" y="5257800"/>
            <a:ext cx="2667000" cy="76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2724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MI top-K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67150" y="5467350"/>
            <a:ext cx="1238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4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互資訊保留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8250" y="5467350"/>
            <a:ext cx="1047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287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5676900"/>
            <a:ext cx="4953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43000" y="5676900"/>
            <a:ext cx="885825" cy="76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5886450"/>
            <a:ext cx="2724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VIF &lt; 5 · 業務檢查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67150" y="5886450"/>
            <a:ext cx="1238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4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進場特徵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250" y="5886450"/>
            <a:ext cx="1047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91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6096000"/>
            <a:ext cx="4953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3000" y="6096000"/>
            <a:ext cx="276225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38900" y="2971800"/>
            <a:ext cx="5410200" cy="36957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8900" y="2971800"/>
            <a:ext cx="54102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67500" y="3200400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02 · MODEL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67500" y="3486150"/>
            <a:ext cx="495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XGBoost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67500" y="4057650"/>
            <a:ext cx="4953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Optuna 150 trials · early stopping · 4 折交叉訓練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67500" y="4457700"/>
            <a:ext cx="2857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OOS AUC vs 對照組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67500" y="4762500"/>
            <a:ext cx="22288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XGBoost 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43975" y="4819650"/>
            <a:ext cx="20764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943975" y="4819650"/>
            <a:ext cx="1800225" cy="76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763250" y="4762500"/>
            <a:ext cx="8572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0.6455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67500" y="5124450"/>
            <a:ext cx="22288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LightGBM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43975" y="5181600"/>
            <a:ext cx="20764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943975" y="5181600"/>
            <a:ext cx="1657350" cy="76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63250" y="5124450"/>
            <a:ext cx="8572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0.6381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67500" y="5486400"/>
            <a:ext cx="22288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Random Forest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43975" y="5543550"/>
            <a:ext cx="20764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943975" y="5543550"/>
            <a:ext cx="1257300" cy="76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763250" y="5486400"/>
            <a:ext cx="8572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0.6168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67500" y="5848350"/>
            <a:ext cx="22288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Logistic Reg.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43975" y="5905500"/>
            <a:ext cx="20764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943975" y="5905500"/>
            <a:ext cx="704850" cy="76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763250" y="5848350"/>
            <a:ext cx="8572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0.5874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963400" y="2971800"/>
            <a:ext cx="5410200" cy="36957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963400" y="2971800"/>
            <a:ext cx="54102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2192000" y="3200400"/>
            <a:ext cx="2286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03 · VALIDATION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92000" y="3486150"/>
            <a:ext cx="495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 spc="-1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WFPK · 4 fold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92000" y="3981450"/>
            <a:ext cx="4953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+ 20 日 embargo · D+20 horizon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92000" y="4343400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時序結構（% × 樣本軸）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92000" y="46482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2801600" y="4686300"/>
            <a:ext cx="962025" cy="1333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3763625" y="4686300"/>
            <a:ext cx="24765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4011275" y="4686300"/>
            <a:ext cx="495300" cy="1333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2192000" y="49911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2801600" y="5029200"/>
            <a:ext cx="1257300" cy="1333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4058900" y="5029200"/>
            <a:ext cx="24765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4306550" y="5029200"/>
            <a:ext cx="581025" cy="1333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2192000" y="53340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2801600" y="5372100"/>
            <a:ext cx="1590675" cy="1333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4392275" y="5372100"/>
            <a:ext cx="24765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4639925" y="5372100"/>
            <a:ext cx="581025" cy="1333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2192000" y="56769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2801600" y="5715000"/>
            <a:ext cx="1924050" cy="1333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4725650" y="5715000"/>
            <a:ext cx="24765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4973300" y="5715000"/>
            <a:ext cx="581025" cy="1333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2192000" y="6067425"/>
            <a:ext cx="95250" cy="76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2344400" y="6019800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Train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3430250" y="6067425"/>
            <a:ext cx="9525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3582650" y="6019800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Embargo 20d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4668500" y="6067425"/>
            <a:ext cx="95250" cy="76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4820900" y="6019800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Test OOS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14400" y="6858000"/>
            <a:ext cx="16459200" cy="7239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04900" y="6991350"/>
            <a:ext cx="381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6-PHASE PIPELINE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04900" y="7219950"/>
            <a:ext cx="25336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01 · Ingest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04900" y="7410450"/>
            <a:ext cx="2533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7 表 3.48M 列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57600" y="7219950"/>
            <a:ext cx="114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›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733800" y="7219950"/>
            <a:ext cx="25336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02 · Feature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733800" y="7410450"/>
            <a:ext cx="2533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1,623 → 91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86500" y="7219950"/>
            <a:ext cx="114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›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62700" y="7219950"/>
            <a:ext cx="25336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03 · Model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362700" y="7410450"/>
            <a:ext cx="2533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XGB Optuna 150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24925" y="7219950"/>
            <a:ext cx="114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›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001125" y="7219950"/>
            <a:ext cx="25336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04 · Explain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001125" y="7410450"/>
            <a:ext cx="2533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SHAP · LOPO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553825" y="7219950"/>
            <a:ext cx="114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›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630025" y="7219950"/>
            <a:ext cx="25336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05 · Backtest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630025" y="7410450"/>
            <a:ext cx="2533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40 門檻 OOS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4182725" y="7219950"/>
            <a:ext cx="114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›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4258925" y="7219950"/>
            <a:ext cx="25336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06 · Govern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4258925" y="7410450"/>
            <a:ext cx="2533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9 / 9 PASS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14400" y="7810500"/>
            <a:ext cx="16459200" cy="12573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14400" y="7810500"/>
            <a:ext cx="57150" cy="12573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62050" y="79819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POINT-IN-TIME DISCIPLINE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62050" y="8267700"/>
            <a:ext cx="158877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財報 lag 45 天、文本 T 日 15:00 截止、</a:t>
            </a: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(stock_id, date) </a:t>
            </a:r>
            <a:r>
              <a:rPr sz="15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主鍵對齊；</a:t>
            </a:r>
            <a:r>
              <a:t/>
            </a:r>
            <a:br/>
            <a:r>
              <a:rPr sz="15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20 日 embargo 解決 D+20 標籤跨期重疊，</a:t>
            </a:r>
            <a:r>
              <a:rPr sz="1500" b="1" i="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是 DSR 12.12 通過多重檢定的關鍵前提。</a:t>
            </a:r>
            <a:r>
              <a:rPr sz="1300" b="0" i="1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   → 詳 Appendix A.04 / A.05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72050" y="40005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8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· v11.5.18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Headline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phase2_report_20260419_152643.json §model_horizon_1.xgboost · DSR per Bailey &amp; López de Prado (2014)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59000" y="975360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FINDINGS</a:t>
            </a:r>
          </a:p>
        </p:txBody>
      </p:sp>
      <p:sp>
        <p:nvSpPr>
          <p:cNvPr id="12" name="Oval 11"/>
          <p:cNvSpPr/>
          <p:nvPr/>
        </p:nvSpPr>
        <p:spPr>
          <a:xfrm>
            <a:off x="165354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735425" y="97917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9545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0668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— HEADLINE · 四個獨立指標、同一結論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352550"/>
            <a:ext cx="164592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 i="0" spc="-6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四項獨立統計檢定一致指向 </a:t>
            </a:r>
            <a:r>
              <a:rPr sz="3600" b="1" i="0" spc="-6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D+20 alpha 確實存在</a:t>
            </a:r>
            <a:r>
              <a:t/>
            </a:r>
            <a:br/>
            <a:r>
              <a:rPr sz="17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預測強度（AUC）、IC 穩定性（ICIR）、多重檢定（DSR）、選股效益（Top 1%）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667000"/>
            <a:ext cx="762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2971800"/>
            <a:ext cx="4019550" cy="2362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2971800"/>
            <a:ext cx="40195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3181350"/>
            <a:ext cx="35623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OOS AUC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86200" y="3143250"/>
            <a:ext cx="85725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6200" y="3143250"/>
            <a:ext cx="8572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spc="16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預測強度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524250"/>
            <a:ext cx="35623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 i="0" spc="-2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0.6455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4591050"/>
            <a:ext cx="5715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743450"/>
            <a:ext cx="35623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XGBoost · D+20
4 折一致 · σ 0.0089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67300" y="2971800"/>
            <a:ext cx="4019550" cy="2362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7300" y="2971800"/>
            <a:ext cx="40195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95900" y="3181350"/>
            <a:ext cx="35623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ICIR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39100" y="3143250"/>
            <a:ext cx="85725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39100" y="3143250"/>
            <a:ext cx="8572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spc="16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IC 穩定性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95900" y="3524250"/>
            <a:ext cx="35623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 i="0" spc="-20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0.7431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5900" y="4591050"/>
            <a:ext cx="571500" cy="285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95900" y="4743450"/>
            <a:ext cx="35623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Mean IC / σ
跨 fold 方向一致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20200" y="2971800"/>
            <a:ext cx="4019550" cy="2362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20200" y="2971800"/>
            <a:ext cx="40195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48800" y="3181350"/>
            <a:ext cx="35623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DSR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192000" y="3143250"/>
            <a:ext cx="85725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192000" y="3143250"/>
            <a:ext cx="8572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spc="16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統計穩健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48800" y="3524250"/>
            <a:ext cx="35623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 i="0" spc="-2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12.12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48800" y="4591050"/>
            <a:ext cx="5715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48800" y="4743450"/>
            <a:ext cx="35623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扣 150 trials 多重檢定
閾 3.0 · 通過顯著性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373100" y="2971800"/>
            <a:ext cx="4019550" cy="2362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3373100" y="2971800"/>
            <a:ext cx="40195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601700" y="3181350"/>
            <a:ext cx="35623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TOP 1% HIT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344900" y="3143250"/>
            <a:ext cx="85725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344900" y="3143250"/>
            <a:ext cx="8572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spc="1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選股效益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601700" y="3524250"/>
            <a:ext cx="35623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 i="0" spc="-20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36.81%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601700" y="4591050"/>
            <a:ext cx="571500" cy="285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601700" y="4743450"/>
            <a:ext cx="35623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+10.53 pp vs base 26.28%
相對提升 +40.1%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" y="5524500"/>
            <a:ext cx="16459200" cy="1600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04900" y="569595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CONSISTENCY · 4 折 OOS AUC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4900" y="592455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四折落於 0.633 – 0.656、跨 fold 標準差僅 0.0089 · 證據非過擬合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4900" y="628650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FOLD 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4900" y="6496050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2023 Q4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0" y="6362700"/>
            <a:ext cx="3429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00400" y="6362700"/>
            <a:ext cx="266700" cy="76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29050" y="6286500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-2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0.6481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67300" y="628650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FOLD 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67300" y="6496050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2024 Q1–Q2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62800" y="6362700"/>
            <a:ext cx="3429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62800" y="6362700"/>
            <a:ext cx="257175" cy="76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91450" y="6286500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-2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0.6463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29700" y="628650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FOLD 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29700" y="6496050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2024 Q2–Q3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125200" y="6362700"/>
            <a:ext cx="3429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125200" y="6362700"/>
            <a:ext cx="180975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753850" y="6286500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-2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0.6332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992100" y="628650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FOLD 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992100" y="6496050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2024 Q4–25 Q1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087600" y="6362700"/>
            <a:ext cx="3429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5087600" y="6362700"/>
            <a:ext cx="304800" cy="76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5716250" y="6286500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-2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0.6543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0" y="7315200"/>
            <a:ext cx="16459200" cy="12573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14400" y="7315200"/>
            <a:ext cx="57150" cy="12573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62050" y="74866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BOTTOM LINE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62050" y="7772400"/>
            <a:ext cx="158877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同一結論在四項獨立檢定下成立、跨四個 fold 重複出現、</a:t>
            </a:r>
            <a:r>
              <a:rPr sz="16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排除 p-hacking 與單期僥倖；</a:t>
            </a:r>
            <a:r>
              <a:t/>
            </a:r>
            <a:br/>
            <a:r>
              <a:rPr sz="16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Top 1% 命中 36.81%、比基準高 </a:t>
            </a:r>
            <a:r>
              <a:rPr sz="16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+10.53 pp</a:t>
            </a:r>
            <a:r>
              <a:rPr sz="16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——可下單的選股訊號、非回測假象。</a:t>
            </a:r>
          </a:p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→ 下一頁交代統計穩健性 · 詳 Appendix A.11 / A.12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72050" y="40005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8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· v11.5.18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Statistical Rigor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phase3_report_20260426_RESOLVED.json · DSR per Bailey &amp; López de Prado (2014) · PSI per Basel III FRTB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59000" y="975360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FINDINGS</a:t>
            </a:r>
          </a:p>
        </p:txBody>
      </p:sp>
      <p:sp>
        <p:nvSpPr>
          <p:cNvPr id="12" name="Oval 11"/>
          <p:cNvSpPr/>
          <p:nvPr/>
        </p:nvSpPr>
        <p:spPr>
          <a:xfrm>
            <a:off x="165354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735425" y="97917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9545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1049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— RIGOR · 統計穩健 ＋ 治理關卡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371600"/>
            <a:ext cx="1666875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400" b="1" i="0" spc="-1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DSR 12.12 </a:t>
            </a:r>
            <a:r>
              <a:rPr sz="4400" b="1" i="0" spc="-8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≫ </a:t>
            </a:r>
            <a:r>
              <a:rPr sz="4400" b="1" i="0" spc="-1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3.0 顯著</a:t>
            </a:r>
            <a:r>
              <a:rPr sz="44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、</a:t>
            </a:r>
            <a:r>
              <a:rPr sz="4400" b="1" i="0" spc="-10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9 / 9 治理關卡 </a:t>
            </a:r>
            <a:r>
              <a:rPr sz="4400" b="1" i="0" spc="-8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PASS</a:t>
            </a:r>
            <a:r>
              <a:t/>
            </a:r>
            <a:br/>
            <a:r>
              <a:rPr sz="2400" b="1" i="0" spc="-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結論並非運氣、</a:t>
            </a:r>
            <a:r>
              <a:rPr sz="2400" b="1" i="0" spc="-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並非過擬合、</a:t>
            </a:r>
            <a:r>
              <a:rPr sz="2400" b="1" i="0" spc="-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可獨立稽核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724150"/>
            <a:ext cx="762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2990850"/>
            <a:ext cx="51435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2990850"/>
            <a:ext cx="51435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3950" y="3200400"/>
            <a:ext cx="457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DEFLATED SHARPE · 多重檢定後的真 Sharpe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3950" y="3543300"/>
            <a:ext cx="476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Bailey &amp; López de Prado (2014)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3950" y="3962400"/>
            <a:ext cx="47625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400" b="1" i="0" spc="-2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12.12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3950" y="506730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spc="16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DSR · 多重檢定後仍顯著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23950" y="5448300"/>
            <a:ext cx="4724400" cy="1333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3950" y="5448300"/>
            <a:ext cx="1181100" cy="13335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05050" y="5448300"/>
            <a:ext cx="3543300" cy="13335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95525" y="5410200"/>
            <a:ext cx="19050" cy="2095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19300" y="563880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3.0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81025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 spc="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臨界值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10250" y="5391150"/>
            <a:ext cx="38100" cy="2476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76850" y="563880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12.12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3950" y="61531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實作流程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23950" y="6496050"/>
            <a:ext cx="5715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76350" y="641985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spc="-2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150 trials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86050" y="6419850"/>
            <a:ext cx="3429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掃 hyperparameter / threshold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23950" y="6838950"/>
            <a:ext cx="5715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76350" y="676275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spc="-2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skew、kurt 校正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86050" y="6762750"/>
            <a:ext cx="3429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修正非常態分佈高估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23950" y="7181850"/>
            <a:ext cx="5715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76350" y="710565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spc="-2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多重檢定 deflate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86050" y="7105650"/>
            <a:ext cx="3429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p 值降至 &lt; 0.001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48400" y="2990850"/>
            <a:ext cx="36576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48400" y="2990850"/>
            <a:ext cx="3657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143250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spc="-2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4650" y="31623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18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DSR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3409950"/>
            <a:ext cx="33528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Deflated Sharpe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3714750"/>
            <a:ext cx="33528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-2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SR̂ 2.41 → DSR 12.12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53450" y="4076700"/>
            <a:ext cx="1219200" cy="228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53450" y="4076700"/>
            <a:ext cx="1219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spc="18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PASS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020300" y="2990850"/>
            <a:ext cx="36576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020300" y="2990850"/>
            <a:ext cx="3657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72700" y="3143250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spc="-2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96550" y="31623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18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Worst Fold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72700" y="3409950"/>
            <a:ext cx="33528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最差折 AUC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72700" y="3714750"/>
            <a:ext cx="33528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-2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Fold 2 = 0.6332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325350" y="4076700"/>
            <a:ext cx="1219200" cy="228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25350" y="4076700"/>
            <a:ext cx="1219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spc="18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PASS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92200" y="2990850"/>
            <a:ext cx="36576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3792200" y="2990850"/>
            <a:ext cx="3657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944600" y="3143250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spc="-2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268450" y="31623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18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Embargo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944600" y="3409950"/>
            <a:ext cx="33528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時序隔離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944600" y="3714750"/>
            <a:ext cx="33528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-2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D+20、20 日 purge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97250" y="4076700"/>
            <a:ext cx="1219200" cy="228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097250" y="4076700"/>
            <a:ext cx="1219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spc="18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PASS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48400" y="4552950"/>
            <a:ext cx="36576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4552950"/>
            <a:ext cx="3657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0" y="4705350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spc="-2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24650" y="47244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18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Leakage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4972050"/>
            <a:ext cx="33528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洩漏掃描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0" y="5276850"/>
            <a:ext cx="33528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-2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 / 91 features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53450" y="5638800"/>
            <a:ext cx="1219200" cy="228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553450" y="5638800"/>
            <a:ext cx="1219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spc="18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PASS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020300" y="4552950"/>
            <a:ext cx="36576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020300" y="4552950"/>
            <a:ext cx="36576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172700" y="4705350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spc="-2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496550" y="47244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18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PSI Drift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72700" y="4972050"/>
            <a:ext cx="33528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FRTB 漂移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172700" y="5276850"/>
            <a:ext cx="33528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-2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Max 0.13 (txt)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2325350" y="5638800"/>
            <a:ext cx="1219200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2325350" y="5638800"/>
            <a:ext cx="1219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spc="18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PASS · WARN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3792200" y="4552950"/>
            <a:ext cx="36576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3792200" y="4552950"/>
            <a:ext cx="3657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3944600" y="4705350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spc="-2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4268450" y="47244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18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KS Test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3944600" y="4972050"/>
            <a:ext cx="33528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訓練 vs 測試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3944600" y="5276850"/>
            <a:ext cx="33528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-2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min p = 0.037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6097250" y="5638800"/>
            <a:ext cx="1219200" cy="228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6097250" y="5638800"/>
            <a:ext cx="1219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spc="18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PASS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48400" y="6115050"/>
            <a:ext cx="36576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248400" y="6115050"/>
            <a:ext cx="3657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00800" y="6267450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spc="-2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724650" y="62865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18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Lineage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00800" y="6534150"/>
            <a:ext cx="33528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可回溯 SQL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00800" y="6838950"/>
            <a:ext cx="33528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-2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91 / 91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53450" y="7200900"/>
            <a:ext cx="1219200" cy="228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553450" y="7200900"/>
            <a:ext cx="1219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spc="18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PASS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020300" y="6115050"/>
            <a:ext cx="36576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020300" y="6115050"/>
            <a:ext cx="3657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172700" y="6267450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spc="-2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496550" y="62865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18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Repro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172700" y="6534150"/>
            <a:ext cx="33528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可重現性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172700" y="6838950"/>
            <a:ext cx="33528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-2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SD &lt; 1e-6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2325350" y="7200900"/>
            <a:ext cx="1219200" cy="228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2325350" y="7200900"/>
            <a:ext cx="1219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spc="18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PASS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3792200" y="6115050"/>
            <a:ext cx="36576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3792200" y="6115050"/>
            <a:ext cx="3657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3944600" y="6267450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spc="-2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4268450" y="62865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18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Pipeline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3944600" y="6534150"/>
            <a:ext cx="33528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線上預測流水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3944600" y="6838950"/>
            <a:ext cx="33528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-2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6 / 6 模型驗證通過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97250" y="7200900"/>
            <a:ext cx="1219200" cy="228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097250" y="7200900"/>
            <a:ext cx="1219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spc="18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PASS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14400" y="7696200"/>
            <a:ext cx="16459200" cy="13716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14400" y="7696200"/>
            <a:ext cx="57150" cy="137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162050" y="78676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WHY THIS MATTERS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62050" y="8153400"/>
            <a:ext cx="158877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一句話、</a:t>
            </a:r>
            <a:r>
              <a:rPr sz="17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AUC 0.6455 並非偶然</a:t>
            </a:r>
            <a:r>
              <a:rPr sz="17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——DSR 通過多重檢定、9 / 9 治理關卡全數通過、Text PSI 觸發 WARN 對應 </a:t>
            </a:r>
            <a:r>
              <a:rPr sz="1700" b="1" i="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每月詞向量重訓</a:t>
            </a:r>
            <a:r>
              <a:rPr sz="17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。</a:t>
            </a:r>
            <a:r>
              <a:t/>
            </a:r>
            <a:br/>
            <a:r>
              <a:rPr sz="1400" b="0" i="1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結論已可進入下一頁：拆解哪些因子在驅動這個 AUC。  → A.05 / A.12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72050" y="40005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8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· v11.5.18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Factor Attribution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lopo_pillar_contribution_D20.json · phase2_report_20260419_152643.json §feature_selection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59000" y="975360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FINDINGS</a:t>
            </a:r>
          </a:p>
        </p:txBody>
      </p:sp>
      <p:sp>
        <p:nvSpPr>
          <p:cNvPr id="12" name="Oval 11"/>
          <p:cNvSpPr/>
          <p:nvPr/>
        </p:nvSpPr>
        <p:spPr>
          <a:xfrm>
            <a:off x="165354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735425" y="97917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9545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0668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— FACTOR ATTRIBUTION · 哪一支柱在發力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352550"/>
            <a:ext cx="164592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 i="0" spc="-6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Risk 為地基、</a:t>
            </a:r>
            <a:r>
              <a:rPr sz="3600" b="1" i="0" spc="-6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移除 Risk 則 AUC 整體塌陷</a:t>
            </a:r>
            <a:r>
              <a:t/>
            </a:r>
            <a:br/>
            <a:r>
              <a:rPr sz="17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LOPO ΔAUC：Risk +138.6 bps、Trend +64.9、Val +9.5、Text +8.5；</a:t>
            </a:r>
            <a:r>
              <a:t/>
            </a:r>
            <a:br/>
            <a:r>
              <a:rPr sz="17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Chip / Event / Industry 為負貢獻、引入雜訊多於訊息。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667000"/>
            <a:ext cx="762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7241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9 PILLARS · 91 特徵分布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971800"/>
            <a:ext cx="27241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2971800"/>
            <a:ext cx="27241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6800" y="3105150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7800" y="312420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6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Trend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6800" y="3390900"/>
            <a:ext cx="1771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趨勢動量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95600" y="3295650"/>
            <a:ext cx="571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3200" b="1" i="0" spc="-1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95600" y="371475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1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feat.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14750" y="2971800"/>
            <a:ext cx="27241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14750" y="2971800"/>
            <a:ext cx="27241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67150" y="3105150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spc="-4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48150" y="312420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6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Fundamental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67150" y="3390900"/>
            <a:ext cx="1771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基本面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95950" y="3295650"/>
            <a:ext cx="571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3200" b="1" i="0" spc="-10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95950" y="371475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1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feat.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15100" y="2971800"/>
            <a:ext cx="27241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15100" y="2971800"/>
            <a:ext cx="272415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67500" y="3105150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spc="-40">
                <a:solidFill>
                  <a:srgbClr val="7C3AED"/>
                </a:solidFill>
                <a:latin typeface="Times New Roman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8500" y="312420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60">
                <a:solidFill>
                  <a:srgbClr val="7C3AED"/>
                </a:solidFill>
                <a:latin typeface="Times New Roman"/>
                <a:ea typeface="Microsoft JhengHei"/>
                <a:cs typeface="Microsoft JhengHei"/>
              </a:rPr>
              <a:t>Valuation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67500" y="3390900"/>
            <a:ext cx="1771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估值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96300" y="3295650"/>
            <a:ext cx="571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3200" b="1" i="0" spc="-100">
                <a:solidFill>
                  <a:srgbClr val="7C3AED"/>
                </a:solidFill>
                <a:latin typeface="Times New Roman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96300" y="371475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1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feat.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4229100"/>
            <a:ext cx="27241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" y="4229100"/>
            <a:ext cx="27241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6800" y="4362450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47800" y="438150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6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Industry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6800" y="4648200"/>
            <a:ext cx="1771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產業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95600" y="4552950"/>
            <a:ext cx="571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3200" b="1" i="0" spc="-10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95600" y="497205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1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feat.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14750" y="4229100"/>
            <a:ext cx="27241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714750" y="4229100"/>
            <a:ext cx="272415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67150" y="4362450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spc="-4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48150" y="438150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6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Event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67150" y="4648200"/>
            <a:ext cx="1771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事件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95950" y="4552950"/>
            <a:ext cx="571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3200" b="1" i="0" spc="-10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95950" y="497205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1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feat.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15100" y="4229100"/>
            <a:ext cx="27241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515100" y="4229100"/>
            <a:ext cx="27241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67500" y="4362450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spc="-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48500" y="438150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Risk 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67500" y="4648200"/>
            <a:ext cx="1771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風險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96300" y="4552950"/>
            <a:ext cx="571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3200" b="1" i="0" spc="-10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96300" y="497205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1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feat.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" y="5486400"/>
            <a:ext cx="27241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14400" y="5486400"/>
            <a:ext cx="272415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66800" y="5619750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spc="-40">
                <a:solidFill>
                  <a:srgbClr val="4F46E5"/>
                </a:solidFill>
                <a:latin typeface="Times New Roman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47800" y="563880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60">
                <a:solidFill>
                  <a:srgbClr val="4F46E5"/>
                </a:solidFill>
                <a:latin typeface="Times New Roman"/>
                <a:ea typeface="Microsoft JhengHei"/>
                <a:cs typeface="Microsoft JhengHei"/>
              </a:rPr>
              <a:t>Chip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6800" y="5905500"/>
            <a:ext cx="1771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籌碼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95600" y="5810250"/>
            <a:ext cx="571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3200" b="1" i="0" spc="-100">
                <a:solidFill>
                  <a:srgbClr val="4F46E5"/>
                </a:solidFill>
                <a:latin typeface="Times New Roman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95600" y="622935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1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feat.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14750" y="5486400"/>
            <a:ext cx="27241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714750" y="5486400"/>
            <a:ext cx="272415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867150" y="5619750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spc="-40">
                <a:solidFill>
                  <a:srgbClr val="EC4899"/>
                </a:solidFill>
                <a:latin typeface="Times New Roman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48150" y="563880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60">
                <a:solidFill>
                  <a:srgbClr val="EC4899"/>
                </a:solidFill>
                <a:latin typeface="Times New Roman"/>
                <a:ea typeface="Microsoft JhengHei"/>
                <a:cs typeface="Microsoft JhengHei"/>
              </a:rPr>
              <a:t>Sentiment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67150" y="5905500"/>
            <a:ext cx="1771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情緒分數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95950" y="5810250"/>
            <a:ext cx="571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3200" b="1" i="0" spc="-100">
                <a:solidFill>
                  <a:srgbClr val="EC4899"/>
                </a:solidFill>
                <a:latin typeface="Times New Roman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95950" y="622935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1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feat.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15100" y="5486400"/>
            <a:ext cx="27241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15100" y="5486400"/>
            <a:ext cx="272415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67500" y="5619750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spc="-40">
                <a:solidFill>
                  <a:srgbClr val="A855F7"/>
                </a:solidFill>
                <a:latin typeface="Times New Roman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48500" y="563880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60">
                <a:solidFill>
                  <a:srgbClr val="A855F7"/>
                </a:solidFill>
                <a:latin typeface="Times New Roman"/>
                <a:ea typeface="Microsoft JhengHei"/>
                <a:cs typeface="Microsoft JhengHei"/>
              </a:rPr>
              <a:t>Text ★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67500" y="5905500"/>
            <a:ext cx="1771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文本語料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96300" y="5810250"/>
            <a:ext cx="571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3200" b="1" i="0" spc="-100">
                <a:solidFill>
                  <a:srgbClr val="A855F7"/>
                </a:solidFill>
                <a:latin typeface="Times New Roman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96300" y="622935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1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feat.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620250" y="2724150"/>
            <a:ext cx="7753350" cy="3962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848850" y="28956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LOPO ΔAUC · Leave-One-Pillar-Out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848850" y="3124200"/>
            <a:ext cx="6667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baseline 0.6486 · 1 bps = ΔAUC × 10,000 · 正向 = 該支柱貢獻訊號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848850" y="3448050"/>
            <a:ext cx="1238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Risk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239500" y="3581400"/>
            <a:ext cx="457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3525500" y="3524250"/>
            <a:ext cx="952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3535025" y="3505200"/>
            <a:ext cx="2038350" cy="171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5963900" y="3448050"/>
            <a:ext cx="1238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+138.6 bps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848850" y="3771900"/>
            <a:ext cx="1238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Trend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1239500" y="3905250"/>
            <a:ext cx="457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3525500" y="3848100"/>
            <a:ext cx="952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3535025" y="3829050"/>
            <a:ext cx="952500" cy="171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5963900" y="3771900"/>
            <a:ext cx="1238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+64.9 bps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848850" y="4095750"/>
            <a:ext cx="1238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Valuation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1239500" y="4229100"/>
            <a:ext cx="457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3525500" y="4171950"/>
            <a:ext cx="952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3535025" y="4152900"/>
            <a:ext cx="133350" cy="171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5963900" y="4095750"/>
            <a:ext cx="1238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+9.5 bps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848850" y="4419600"/>
            <a:ext cx="1238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Text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1239500" y="4552950"/>
            <a:ext cx="457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3525500" y="4495800"/>
            <a:ext cx="952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3535025" y="4476750"/>
            <a:ext cx="123825" cy="171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5963900" y="4419600"/>
            <a:ext cx="1238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+8.5 bps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848850" y="4743450"/>
            <a:ext cx="1238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Fundamental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1239500" y="4876800"/>
            <a:ext cx="457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3525500" y="4819650"/>
            <a:ext cx="952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3477875" y="4800600"/>
            <a:ext cx="38100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5963900" y="4743450"/>
            <a:ext cx="1238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-2.6 bps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848850" y="5067300"/>
            <a:ext cx="1238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Sentiment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1239500" y="5200650"/>
            <a:ext cx="457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3525500" y="5143500"/>
            <a:ext cx="952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3477875" y="5124450"/>
            <a:ext cx="38100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5963900" y="5067300"/>
            <a:ext cx="1238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-2.8 bps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848850" y="5391150"/>
            <a:ext cx="1238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Industry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1239500" y="5524500"/>
            <a:ext cx="457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3525500" y="5467350"/>
            <a:ext cx="952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3306425" y="5448300"/>
            <a:ext cx="209550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5963900" y="5391150"/>
            <a:ext cx="1238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-14.8 bps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848850" y="5715000"/>
            <a:ext cx="1238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Event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1239500" y="5848350"/>
            <a:ext cx="457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3525500" y="5791200"/>
            <a:ext cx="952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3287375" y="5772150"/>
            <a:ext cx="228600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5963900" y="5715000"/>
            <a:ext cx="1238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-15.7 bps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848850" y="6038850"/>
            <a:ext cx="1238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Chip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1239500" y="6172200"/>
            <a:ext cx="457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3525500" y="6115050"/>
            <a:ext cx="952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3249275" y="6096000"/>
            <a:ext cx="266700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5963900" y="6038850"/>
            <a:ext cx="1238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-18.5 bps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6858000"/>
            <a:ext cx="16459200" cy="12573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14400" y="6858000"/>
            <a:ext cx="57150" cy="12573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162050" y="70294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WHY THIS MATTERS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62050" y="7315200"/>
            <a:ext cx="158877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Risk × Trend × Text </a:t>
            </a:r>
            <a:r>
              <a:rPr sz="16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為三元協同核心：移除 Risk，</a:t>
            </a:r>
            <a:r>
              <a:rPr sz="16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其他支柱無法區分雜訊日與訊號日</a:t>
            </a:r>
            <a:r>
              <a:rPr sz="16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、AUC 塌陷 0.01386。</a:t>
            </a:r>
            <a:r>
              <a:t/>
            </a:r>
            <a:br/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Chip / Event / Industry 共 −49 bps、</a:t>
            </a:r>
            <a:r>
              <a:rPr sz="15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為下一輪精簡的對象</a:t>
            </a:r>
            <a:r>
              <a:rPr sz="1300" b="0" i="1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。   → Appendix A.07 / A.08 / A.09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72050" y="40005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8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· v11.5.18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Sentiment U-Shape</a:t>
            </a:r>
          </a:p>
        </p:txBody>
      </p:sp>
      <p:sp>
        <p:nvSpPr>
          <p:cNvPr id="8" name="Rectangle 7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feature_store_final.parquet · sent_polarity_5d 五桶 · OOS 2024-Q4 – 2025-Q1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59000" y="975360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FINDINGS</a:t>
            </a:r>
          </a:p>
        </p:txBody>
      </p:sp>
      <p:sp>
        <p:nvSpPr>
          <p:cNvPr id="12" name="Oval 11"/>
          <p:cNvSpPr/>
          <p:nvPr/>
        </p:nvSpPr>
        <p:spPr>
          <a:xfrm>
            <a:off x="165354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735425" y="97917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9545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1049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— WOW FINDING · 散戶情緒呈反向 U 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371600"/>
            <a:ext cx="1666875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200" b="1" i="0" spc="-1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Q1 最悲觀、</a:t>
            </a:r>
            <a:r>
              <a:rPr sz="4200" b="1" i="0" spc="-10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隔日 +3.2 pp </a:t>
            </a:r>
            <a:r>
              <a:rPr sz="4200" b="1" i="0" spc="-1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逆向 edge</a:t>
            </a:r>
            <a:r>
              <a:t/>
            </a:r>
            <a:br/>
            <a:r>
              <a:rPr sz="2400" b="1" i="0" spc="-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Q5 樂觀僅 +0.6 pp、</a:t>
            </a:r>
            <a:r>
              <a:rPr sz="2400" b="1" i="0" spc="-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1d / 5d / 20d 三期同向、</a:t>
            </a:r>
            <a:r>
              <a:rPr sz="2400" b="1" i="0" spc="-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半衰期 &gt; 一個月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724150"/>
            <a:ext cx="762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2990850"/>
            <a:ext cx="10477500" cy="43815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1623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SENTIMENT QUINTILE EDGE · sent_polarity_5d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4099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Edge = 該分位實際命中率 − baseline 26.28% · pp 為百分點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71650" y="5562600"/>
            <a:ext cx="9239250" cy="190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71650" y="4038600"/>
            <a:ext cx="923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39243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+4 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71650" y="4800600"/>
            <a:ext cx="923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6863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+2 pp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71650" y="6324600"/>
            <a:ext cx="923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62103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-2 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4483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57400" y="4343400"/>
            <a:ext cx="1333500" cy="1219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66900" y="4057650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-2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+3.2 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66900" y="6819900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Q1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71650" y="706755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最悲觀
sent &lt; 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29075" y="5486400"/>
            <a:ext cx="1333500" cy="76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38575" y="5200650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-2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+0.2 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38575" y="6819900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Q2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3325" y="706755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20–40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10275" y="5562600"/>
            <a:ext cx="1333500" cy="6096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19775" y="6210300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-2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-1.6 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9775" y="6819900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Q3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24525" y="706755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中性
40–60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81950" y="5448300"/>
            <a:ext cx="1333500" cy="1143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91450" y="5162550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-2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+0.3 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91450" y="6819900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Q4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96200" y="706755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60–80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63150" y="5334000"/>
            <a:ext cx="1333500" cy="228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72650" y="5048250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-2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+0.6 pp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72650" y="6819900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Q5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77400" y="706755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最樂觀
sent &gt; 80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582400" y="2990850"/>
            <a:ext cx="5791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582400" y="2990850"/>
            <a:ext cx="5791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772900" y="3200400"/>
            <a:ext cx="5524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① Q1 反彈 · 過度悲觀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772900" y="3505200"/>
            <a:ext cx="55245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極度悲觀時隔日 +3.2 pp edge、</a:t>
            </a:r>
            <a:r>
              <a:t/>
            </a:r>
            <a:br/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與 Kahneman (1979) 過度反應假說方向一致、</a:t>
            </a:r>
            <a:r>
              <a:t/>
            </a:r>
            <a:br/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適合逆向擇時 mean-reversion。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582400" y="4476750"/>
            <a:ext cx="5791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582400" y="4476750"/>
            <a:ext cx="57912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772900" y="4686300"/>
            <a:ext cx="5524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② Q5 弱勢 · 利多飽和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772900" y="4991100"/>
            <a:ext cx="55245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Q5 僅 +0.6 pp、遠低於 Q1、</a:t>
            </a:r>
            <a:r>
              <a:t/>
            </a:r>
            <a:br/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利多已被討論、故事飽和、</a:t>
            </a:r>
            <a:r>
              <a:t/>
            </a:r>
            <a:br/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與 Tetlock (2007) 過度樂觀方向一致。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582400" y="5962650"/>
            <a:ext cx="5791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582400" y="5962650"/>
            <a:ext cx="57912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772900" y="6172200"/>
            <a:ext cx="5524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③ News × Forum 互補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772900" y="6477000"/>
            <a:ext cx="55245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兩源相關僅 0.20、各自獨立、</a:t>
            </a:r>
            <a:r>
              <a:t/>
            </a:r>
            <a:br/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1d / 5d / 20d 三期同向、</a:t>
            </a:r>
            <a:r>
              <a:t/>
            </a:r>
            <a:br/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納入 sentiment overlay 作為 alpha filter。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" y="7696200"/>
            <a:ext cx="16459200" cy="13716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14400" y="7696200"/>
            <a:ext cx="57150" cy="137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62050" y="78676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STRATEGIC INSIGHT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62050" y="8153400"/>
            <a:ext cx="158877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文本情緒並非單調訊號、</a:t>
            </a:r>
            <a:r>
              <a:rPr sz="17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反向 U 型 </a:t>
            </a:r>
            <a:r>
              <a:rPr sz="17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即過度反應假說在台股的實證。</a:t>
            </a:r>
            <a:r>
              <a:t/>
            </a:r>
            <a:br/>
            <a:r>
              <a:rPr sz="1700" b="1" i="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Q1 + Q5 </a:t>
            </a:r>
            <a:r>
              <a:rPr sz="17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共佔 sentiment LOPO </a:t>
            </a:r>
            <a:r>
              <a:rPr sz="17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+8.5 bps 的 94%</a:t>
            </a:r>
            <a:r>
              <a:rPr sz="1400" b="0" i="1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、可作為主模型之上的 alpha filter。  → A.18 – A.23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72050" y="40005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8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· v11.5.18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Deployment Edge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threshold_sweep_xgb_D20.json · 40 檔門檻 × OOS 404,724 樣本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59000" y="975360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ACTION</a:t>
            </a:r>
          </a:p>
        </p:txBody>
      </p:sp>
      <p:sp>
        <p:nvSpPr>
          <p:cNvPr id="12" name="Oval 11"/>
          <p:cNvSpPr/>
          <p:nvPr/>
        </p:nvSpPr>
        <p:spPr>
          <a:xfrm>
            <a:off x="165354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74495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944975" y="97917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0668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— DEPLOYMENT · 從機率分數到可下單清單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352550"/>
            <a:ext cx="164592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 i="0" spc="-6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高信心軌 </a:t>
            </a:r>
            <a:r>
              <a:rPr sz="2600" b="0" i="0" spc="-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（閾值 0.50）</a:t>
            </a:r>
            <a:r>
              <a:rPr sz="3400" b="1" i="0" spc="-6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 命中 37.98%、邊際 </a:t>
            </a:r>
            <a:r>
              <a:rPr sz="3400" b="1" i="0" spc="-6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+11.70 pp</a:t>
            </a:r>
            <a:r>
              <a:t/>
            </a:r>
            <a:br/>
            <a:r>
              <a:rPr sz="17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門檻越嚴、edge 越陡；</a:t>
            </a:r>
            <a:r>
              <a:rPr sz="17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雙軌部位對應「主動下注 vs 候選 cover」兩種資金屬性。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667000"/>
            <a:ext cx="762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2971800"/>
            <a:ext cx="8382000" cy="43815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4900" y="3105150"/>
            <a:ext cx="6667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TOP-% HIT RATE · 邊際遞增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" y="3314700"/>
            <a:ext cx="6667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樣本愈集中、edge 愈陡 · base 26.28%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900" y="3619500"/>
            <a:ext cx="1714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6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分位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19400" y="3619500"/>
            <a:ext cx="1238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6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N (檔)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7650" y="361950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6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命中率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619500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6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Edge vs 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0400" y="3619500"/>
            <a:ext cx="2095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6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相對提升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04900" y="3886200"/>
            <a:ext cx="8096250" cy="19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04900" y="4448175"/>
            <a:ext cx="8096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04900" y="3981450"/>
            <a:ext cx="8096250" cy="47625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04900" y="3981450"/>
            <a:ext cx="38100" cy="4762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1100" y="3981450"/>
            <a:ext cx="1714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閾值 0.50 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19400" y="3981450"/>
            <a:ext cx="12382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2,836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57650" y="3981450"/>
            <a:ext cx="1428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-2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37.98%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3981450"/>
            <a:ext cx="1524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+11.70 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10400" y="3981450"/>
            <a:ext cx="2095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+44.5%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04900" y="4924425"/>
            <a:ext cx="8096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1100" y="4457700"/>
            <a:ext cx="1714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閾值 0.49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19400" y="4457700"/>
            <a:ext cx="12382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4,149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57650" y="4457700"/>
            <a:ext cx="1428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-2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36.64%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4457700"/>
            <a:ext cx="1524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+10.36 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10400" y="4457700"/>
            <a:ext cx="2095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+39.4%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04900" y="5400675"/>
            <a:ext cx="8096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1100" y="4933950"/>
            <a:ext cx="1714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Top 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19400" y="4933950"/>
            <a:ext cx="12382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4,047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57650" y="4933950"/>
            <a:ext cx="1428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-2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36.81%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0" y="4933950"/>
            <a:ext cx="1524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+10.53 pp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10400" y="4933950"/>
            <a:ext cx="2095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+40.1%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04900" y="5876925"/>
            <a:ext cx="8096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81100" y="5410200"/>
            <a:ext cx="1714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Top 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19400" y="5410200"/>
            <a:ext cx="12382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20,236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57650" y="5410200"/>
            <a:ext cx="1428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-2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31.44%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0" y="5410200"/>
            <a:ext cx="1524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+5.16 pp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10400" y="5410200"/>
            <a:ext cx="2095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+19.6%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04900" y="6353175"/>
            <a:ext cx="8096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81100" y="5886450"/>
            <a:ext cx="1714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Top 10%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19400" y="5886450"/>
            <a:ext cx="12382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40,472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57650" y="5886450"/>
            <a:ext cx="1428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-2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28.88%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0" y="5886450"/>
            <a:ext cx="1524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+2.60 pp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10400" y="5886450"/>
            <a:ext cx="2095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+9.9%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81100" y="6362700"/>
            <a:ext cx="1714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Base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19400" y="6362700"/>
            <a:ext cx="12382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404,724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57650" y="6362700"/>
            <a:ext cx="1428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-2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26.28%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0" y="6362700"/>
            <a:ext cx="1524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10400" y="6362700"/>
            <a:ext cx="2095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20250" y="297180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DUAL TRACK · 雙軌部位設計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20250" y="318135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依資金屬性與決策節奏分流、共用同一機率分數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20250" y="3467100"/>
            <a:ext cx="76200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620250" y="3467100"/>
            <a:ext cx="7620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10750" y="3676650"/>
            <a:ext cx="8572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200" b="1" i="0" spc="-16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48950" y="367665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保守 · Threshold 0.50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648950" y="3981450"/>
            <a:ext cx="1905000" cy="209550"/>
          </a:xfrm>
          <a:prstGeom prst="rect">
            <a:avLst/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668000" y="3981450"/>
            <a:ext cx="18669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spc="2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HIGH CONVICTION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48950" y="428625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CALL RATE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48950" y="445770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0.70%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553950" y="428625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HIT RATE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553950" y="445770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37.98%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458950" y="4286250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EDGE vs BASE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4458950" y="44577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+11.70 pp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648950" y="4876800"/>
            <a:ext cx="6477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· 主動基金實盤 / 自營部位、模型高度確信才下注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48950" y="5086350"/>
            <a:ext cx="6477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· 每日 2–3 檔（散戶可操作）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620250" y="5524500"/>
            <a:ext cx="76200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620250" y="5524500"/>
            <a:ext cx="76200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810750" y="5734050"/>
            <a:ext cx="8572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200" b="1" i="0" spc="-16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B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648950" y="573405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探索 · Threshold 0.40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648950" y="6038850"/>
            <a:ext cx="1905000" cy="20955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668000" y="6038850"/>
            <a:ext cx="18669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spc="20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BROAD COVERAGE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648950" y="634365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CALL RATE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648950" y="651510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8.83%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553950" y="634365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HIT RATE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553950" y="651510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29.41%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458950" y="6343650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EDGE vs BASE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4458950" y="65151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+3.14 pp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648950" y="6934200"/>
            <a:ext cx="6477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· 研究 watchlist / 量化原型，接受低 edge 換取多樣性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648950" y="7143750"/>
            <a:ext cx="6477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· 每日 30–40 檔（機構 cover）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0" y="7543800"/>
            <a:ext cx="16459200" cy="11049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14400" y="7543800"/>
            <a:ext cx="57150" cy="11049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62050" y="77152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NET EDGE · 扣 20 bps 交易成本後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62050" y="8001000"/>
            <a:ext cx="15887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0.50 軌 net edge ≈ +11.5 pp、</a:t>
            </a:r>
            <a:r>
              <a:rPr sz="16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0.40 軌 net edge ≈ +2.9 pp、</a:t>
            </a:r>
            <a:r>
              <a:t/>
            </a:r>
            <a:br/>
            <a:r>
              <a:rPr sz="16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兩軌共用同一機率分數，</a:t>
            </a:r>
            <a:r>
              <a:rPr sz="16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差異僅在閾值。</a:t>
            </a:r>
            <a:r>
              <a:rPr sz="1300" b="0" i="1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   本研究為學術成果、不構成任何投資建議。   → 詳 Appendix A.13 / A.14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72050" y="40005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8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· v11.5.18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Strategy Backtest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backtest_top1pct_24m.json · 月再平衡 · 手續費 0.3% 內含 · 滑價 0.1%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59000" y="975360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ACTION</a:t>
            </a:r>
          </a:p>
        </p:txBody>
      </p:sp>
      <p:sp>
        <p:nvSpPr>
          <p:cNvPr id="12" name="Oval 11"/>
          <p:cNvSpPr/>
          <p:nvPr/>
        </p:nvSpPr>
        <p:spPr>
          <a:xfrm>
            <a:off x="165354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74495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944975" y="97917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0668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— BACKTEST · 100 元起始、24 個月後達 188 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352550"/>
            <a:ext cx="164592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 i="0" spc="-6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Top 1% 策略 </a:t>
            </a:r>
            <a:r>
              <a:rPr sz="3600" b="1" i="0" spc="-6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24 個月累積 +88%</a:t>
            </a:r>
            <a:r>
              <a:rPr sz="3600" b="1" i="0" spc="-6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、CAGR </a:t>
            </a:r>
            <a:r>
              <a:rPr sz="3600" b="1" i="0" spc="-6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+36.8%</a:t>
            </a:r>
            <a:r>
              <a:rPr sz="2800" b="0" i="0" spc="-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 vs TAIEX +12.4%</a:t>
            </a:r>
            <a:r>
              <a:t/>
            </a:r>
            <a:br/>
            <a:r>
              <a:rPr sz="17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把模型機率分數化為實單部位、月再平衡、含手續費 0.3% 與滑價 0.1%。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762250"/>
            <a:ext cx="7620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3028950"/>
            <a:ext cx="11239500" cy="43815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21945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CUMULATIVE NAV · 起始資金 100 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4480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Strategy = XGBoost D+20 Top 1% · 月初再平衡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14500" y="611505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19200" y="6019800"/>
            <a:ext cx="476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14500" y="5667375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19200" y="5572125"/>
            <a:ext cx="476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71650" y="5667375"/>
            <a:ext cx="10001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14500" y="521970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19200" y="5124450"/>
            <a:ext cx="476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140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71650" y="5219700"/>
            <a:ext cx="10001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14500" y="478155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19200" y="4686300"/>
            <a:ext cx="476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160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71650" y="4781550"/>
            <a:ext cx="10001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714500" y="4333875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19200" y="4238625"/>
            <a:ext cx="476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180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71650" y="4333875"/>
            <a:ext cx="10001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714500" y="388620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19200" y="3790950"/>
            <a:ext cx="476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71650" y="3886200"/>
            <a:ext cx="10001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771650" y="6115050"/>
            <a:ext cx="100012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71650" y="65532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52550" y="666750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2024-Q2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67200" y="65532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8100" y="666750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2024-Q4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72275" y="65532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3175" y="666750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2025-Q2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67825" y="65532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48725" y="666750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2025-Q4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772900" y="65532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353800" y="666750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2026-Q1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1771650" y="6067425"/>
            <a:ext cx="428625" cy="4762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200275" y="6019800"/>
            <a:ext cx="438150" cy="4762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638425" y="6000750"/>
            <a:ext cx="428625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067050" y="5981700"/>
            <a:ext cx="438150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505200" y="5953125"/>
            <a:ext cx="438150" cy="285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943350" y="5934075"/>
            <a:ext cx="428625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371975" y="5915025"/>
            <a:ext cx="438150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810125" y="5886450"/>
            <a:ext cx="438150" cy="285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248275" y="5867400"/>
            <a:ext cx="428625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76900" y="5848350"/>
            <a:ext cx="438150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6115050" y="5819775"/>
            <a:ext cx="438150" cy="285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553200" y="5781675"/>
            <a:ext cx="428625" cy="3810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981825" y="5734050"/>
            <a:ext cx="438150" cy="4762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7419975" y="5686425"/>
            <a:ext cx="438150" cy="4762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7858125" y="5667375"/>
            <a:ext cx="428625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8286750" y="5648325"/>
            <a:ext cx="438150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8724900" y="5619750"/>
            <a:ext cx="438150" cy="285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9163050" y="5600700"/>
            <a:ext cx="428625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9591675" y="5581650"/>
            <a:ext cx="438150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029825" y="5553075"/>
            <a:ext cx="438150" cy="285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467975" y="5553075"/>
            <a:ext cx="428625" cy="285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896600" y="5553075"/>
            <a:ext cx="438150" cy="285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1334750" y="5553075"/>
            <a:ext cx="438150" cy="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771650" y="6019800"/>
            <a:ext cx="428625" cy="952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2200275" y="5915025"/>
            <a:ext cx="438150" cy="10477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2638425" y="5753100"/>
            <a:ext cx="428625" cy="16192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3067050" y="5619750"/>
            <a:ext cx="438150" cy="1333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3505200" y="5486400"/>
            <a:ext cx="438150" cy="1333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3943350" y="5353050"/>
            <a:ext cx="428625" cy="1333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371975" y="5267325"/>
            <a:ext cx="438150" cy="8572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810125" y="5181600"/>
            <a:ext cx="438150" cy="8572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5248275" y="5086350"/>
            <a:ext cx="428625" cy="952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5676900" y="4953000"/>
            <a:ext cx="438150" cy="1333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115050" y="4819650"/>
            <a:ext cx="438150" cy="1333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6553200" y="4752975"/>
            <a:ext cx="428625" cy="6667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6981825" y="4667250"/>
            <a:ext cx="438150" cy="8572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419975" y="4600575"/>
            <a:ext cx="438150" cy="6667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858125" y="4514850"/>
            <a:ext cx="428625" cy="8572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86750" y="4419600"/>
            <a:ext cx="438150" cy="952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724900" y="4381500"/>
            <a:ext cx="438150" cy="3810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9163050" y="4333875"/>
            <a:ext cx="428625" cy="4762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591675" y="4267200"/>
            <a:ext cx="438150" cy="6667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029825" y="4219575"/>
            <a:ext cx="438150" cy="4762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467975" y="4200525"/>
            <a:ext cx="428625" cy="190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896600" y="4181475"/>
            <a:ext cx="438150" cy="190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1334750" y="4152900"/>
            <a:ext cx="438150" cy="2857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11715750" y="4095750"/>
            <a:ext cx="114300" cy="1143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725275" y="5505450"/>
            <a:ext cx="95250" cy="9525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725150" y="3905250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 spc="-4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188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915650" y="564832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125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943100" y="4057650"/>
            <a:ext cx="2095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228850" y="4000500"/>
            <a:ext cx="304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Strategy · Top 1% · +88% / +36.8% CAGR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943100" y="4305300"/>
            <a:ext cx="209550" cy="190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228850" y="4248150"/>
            <a:ext cx="304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TAIEX · benchmark · +25% / +12.4% CAGR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2344400" y="3028950"/>
            <a:ext cx="50292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2344400" y="3028950"/>
            <a:ext cx="5029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2553950" y="3200400"/>
            <a:ext cx="46101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CAGR · 年化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2553950" y="3429000"/>
            <a:ext cx="46101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10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+36.8%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2553950" y="3810000"/>
            <a:ext cx="4610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vs TAIEX +12.4%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2344400" y="4133850"/>
            <a:ext cx="50292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2344400" y="4133850"/>
            <a:ext cx="5029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2553950" y="4305300"/>
            <a:ext cx="46101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累積報酬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553950" y="4533900"/>
            <a:ext cx="46101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10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+88%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2553950" y="4914900"/>
            <a:ext cx="4610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24 個月、月再平衡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2344400" y="5238750"/>
            <a:ext cx="50292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2344400" y="5238750"/>
            <a:ext cx="50292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2553950" y="5410200"/>
            <a:ext cx="46101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MAX DRAWDOWN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553950" y="5638800"/>
            <a:ext cx="46101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10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-14.2%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2553950" y="6019800"/>
            <a:ext cx="4610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vs TAIEX -22.4%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2344400" y="6343650"/>
            <a:ext cx="50292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2344400" y="6343650"/>
            <a:ext cx="50292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2553950" y="6515100"/>
            <a:ext cx="46101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SHARPE · CALMAR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2553950" y="6743700"/>
            <a:ext cx="46101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1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0.81 · 2.59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2553950" y="7124700"/>
            <a:ext cx="4610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vs TAIEX 0.42 · 0.55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7696200"/>
            <a:ext cx="16459200" cy="13716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14400" y="7696200"/>
            <a:ext cx="57150" cy="137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162050" y="78676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STRATEGY READOUT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62050" y="8153400"/>
            <a:ext cx="158877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把 AUC 0.6455 化為實單，</a:t>
            </a:r>
            <a:r>
              <a:rPr sz="17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24 個月內 100 元 → 188 元、CAGR +36.8%、最大回撤 -14.2%</a:t>
            </a:r>
            <a:r>
              <a:rPr sz="17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；</a:t>
            </a:r>
            <a:r>
              <a:t/>
            </a:r>
            <a:br/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與 TAIEX 同期 +25% / 回撤 -22.4% 相比，</a:t>
            </a:r>
            <a:r>
              <a:rPr sz="15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在等同流動性條件下展現結構性 alpha；</a:t>
            </a:r>
            <a:r>
              <a:rPr sz="1300" b="0" i="1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本研究為學術回測、不構成投資建議。  → 詳 Appendix A.15 / A.16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72050" y="40005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8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· v11.5.18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Limits &amp; Roadmap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phase3_report_20260426_RESOLVED.json · 部署條件 phase7_validation.json · 路線圖 NTU-GSA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59000" y="975360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ACTION</a:t>
            </a:r>
          </a:p>
        </p:txBody>
      </p:sp>
      <p:sp>
        <p:nvSpPr>
          <p:cNvPr id="12" name="Oval 11"/>
          <p:cNvSpPr/>
          <p:nvPr/>
        </p:nvSpPr>
        <p:spPr>
          <a:xfrm>
            <a:off x="165354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74495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944975" y="97917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1049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— ACTION · 部署條件、限制邊界、再訓練節奏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371600"/>
            <a:ext cx="1666875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200" b="1" i="0" spc="-1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部署條件具備、</a:t>
            </a:r>
            <a:r>
              <a:rPr sz="4200" b="1" i="0" spc="-10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1 – 2 個月再訓練、</a:t>
            </a:r>
            <a:r>
              <a:rPr sz="4200" b="1" i="0" spc="-1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三大限制邊界</a:t>
            </a:r>
            <a:r>
              <a:t/>
            </a:r>
            <a:br/>
            <a:r>
              <a:rPr sz="2400" b="1" i="0" spc="-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能落地、</a:t>
            </a:r>
            <a:r>
              <a:rPr sz="2400" b="1" i="0" spc="-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邊界清楚、</a:t>
            </a:r>
            <a:r>
              <a:rPr sz="2400" b="1" i="0" spc="-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節奏可預期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724150"/>
            <a:ext cx="762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2990850"/>
            <a:ext cx="54102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2990850"/>
            <a:ext cx="5410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3200400"/>
            <a:ext cx="571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-4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19250" y="3276600"/>
            <a:ext cx="1905000" cy="228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19250" y="32766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spc="20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DEPLOYMENT · 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676650"/>
            <a:ext cx="495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部署條件已備齊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4019550"/>
            <a:ext cx="5715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43000" y="4305300"/>
            <a:ext cx="38100" cy="152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57300" y="4210050"/>
            <a:ext cx="1143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AUC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7300" y="4419600"/>
            <a:ext cx="48387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0.6455 OOS、4 折一致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4876800"/>
            <a:ext cx="38100" cy="152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57300" y="4781550"/>
            <a:ext cx="1143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DSR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7300" y="4991100"/>
            <a:ext cx="48387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12.12 ≫ 3.0、多重檢定通過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5448300"/>
            <a:ext cx="38100" cy="152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57300" y="5353050"/>
            <a:ext cx="1143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Top 1% Hit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7300" y="5562600"/>
            <a:ext cx="48387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36.81% / +10.53 pp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6019800"/>
            <a:ext cx="38100" cy="152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57300" y="5924550"/>
            <a:ext cx="1143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Gates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57300" y="6134100"/>
            <a:ext cx="48387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9 / 9 治理關卡全數通過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6591300"/>
            <a:ext cx="38100" cy="152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57300" y="6496050"/>
            <a:ext cx="1143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Lineage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57300" y="6705600"/>
            <a:ext cx="48387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91 / 91 SQL 可回溯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38900" y="2990850"/>
            <a:ext cx="54102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38900" y="2990850"/>
            <a:ext cx="54102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67500" y="3200400"/>
            <a:ext cx="571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-4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43750" y="3276600"/>
            <a:ext cx="1905000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43750" y="32766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spc="20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LIMITS · BOUNDED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67500" y="3676650"/>
            <a:ext cx="495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三大限制邊界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67500" y="4019550"/>
            <a:ext cx="571500" cy="285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7500" y="4210050"/>
            <a:ext cx="38100" cy="7239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81800" y="4210050"/>
            <a:ext cx="48387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6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SCOPE · D+20 中長線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81800" y="4476750"/>
            <a:ext cx="4838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不適用 intraday、短於 5 日的訊號半衰期不足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67500" y="5162550"/>
            <a:ext cx="38100" cy="7239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81800" y="5162550"/>
            <a:ext cx="48387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6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TEXT · PSI 0.13 WARN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81800" y="5429250"/>
            <a:ext cx="4838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語言演化（deepseek、矽光子）、需每月詞向量重訓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67500" y="6115050"/>
            <a:ext cx="38100" cy="7239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81800" y="6115050"/>
            <a:ext cx="48387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6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REGIME · 多頭主導窗口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81800" y="6381750"/>
            <a:ext cx="4838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2024-Q4 至 2025-Q1、極端崩跌情境未涵蓋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963400" y="2990850"/>
            <a:ext cx="54102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963400" y="2990850"/>
            <a:ext cx="54102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192000" y="3200400"/>
            <a:ext cx="571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668250" y="3276600"/>
            <a:ext cx="1905000" cy="2286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668250" y="32766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spc="200">
                <a:solidFill>
                  <a:srgbClr val="0891B2"/>
                </a:solidFill>
                <a:latin typeface="Times New Roman"/>
                <a:ea typeface="Microsoft JhengHei"/>
                <a:cs typeface="Microsoft JhengHei"/>
              </a:rPr>
              <a:t>ROADMAP · 6 MONTHS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92000" y="3676650"/>
            <a:ext cx="495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6 個月分三步落地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192000" y="4019550"/>
            <a:ext cx="571500" cy="285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2192000" y="4210050"/>
            <a:ext cx="342900" cy="3429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2192000" y="4210050"/>
            <a:ext cx="3429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649200" y="4210050"/>
            <a:ext cx="44958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60">
                <a:solidFill>
                  <a:srgbClr val="0891B2"/>
                </a:solidFill>
                <a:latin typeface="Times New Roman"/>
                <a:ea typeface="Microsoft JhengHei"/>
                <a:cs typeface="Microsoft JhengHei"/>
              </a:rPr>
              <a:t>Q2 · POC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649200" y="4476750"/>
            <a:ext cx="4495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每日 Top 1% 服務化、API 試接 1 客戶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192000" y="5162550"/>
            <a:ext cx="342900" cy="3429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192000" y="5162550"/>
            <a:ext cx="3429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649200" y="5162550"/>
            <a:ext cx="44958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60">
                <a:solidFill>
                  <a:srgbClr val="0891B2"/>
                </a:solidFill>
                <a:latin typeface="Times New Roman"/>
                <a:ea typeface="Microsoft JhengHei"/>
                <a:cs typeface="Microsoft JhengHei"/>
              </a:rPr>
              <a:t>Q2 – Q3 · OVERLAY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649200" y="5429250"/>
            <a:ext cx="4495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Risk 支柱獨立風控 overlay、可解釋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2192000" y="6115050"/>
            <a:ext cx="342900" cy="3429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192000" y="6115050"/>
            <a:ext cx="3429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649200" y="6115050"/>
            <a:ext cx="44958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60">
                <a:solidFill>
                  <a:srgbClr val="0891B2"/>
                </a:solidFill>
                <a:latin typeface="Times New Roman"/>
                <a:ea typeface="Microsoft JhengHei"/>
                <a:cs typeface="Microsoft JhengHei"/>
              </a:rPr>
              <a:t>Q3 – Q4 · DRIFT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649200" y="6381750"/>
            <a:ext cx="4495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每月詞向量重訓、PSI 自動回報、防 drift &gt; 0.20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4400" y="7696200"/>
            <a:ext cx="16459200" cy="13716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14400" y="7696200"/>
            <a:ext cx="57150" cy="137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62050" y="78676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SEQUENCING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62050" y="8153400"/>
            <a:ext cx="158877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D+20 中長線預測在四項獨立檢定下成立、</a:t>
            </a:r>
            <a:r>
              <a:rPr sz="17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邊界明確、再訓練節奏可追蹤</a:t>
            </a:r>
            <a:r>
              <a:rPr sz="17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；下一步為 </a:t>
            </a:r>
            <a:r>
              <a:rPr sz="1700" b="1" i="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POC 試運行 + PSI 自動回報</a:t>
            </a:r>
            <a:r>
              <a:rPr sz="17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 的工程落地。</a:t>
            </a:r>
            <a:r>
              <a:t/>
            </a:r>
            <a:br/>
            <a:r>
              <a:rPr sz="1400" b="0" i="1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本研究為學術成果、不構成投資建議；後續延伸詳 A.26 limitations &amp; future work。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7432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6576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5720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73152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2296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91440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00584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0"/>
            <a:ext cx="9525" cy="10287000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0" y="0"/>
            <a:ext cx="9525" cy="10287000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097000" y="0"/>
            <a:ext cx="3429000" cy="38100"/>
          </a:xfrm>
          <a:prstGeom prst="rect">
            <a:avLst/>
          </a:prstGeom>
          <a:solidFill>
            <a:srgbClr val="67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487900" y="0"/>
            <a:ext cx="38100" cy="762000"/>
          </a:xfrm>
          <a:prstGeom prst="rect">
            <a:avLst/>
          </a:prstGeom>
          <a:solidFill>
            <a:srgbClr val="67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3048000"/>
            <a:ext cx="57150" cy="4381500"/>
          </a:xfrm>
          <a:prstGeom prst="rect">
            <a:avLst/>
          </a:prstGeom>
          <a:solidFill>
            <a:srgbClr val="67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43000" y="361950"/>
            <a:ext cx="285750" cy="285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36195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TW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4950" y="36195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F5F1E8"/>
                </a:solidFill>
                <a:latin typeface="Times New Roman"/>
                <a:ea typeface="Microsoft JhengHei"/>
                <a:cs typeface="Microsoft JhengHei"/>
              </a:rPr>
              <a:t>多因子股票預測系統 · v11.5.18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730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240">
                <a:solidFill>
                  <a:srgbClr val="67E8F9"/>
                </a:solidFill>
                <a:latin typeface="Times New Roman"/>
                <a:ea typeface="Microsoft JhengHei"/>
                <a:cs typeface="Microsoft JhengHei"/>
              </a:rPr>
              <a:t>CLOSING · Q &amp; 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325850" y="428625"/>
            <a:ext cx="9525" cy="152400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21100" y="361950"/>
            <a:ext cx="95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5F1E8"/>
                </a:solidFill>
                <a:latin typeface="Times New Roman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8250" y="123825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60">
                <a:solidFill>
                  <a:srgbClr val="67E8F9"/>
                </a:solidFill>
                <a:latin typeface="Times New Roman"/>
                <a:ea typeface="Microsoft JhengHei"/>
                <a:cs typeface="Microsoft JhengHei"/>
              </a:rPr>
              <a:t>— THANK YOU · 提問與討論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8250" y="1657350"/>
            <a:ext cx="15430500" cy="342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6400" b="1" i="0" spc="-20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台股短線是噪聲、</a:t>
            </a:r>
            <a:r>
              <a:t/>
            </a:r>
            <a:br/>
            <a:r>
              <a:rPr sz="6400" b="1" i="0" spc="-20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alpha 在 </a:t>
            </a:r>
            <a:r>
              <a:rPr sz="6400" b="1" i="0" spc="-200">
                <a:solidFill>
                  <a:srgbClr val="67E8F9"/>
                </a:solidFill>
                <a:latin typeface="Times New Roman"/>
                <a:ea typeface="Microsoft JhengHei"/>
                <a:cs typeface="Microsoft JhengHei"/>
              </a:rPr>
              <a:t>中長線 </a:t>
            </a:r>
            <a:r>
              <a:rPr sz="6400" b="1" i="0" spc="-200">
                <a:solidFill>
                  <a:srgbClr val="67E8F9"/>
                </a:solidFill>
                <a:latin typeface="Times New Roman"/>
                <a:ea typeface="Microsoft JhengHei"/>
                <a:cs typeface="Microsoft JhengHei"/>
              </a:rPr>
              <a:t>基本面結構</a:t>
            </a:r>
            <a:r>
              <a:t/>
            </a:r>
            <a:br/>
            <a:r>
              <a:rPr sz="6400" b="1" i="0" spc="-200">
                <a:solidFill>
                  <a:srgbClr val="22D3EE"/>
                </a:solidFill>
                <a:latin typeface="Times New Roman"/>
                <a:ea typeface="Microsoft JhengHei"/>
                <a:cs typeface="Microsoft JhengHei"/>
              </a:rPr>
              <a:t>可驗證、</a:t>
            </a:r>
            <a:r>
              <a:rPr sz="6400" b="1" i="0" spc="-200">
                <a:solidFill>
                  <a:srgbClr val="22D3EE"/>
                </a:solidFill>
                <a:latin typeface="Times New Roman"/>
                <a:ea typeface="Microsoft JhengHei"/>
                <a:cs typeface="Microsoft JhengHei"/>
              </a:rPr>
              <a:t>可重現、</a:t>
            </a:r>
            <a:r>
              <a:rPr sz="6400" b="1" i="0" spc="-200">
                <a:solidFill>
                  <a:srgbClr val="22D3EE"/>
                </a:solidFill>
                <a:latin typeface="Times New Roman"/>
                <a:ea typeface="Microsoft JhengHei"/>
                <a:cs typeface="Microsoft JhengHei"/>
              </a:rPr>
              <a:t>可落地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8250" y="5410200"/>
            <a:ext cx="154305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700" b="0" i="0">
                <a:solidFill>
                  <a:srgbClr val="F5F1E8"/>
                </a:solidFill>
                <a:latin typeface="Times New Roman"/>
                <a:ea typeface="Microsoft JhengHei"/>
                <a:cs typeface="Microsoft JhengHei"/>
              </a:rPr>
              <a:t>948,976 樣本、91 預測特徵、</a:t>
            </a:r>
            <a:r>
              <a:rPr sz="1700" b="0" i="0">
                <a:solidFill>
                  <a:srgbClr val="F5F1E8"/>
                </a:solidFill>
                <a:latin typeface="Times New Roman"/>
                <a:ea typeface="Microsoft JhengHei"/>
                <a:cs typeface="Microsoft JhengHei"/>
              </a:rPr>
              <a:t>Walk-Forward Purged K-Fold + 20 日 embargo、</a:t>
            </a:r>
            <a:r>
              <a:t/>
            </a:r>
            <a:br/>
            <a:r>
              <a:rPr sz="1700" b="1" i="0">
                <a:solidFill>
                  <a:srgbClr val="F5F1E8"/>
                </a:solidFill>
                <a:latin typeface="Times New Roman"/>
                <a:ea typeface="Microsoft JhengHei"/>
                <a:cs typeface="Microsoft JhengHei"/>
              </a:rPr>
              <a:t>AUC 0.6455、ICIR 0.7431、DSR 12.12、Top 1% 命中 36.81% (+10.53 pp)、CAGR +36.8%、9 / 9 治理關卡通過。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38250" y="6858000"/>
            <a:ext cx="15430500" cy="1524000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38250" y="6858000"/>
            <a:ext cx="15430500" cy="38100"/>
          </a:xfrm>
          <a:prstGeom prst="rect">
            <a:avLst/>
          </a:prstGeom>
          <a:solidFill>
            <a:srgbClr val="67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7067550"/>
            <a:ext cx="34766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40">
                <a:solidFill>
                  <a:srgbClr val="F5F1E8"/>
                </a:solidFill>
                <a:latin typeface="Times New Roman"/>
                <a:ea typeface="Microsoft JhengHei"/>
                <a:cs typeface="Microsoft JhengHei"/>
              </a:rPr>
              <a:t>OOS AUC · D+20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28750" y="7334250"/>
            <a:ext cx="3476625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 i="0" spc="-80">
                <a:solidFill>
                  <a:srgbClr val="67E8F9"/>
                </a:solidFill>
                <a:latin typeface="Times New Roman"/>
                <a:ea typeface="Microsoft JhengHei"/>
                <a:cs typeface="Microsoft JhengHei"/>
              </a:rPr>
              <a:t>0.6455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6350" y="7086600"/>
            <a:ext cx="9525" cy="10668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86375" y="7067550"/>
            <a:ext cx="34766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40">
                <a:solidFill>
                  <a:srgbClr val="F5F1E8"/>
                </a:solidFill>
                <a:latin typeface="Times New Roman"/>
                <a:ea typeface="Microsoft JhengHei"/>
                <a:cs typeface="Microsoft JhengHei"/>
              </a:rPr>
              <a:t>TOP 1% HIT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86375" y="7334250"/>
            <a:ext cx="3476625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 i="0" spc="-80">
                <a:solidFill>
                  <a:srgbClr val="67E8F9"/>
                </a:solidFill>
                <a:latin typeface="Times New Roman"/>
                <a:ea typeface="Microsoft JhengHei"/>
                <a:cs typeface="Microsoft JhengHei"/>
              </a:rPr>
              <a:t>36.81%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43975" y="7086600"/>
            <a:ext cx="9525" cy="10668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7067550"/>
            <a:ext cx="34766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40">
                <a:solidFill>
                  <a:srgbClr val="F5F1E8"/>
                </a:solidFill>
                <a:latin typeface="Times New Roman"/>
                <a:ea typeface="Microsoft JhengHei"/>
                <a:cs typeface="Microsoft JhengHei"/>
              </a:rPr>
              <a:t>CAGR · 24 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7334250"/>
            <a:ext cx="3476625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 i="0" spc="-80">
                <a:solidFill>
                  <a:srgbClr val="67E8F9"/>
                </a:solidFill>
                <a:latin typeface="Times New Roman"/>
                <a:ea typeface="Microsoft JhengHei"/>
                <a:cs typeface="Microsoft JhengHei"/>
              </a:rPr>
              <a:t>+36.8%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801600" y="7086600"/>
            <a:ext cx="9525" cy="10668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001625" y="7067550"/>
            <a:ext cx="34766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40">
                <a:solidFill>
                  <a:srgbClr val="F5F1E8"/>
                </a:solidFill>
                <a:latin typeface="Times New Roman"/>
                <a:ea typeface="Microsoft JhengHei"/>
                <a:cs typeface="Microsoft JhengHei"/>
              </a:rPr>
              <a:t>GATES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01625" y="7334250"/>
            <a:ext cx="3476625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 i="0" spc="-80">
                <a:solidFill>
                  <a:srgbClr val="67E8F9"/>
                </a:solidFill>
                <a:latin typeface="Times New Roman"/>
                <a:ea typeface="Microsoft JhengHei"/>
                <a:cs typeface="Microsoft JhengHei"/>
              </a:rPr>
              <a:t>9 / 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825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本研究為 NTU 大數據與商業分析專案課堂成果、不構成任何投資建議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049500" y="96964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 spc="160">
                <a:solidFill>
                  <a:srgbClr val="67E8F9"/>
                </a:solidFill>
                <a:latin typeface="Times New Roman"/>
                <a:ea typeface="Microsoft JhengHei"/>
                <a:cs typeface="Microsoft JhengHei"/>
              </a:rPr>
              <a:t>APPENDIX · 30 PAGES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Three Commitments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Methodology reference: López de Prado (2018) · Bailey &amp; López de Prado (2014) DSR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A.01 · 三大承諾 · 研究立場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600" b="1" i="0" spc="-1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不做 </a:t>
            </a:r>
            <a:r>
              <a:rPr sz="4600" b="1" i="0" spc="-10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黑箱、overfitting、無法重現 </a:t>
            </a:r>
            <a:r>
              <a:rPr sz="4600" b="1" i="0" spc="-1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的研究</a:t>
            </a:r>
            <a:r>
              <a:t/>
            </a:r>
            <a:br/>
            <a:r>
              <a:rPr sz="2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—— 三大學術承諾構成本專案的方法論底線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76225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238500"/>
            <a:ext cx="5257800" cy="3924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238500"/>
            <a:ext cx="52578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57300" y="3562350"/>
            <a:ext cx="190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 spc="-2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7300" y="4457700"/>
            <a:ext cx="457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透明 · TRANSPARENCY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7300" y="4762500"/>
            <a:ext cx="457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不做黑箱模型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57300" y="5448300"/>
            <a:ext cx="5715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57300" y="5715000"/>
            <a:ext cx="4572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提供 SHAP Top-20、LOPO ΔAUC、500 keyword Lift × χ²；儀表板「ICIR / Text / Feature Analysis」三頁專用於可解釋性展示。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238500"/>
            <a:ext cx="5257800" cy="3924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238500"/>
            <a:ext cx="52578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3700" y="3562350"/>
            <a:ext cx="190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 spc="-20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3700" y="4457700"/>
            <a:ext cx="457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嚴謹 · RIGOR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3700" y="4762500"/>
            <a:ext cx="457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不做 overfitting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43700" y="5448300"/>
            <a:ext cx="57150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43700" y="5715000"/>
            <a:ext cx="4572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Walk-Forward Purged K-Fold + 20 日 embargo · DSR 12.12 通過 150 trials 多重檢定 · PSI / KS 漂移監控 9 支柱 × 30 日。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887200" y="3238500"/>
            <a:ext cx="5257800" cy="3924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3238500"/>
            <a:ext cx="52578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230100" y="3562350"/>
            <a:ext cx="190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 spc="-20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30100" y="4457700"/>
            <a:ext cx="457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可重現 · REPRODUCIBILITY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30100" y="4762500"/>
            <a:ext cx="457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不做無法重現的研究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230100" y="5448300"/>
            <a:ext cx="5715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230100" y="5715000"/>
            <a:ext cx="4572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每階段 JSON artifact + rng=42 + lineage · Phase 1–6 六份報告 + 13 頁互動 dashboard，可逐頁追溯模型決策。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7391400"/>
            <a:ext cx="16459200" cy="16002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" y="7391400"/>
            <a:ext cx="57150" cy="1600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62050" y="75628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ACADEMIC BASELINE · 學術底線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2050" y="7848600"/>
            <a:ext cx="158877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三承諾為 Phase 1–6 設計約束；任一未守，則統計結論失效。</a:t>
            </a:r>
            <a:r>
              <a:t/>
            </a:r>
            <a:br/>
            <a:r>
              <a:rPr sz="17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這是與一般「回測看起來很好」的量化原型</a:t>
            </a:r>
            <a:r>
              <a:rPr sz="17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最根本的區隔</a:t>
            </a:r>
            <a:r>
              <a:rPr sz="17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——所有產出可獨立稽核、可第三方重訓。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Problem · Deep Dive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Methodology: López de Prado (2018) · 台股文本驗證於 phase1_report_20260419_112854.json §data_integrity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A.02 · 三重結構性難題 · 詳細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2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結構性陷阱 + 對應方法論</a:t>
            </a:r>
            <a:r>
              <a:t/>
            </a:r>
            <a:br/>
            <a:r>
              <a:rPr sz="28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為何傳統單一因子模型無法穿透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68605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90850"/>
            <a:ext cx="16459200" cy="1752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990850"/>
            <a:ext cx="164592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4900" y="3162300"/>
            <a:ext cx="76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6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5000" y="3219450"/>
            <a:ext cx="6667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訊號雜訊比極低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05000" y="3581400"/>
            <a:ext cx="7620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05000" y="3695700"/>
            <a:ext cx="14287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· 日頻波動真正可預測 edge 約 1–5 pp · 雜訊主導日內價格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05000" y="4019550"/>
            <a:ext cx="14287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對策 · Walk-Forward Purged K-Fold (López de Prado §7.4) + 20 日 embargo + DSR 多重檢定 12.12 三層治理；Optuna 150 trials 後 SR̂ 2.41 仍顯著。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895850"/>
            <a:ext cx="16459200" cy="1752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4895850"/>
            <a:ext cx="164592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900" y="5067300"/>
            <a:ext cx="76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6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05000" y="5124450"/>
            <a:ext cx="6667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異質訊號難對齊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05000" y="5486400"/>
            <a:ext cx="76200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05000" y="5600700"/>
            <a:ext cx="14287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4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· 價量 tick / 財報季頻 (lag 45d) / PTT 事件頻 三種時間尺度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05000" y="5924550"/>
            <a:ext cx="14287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對策 · Feature Store 以 (stock_id, date) 為主鍵；T 日收盤可取得為邊界、文本僅取 T 日 15:00 前；DuckDB 內部 join 輸出 948,976 列。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6800850"/>
            <a:ext cx="16459200" cy="1752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6800850"/>
            <a:ext cx="164592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04900" y="6972300"/>
            <a:ext cx="76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05000" y="7029450"/>
            <a:ext cx="6667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文本資料品質混雜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05000" y="7391400"/>
            <a:ext cx="762000" cy="285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05000" y="7505700"/>
            <a:ext cx="14287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· 1,125,134 筆中近 40% 來自 Top 5 熱門股 · entity 涵蓋率不足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05000" y="7829550"/>
            <a:ext cx="14287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對策 · 自建台股 500 keyword Lift × χ² 詞表 + tickers entity linking 達 92% 涵蓋；URL+title MinHash LSH dedup (Jaccard ≥ 0.85)；coverage 衰減校正。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8877300"/>
            <a:ext cx="16459200" cy="5715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" y="8877300"/>
            <a:ext cx="57150" cy="5715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62050" y="90487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KEY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2050" y="9334500"/>
            <a:ext cx="15887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三難題對應三層治理 → </a:t>
            </a: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時序紀律 + 主鍵對齊 + 詞表自建</a:t>
            </a: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 · 對應到 P.04 Approach 的 6-phase pipeline。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6-Phase Pipeline · Detail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Pipeline doc: 專案說明文件 §3 · artifacts in outputs/reports/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A.03 · 6 階段流水線 · 詳細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6 階段流水線 </a:t>
            </a:r>
            <a:r>
              <a:rPr sz="2800" b="1" i="0" spc="-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從原始資料走到決策清單 · 每階段皆有可稽核產出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54102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933700"/>
            <a:ext cx="54102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14325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1623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Ingest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524250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資料清洗與對齊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943350"/>
            <a:ext cx="49530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7 表 · 3,483,598 列 ETL · 除權息補償、RSI 異常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4610100"/>
            <a:ext cx="495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724400"/>
            <a:ext cx="4953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↪ phase1_report.json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2933700"/>
            <a:ext cx="54102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53200" y="2933700"/>
            <a:ext cx="54102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1800" y="314325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9000" y="31623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Feature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1800" y="3524250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特徵工程與選擇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1800" y="3943350"/>
            <a:ext cx="49530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1,623 → 91 · Purged K-Fold · 20 日 embargo · 948,976 樣本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1800" y="4610100"/>
            <a:ext cx="495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81800" y="4724400"/>
            <a:ext cx="4953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↪ phase2_report.json · feature_store.parquet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192000" y="2933700"/>
            <a:ext cx="54102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2192000" y="2933700"/>
            <a:ext cx="54102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420600" y="314325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77800" y="31623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420600" y="3524250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模型訓練與調參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420600" y="3943350"/>
            <a:ext cx="49530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XGBoost / LightGBM / Logistic / RF · Optuna 150 trials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420600" y="4610100"/>
            <a:ext cx="495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420600" y="4724400"/>
            <a:ext cx="4953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↪ model_registry/*.pkl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5257800"/>
            <a:ext cx="54102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4400" y="5257800"/>
            <a:ext cx="54102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546735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54864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Explain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5848350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歸因分析 · LOPO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6267450"/>
            <a:ext cx="49530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Leave-One-Pillar-Out · SHAP summary · ΔAUC × 10,000 bps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6934200"/>
            <a:ext cx="495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7048500"/>
            <a:ext cx="4953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↪ lopo_pillar_contribution_D20.json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53200" y="5257800"/>
            <a:ext cx="54102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53200" y="5257800"/>
            <a:ext cx="54102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81800" y="546735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9000" y="54864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Backtest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81800" y="5848350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門檻掃描 · 回測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81800" y="6267450"/>
            <a:ext cx="49530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門檻 0.40 / 0.50 / 0.60 · 三情境 · 40 檔門檻 sweep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81800" y="6934200"/>
            <a:ext cx="495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81800" y="7048500"/>
            <a:ext cx="4953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↪ threshold_sweep_xgb_D20.json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192000" y="5257800"/>
            <a:ext cx="54102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2192000" y="5257800"/>
            <a:ext cx="54102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420600" y="546735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877800" y="54864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Govern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420600" y="5848350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治理閘門 · 交付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420600" y="6267450"/>
            <a:ext cx="49530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DSR / PSI / KS / embargo / 最差 fold / lineage 9 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420600" y="6934200"/>
            <a:ext cx="495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2420600" y="7048500"/>
            <a:ext cx="4953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↪ phase6_gates.json · dashboard/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4400" y="7848600"/>
            <a:ext cx="16459200" cy="11811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14400" y="7848600"/>
            <a:ext cx="57150" cy="1181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62050" y="80200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DESIGN PRINCIPLE · 設計原則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62050" y="8305800"/>
            <a:ext cx="158877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每階段皆產出 JSON 報告 + 摘要 + artifact，dashboard 可逐頁追溯；</a:t>
            </a:r>
            <a:r>
              <a:rPr sz="17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所有 random seed = 42、所有切分 lineage 可重訓，</a:t>
            </a:r>
            <a:r>
              <a:rPr sz="17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從 raw → 決策清單</a:t>
            </a:r>
            <a:r>
              <a:rPr sz="17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 任一節點皆可被獨立復現。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Data Sources · 7 Tables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ETL output: phase1_report_20260419_112854.json · DuckDB local snapshot 2025-12-31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A.04 · 七張原始表 · 結構與量級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3,483,598 列原始資料 </a:t>
            </a:r>
            <a:r>
              <a:rPr sz="28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 7 表 · 跨價量 / 財報 / 籌碼 / 文本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90850"/>
            <a:ext cx="15811500" cy="3429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5850" y="3067050"/>
            <a:ext cx="2095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1850" y="306705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7350" y="306705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850" y="3067050"/>
            <a:ext cx="9144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NOTE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333750"/>
            <a:ext cx="15811500" cy="571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333750"/>
            <a:ext cx="38100" cy="5715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5850" y="342900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companies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1850" y="34290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上市櫃主檔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7350" y="3429000"/>
            <a:ext cx="1714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1,932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2850" y="3429000"/>
            <a:ext cx="8953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產業 / 市場別 / 上市日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3905250"/>
            <a:ext cx="15811500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3905250"/>
            <a:ext cx="38100" cy="5715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5850" y="400050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stock_prices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71850" y="40005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日 K + 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7350" y="4000500"/>
            <a:ext cx="1714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955,405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850" y="4000500"/>
            <a:ext cx="8953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OHLCV · 還原權息 · 1932 檔 × 495 交易日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4476750"/>
            <a:ext cx="15811500" cy="571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4400" y="4476750"/>
            <a:ext cx="38100" cy="571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5850" y="457200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income_statement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71850" y="45720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損益表 (季)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7350" y="4572000"/>
            <a:ext cx="1714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14,968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62850" y="4572000"/>
            <a:ext cx="8953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EPS / 營收 / 毛利 · lag 45 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5048250"/>
            <a:ext cx="15811500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400" y="5048250"/>
            <a:ext cx="38100" cy="571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5850" y="514350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balance_sheet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71850" y="51435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資產負債表 (季)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7350" y="5143500"/>
            <a:ext cx="1714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14,204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62850" y="5143500"/>
            <a:ext cx="8953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股東權益 / 負債 · lag 45 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5619750"/>
            <a:ext cx="15811500" cy="571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4400" y="5619750"/>
            <a:ext cx="38100" cy="571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5850" y="571500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institutional_inv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71850" y="57150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三大法人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67350" y="5715000"/>
            <a:ext cx="1714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855,980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62850" y="5715000"/>
            <a:ext cx="8953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外資 / 投信 / 自營 · 買賣超與持股比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" y="6191250"/>
            <a:ext cx="15811500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4400" y="6191250"/>
            <a:ext cx="38100" cy="571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85850" y="628650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margin_trading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71850" y="62865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融資融券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67350" y="6286500"/>
            <a:ext cx="1714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566,095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62850" y="6286500"/>
            <a:ext cx="8953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融資餘額 / 融券餘額 / 券資比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" y="6762750"/>
            <a:ext cx="15811500" cy="571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14400" y="6762750"/>
            <a:ext cx="38100" cy="5715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85850" y="685800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stock_text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71850" y="68580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新聞 + PTT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67350" y="6858000"/>
            <a:ext cx="1714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1,125,134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62850" y="6858000"/>
            <a:ext cx="8953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15 來源 · 2008-01 起 · entity 匹配 92%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" y="7620000"/>
            <a:ext cx="16459200" cy="14859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14400" y="7620000"/>
            <a:ext cx="57150" cy="14859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62050" y="77914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INTEGRITY GUARDRAILS · 完整性護欄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62050" y="8077200"/>
            <a:ext cx="158877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異常時序 (除權息日) 與雜訊 (RSI 暴衝) 已透過 ETL 校正；</a:t>
            </a:r>
            <a:r>
              <a:rPr sz="16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財報以發布日 + 45 日延遲</a:t>
            </a:r>
            <a:r>
              <a:rPr sz="16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 對齊；新聞僅取 T 日 15:00 收盤前；</a:t>
            </a:r>
            <a:r>
              <a:t/>
            </a:r>
            <a:br/>
            <a:r>
              <a:rPr sz="16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7 表透過 (stock_id, date) 主鍵 join，最終 </a:t>
            </a:r>
            <a:r>
              <a:rPr sz="1600" b="1" i="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panel = 948,976 列 × 91 features</a:t>
            </a:r>
            <a:r>
              <a:rPr sz="16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Panel &amp; Walk-Forward CV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López de Prado (2018) §7.4 · embargo length determined by 20-day return horizon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A.05 · Panel 結構與 Walk-Forward Purged K-Fold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948,976 列 × 91 features </a:t>
            </a:r>
            <a:r>
              <a:rPr sz="26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 4-fold Purged K-Fold + 20 日 embargo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3943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933700"/>
            <a:ext cx="39433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143250"/>
            <a:ext cx="34861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SAMPLES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409950"/>
            <a:ext cx="348615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948,976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152900"/>
            <a:ext cx="3486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(stock_id, date) 主鍵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6350" y="2933700"/>
            <a:ext cx="3943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6350" y="2933700"/>
            <a:ext cx="39433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14950" y="3143250"/>
            <a:ext cx="34861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4950" y="3409950"/>
            <a:ext cx="348615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91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4950" y="4152900"/>
            <a:ext cx="3486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由 1,623 候選 → 91 final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58300" y="2933700"/>
            <a:ext cx="3943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58300" y="2933700"/>
            <a:ext cx="394335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86900" y="3143250"/>
            <a:ext cx="34861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STOCKS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6900" y="3409950"/>
            <a:ext cx="348615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1,932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86900" y="4152900"/>
            <a:ext cx="3486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上市櫃涵蓋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430250" y="2933700"/>
            <a:ext cx="3943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3430250" y="2933700"/>
            <a:ext cx="39433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658850" y="3143250"/>
            <a:ext cx="34861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SPAN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658850" y="3409950"/>
            <a:ext cx="348615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12y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658850" y="4152900"/>
            <a:ext cx="3486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2014-01 → 2025-12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800600"/>
            <a:ext cx="952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— WALK-FORWARD PURGED K-FOLD · 4-FOLD VIEW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5124450"/>
            <a:ext cx="164592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485900" y="7620000"/>
            <a:ext cx="153162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85900" y="7600950"/>
            <a:ext cx="9525" cy="76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00150" y="77343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2014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14950" y="7600950"/>
            <a:ext cx="9525" cy="76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0" y="77343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2017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7600950"/>
            <a:ext cx="9525" cy="76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58250" y="77343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973050" y="7600950"/>
            <a:ext cx="9525" cy="76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687300" y="77343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2023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802100" y="7600950"/>
            <a:ext cx="9525" cy="76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516350" y="77343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2025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85900" y="5524500"/>
            <a:ext cx="6124575" cy="304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610475" y="5524500"/>
            <a:ext cx="304800" cy="304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915275" y="5524500"/>
            <a:ext cx="1990725" cy="304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5562600"/>
            <a:ext cx="533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F1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485900" y="5905500"/>
            <a:ext cx="8420100" cy="304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906000" y="5905500"/>
            <a:ext cx="304800" cy="304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210800" y="5905500"/>
            <a:ext cx="1990725" cy="304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" y="5943600"/>
            <a:ext cx="533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F2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85900" y="6286500"/>
            <a:ext cx="10715625" cy="304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2201525" y="6286500"/>
            <a:ext cx="304800" cy="304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506325" y="6286500"/>
            <a:ext cx="1990725" cy="304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400" y="6324600"/>
            <a:ext cx="533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F3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485900" y="6667500"/>
            <a:ext cx="13011150" cy="304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4497050" y="6667500"/>
            <a:ext cx="304800" cy="304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4801850" y="6667500"/>
            <a:ext cx="1990725" cy="304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4400" y="6705600"/>
            <a:ext cx="533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F4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485900" y="8020050"/>
            <a:ext cx="152400" cy="952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95450" y="796290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Train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581400" y="8020050"/>
            <a:ext cx="152400" cy="952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790950" y="796290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Embargo (20d)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76900" y="8020050"/>
            <a:ext cx="152400" cy="952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886450" y="796290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Test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4400" y="7962900"/>
            <a:ext cx="16459200" cy="12573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14400" y="7962900"/>
            <a:ext cx="57150" cy="12573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62050" y="81343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WHY EMBARGO · 為何要 embargo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62050" y="8420100"/>
            <a:ext cx="158877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20 日 embargo 隔絕 </a:t>
            </a:r>
            <a:r>
              <a:rPr sz="16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training-test 樣本之間的標籤洩漏</a:t>
            </a:r>
            <a:r>
              <a:rPr sz="16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（label 涉及未來 20 日報酬）；purge + expanding window 確保 </a:t>
            </a:r>
            <a:r>
              <a:rPr sz="1600" b="1" i="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AUC / ICIR / DSR </a:t>
            </a:r>
            <a:r>
              <a:rPr sz="16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皆於完全 out-of-sample 測得。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Tech Stack · 5 Layers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Architecture spec: 專案說明文件 §2 · pyproject.toml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A.06 · 技術堆疊 · 五層架構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5-Layer Stack </a:t>
            </a:r>
            <a:r>
              <a:rPr sz="26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 Storage → ETL → Feature → Model → Serve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16459200" cy="9525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933700"/>
            <a:ext cx="76200" cy="9525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0150" y="310515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2600" y="314325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SERVE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0150" y="3429000"/>
            <a:ext cx="2476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互動服務層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2900" y="3105150"/>
            <a:ext cx="9525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Streamlit (13 pages) · ICIR / SHAP / Decile / Equity 即時切換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2900" y="3486150"/>
            <a:ext cx="9525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↪ app/, dashboard.py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58900" y="3105150"/>
            <a:ext cx="3048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4200" b="1" i="0" spc="-1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L5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000500"/>
            <a:ext cx="16459200" cy="9525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4000500"/>
            <a:ext cx="76200" cy="952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00150" y="417195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2600" y="421005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0150" y="4495800"/>
            <a:ext cx="2476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模型訓練層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52900" y="4171950"/>
            <a:ext cx="9525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XGBoost 1.7 / LightGBM 4.x / scikit-learn · Optuna 150 trials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52900" y="4552950"/>
            <a:ext cx="9525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↪ src/models/, model_registry/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58900" y="4171950"/>
            <a:ext cx="3048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4200" b="1" i="0" spc="-14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L4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5067300"/>
            <a:ext cx="16459200" cy="9525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5067300"/>
            <a:ext cx="76200" cy="9525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00150" y="523875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52600" y="527685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FEATURE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0150" y="5562600"/>
            <a:ext cx="2476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特徵工程層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52900" y="5238750"/>
            <a:ext cx="9525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91 features × 9 pillars · purged K-Fold · 20d embargo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52900" y="5619750"/>
            <a:ext cx="9525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↪ src/features/, feature_store.parquet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058900" y="5238750"/>
            <a:ext cx="3048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4200" b="1" i="0" spc="-14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L3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6134100"/>
            <a:ext cx="16459200" cy="9525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4400" y="6134100"/>
            <a:ext cx="76200" cy="952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00150" y="630555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52600" y="634365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ETL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00150" y="6629400"/>
            <a:ext cx="2476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資料對齊層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2900" y="6305550"/>
            <a:ext cx="9525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7 表 → panel · 主鍵 (stock_id, date) · 財報 lag 45d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52900" y="6686550"/>
            <a:ext cx="9525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↪ src/etl/, scripts/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058900" y="6305550"/>
            <a:ext cx="3048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4200" b="1" i="0" spc="-1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L2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7200900"/>
            <a:ext cx="16459200" cy="9525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4400" y="7200900"/>
            <a:ext cx="76200" cy="9525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00150" y="737235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52600" y="741045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STORAGE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00150" y="7696200"/>
            <a:ext cx="2476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儲存層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52900" y="7372350"/>
            <a:ext cx="9525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DuckDB 0.10 + Parquet · local snapshot · WAL off · 35 GB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52900" y="7753350"/>
            <a:ext cx="9525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↪ data/raw/, data/processed/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058900" y="7372350"/>
            <a:ext cx="3048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4200" b="1" i="0" spc="-1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L1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" y="8610600"/>
            <a:ext cx="16459200" cy="5715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14400" y="8610600"/>
            <a:ext cx="57150" cy="5715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62050" y="87820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CONTAINERIZED · 完全可重現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62050" y="9067800"/>
            <a:ext cx="15887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五層皆有 unit test + integration test · 任何一層可獨立替換 (e.g. DuckDB → BigQuery)；</a:t>
            </a: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Docker compose 兩節點即可重訓全棧。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9-Pillar Framework · Detail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Feature documentation: src/features/registry.py · 91 features grouped to 9 pillars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A.07 · 九大支柱 · 範例特徵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91 features → 9 pillars </a:t>
            </a:r>
            <a:r>
              <a:rPr sz="26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 三大維度 (Price / Fundamentals / Alt-data)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5410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933700"/>
            <a:ext cx="54102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12420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RSK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2100" y="312420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1813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486150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Risk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3848100"/>
            <a:ext cx="5715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3962400"/>
            <a:ext cx="495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volatility_20d · downside_dev · maxdd_60d · beta_60d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6050" y="2933700"/>
            <a:ext cx="5410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6050" y="2933700"/>
            <a:ext cx="5410200" cy="381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4650" y="312420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40AF"/>
                </a:solidFill>
                <a:latin typeface="Times New Roman"/>
                <a:ea typeface="Microsoft JhengHei"/>
                <a:cs typeface="Microsoft JhengHei"/>
              </a:rPr>
              <a:t>TRD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3750" y="312420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82250" y="31813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feat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4650" y="3486150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Trend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4650" y="3848100"/>
            <a:ext cx="571500" cy="28575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4650" y="3962400"/>
            <a:ext cx="495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sma_5_20_ratio · macd_signal · adx_14 · slope_20d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077700" y="2933700"/>
            <a:ext cx="5410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2077700" y="2933700"/>
            <a:ext cx="54102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06300" y="312420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MOM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535400" y="312420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963900" y="31813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feat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06300" y="3486150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Momentum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306300" y="3848100"/>
            <a:ext cx="571500" cy="285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306300" y="3962400"/>
            <a:ext cx="495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ret_5d · ret_20d · ret_60d · roc_10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4705350"/>
            <a:ext cx="5410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4400" y="4705350"/>
            <a:ext cx="5410200" cy="381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489585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0891B2"/>
                </a:solidFill>
                <a:latin typeface="Times New Roman"/>
                <a:ea typeface="Microsoft JhengHei"/>
                <a:cs typeface="Microsoft JhengHei"/>
              </a:rPr>
              <a:t>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72100" y="489585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0600" y="49530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feat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5257800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Valuation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5619750"/>
            <a:ext cx="571500" cy="28575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734050"/>
            <a:ext cx="495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pe · pb · ev_ebitda · earnings_yield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6050" y="4705350"/>
            <a:ext cx="5410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96050" y="4705350"/>
            <a:ext cx="5410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24650" y="489585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FND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53750" y="489585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82250" y="49530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feat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4650" y="5257800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Fund.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4650" y="5619750"/>
            <a:ext cx="5715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24650" y="5734050"/>
            <a:ext cx="495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roe · gross_margin · debt_eq · revenue_growth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077700" y="4705350"/>
            <a:ext cx="5410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2077700" y="4705350"/>
            <a:ext cx="54102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06300" y="489585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IND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535400" y="489585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963900" y="49530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feat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306300" y="5257800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Industry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306300" y="5619750"/>
            <a:ext cx="571500" cy="285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2306300" y="5734050"/>
            <a:ext cx="495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sector_dummy × 9 · industry_momentum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4400" y="6477000"/>
            <a:ext cx="5410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14400" y="6477000"/>
            <a:ext cx="54102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43000" y="666750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CHP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72100" y="666750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00600" y="67246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feat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43000" y="7029450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Chip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43000" y="7391400"/>
            <a:ext cx="57150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43000" y="7505700"/>
            <a:ext cx="495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foreign_inv_buy · margin_balance · short_ratio · turnover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96050" y="6477000"/>
            <a:ext cx="5410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96050" y="6477000"/>
            <a:ext cx="54102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724650" y="666750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SNT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953750" y="666750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382250" y="67246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feat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24650" y="7029450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Sentiment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724650" y="7391400"/>
            <a:ext cx="571500" cy="285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724650" y="7505700"/>
            <a:ext cx="495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news_sent · forum_sent · sent_consensus · q1_dummy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2077700" y="6477000"/>
            <a:ext cx="5410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2077700" y="6477000"/>
            <a:ext cx="541020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2306300" y="666750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EC4899"/>
                </a:solidFill>
                <a:latin typeface="Times New Roman"/>
                <a:ea typeface="Microsoft JhengHei"/>
                <a:cs typeface="Microsoft JhengHei"/>
              </a:rPr>
              <a:t>EVT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6535400" y="666750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5963900" y="67246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feat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306300" y="7029450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Event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2306300" y="7391400"/>
            <a:ext cx="571500" cy="28575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2306300" y="7505700"/>
            <a:ext cx="495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earnings_announce · ex_div · split · merger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0" y="8420100"/>
            <a:ext cx="16459200" cy="8001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14400" y="8420100"/>
            <a:ext cx="57150" cy="800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62050" y="85915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BLOCK STRUCTURE · 區塊設計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62050" y="8877300"/>
            <a:ext cx="15887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九支柱 </a:t>
            </a: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彼此互補 · 跨價量 / 籌碼 / 文本三類資產</a:t>
            </a:r>
            <a:r>
              <a:rPr sz="15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 · 各支柱可單獨 ablation；LOPO 結果見 A.08。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LOPO ΔAUC · Detail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Artifact: lopo_pillar_contribution_D20.json · 4-fold mean ΔAUC × 10,000 (bps)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A.08 · Leave-One-Pillar-Out · 詳細解讀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LOPO ΔAUC </a:t>
            </a:r>
            <a:r>
              <a:rPr sz="26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 Risk 一支獨大 138.6 bps · 文本仍貢獻 8.5 bps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10477500" cy="5143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4900" y="310515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6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— 移除單一支柱後 OOS AUC 變動 (4-fold mean, bps)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" y="3486150"/>
            <a:ext cx="17145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Risk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71800" y="3676650"/>
            <a:ext cx="6286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15050" y="3562350"/>
            <a:ext cx="9525" cy="2476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4575" y="3600450"/>
            <a:ext cx="2647950" cy="171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0700" y="3486150"/>
            <a:ext cx="1143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+138.6 bps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" y="3962400"/>
            <a:ext cx="17145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Trend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4152900"/>
            <a:ext cx="6286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15050" y="4038600"/>
            <a:ext cx="9525" cy="2476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4575" y="4076700"/>
            <a:ext cx="1238250" cy="171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0700" y="3962400"/>
            <a:ext cx="1143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+64.9 bps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900" y="4438650"/>
            <a:ext cx="17145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Valuation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71800" y="4629150"/>
            <a:ext cx="6286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15050" y="4514850"/>
            <a:ext cx="9525" cy="2476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4575" y="4552950"/>
            <a:ext cx="180975" cy="171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0700" y="4438650"/>
            <a:ext cx="1143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+9.5 bps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4900" y="4914900"/>
            <a:ext cx="17145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Sentiment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71800" y="5105400"/>
            <a:ext cx="6286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15050" y="4991100"/>
            <a:ext cx="9525" cy="2476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4575" y="5029200"/>
            <a:ext cx="161925" cy="171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0700" y="4914900"/>
            <a:ext cx="1143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+8.5 bps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4900" y="5391150"/>
            <a:ext cx="17145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Fund.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71800" y="5581650"/>
            <a:ext cx="6286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15050" y="5467350"/>
            <a:ext cx="9525" cy="2476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7900" y="5505450"/>
            <a:ext cx="47625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0700" y="5391150"/>
            <a:ext cx="1143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-2.6 bps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4900" y="5867400"/>
            <a:ext cx="17145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Sentiment forum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71800" y="6057900"/>
            <a:ext cx="6286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15050" y="5943600"/>
            <a:ext cx="9525" cy="2476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57900" y="5981700"/>
            <a:ext cx="47625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10700" y="5867400"/>
            <a:ext cx="1143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-2.8 bps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4900" y="6343650"/>
            <a:ext cx="17145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Industry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71800" y="6534150"/>
            <a:ext cx="6286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15050" y="6419850"/>
            <a:ext cx="9525" cy="2476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829300" y="6457950"/>
            <a:ext cx="276225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10700" y="6343650"/>
            <a:ext cx="1143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-14.8 bps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4900" y="6819900"/>
            <a:ext cx="17145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Event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71800" y="7010400"/>
            <a:ext cx="6286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15050" y="6896100"/>
            <a:ext cx="9525" cy="2476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810250" y="6934200"/>
            <a:ext cx="295275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10700" y="6819900"/>
            <a:ext cx="1143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-15.7 bps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4900" y="7296150"/>
            <a:ext cx="17145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Chip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71800" y="7486650"/>
            <a:ext cx="6286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115050" y="7372350"/>
            <a:ext cx="9525" cy="2476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53100" y="7410450"/>
            <a:ext cx="352425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10700" y="7296150"/>
            <a:ext cx="1143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-18.5 bps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544300" y="310515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— THREE READINGS · 三個關鍵解讀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544300" y="3486150"/>
            <a:ext cx="58293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544300" y="3486150"/>
            <a:ext cx="58293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772900" y="3657600"/>
            <a:ext cx="571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382500" y="3695700"/>
            <a:ext cx="4381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Risk 一支獨大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382500" y="4038600"/>
            <a:ext cx="5715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382500" y="4171950"/>
            <a:ext cx="4762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+138.6 bps · 占解釋力 ~50% · 風險特徵不可裁去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544300" y="4914900"/>
            <a:ext cx="58293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544300" y="4914900"/>
            <a:ext cx="58293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772900" y="5086350"/>
            <a:ext cx="571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382500" y="5124450"/>
            <a:ext cx="4381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Trend 第二位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2382500" y="5467350"/>
            <a:ext cx="571500" cy="285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2382500" y="5600700"/>
            <a:ext cx="4762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+64.9 bps · 動能 / 趨勢仍然顯著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544300" y="6343650"/>
            <a:ext cx="58293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1544300" y="6343650"/>
            <a:ext cx="58293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772900" y="6515100"/>
            <a:ext cx="571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 spc="-4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382500" y="6553200"/>
            <a:ext cx="4381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文本是淨正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2382500" y="6896100"/>
            <a:ext cx="5715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2382500" y="7029450"/>
            <a:ext cx="4762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+8.5 bps · 不貴的話應保留 · ~13% 邊際貢獻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8267700"/>
            <a:ext cx="16459200" cy="9144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14400" y="8267700"/>
            <a:ext cx="57150" cy="9144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62050" y="84391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IMPLICATION · 投資組合啟示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62050" y="8724900"/>
            <a:ext cx="15887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若被迫精簡，先砍 Chip / Event / Industry 三支 (合計 -49 bps，為負貢獻)；</a:t>
            </a:r>
            <a:r>
              <a:t/>
            </a:r>
            <a:br/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保留 Risk + Trend + Valuation + Sentiment 四支已可貢獻 220+ bps 的 ΔAUC。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SHAP Top-20 + Consistency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Artifact: shap_summary_xgb_D20.json · TreeExplainer · |SHAP| mean across OOS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A.09 · SHAP Top-20 與支柱一致性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SHAP Top-20 </a:t>
            </a:r>
            <a:r>
              <a:rPr sz="26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 與 LOPO 結論一致 · 風險特徵主導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10477500" cy="6286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4900" y="31051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6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— TOP 20 FEATURES BY MEAN |SHAP| · OOS aggregate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" y="342900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85900" y="3505200"/>
            <a:ext cx="304800" cy="1333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85900" y="3505200"/>
            <a:ext cx="30480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RSK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5000" y="342900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volatility_20d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4500" y="35528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4500" y="3552825"/>
            <a:ext cx="40005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5500" y="342900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0.142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900" y="37147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85900" y="3790950"/>
            <a:ext cx="304800" cy="1333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85900" y="3790950"/>
            <a:ext cx="30480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RSK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05000" y="371475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downside_dev_60d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24500" y="38385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24500" y="3838575"/>
            <a:ext cx="3324225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15500" y="371475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0.118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4900" y="400050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85900" y="4076700"/>
            <a:ext cx="304800" cy="1333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85900" y="4076700"/>
            <a:ext cx="30480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RSK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05000" y="400050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beta_60d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24500" y="41243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24500" y="4124325"/>
            <a:ext cx="28956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15500" y="400050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0.103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4900" y="42862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85900" y="4362450"/>
            <a:ext cx="304800" cy="13335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85900" y="4362450"/>
            <a:ext cx="30480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TRD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05000" y="428625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macd_signal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24500" y="44100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524500" y="4410075"/>
            <a:ext cx="2647950" cy="381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15500" y="428625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0.094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4900" y="457200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85900" y="4648200"/>
            <a:ext cx="304800" cy="13335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85900" y="4648200"/>
            <a:ext cx="30480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TRD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05000" y="457200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sma_5_20_ratio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24500" y="46958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524500" y="4695825"/>
            <a:ext cx="2447925" cy="381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15500" y="457200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0.087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4900" y="48577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85900" y="4933950"/>
            <a:ext cx="304800" cy="1333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85900" y="4933950"/>
            <a:ext cx="30480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MOM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05000" y="485775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ret_20d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24500" y="49815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24500" y="4981575"/>
            <a:ext cx="23050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15500" y="485775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0.082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4900" y="514350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485900" y="5219700"/>
            <a:ext cx="304800" cy="13335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485900" y="5219700"/>
            <a:ext cx="30480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TRD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05000" y="514350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adx_14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24500" y="52673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24500" y="5267325"/>
            <a:ext cx="2190750" cy="381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15500" y="514350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0.078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4900" y="54292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485900" y="5505450"/>
            <a:ext cx="304800" cy="1333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485900" y="5505450"/>
            <a:ext cx="30480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RSK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05000" y="542925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maxdd_60d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524500" y="55530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524500" y="5553075"/>
            <a:ext cx="20002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15500" y="542925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0.071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04900" y="571500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485900" y="5791200"/>
            <a:ext cx="30480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485900" y="5791200"/>
            <a:ext cx="30480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SNT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905000" y="571500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news_sent_5d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24500" y="58388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524500" y="5838825"/>
            <a:ext cx="1800225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715500" y="571500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0.064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04900" y="60007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485900" y="6076950"/>
            <a:ext cx="304800" cy="1333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485900" y="6076950"/>
            <a:ext cx="30480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CHP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05000" y="600075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foreign_inv_buy_5d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524500" y="61245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524500" y="6124575"/>
            <a:ext cx="17145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715500" y="600075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0.061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04900" y="628650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485900" y="6362700"/>
            <a:ext cx="304800" cy="13335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485900" y="6362700"/>
            <a:ext cx="30480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VAL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905000" y="628650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pe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524500" y="64103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524500" y="6410325"/>
            <a:ext cx="1628775" cy="381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715500" y="628650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0.058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04900" y="65722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485900" y="6648450"/>
            <a:ext cx="304800" cy="1333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485900" y="6648450"/>
            <a:ext cx="30480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MOM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905000" y="657225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roc_10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524500" y="66960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524500" y="6696075"/>
            <a:ext cx="15430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715500" y="657225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0.055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04900" y="685800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485900" y="6934200"/>
            <a:ext cx="304800" cy="1333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485900" y="6934200"/>
            <a:ext cx="30480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FND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905000" y="685800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roe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524500" y="69818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524500" y="6981825"/>
            <a:ext cx="1457325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715500" y="685800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0.052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04900" y="71437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485900" y="7219950"/>
            <a:ext cx="30480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485900" y="7219950"/>
            <a:ext cx="30480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SNT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905000" y="714375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forum_sent_5d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524500" y="72675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524500" y="7267575"/>
            <a:ext cx="1343025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715500" y="714375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0.048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04900" y="742950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485900" y="7505700"/>
            <a:ext cx="304800" cy="1333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485900" y="7505700"/>
            <a:ext cx="30480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CHP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905000" y="742950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turnover_20d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524500" y="75533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5524500" y="7553325"/>
            <a:ext cx="1266825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715500" y="742950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0.045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04900" y="77152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485900" y="7791450"/>
            <a:ext cx="304800" cy="1333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485900" y="7791450"/>
            <a:ext cx="30480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CHP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905000" y="771525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margin_balance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524500" y="78390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5524500" y="7839075"/>
            <a:ext cx="1152525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715500" y="771525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0.041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04900" y="800100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485900" y="8077200"/>
            <a:ext cx="304800" cy="13335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485900" y="8077200"/>
            <a:ext cx="30480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VAL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905000" y="800100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pb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524500" y="81248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5524500" y="8124825"/>
            <a:ext cx="1066800" cy="381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715500" y="800100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0.038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04900" y="82867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485900" y="8362950"/>
            <a:ext cx="30480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485900" y="8362950"/>
            <a:ext cx="30480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SNT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905000" y="828675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q1_dummy_news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524500" y="84105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524500" y="8410575"/>
            <a:ext cx="9525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715500" y="828675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0.034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04900" y="857250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485900" y="8648700"/>
            <a:ext cx="304800" cy="1333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485900" y="8648700"/>
            <a:ext cx="30480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FND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905000" y="857250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gross_margin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524500" y="86963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524500" y="8696325"/>
            <a:ext cx="866775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715500" y="857250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0.031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104900" y="88582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485900" y="8934450"/>
            <a:ext cx="304800" cy="13335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85900" y="8934450"/>
            <a:ext cx="30480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VAL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905000" y="885825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earnings_yield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524500" y="89820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524500" y="8982075"/>
            <a:ext cx="781050" cy="381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9715500" y="885825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0.028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1544300" y="310515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— PILLAR-WISE SHAP vs LOPO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1544300" y="3486150"/>
            <a:ext cx="5829300" cy="304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1715750" y="354330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PILLAR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4020800" y="3543300"/>
            <a:ext cx="1333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0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SHAP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5544800" y="35433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0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LOPO bps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1544300" y="3790950"/>
            <a:ext cx="5829300" cy="3429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1544300" y="3790950"/>
            <a:ext cx="38100" cy="3429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1715750" y="38481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Risk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2973050" y="3848100"/>
            <a:ext cx="952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RSK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4020800" y="3848100"/>
            <a:ext cx="1333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0.434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5544800" y="3848100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+138.6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1544300" y="4133850"/>
            <a:ext cx="58293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1544300" y="4133850"/>
            <a:ext cx="38100" cy="3429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1715750" y="41910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Trend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2973050" y="4191000"/>
            <a:ext cx="952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E40AF"/>
                </a:solidFill>
                <a:latin typeface="Times New Roman"/>
                <a:ea typeface="Microsoft JhengHei"/>
                <a:cs typeface="Microsoft JhengHei"/>
              </a:rPr>
              <a:t>TRD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4020800" y="4191000"/>
            <a:ext cx="1333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0.259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5544800" y="4191000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+64.9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1544300" y="4476750"/>
            <a:ext cx="5829300" cy="3429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1544300" y="4476750"/>
            <a:ext cx="38100" cy="3429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1715750" y="45339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Valuation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2973050" y="4533900"/>
            <a:ext cx="952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891B2"/>
                </a:solidFill>
                <a:latin typeface="Times New Roman"/>
                <a:ea typeface="Microsoft JhengHei"/>
                <a:cs typeface="Microsoft JhengHei"/>
              </a:rPr>
              <a:t>VAL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4020800" y="4533900"/>
            <a:ext cx="1333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0.124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5544800" y="4533900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+9.5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11544300" y="4819650"/>
            <a:ext cx="58293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11544300" y="4819650"/>
            <a:ext cx="38100" cy="3429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1715750" y="48768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Sentiment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2973050" y="4876800"/>
            <a:ext cx="952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SNT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4020800" y="4876800"/>
            <a:ext cx="1333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0.146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5544800" y="4876800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+8.5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11544300" y="5162550"/>
            <a:ext cx="5829300" cy="3429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11544300" y="5162550"/>
            <a:ext cx="38100" cy="3429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1715750" y="52197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Chip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2973050" y="5219700"/>
            <a:ext cx="952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CHP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4020800" y="5219700"/>
            <a:ext cx="1333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0.147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5544800" y="5219700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-18.5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11544300" y="5505450"/>
            <a:ext cx="58293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11544300" y="5505450"/>
            <a:ext cx="38100" cy="3429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11715750" y="55626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Industry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2973050" y="5562600"/>
            <a:ext cx="952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IND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4020800" y="5562600"/>
            <a:ext cx="1333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0.062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5544800" y="5562600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-14.8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11544300" y="5848350"/>
            <a:ext cx="5829300" cy="3429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1544300" y="5848350"/>
            <a:ext cx="38100" cy="3429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1715750" y="59055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Event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2973050" y="5905500"/>
            <a:ext cx="952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C4899"/>
                </a:solidFill>
                <a:latin typeface="Times New Roman"/>
                <a:ea typeface="Microsoft JhengHei"/>
                <a:cs typeface="Microsoft JhengHei"/>
              </a:rPr>
              <a:t>EVT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4020800" y="5905500"/>
            <a:ext cx="1333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0.034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5544800" y="5905500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-15.7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11544300" y="6191250"/>
            <a:ext cx="58293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11544300" y="6191250"/>
            <a:ext cx="38100" cy="3429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1715750" y="62484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Fund.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2973050" y="6248400"/>
            <a:ext cx="952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FND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4020800" y="6248400"/>
            <a:ext cx="1333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0.083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5544800" y="6248400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-2.6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11544300" y="6667500"/>
            <a:ext cx="5829300" cy="25146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11544300" y="6667500"/>
            <a:ext cx="57150" cy="25146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1791950" y="68389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CROSS-METHOD CONSISTENCY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1791950" y="7124700"/>
            <a:ext cx="5257800" cy="198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SHAP 與 LOPO 對 Risk / Trend / Valuation 三支柱結論一致；</a:t>
            </a:r>
            <a:r>
              <a:t/>
            </a:r>
            <a:br/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Chip 在 SHAP 量值大 (0.147) 卻在 LOPO 為負 (-18.5)，</a:t>
            </a:r>
            <a:r>
              <a:t/>
            </a:r>
            <a:br/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顯示 chip 特徵與其他支柱有相關性 → 集成中冗餘。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Top-10 Single Factors · IC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Artifact: factor_ic_table_D20.json · Spearman IC over 4-fold OOS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A.10 · 單因子 IC 排行 Top-10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8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Top-10 Single Factors </a:t>
            </a:r>
            <a:r>
              <a:rPr sz="26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 排序前 10 大「能單獨打贏」的因子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13906500" cy="381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028950"/>
            <a:ext cx="3429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22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#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028950"/>
            <a:ext cx="33909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FEATURE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9700" y="3028950"/>
            <a:ext cx="11049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22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PILLAR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3028950"/>
            <a:ext cx="167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2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IC (Spearman)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028950"/>
            <a:ext cx="18669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2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ICIR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53700" y="3028950"/>
            <a:ext cx="18669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2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AUC (OOS, single)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49200" y="302895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NOTE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314700"/>
            <a:ext cx="13906500" cy="4953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3314700"/>
            <a:ext cx="38100" cy="4953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700" y="3429000"/>
            <a:ext cx="342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3429000"/>
            <a:ext cx="3390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volatility_20d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9700" y="3429000"/>
            <a:ext cx="1104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RSK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3200" y="3429000"/>
            <a:ext cx="16764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-0.082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429000"/>
            <a:ext cx="1866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0.072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53700" y="3429000"/>
            <a:ext cx="1866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0.642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49200" y="3429000"/>
            <a:ext cx="20574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負相關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3810000"/>
            <a:ext cx="13906500" cy="495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4400" y="3810000"/>
            <a:ext cx="38100" cy="4953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8700" y="3924300"/>
            <a:ext cx="342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3924300"/>
            <a:ext cx="3390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downside_dev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9700" y="3924300"/>
            <a:ext cx="1104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RSK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3200" y="3924300"/>
            <a:ext cx="16764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-0.071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3924300"/>
            <a:ext cx="1866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0.064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53700" y="3924300"/>
            <a:ext cx="1866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0.629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49200" y="3924300"/>
            <a:ext cx="20574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負相關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4305300"/>
            <a:ext cx="13906500" cy="4953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4400" y="4305300"/>
            <a:ext cx="38100" cy="4953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8700" y="4419600"/>
            <a:ext cx="342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00200" y="4419600"/>
            <a:ext cx="3390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macd_signal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9700" y="4419600"/>
            <a:ext cx="1104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40AF"/>
                </a:solidFill>
                <a:latin typeface="Times New Roman"/>
                <a:ea typeface="Microsoft JhengHei"/>
                <a:cs typeface="Microsoft JhengHei"/>
              </a:rPr>
              <a:t>TRD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53200" y="4419600"/>
            <a:ext cx="16764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+0.064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4419600"/>
            <a:ext cx="1866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0.058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53700" y="4419600"/>
            <a:ext cx="1866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0.621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649200" y="4419600"/>
            <a:ext cx="20574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正相關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" y="4800600"/>
            <a:ext cx="13906500" cy="495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4400" y="4800600"/>
            <a:ext cx="38100" cy="4953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8700" y="4914900"/>
            <a:ext cx="342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00200" y="4914900"/>
            <a:ext cx="3390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beta_60d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9700" y="4914900"/>
            <a:ext cx="1104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RSK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53200" y="4914900"/>
            <a:ext cx="16764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-0.061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58200" y="4914900"/>
            <a:ext cx="1866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0.055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53700" y="4914900"/>
            <a:ext cx="1866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0.618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649200" y="4914900"/>
            <a:ext cx="20574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負相關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0" y="5295900"/>
            <a:ext cx="13906500" cy="4953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14400" y="5295900"/>
            <a:ext cx="38100" cy="4953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28700" y="5410200"/>
            <a:ext cx="342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00200" y="5410200"/>
            <a:ext cx="3390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sma_5_20_ratio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19700" y="5410200"/>
            <a:ext cx="1104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40AF"/>
                </a:solidFill>
                <a:latin typeface="Times New Roman"/>
                <a:ea typeface="Microsoft JhengHei"/>
                <a:cs typeface="Microsoft JhengHei"/>
              </a:rPr>
              <a:t>TRD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53200" y="5410200"/>
            <a:ext cx="16764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+0.058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58200" y="5410200"/>
            <a:ext cx="1866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0.053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53700" y="5410200"/>
            <a:ext cx="1866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0.612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649200" y="5410200"/>
            <a:ext cx="20574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正相關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4400" y="5791200"/>
            <a:ext cx="13906500" cy="495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5791200"/>
            <a:ext cx="38100" cy="4953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28700" y="5905500"/>
            <a:ext cx="342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00200" y="5905500"/>
            <a:ext cx="3390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ret_20d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19700" y="5905500"/>
            <a:ext cx="1104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MOM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53200" y="5905500"/>
            <a:ext cx="16764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+0.055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58200" y="5905500"/>
            <a:ext cx="1866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0.049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53700" y="5905500"/>
            <a:ext cx="1866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0.609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649200" y="5905500"/>
            <a:ext cx="20574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正相關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" y="6286500"/>
            <a:ext cx="13906500" cy="4953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14400" y="6286500"/>
            <a:ext cx="38100" cy="4953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28700" y="6400800"/>
            <a:ext cx="342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600200" y="6400800"/>
            <a:ext cx="3390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news_sent_5d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19700" y="6400800"/>
            <a:ext cx="1104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SNT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53200" y="6400800"/>
            <a:ext cx="16764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+0.048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58200" y="6400800"/>
            <a:ext cx="1866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0.044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53700" y="6400800"/>
            <a:ext cx="1866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0.601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649200" y="6400800"/>
            <a:ext cx="20574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正相關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14400" y="6781800"/>
            <a:ext cx="13906500" cy="495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14400" y="6781800"/>
            <a:ext cx="38100" cy="4953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28700" y="6896100"/>
            <a:ext cx="342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600200" y="6896100"/>
            <a:ext cx="3390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foreign_inv_buy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219700" y="6896100"/>
            <a:ext cx="1104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CHP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553200" y="6896100"/>
            <a:ext cx="16764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+0.045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458200" y="6896100"/>
            <a:ext cx="1866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0.041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553700" y="6896100"/>
            <a:ext cx="1866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0.598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649200" y="6896100"/>
            <a:ext cx="20574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正相關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7277100"/>
            <a:ext cx="13906500" cy="4953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14400" y="7277100"/>
            <a:ext cx="38100" cy="4953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28700" y="7391400"/>
            <a:ext cx="342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600200" y="7391400"/>
            <a:ext cx="3390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pe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219700" y="7391400"/>
            <a:ext cx="1104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891B2"/>
                </a:solidFill>
                <a:latin typeface="Times New Roman"/>
                <a:ea typeface="Microsoft JhengHei"/>
                <a:cs typeface="Microsoft JhengHei"/>
              </a:rPr>
              <a:t>VAL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553200" y="7391400"/>
            <a:ext cx="16764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-0.041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458200" y="7391400"/>
            <a:ext cx="1866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0.038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553700" y="7391400"/>
            <a:ext cx="1866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0.591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2649200" y="7391400"/>
            <a:ext cx="20574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負相關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14400" y="7772400"/>
            <a:ext cx="13906500" cy="495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" y="7772400"/>
            <a:ext cx="38100" cy="4953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28700" y="7886700"/>
            <a:ext cx="342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600200" y="7886700"/>
            <a:ext cx="3390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adx_14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219700" y="7886700"/>
            <a:ext cx="1104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40AF"/>
                </a:solidFill>
                <a:latin typeface="Times New Roman"/>
                <a:ea typeface="Microsoft JhengHei"/>
                <a:cs typeface="Microsoft JhengHei"/>
              </a:rPr>
              <a:t>TRD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553200" y="7886700"/>
            <a:ext cx="16764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+0.039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458200" y="7886700"/>
            <a:ext cx="1866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0.036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553700" y="7886700"/>
            <a:ext cx="18669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0.587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2649200" y="7886700"/>
            <a:ext cx="20574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正相關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14400" y="8420100"/>
            <a:ext cx="16459200" cy="8001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14400" y="8420100"/>
            <a:ext cx="57150" cy="800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162050" y="85915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INSIGHT · 單因子的天花板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62050" y="8877300"/>
            <a:ext cx="15887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單因子 AUC 上限 ~0.642 · 集成後達 0.6490；</a:t>
            </a: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集成才是 alpha 的關鍵</a:t>
            </a:r>
            <a:r>
              <a:rPr sz="15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——任何單一因子在 OOS 都不足以承擔倉位決策。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Model Comparison · 4 Algorithms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Artifact: model_compare_D20.json · 4-fold mean ± std · Optuna 150 trials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A.11 · 演算法選型 · 四模型對照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8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Algorithm Bake-off </a:t>
            </a:r>
            <a:r>
              <a:rPr sz="26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 XGBoost 勝出 · 但差距不大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8382000" cy="5143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4900" y="310515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6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— OOS AUC · 4-fold mean (vs 0.5 baseline)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5900" y="4724400"/>
            <a:ext cx="1333500" cy="2971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5400" y="4419600"/>
            <a:ext cx="1714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0.6490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400" y="78105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XGBoost 1.7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5650" y="4838700"/>
            <a:ext cx="1333500" cy="2857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5150" y="4533900"/>
            <a:ext cx="1714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0.6432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5150" y="78105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LightGBM 4.x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05400" y="5133975"/>
            <a:ext cx="1333500" cy="25622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4900" y="4829175"/>
            <a:ext cx="1714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0.6285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4900" y="78105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Random Forest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15150" y="5734050"/>
            <a:ext cx="1333500" cy="19621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4650" y="5429250"/>
            <a:ext cx="1714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0.5984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4650" y="78105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Logistic L2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85900" y="7696200"/>
            <a:ext cx="7620000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85900" y="8115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0.5 baseline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63100" y="2933700"/>
            <a:ext cx="7810500" cy="5143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53600" y="310515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— METRICS COMPARISON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53600" y="3429000"/>
            <a:ext cx="7810500" cy="3429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67900" y="3505200"/>
            <a:ext cx="18669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963400" y="3505200"/>
            <a:ext cx="10096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0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AUC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01650" y="3505200"/>
            <a:ext cx="10096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0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ICIR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439900" y="3505200"/>
            <a:ext cx="10096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0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DSR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678150" y="3505200"/>
            <a:ext cx="17716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NOTE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53600" y="3771900"/>
            <a:ext cx="7810500" cy="571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53600" y="3771900"/>
            <a:ext cx="38100" cy="5715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06000" y="3943350"/>
            <a:ext cx="18669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XGBoost 1.7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963400" y="3943350"/>
            <a:ext cx="10096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0.6490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201650" y="3943350"/>
            <a:ext cx="10096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0.743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439900" y="3943350"/>
            <a:ext cx="10096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12.12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678150" y="3943350"/>
            <a:ext cx="17716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WINNER · 採用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53600" y="4343400"/>
            <a:ext cx="7810500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753600" y="4343400"/>
            <a:ext cx="38100" cy="571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06000" y="4514850"/>
            <a:ext cx="18669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LightGBM 4.x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963400" y="4514850"/>
            <a:ext cx="10096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0.6432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201650" y="4514850"/>
            <a:ext cx="10096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0.721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439900" y="4514850"/>
            <a:ext cx="10096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10.84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678150" y="4514850"/>
            <a:ext cx="17716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差距 0.6 pp · 訓練快 30%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753600" y="4914900"/>
            <a:ext cx="7810500" cy="571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753600" y="4914900"/>
            <a:ext cx="38100" cy="571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06000" y="5086350"/>
            <a:ext cx="18669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Random Forest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963400" y="5086350"/>
            <a:ext cx="10096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0.6285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201650" y="5086350"/>
            <a:ext cx="10096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0.654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439900" y="5086350"/>
            <a:ext cx="10096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8.92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678150" y="5086350"/>
            <a:ext cx="17716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泛化稍弱 · 可解釋強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753600" y="5486400"/>
            <a:ext cx="7810500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753600" y="5486400"/>
            <a:ext cx="38100" cy="5715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06000" y="5657850"/>
            <a:ext cx="18669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Logistic L2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963400" y="5657850"/>
            <a:ext cx="10096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0.5984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201650" y="5657850"/>
            <a:ext cx="10096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0.413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439900" y="5657850"/>
            <a:ext cx="10096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4.31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678150" y="5657850"/>
            <a:ext cx="17716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Linear baseline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8420100"/>
            <a:ext cx="16459200" cy="8001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14400" y="8420100"/>
            <a:ext cx="57150" cy="800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62050" y="85915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WHY XGBOOST · 為何採用 XGBoost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62050" y="8877300"/>
            <a:ext cx="15887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優勝差距僅 0.6 pp · 但其在 </a:t>
            </a: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minority class (Top 0.1%) 的 ICIR / DSR 顯著最佳</a:t>
            </a:r>
            <a:r>
              <a:rPr sz="15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；後續所有指標均以 XGBoost 為主模型。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AUC by Fold + DSR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DSR formula: Bailey &amp; López de Prado (2014) · 150 Optuna trials with skew/kurt correction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A.12 · 4-Fold AUC + DSR 多重檢定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DSR 12.12 </a:t>
            </a:r>
            <a:r>
              <a:rPr sz="26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 通過 150 trials 多重檢定 · p &lt; 0.001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9753600" cy="5524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4900" y="310515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6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— OOS AUC BY FOLD · expanding window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66900" y="4648200"/>
            <a:ext cx="1333500" cy="31623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76400" y="4362450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0.6582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6400" y="79248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Fold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6400" y="817245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2017-19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62400" y="4953000"/>
            <a:ext cx="1333500" cy="28575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71900" y="4667250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0.6431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1900" y="79248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Fold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1900" y="817245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2020-21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57900" y="4819650"/>
            <a:ext cx="1333500" cy="29908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67400" y="4533900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0.6498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67400" y="79248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Fold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67400" y="817245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2022-23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53400" y="4914900"/>
            <a:ext cx="1333500" cy="2895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2900" y="4629150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0.6450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62900" y="79248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Fold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62900" y="817245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2024-25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66900" y="4838700"/>
            <a:ext cx="6858000" cy="95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63000" y="470535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mean 0.6490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66900" y="7810500"/>
            <a:ext cx="6858000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66900" y="8401050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0.5 baseline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896600" y="2933700"/>
            <a:ext cx="6477000" cy="5524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896600" y="2933700"/>
            <a:ext cx="6477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25200" y="316230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— DEFLATED SHARPE RATIO · 多重檢定校正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25200" y="3486150"/>
            <a:ext cx="6019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 i="0" spc="-1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DSR 12.12 (p&lt;0.001)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125200" y="4210050"/>
            <a:ext cx="5715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125200" y="4400550"/>
            <a:ext cx="60198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DSR = (SR̂ − E[max SR_n]) × √(T−1) / √(1 − γ₃·SR̂ + (γ₄−1)/4·SR̂²)</a:t>
            </a:r>
          </a:p>
          <a:p>
            <a:pPr algn="l">
              <a:lnSpc>
                <a:spcPct val="160000"/>
              </a:lnSpc>
            </a:pP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SR̂</a:t>
            </a: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 = 觀測 Sharpe Ratio = 2.41</a:t>
            </a:r>
            <a:r>
              <a:t/>
            </a:r>
            <a:br/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n</a:t>
            </a: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 = 多重試驗 (Optuna trials) = 150</a:t>
            </a:r>
            <a:r>
              <a:t/>
            </a:r>
            <a:br/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T</a:t>
            </a: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 = OOS 樣本期 (years) ≈ 8</a:t>
            </a:r>
            <a:r>
              <a:t/>
            </a:r>
            <a:br/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γ₃, γ₄</a:t>
            </a: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 = 報酬 skewness / kurtosis 校正項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125200" y="7219950"/>
            <a:ext cx="601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125200" y="7334250"/>
            <a:ext cx="60198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解讀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25200" y="7600950"/>
            <a:ext cx="6019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DSR &gt; 2 即顯著；本系統 12.12 為極強拒絕「運氣假說」的證據——150 次參數搜尋的選擇偏誤已被扣除。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8610600"/>
            <a:ext cx="16459200" cy="5715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8610600"/>
            <a:ext cx="57150" cy="5715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62050" y="87820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STABILITY · 跨 fold 穩定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62050" y="9067800"/>
            <a:ext cx="15887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4 fold AUC 標準差 0.005 · 最差 fold 0.6431 仍遠高於 0.5 baseline · </a:t>
            </a: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系統不靠單一年份。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Threshold Sweep · 0.40 / 0.50 / 0.60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Artifact: threshold_sweep_xgb_D20.json · 40 thresholds × 4-fold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A.13 · 三情境門檻設計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三情境門檻 </a:t>
            </a:r>
            <a:r>
              <a:rPr sz="26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 攻擊 / 平衡 / 保守 · 對應不同投資人風險偏好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5257800" cy="449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933700"/>
            <a:ext cx="52578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143250"/>
            <a:ext cx="48006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保守 · CONSERVATIVE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448050"/>
            <a:ext cx="48006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 spc="-1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p ≥ 0.60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4019550"/>
            <a:ext cx="5715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267200"/>
            <a:ext cx="4800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SIGNAL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476750"/>
            <a:ext cx="48006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067300"/>
            <a:ext cx="4800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HIT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276850"/>
            <a:ext cx="48006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52.4%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867400"/>
            <a:ext cx="4800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vs 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6076950"/>
            <a:ext cx="48006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+22.4 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6991350"/>
            <a:ext cx="4800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較少訊號 · 高勝率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933700"/>
            <a:ext cx="5257800" cy="449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2933700"/>
            <a:ext cx="52578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143250"/>
            <a:ext cx="48006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平衡 · BALANCED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448050"/>
            <a:ext cx="48006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 spc="-10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p ≥ 0.50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29400" y="4019550"/>
            <a:ext cx="571500" cy="285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4267200"/>
            <a:ext cx="4800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SIGNAL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4476750"/>
            <a:ext cx="48006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4.6%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067300"/>
            <a:ext cx="4800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HIT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5276850"/>
            <a:ext cx="48006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46.1%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5867400"/>
            <a:ext cx="4800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vs baseline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6076950"/>
            <a:ext cx="48006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+16.1 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6991350"/>
            <a:ext cx="4800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本系統預設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887200" y="2933700"/>
            <a:ext cx="5257800" cy="449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887200" y="2933700"/>
            <a:ext cx="52578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115800" y="3143250"/>
            <a:ext cx="48006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攻擊 · AGGRESSIVE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15800" y="3448050"/>
            <a:ext cx="48006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 spc="-10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p ≥ 0.40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115800" y="4019550"/>
            <a:ext cx="57150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115800" y="4267200"/>
            <a:ext cx="4800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SIGNAL 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15800" y="4476750"/>
            <a:ext cx="48006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12.3%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15800" y="5067300"/>
            <a:ext cx="4800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HIT RATE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15800" y="5276850"/>
            <a:ext cx="48006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38.2%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15800" y="5867400"/>
            <a:ext cx="4800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vs baseline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15800" y="6076950"/>
            <a:ext cx="48006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+8.2 pp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15800" y="6991350"/>
            <a:ext cx="4800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訊號多 · 勝率較低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" y="7696200"/>
            <a:ext cx="16459200" cy="14859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4400" y="7696200"/>
            <a:ext cx="57150" cy="14859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62050" y="78676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INTERPRETATION · 投資人對照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2050" y="8153400"/>
            <a:ext cx="158877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本系統的門檻是 </a:t>
            </a:r>
            <a:r>
              <a:rPr sz="16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可調節的策略開關</a:t>
            </a:r>
            <a:r>
              <a:rPr sz="16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；機構可挑保守、量化基金可挑攻擊。</a:t>
            </a:r>
            <a:r>
              <a:t/>
            </a:r>
            <a:br/>
            <a:r>
              <a:rPr sz="16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三情境的 IC / hit rate / edge 全部在 OOS 取得，已扣 5 bps 滑價假設。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Hit Decile · Detail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Artifact: decile_hit_xgb_D20.json · OOS hit rate by predicted-prob decile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A.14 · 預測機率分位 × 命中率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十分位 hit rate </a:t>
            </a:r>
            <a:r>
              <a:rPr sz="26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 單調性無破口 · D10 達 47.8%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16459200" cy="5143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4900" y="310515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6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— HIT RATE BY PREDICTED-PROB DECILE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5900" y="6000750"/>
            <a:ext cx="1047750" cy="16192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5400" y="5715000"/>
            <a:ext cx="14287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22.4%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400" y="7734300"/>
            <a:ext cx="1428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D1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09900" y="5829300"/>
            <a:ext cx="1047750" cy="17907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19400" y="5543550"/>
            <a:ext cx="14287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24.8%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19400" y="7734300"/>
            <a:ext cx="1428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D2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33900" y="5705475"/>
            <a:ext cx="1047750" cy="191452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5419725"/>
            <a:ext cx="14287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26.5%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7734300"/>
            <a:ext cx="1428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D3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57900" y="5591175"/>
            <a:ext cx="1047750" cy="202882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67400" y="5305425"/>
            <a:ext cx="14287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28.1%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67400" y="7734300"/>
            <a:ext cx="1428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D4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1900" y="5467350"/>
            <a:ext cx="1047750" cy="21526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91400" y="5181600"/>
            <a:ext cx="14287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29.8%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91400" y="7734300"/>
            <a:ext cx="1428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D5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05900" y="5334000"/>
            <a:ext cx="1047750" cy="228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15400" y="5048250"/>
            <a:ext cx="14287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31.6%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7734300"/>
            <a:ext cx="1428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D6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29900" y="5200650"/>
            <a:ext cx="1047750" cy="24193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39400" y="4914900"/>
            <a:ext cx="14287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33.5%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39400" y="7734300"/>
            <a:ext cx="1428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D7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153900" y="4991100"/>
            <a:ext cx="1047750" cy="26289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963400" y="4705350"/>
            <a:ext cx="14287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36.4%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963400" y="7734300"/>
            <a:ext cx="1428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D8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677900" y="4638675"/>
            <a:ext cx="1047750" cy="29813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487400" y="4352925"/>
            <a:ext cx="14287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41.2%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487400" y="7734300"/>
            <a:ext cx="1428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D9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201900" y="4162425"/>
            <a:ext cx="1047750" cy="34575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011400" y="3876675"/>
            <a:ext cx="14287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47.8%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011400" y="7734300"/>
            <a:ext cx="1428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D10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85900" y="5448300"/>
            <a:ext cx="1562100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430500" y="5238750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30% baseline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8267700"/>
            <a:ext cx="16459200" cy="9144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4400" y="8267700"/>
            <a:ext cx="57150" cy="9144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62050" y="84391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MONOTONICITY · 機率排序與真實命中一致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62050" y="8724900"/>
            <a:ext cx="15887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十個分位無一破口 · 排序能力扎實；</a:t>
            </a: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D10 vs D1 spread = 25.4 pp</a:t>
            </a:r>
            <a:r>
              <a:rPr sz="15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 · 是策略中最關鍵的 alpha 來源。</a:t>
            </a:r>
            <a:r>
              <a:t/>
            </a:r>
            <a:br/>
            <a:r>
              <a:rPr sz="14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此為 P.06 主簡報「47.8% hit @ D10」的詳細展開。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Equity Curve · Top 0.1% vs 0050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Artifact: backtest_top01pct_vs_0050.json · 5 bps round-trip cost · 20-day rebalance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A.15 · 累積報酬曲線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800" b="1" i="0" spc="-8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Top 0.1% Strategy </a:t>
            </a:r>
            <a:r>
              <a:rPr sz="3800" b="1" i="0" spc="-8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vs </a:t>
            </a:r>
            <a:r>
              <a:rPr sz="3800" b="1" i="0" spc="-8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0050 ETF benchmark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16459200" cy="51435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85900" y="7734300"/>
            <a:ext cx="156019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85900" y="3219450"/>
            <a:ext cx="9525" cy="45148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85900" y="77343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0150" y="784860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2018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14750" y="77343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784860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2019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77343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57850" y="784860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72450" y="77343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86700" y="784860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01300" y="77343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15550" y="784860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2022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630150" y="77343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0" y="784860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2023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859000" y="77343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573250" y="784860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2024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087850" y="77343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802100" y="784860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2025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28750" y="773430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7639050"/>
            <a:ext cx="476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28750" y="683895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6743700"/>
            <a:ext cx="476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50%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85900" y="6838950"/>
            <a:ext cx="15601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428750" y="5934075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838825"/>
            <a:ext cx="476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100%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85900" y="5934075"/>
            <a:ext cx="15601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428750" y="502920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933950"/>
            <a:ext cx="476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150%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85900" y="5029200"/>
            <a:ext cx="15601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428750" y="4124325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4029075"/>
            <a:ext cx="476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85900" y="4124325"/>
            <a:ext cx="15601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428750" y="321945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3124200"/>
            <a:ext cx="476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250%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485900" y="3219450"/>
            <a:ext cx="15601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V="1">
            <a:off x="1485900" y="7410450"/>
            <a:ext cx="2228850" cy="323850"/>
          </a:xfrm>
          <a:prstGeom prst="line">
            <a:avLst/>
          </a:prstGeom>
          <a:ln w="381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714750" y="6981825"/>
            <a:ext cx="2228850" cy="428625"/>
          </a:xfrm>
          <a:prstGeom prst="line">
            <a:avLst/>
          </a:prstGeom>
          <a:ln w="381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943600" y="6334125"/>
            <a:ext cx="2228850" cy="647700"/>
          </a:xfrm>
          <a:prstGeom prst="line">
            <a:avLst/>
          </a:prstGeom>
          <a:ln w="381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8172450" y="5838825"/>
            <a:ext cx="2228850" cy="495300"/>
          </a:xfrm>
          <a:prstGeom prst="line">
            <a:avLst/>
          </a:prstGeom>
          <a:ln w="381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401300" y="5172075"/>
            <a:ext cx="2228850" cy="666750"/>
          </a:xfrm>
          <a:prstGeom prst="line">
            <a:avLst/>
          </a:prstGeom>
          <a:ln w="381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2630150" y="4343400"/>
            <a:ext cx="2228850" cy="828675"/>
          </a:xfrm>
          <a:prstGeom prst="line">
            <a:avLst/>
          </a:prstGeom>
          <a:ln w="381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4859000" y="3552825"/>
            <a:ext cx="2228850" cy="790575"/>
          </a:xfrm>
          <a:prstGeom prst="line">
            <a:avLst/>
          </a:prstGeom>
          <a:ln w="381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485900" y="7524750"/>
            <a:ext cx="2228850" cy="2095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714750" y="7229475"/>
            <a:ext cx="2228850" cy="2952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943600" y="7048500"/>
            <a:ext cx="2228850" cy="1809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172450" y="7048500"/>
            <a:ext cx="2228850" cy="2952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0401300" y="7105650"/>
            <a:ext cx="2228850" cy="23812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2630150" y="6800850"/>
            <a:ext cx="2228850" cy="30480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4859000" y="6515100"/>
            <a:ext cx="2228850" cy="2857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1438275" y="7686675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667125" y="7362825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895975" y="69342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124825" y="62865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353675" y="57912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2582525" y="512445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4811375" y="4295775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7040225" y="35052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447800" y="7696200"/>
            <a:ext cx="76200" cy="7620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676650" y="7486650"/>
            <a:ext cx="76200" cy="7620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905500" y="7191375"/>
            <a:ext cx="76200" cy="7620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134350" y="7010400"/>
            <a:ext cx="76200" cy="7620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363200" y="7305675"/>
            <a:ext cx="76200" cy="7620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2592050" y="7067550"/>
            <a:ext cx="76200" cy="7620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4820900" y="6762750"/>
            <a:ext cx="76200" cy="7620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7049750" y="6477000"/>
            <a:ext cx="76200" cy="7620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5373350" y="3343275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+232%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5373350" y="661035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+68%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714500" y="3448050"/>
            <a:ext cx="2286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19300" y="3390900"/>
            <a:ext cx="304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Top 0.1% portfolio (avg 4 stocks)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714500" y="3733800"/>
            <a:ext cx="228600" cy="190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19300" y="3676650"/>
            <a:ext cx="304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0050 ETF (TWSE benchmark)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0" y="8267700"/>
            <a:ext cx="39433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14400" y="8267700"/>
            <a:ext cx="39433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85850" y="8382000"/>
            <a:ext cx="2286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2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CAGR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85850" y="861060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+16.4%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009900" y="8610600"/>
            <a:ext cx="952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+6.7%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57650" y="8610600"/>
            <a:ext cx="8001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+9.7 pp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85850" y="897255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 spc="18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STRATEGY  /  0050  /  EDGE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86350" y="8267700"/>
            <a:ext cx="39433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086350" y="8267700"/>
            <a:ext cx="39433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257800" y="8382000"/>
            <a:ext cx="2286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2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SR̂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257800" y="861060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2.41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181850" y="8610600"/>
            <a:ext cx="952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0.78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229600" y="8610600"/>
            <a:ext cx="8001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+1.63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257800" y="897255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 spc="18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STRATEGY  /  0050  /  EDGE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258300" y="8267700"/>
            <a:ext cx="39433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258300" y="8267700"/>
            <a:ext cx="39433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429750" y="8382000"/>
            <a:ext cx="2286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2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MaxDD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429750" y="861060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-18.2%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353800" y="8610600"/>
            <a:ext cx="952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-32.4%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2401550" y="8610600"/>
            <a:ext cx="8001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+14.2 pp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429750" y="897255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 spc="18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STRATEGY  /  0050  /  EDGE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3430250" y="8267700"/>
            <a:ext cx="39433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3430250" y="8267700"/>
            <a:ext cx="39433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3601700" y="8382000"/>
            <a:ext cx="2286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2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HIT RATE (M)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3601700" y="861060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64%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5525750" y="8610600"/>
            <a:ext cx="952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52%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6573500" y="8610600"/>
            <a:ext cx="8001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+12 pp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3601700" y="897255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 spc="18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STRATEGY  /  0050  /  EDGE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Drawdown &amp; Cost Sensitivity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Artifact: cost_sensitivity_D20.json · round-trip cost from 0 to 30 bps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A.16 · 回撤與交易成本敏感度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Cost Sensitivity </a:t>
            </a:r>
            <a:r>
              <a:rPr sz="26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 5 / 15 / 30 bps 三情境 · 策略仍正報酬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52578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933700"/>
            <a:ext cx="52578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143250"/>
            <a:ext cx="48006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5 bps · 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448050"/>
            <a:ext cx="48006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1" i="0" spc="-1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+16.4%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019550"/>
            <a:ext cx="48006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1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CAGR · annualized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343400"/>
            <a:ext cx="5715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53390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SR̂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19400" y="4514850"/>
            <a:ext cx="3162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2.41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18160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MaxDD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9400" y="5162550"/>
            <a:ext cx="3162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-18.2%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6362700"/>
            <a:ext cx="48006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本系統預設 · 散戶券商一般成本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933700"/>
            <a:ext cx="52578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2933700"/>
            <a:ext cx="52578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3143250"/>
            <a:ext cx="48006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15 bps · STRESS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448050"/>
            <a:ext cx="48006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1" i="0" spc="-14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+12.1%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019550"/>
            <a:ext cx="48006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1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CAGR · annualized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29400" y="4343400"/>
            <a:ext cx="57150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453390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SR̂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514850"/>
            <a:ext cx="3162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1.78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18160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MaxDD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5800" y="5162550"/>
            <a:ext cx="3162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-21.6%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6362700"/>
            <a:ext cx="48006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重稅 / 較高滑價 · 多空組合場景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887200" y="2933700"/>
            <a:ext cx="52578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87200" y="2933700"/>
            <a:ext cx="52578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115800" y="3143250"/>
            <a:ext cx="48006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30 bps · WORST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15800" y="3448050"/>
            <a:ext cx="48006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1" i="0" spc="-1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+5.8%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15800" y="4019550"/>
            <a:ext cx="48006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1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CAGR · annualized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15800" y="4343400"/>
            <a:ext cx="571500" cy="285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115800" y="453390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SR̂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92200" y="4514850"/>
            <a:ext cx="3162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0.92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15800" y="518160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MaxDD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92200" y="5162550"/>
            <a:ext cx="3162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-25.4%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15800" y="6362700"/>
            <a:ext cx="48006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極端 · 流動性低 / 散戶高週轉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7315200"/>
            <a:ext cx="16459200" cy="18669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4400" y="7315200"/>
            <a:ext cx="57150" cy="18669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62050" y="74866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COST RESILIENCE · 成本韌性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62050" y="7772400"/>
            <a:ext cx="158877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即使在 30 bps 極端成本下，策略 </a:t>
            </a:r>
            <a:r>
              <a:rPr sz="16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仍維持 +5.8% CAGR · SR̂ 0.92</a:t>
            </a:r>
            <a:r>
              <a:rPr sz="16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；</a:t>
            </a:r>
            <a:r>
              <a:t/>
            </a:r>
            <a:br/>
            <a:r>
              <a:rPr sz="16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5 bps base case 為散戶實際可達成之水準。</a:t>
            </a:r>
          </a:p>
          <a:p>
            <a:pPr algn="l">
              <a:lnSpc>
                <a:spcPct val="150000"/>
              </a:lnSpc>
            </a:pPr>
            <a:r>
              <a:rPr sz="1200" b="1" i="0" spc="20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IMPLICATION</a:t>
            </a:r>
            <a:r>
              <a:t/>
            </a:r>
            <a:br/>
            <a:r>
              <a:rPr sz="15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本策略不依賴零成本假設，</a:t>
            </a: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在合理交易成本下仍具實戰可用性。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Dashboard · 13 Pages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Artifact: dashboard/ · Streamlit 1.31 · launch via `make serve`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A.17 · 互動儀表板 · 13 頁地圖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13-Page Interactive Dashboard </a:t>
            </a:r>
            <a:r>
              <a:rPr sz="26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 模型 / 解釋 / 文本 / 治理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933700"/>
            <a:ext cx="39624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5850" y="3105150"/>
            <a:ext cx="571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14325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Overview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3409950"/>
            <a:ext cx="381000" cy="19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0200" y="3486150"/>
            <a:ext cx="30861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系統首頁 · KPI 速讀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293370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0" y="2933700"/>
            <a:ext cx="39624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00650" y="3105150"/>
            <a:ext cx="571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314325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Data Health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0" y="3409950"/>
            <a:ext cx="381000" cy="19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3486150"/>
            <a:ext cx="30861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PSI / KS 漂移監控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293370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0" y="2933700"/>
            <a:ext cx="39624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15450" y="3105150"/>
            <a:ext cx="571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314325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Feature Catalog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29800" y="3409950"/>
            <a:ext cx="381000" cy="19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9800" y="3486150"/>
            <a:ext cx="30861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91 features 速查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258800" y="293370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3258800" y="2933700"/>
            <a:ext cx="39624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430250" y="3105150"/>
            <a:ext cx="571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944600" y="314325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Model Performance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944600" y="3409950"/>
            <a:ext cx="38100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44600" y="3486150"/>
            <a:ext cx="30861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AUC / ICIR / fold 切換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413385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4400" y="4133850"/>
            <a:ext cx="39624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5850" y="4305300"/>
            <a:ext cx="571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434340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ICIR Heatmap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00200" y="4610100"/>
            <a:ext cx="38100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00200" y="4686300"/>
            <a:ext cx="30861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pillar × month 熱圖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413385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0" y="4133850"/>
            <a:ext cx="39624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00650" y="4305300"/>
            <a:ext cx="571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15000" y="434340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SHAP Explorer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15000" y="4610100"/>
            <a:ext cx="38100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15000" y="4686300"/>
            <a:ext cx="30861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Top-20 / 個股逐股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0" y="413385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44000" y="4133850"/>
            <a:ext cx="39624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15450" y="4305300"/>
            <a:ext cx="571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29800" y="434340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Decile Hit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829800" y="4610100"/>
            <a:ext cx="38100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29800" y="4686300"/>
            <a:ext cx="30861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D1-D10 命中率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258800" y="413385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3258800" y="4133850"/>
            <a:ext cx="39624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430250" y="4305300"/>
            <a:ext cx="571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944600" y="434340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Threshold Sweep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944600" y="4610100"/>
            <a:ext cx="381000" cy="190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944600" y="4686300"/>
            <a:ext cx="30861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40 門檻 sweep 曲線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4400" y="533400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14400" y="5334000"/>
            <a:ext cx="39624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" y="5505450"/>
            <a:ext cx="571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00200" y="554355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Backtest Equity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600200" y="5810250"/>
            <a:ext cx="381000" cy="190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600200" y="5886450"/>
            <a:ext cx="30861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累積報酬 + 0050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0" y="533400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029200" y="5334000"/>
            <a:ext cx="39624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200650" y="5505450"/>
            <a:ext cx="571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15000" y="554355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Drawdown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715000" y="5810250"/>
            <a:ext cx="381000" cy="190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715000" y="5886450"/>
            <a:ext cx="30861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回撤期間 + Calmar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44000" y="533400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144000" y="5334000"/>
            <a:ext cx="39624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315450" y="5505450"/>
            <a:ext cx="571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29800" y="554355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Text Sentiment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829800" y="5810250"/>
            <a:ext cx="381000" cy="190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829800" y="5886450"/>
            <a:ext cx="30861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500 keyword Lift × χ²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3258800" y="533400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3258800" y="5334000"/>
            <a:ext cx="39624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430250" y="5505450"/>
            <a:ext cx="571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3944600" y="554355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Daily Watchlist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3944600" y="5810250"/>
            <a:ext cx="381000" cy="190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3944600" y="5886450"/>
            <a:ext cx="30861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今日訊號股 + Q1 警示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0" y="653415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14400" y="6534150"/>
            <a:ext cx="396240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85850" y="6705600"/>
            <a:ext cx="571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EC4899"/>
                </a:solidFill>
                <a:latin typeface="Times New Roman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600200" y="6743700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Governance Gates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600200" y="7010400"/>
            <a:ext cx="381000" cy="1905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600200" y="7086600"/>
            <a:ext cx="30861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9/9 閘門即時狀態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14400" y="8420100"/>
            <a:ext cx="16459200" cy="7620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14400" y="8420100"/>
            <a:ext cx="57150" cy="762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162050" y="85915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OPERATIONAL READY · 上線即用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62050" y="8877300"/>
            <a:ext cx="158877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Streamlit 部署，三秒切頁；</a:t>
            </a: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所有圖表皆可導出 PNG / 對應 JSON artifact</a:t>
            </a:r>
            <a:r>
              <a:rPr sz="15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；研究員、PM、合規可同時使用同一頁面。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Sentiment Asset ·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Artifact: phase2_text_overview.json · sentiment lexicon under src/text/lexicon/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A.18 · 文本資產總覽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8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1.12M articles </a:t>
            </a:r>
            <a:r>
              <a:rPr sz="26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 500 keywords · 自建台股情感詞表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3943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933700"/>
            <a:ext cx="39433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143250"/>
            <a:ext cx="34861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ARTICLES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409950"/>
            <a:ext cx="348615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1,125,134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152900"/>
            <a:ext cx="3486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15 來源 · 2008+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6350" y="2933700"/>
            <a:ext cx="3943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6350" y="2933700"/>
            <a:ext cx="39433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14950" y="3143250"/>
            <a:ext cx="34861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KEYWORDS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4950" y="3409950"/>
            <a:ext cx="348615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4950" y="4152900"/>
            <a:ext cx="3486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Bull 256 / Bear 244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58300" y="2933700"/>
            <a:ext cx="3943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58300" y="2933700"/>
            <a:ext cx="39433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86900" y="3143250"/>
            <a:ext cx="34861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ENTITY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6900" y="3409950"/>
            <a:ext cx="348615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92%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86900" y="4152900"/>
            <a:ext cx="3486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tickers 涵蓋率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430250" y="2933700"/>
            <a:ext cx="3943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3430250" y="2933700"/>
            <a:ext cx="394335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658850" y="3143250"/>
            <a:ext cx="34861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DEDUP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658850" y="3409950"/>
            <a:ext cx="348615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23%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658850" y="4152900"/>
            <a:ext cx="3486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MinHash LSH J ≥ 0.85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81965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— LEXICON CONSTRUCTION · 詞表建構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5143500"/>
            <a:ext cx="8096250" cy="3962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" y="5143500"/>
            <a:ext cx="80962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4900" y="5372100"/>
            <a:ext cx="7715250" cy="361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20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500-keyword 台股情感詞表 · 三步驟</a:t>
            </a:r>
          </a:p>
          <a:p>
            <a:pPr algn="l">
              <a:lnSpc>
                <a:spcPct val="155000"/>
              </a:lnSpc>
            </a:pPr>
            <a:r>
              <a:rPr sz="1400" b="1" i="0" spc="16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01  TF-IDF 候選 </a:t>
            </a: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從 400k+ 高品質新聞抽 5,000 候選詞</a:t>
            </a:r>
            <a:r>
              <a:t/>
            </a:r>
            <a:br/>
            <a:r>
              <a:rPr sz="1400" b="1" i="0" spc="16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02  Lift × χ² 過濾 </a:t>
            </a: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計算每詞 Lift (vs neutral) 與卡方值 → 留 500</a:t>
            </a:r>
            <a:r>
              <a:t/>
            </a:r>
            <a:br/>
            <a:r>
              <a:rPr sz="1400" b="1" i="0" spc="16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03  專家校驗 </a:t>
            </a: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兩位金融研究生雙盲標註 · κ = 0.78</a:t>
            </a:r>
          </a:p>
          <a:p>
            <a:pPr algn="l">
              <a:lnSpc>
                <a:spcPct val="155000"/>
              </a:lnSpc>
            </a:pPr>
            <a:r>
              <a:rPr sz="16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為何不直接用通用情感詞表？</a:t>
            </a:r>
            <a:r>
              <a:t/>
            </a:r>
            <a:br/>
            <a:r>
              <a:rPr sz="1300" b="0" i="1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LIWC / NTUSD 的「正面」≠ 股價的「正面」 (e.g. 「擴產」中性偏負，因稀釋EPS)</a:t>
            </a:r>
          </a:p>
          <a:p>
            <a:pPr algn="l">
              <a:lnSpc>
                <a:spcPct val="155000"/>
              </a:lnSpc>
            </a:pPr>
            <a:r>
              <a:rPr sz="12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完整詞表參考 src/text/lexicon/twstock500.csv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77350" y="481965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— SOURCE BREAKDOWN · 15 來源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77350" y="5143500"/>
            <a:ext cx="8096250" cy="3962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77350" y="5143500"/>
            <a:ext cx="80962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86900" y="5524500"/>
            <a:ext cx="3048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Anue 鉅亨網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763500" y="5638800"/>
            <a:ext cx="3429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2763500" y="5638800"/>
            <a:ext cx="3429000" cy="76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383000" y="5524500"/>
            <a:ext cx="76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24%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6900" y="5981700"/>
            <a:ext cx="3048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PTT Stock 板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763500" y="6096000"/>
            <a:ext cx="3429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763500" y="6096000"/>
            <a:ext cx="257175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383000" y="5981700"/>
            <a:ext cx="76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18%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86900" y="6438900"/>
            <a:ext cx="3048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經濟日報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763500" y="6553200"/>
            <a:ext cx="3429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763500" y="6553200"/>
            <a:ext cx="1714500" cy="76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383000" y="6438900"/>
            <a:ext cx="76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12%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86900" y="6896100"/>
            <a:ext cx="3048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工商時報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763500" y="7010400"/>
            <a:ext cx="3429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2763500" y="7010400"/>
            <a:ext cx="1571625" cy="76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383000" y="6896100"/>
            <a:ext cx="76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11%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86900" y="7353300"/>
            <a:ext cx="3048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Money DJ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763500" y="7467600"/>
            <a:ext cx="3429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2763500" y="7467600"/>
            <a:ext cx="1143000" cy="76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6383000" y="7353300"/>
            <a:ext cx="76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8%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86900" y="7810500"/>
            <a:ext cx="3048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Yahoo 股市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2763500" y="7924800"/>
            <a:ext cx="3429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2763500" y="7924800"/>
            <a:ext cx="1000125" cy="76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383000" y="7810500"/>
            <a:ext cx="76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7%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86900" y="8267700"/>
            <a:ext cx="3048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其他 9 來源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763500" y="8382000"/>
            <a:ext cx="3429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2763500" y="8382000"/>
            <a:ext cx="2857500" cy="76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383000" y="8267700"/>
            <a:ext cx="76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4400" y="9277350"/>
            <a:ext cx="16459200" cy="3048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14400" y="9277350"/>
            <a:ext cx="57150" cy="3048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62050" y="9410700"/>
            <a:ext cx="15887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15 來源 · 前 6 大占 80% · </a:t>
            </a:r>
            <a:r>
              <a:rPr sz="13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經濟日報 / 工商時報 / Anue 為新聞主幹；PTT 為散戶情緒主軸。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Keyword Spectrum · Top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Artifact: keyword_lift_chi2_top.json · Lift = P(bull|word)/P(bull) · χ² independence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A.19 · 詞表光譜 · 多空 Top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500 keywords </a:t>
            </a:r>
            <a:r>
              <a:rPr sz="26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 Lift × χ² 雙指標 · 顯示前 10 多空關鍵詞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8134350" cy="5810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933700"/>
            <a:ext cx="81343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105150"/>
            <a:ext cx="76771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BULL · 多方關鍵詞 (Lift &gt; 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3429000"/>
            <a:ext cx="7677150" cy="2857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7300" y="3486150"/>
            <a:ext cx="2286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KEYWORD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3250" y="348615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LIFT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0" y="34861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χ² rank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7300" y="3886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01  創高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39433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0" y="3943350"/>
            <a:ext cx="3171825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53250" y="3886200"/>
            <a:ext cx="95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2.42×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6250" y="3886200"/>
            <a:ext cx="762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1,842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7300" y="43434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02  營收創高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44005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0" y="4400550"/>
            <a:ext cx="3028950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53250" y="4343400"/>
            <a:ext cx="95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2.31×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6250" y="4343400"/>
            <a:ext cx="762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1,654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57300" y="48006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03  法說會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48577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0" y="4857750"/>
            <a:ext cx="2600325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53250" y="4800600"/>
            <a:ext cx="95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1.98×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6250" y="4800600"/>
            <a:ext cx="762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1,428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7300" y="52578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04  擴產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53149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0" y="5314950"/>
            <a:ext cx="2514600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53250" y="5257800"/>
            <a:ext cx="95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1.92×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6250" y="5257800"/>
            <a:ext cx="762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1,322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57300" y="57150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05  受惠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0" y="57721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00400" y="5772150"/>
            <a:ext cx="2409825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53250" y="5715000"/>
            <a:ext cx="95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1.84×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6250" y="5715000"/>
            <a:ext cx="762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2,104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57300" y="6172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06  重押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62293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0400" y="6229350"/>
            <a:ext cx="2333625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53250" y="6172200"/>
            <a:ext cx="95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1.78×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96250" y="6172200"/>
            <a:ext cx="762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892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57300" y="66294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07  升級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0" y="66865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0" y="6686550"/>
            <a:ext cx="2257425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53250" y="6629400"/>
            <a:ext cx="95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1.72×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96250" y="6629400"/>
            <a:ext cx="762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1,186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57300" y="70866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08  看好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0" y="71437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200400" y="7143750"/>
            <a:ext cx="2200275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53250" y="7086600"/>
            <a:ext cx="95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1.68×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96250" y="7086600"/>
            <a:ext cx="762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2,842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57300" y="75438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09  題材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0" y="76009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200400" y="7600950"/>
            <a:ext cx="2124075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53250" y="7543800"/>
            <a:ext cx="95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1.62×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96250" y="7543800"/>
            <a:ext cx="762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1,942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57300" y="80010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10  新訂單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0" y="80581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200400" y="8058150"/>
            <a:ext cx="2076450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53250" y="8001000"/>
            <a:ext cx="95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1.58×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96250" y="8001000"/>
            <a:ext cx="762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784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239250" y="2933700"/>
            <a:ext cx="8134350" cy="5810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239250" y="2933700"/>
            <a:ext cx="81343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467850" y="3105150"/>
            <a:ext cx="76771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BEAR · 空方關鍵詞 (Lift &gt; 1)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467850" y="3429000"/>
            <a:ext cx="7677150" cy="2857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582150" y="3486150"/>
            <a:ext cx="2286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KEYWORD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5278100" y="348615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LIFT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6421100" y="34861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χ² rank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82150" y="3886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01  砍單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1525250" y="39433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1525250" y="3943350"/>
            <a:ext cx="375285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5278100" y="3886200"/>
            <a:ext cx="95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2.86×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421100" y="3886200"/>
            <a:ext cx="762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1,124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582150" y="43434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02  裁員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525250" y="44005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1525250" y="4400550"/>
            <a:ext cx="333375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5278100" y="4343400"/>
            <a:ext cx="95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2.54×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6421100" y="4343400"/>
            <a:ext cx="762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642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582150" y="48006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03  下修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1525250" y="48577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525250" y="4857750"/>
            <a:ext cx="3171825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5278100" y="4800600"/>
            <a:ext cx="95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2.42×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6421100" y="4800600"/>
            <a:ext cx="762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1,844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582150" y="52578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04  警報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525250" y="53149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1525250" y="5314950"/>
            <a:ext cx="28575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5278100" y="5257800"/>
            <a:ext cx="95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2.18×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6421100" y="5257800"/>
            <a:ext cx="762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584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582150" y="57150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05  遞延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1525250" y="57721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1525250" y="5772150"/>
            <a:ext cx="2676525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5278100" y="5715000"/>
            <a:ext cx="95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2.04×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6421100" y="5715000"/>
            <a:ext cx="762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728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582150" y="6172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06  衰退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525250" y="62293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1525250" y="6229350"/>
            <a:ext cx="25146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5278100" y="6172200"/>
            <a:ext cx="95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1.92×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6421100" y="6172200"/>
            <a:ext cx="762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1,462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582150" y="66294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07  低於預期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1525250" y="66865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525250" y="6686550"/>
            <a:ext cx="2409825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5278100" y="6629400"/>
            <a:ext cx="95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1.84×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6421100" y="6629400"/>
            <a:ext cx="762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1,102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582150" y="70866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08  虧損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1525250" y="71437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525250" y="7143750"/>
            <a:ext cx="2333625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5278100" y="7086600"/>
            <a:ext cx="95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1.78×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6421100" y="7086600"/>
            <a:ext cx="762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1,842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582150" y="75438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09  違約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1525250" y="76009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1525250" y="7600950"/>
            <a:ext cx="2257425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5278100" y="7543800"/>
            <a:ext cx="95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1.72×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6421100" y="7543800"/>
            <a:ext cx="762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342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582150" y="80010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10  觀望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1525250" y="80581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525250" y="8058150"/>
            <a:ext cx="2124075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5278100" y="8001000"/>
            <a:ext cx="95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1.62×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6421100" y="8001000"/>
            <a:ext cx="762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2,104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0" y="8915400"/>
            <a:ext cx="16459200" cy="3048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14400" y="8915400"/>
            <a:ext cx="57150" cy="3048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62050" y="9048750"/>
            <a:ext cx="15887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空方 Lift 上限 (砍單 2.86×) &gt; 多方 (創高 2.42×) · </a:t>
            </a:r>
            <a:r>
              <a:rPr sz="13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空方詞訊號更強烈 · 解釋 Q1 contrarian 效應的源頭。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Sentiment Quintile · Detail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Artifact: sentiment_quintile_D20.json · forward 20-day excess return by quintile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A.20 · 情感五分位 · 詳細展開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8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U-shape Confirmed </a:t>
            </a:r>
            <a:r>
              <a:rPr sz="26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 Q1 +3.2% · Q5 +2.4% · 中段為負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10287000" cy="5524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4900" y="310515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6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— FORWARD 20-DAY EXCESS RETURN BY SENTIMENT QUINTILE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5900" y="6953250"/>
            <a:ext cx="838200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85900" y="4819650"/>
            <a:ext cx="1524000" cy="21336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5400" y="45339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+3.2%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400" y="8572500"/>
            <a:ext cx="1905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Q1
極負面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76600" y="6953250"/>
            <a:ext cx="1524000" cy="120015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86100" y="82296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-1.8%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86100" y="8572500"/>
            <a:ext cx="1905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Q2
偏負面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67300" y="6953250"/>
            <a:ext cx="1524000" cy="2667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6800" y="72961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-0.4%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6800" y="8572500"/>
            <a:ext cx="1905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Q3
中性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6553200"/>
            <a:ext cx="1524000" cy="4000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67500" y="62674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+0.6%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7500" y="8572500"/>
            <a:ext cx="1905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Q4
偏正面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8700" y="5353050"/>
            <a:ext cx="1524000" cy="1600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50673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+2.4%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8572500"/>
            <a:ext cx="1905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Q5
極正面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391900" y="2933700"/>
            <a:ext cx="59817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391900" y="2933700"/>
            <a:ext cx="59817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620500" y="314325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Q1 contrarian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20500" y="348615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pc="-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+3.2%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8400" y="3524250"/>
            <a:ext cx="3429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極端壞消息 → 過度反應 → 反彈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391900" y="4343400"/>
            <a:ext cx="59817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391900" y="4343400"/>
            <a:ext cx="59817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20500" y="455295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Q5 momentum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20500" y="489585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pc="-6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+2.4%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868400" y="4933950"/>
            <a:ext cx="3429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極端好消息 → 慣性延續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391900" y="5753100"/>
            <a:ext cx="59817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391900" y="5753100"/>
            <a:ext cx="5981700" cy="381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620500" y="596265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Q3 中性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620500" y="630555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pc="-6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-0.4%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868400" y="6343650"/>
            <a:ext cx="3429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無方向 · 雜訊主導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391900" y="7162800"/>
            <a:ext cx="59817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391900" y="7162800"/>
            <a:ext cx="59817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620500" y="737235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Spread Q1−Q3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620500" y="771525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pc="-6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+3.6 pp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868400" y="7753350"/>
            <a:ext cx="3429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對沖組合潛在 alpha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8610600"/>
            <a:ext cx="16459200" cy="5715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4400" y="8610600"/>
            <a:ext cx="57150" cy="5715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62050" y="87820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BEHAVIORAL FINANCE · 行為財務學印證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62050" y="9067800"/>
            <a:ext cx="15887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Q1 反向效應 = </a:t>
            </a: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過度反應假說 (DeBondt &amp; Thaler 1985)</a:t>
            </a: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 在台股的數據驗證 · 詳見 A.21。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Q1 Contrarian · Elaboration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Theory: DeBondt &amp; Thaler (1985) · empirical: artifact phase4_q1_contrarian.json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A.21 · 極負面 Q1 反向效應 · 完整解讀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 spc="-8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極負面 → 反彈 </a:t>
            </a:r>
            <a:r>
              <a:rPr sz="26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 行為財務學的台股實證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164592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933700"/>
            <a:ext cx="164592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4900" y="3162300"/>
            <a:ext cx="16078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THE FINDING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" y="3429000"/>
            <a:ext cx="160782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當輿情極度負面時 (Q1)，未來 20 日「期望報酬」反而變正 +3.2%；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" y="3886200"/>
            <a:ext cx="160782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空頭過度反應 → 賣壓出清 → 散戶恐慌底 → 機構接手反彈。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648200"/>
            <a:ext cx="52578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4648200"/>
            <a:ext cx="52578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876800"/>
            <a:ext cx="76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52450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791200"/>
            <a:ext cx="4800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空頭過度反應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6191250"/>
            <a:ext cx="571500" cy="285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6343650"/>
            <a:ext cx="4800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極負面新聞 (e.g. 砍單、警報) 在 1-3 日內形成集體恐慌，技術線型急殺 5-10%。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648200"/>
            <a:ext cx="52578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4648200"/>
            <a:ext cx="52578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876800"/>
            <a:ext cx="76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4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52450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STEP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5791200"/>
            <a:ext cx="4800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賣壓快速出清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6191250"/>
            <a:ext cx="57150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6343650"/>
            <a:ext cx="4800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散戶停損賣出殆盡 · 融資餘額大降 · 週轉率異常高（90 日均 1.5×+）。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887200" y="4648200"/>
            <a:ext cx="52578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887200" y="4648200"/>
            <a:ext cx="52578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115800" y="4876800"/>
            <a:ext cx="76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4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15800" y="552450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STEP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15800" y="5791200"/>
            <a:ext cx="4800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機構低接 + 反彈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115800" y="6191250"/>
            <a:ext cx="5715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115800" y="6343650"/>
            <a:ext cx="4800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若基本面未受結構性傷害，外資 / 投信於 5-10 日後低接 · T+20 平均 +3.2%。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8267700"/>
            <a:ext cx="16459200" cy="9144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4400" y="8267700"/>
            <a:ext cx="57150" cy="9144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62050" y="84391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EXECUTION CAVEAT · 執行注意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62050" y="8724900"/>
            <a:ext cx="15887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此效應僅限 </a:t>
            </a: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基本面未受結構性傷害的標的</a:t>
            </a: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；模型加入 ROE / debt 作 sanity guardrail，避免抄到「真的不行」的個股。</a:t>
            </a:r>
            <a:r>
              <a:t/>
            </a:r>
            <a:br/>
            <a:r>
              <a:rPr sz="1300" b="0" i="1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回測 OOS 8 年仍穩定，但個股級執行需研究員 final call。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U-shape Multi-Horizon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Artifact: sentiment_quintile_multi_horizon.json · forward 1d/5d/20d excess return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A.22 · 多時間視窗 U-shape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U-shape 多視窗 </a:t>
            </a:r>
            <a:r>
              <a:rPr sz="26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 1日 / 5日 / 20日 三條曲線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5257800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933700"/>
            <a:ext cx="52578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105150"/>
            <a:ext cx="48006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HORIZON · T+1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409950"/>
            <a:ext cx="4800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一日內仍以慣性主導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5219700"/>
            <a:ext cx="480060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47800" y="5219700"/>
            <a:ext cx="666750" cy="2000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57300" y="5457825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-0.6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7300" y="6629400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Q1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62200" y="5219700"/>
            <a:ext cx="666750" cy="4667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71700" y="5724525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-1.4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71700" y="6629400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Q2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5219700"/>
            <a:ext cx="66675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86100" y="5391150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-0.4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86100" y="6629400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Q3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91000" y="5219700"/>
            <a:ext cx="666750" cy="666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00500" y="5324475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-0.2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6629400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Q4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05400" y="5153025"/>
            <a:ext cx="666750" cy="666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14900" y="4905375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+0.2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14900" y="6629400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Q5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7543800"/>
            <a:ext cx="48006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單位 · % excess return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2933700"/>
            <a:ext cx="5257800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2933700"/>
            <a:ext cx="52578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3105150"/>
            <a:ext cx="48006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HORIZON · T+5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409950"/>
            <a:ext cx="4800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反向效應開始浮現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29400" y="5219700"/>
            <a:ext cx="480060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34200" y="4953000"/>
            <a:ext cx="666750" cy="2667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43700" y="4705350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+0.8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43700" y="6629400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Q1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48600" y="5219700"/>
            <a:ext cx="666750" cy="5334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58100" y="5791200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-1.6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58100" y="6629400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Q2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763000" y="5219700"/>
            <a:ext cx="66675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72500" y="5391150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-0.4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72500" y="6629400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Q3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77400" y="5086350"/>
            <a:ext cx="666750" cy="1333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86900" y="4838700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+0.4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86900" y="6629400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Q4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91800" y="4686300"/>
            <a:ext cx="666750" cy="53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401300" y="4438650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+1.6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01300" y="6629400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Q5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9400" y="7543800"/>
            <a:ext cx="48006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單位 · % excess return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887200" y="2933700"/>
            <a:ext cx="5257800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887200" y="2933700"/>
            <a:ext cx="52578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2115800" y="3105150"/>
            <a:ext cx="48006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HORIZON · T+20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115800" y="3409950"/>
            <a:ext cx="4800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U-shape 完整成型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115800" y="5219700"/>
            <a:ext cx="480060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2420600" y="4152900"/>
            <a:ext cx="666750" cy="1066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230100" y="3905250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+3.2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230100" y="6629400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Q1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3335000" y="5219700"/>
            <a:ext cx="666750" cy="6000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3144500" y="5857875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-1.8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144500" y="6629400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Q2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4249400" y="5219700"/>
            <a:ext cx="66675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058900" y="5391150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-0.4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058900" y="6629400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Q3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5163800" y="5019675"/>
            <a:ext cx="666750" cy="2000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973300" y="4772025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+0.6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4973300" y="6629400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Q4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78200" y="4419600"/>
            <a:ext cx="666750" cy="800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5887700" y="4171950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+2.4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5887700" y="6629400"/>
            <a:ext cx="1047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Q5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115800" y="7543800"/>
            <a:ext cx="48006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單位 · % excess return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14400" y="8153400"/>
            <a:ext cx="16459200" cy="10287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14400" y="8153400"/>
            <a:ext cx="57150" cy="10287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62050" y="83248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TIME EVOLUTION · 時間演化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62050" y="8610600"/>
            <a:ext cx="158877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反向效應在 T+1 尚未顯現 (慣性主導) · 在 T+5 開始浮現 · 在 T+20 完整成型；</a:t>
            </a:r>
            <a:r>
              <a:t/>
            </a:r>
            <a:br/>
            <a:r>
              <a:rPr sz="15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建議交易視窗為 </a:t>
            </a: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5-20 日期間</a:t>
            </a:r>
            <a:r>
              <a:rPr sz="15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；亦支援 D20 為主標籤的設計選擇。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News × Forum Consensus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Artifact: phase4_consensus_quadrant.json · joint distribution news_sent × forum_sent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A.23 · 新聞 × 論壇 共識 2×2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Consensus / Divergence </a:t>
            </a:r>
            <a:r>
              <a:rPr sz="26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 新聞與論壇一致時訊號最強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68580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933700"/>
            <a:ext cx="68580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143250"/>
            <a:ext cx="64008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BOTH BULL · 共識多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467100"/>
            <a:ext cx="6400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 spc="-20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+4.1%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4362450"/>
            <a:ext cx="5715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552950"/>
            <a:ext cx="6400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新聞正 + 論壇正 · 訊號最強烈 · 占樣本 18%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7900" y="3143250"/>
            <a:ext cx="1524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T+20 fwd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2933700"/>
            <a:ext cx="68580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01000" y="2933700"/>
            <a:ext cx="68580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3143250"/>
            <a:ext cx="64008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NEWS BULL / FORUM BEAR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467100"/>
            <a:ext cx="6400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 spc="-20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+0.4%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4362450"/>
            <a:ext cx="571500" cy="285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4552950"/>
            <a:ext cx="6400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新聞正 / 論壇負 · 散戶觀望 · 機構默買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144500" y="3143250"/>
            <a:ext cx="1524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T+20 fwd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5829300"/>
            <a:ext cx="68580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5829300"/>
            <a:ext cx="68580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6038850"/>
            <a:ext cx="64008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NEWS BEAR / FORUM BULL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6362700"/>
            <a:ext cx="6400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 spc="-20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-0.6%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7258050"/>
            <a:ext cx="57150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7448550"/>
            <a:ext cx="6400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新聞負 / 論壇正 · 散戶追高被套 · 警示區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57900" y="6038850"/>
            <a:ext cx="1524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T+20 fwd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1000" y="5829300"/>
            <a:ext cx="68580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01000" y="5829300"/>
            <a:ext cx="6858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6038850"/>
            <a:ext cx="64008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BOTH BEAR · 共識空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6362700"/>
            <a:ext cx="6400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 spc="-20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+1.8%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7258050"/>
            <a:ext cx="571500" cy="285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7448550"/>
            <a:ext cx="6400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新聞負 + 論壇負 · 反向效應 · 占樣本 14%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144500" y="6038850"/>
            <a:ext cx="1524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T+20 fwd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859000" y="2933700"/>
            <a:ext cx="25146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— DECISION RULES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859000" y="3314700"/>
            <a:ext cx="25146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4859000" y="3314700"/>
            <a:ext cx="2514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030450" y="3448050"/>
            <a:ext cx="2286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18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CONSENSUS_BULL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030450" y="3676650"/>
            <a:ext cx="2286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+4.1%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030450" y="3943350"/>
            <a:ext cx="228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兩者皆 ≥ +1.5σ → 買進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859000" y="4572000"/>
            <a:ext cx="25146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4859000" y="4572000"/>
            <a:ext cx="25146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030450" y="4705350"/>
            <a:ext cx="2286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18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CONTRARIAN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030450" y="4933950"/>
            <a:ext cx="2286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+1.8%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030450" y="5200650"/>
            <a:ext cx="228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兩者皆 ≤ -1.5σ → 反向買進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4859000" y="5829300"/>
            <a:ext cx="25146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4859000" y="5829300"/>
            <a:ext cx="25146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030450" y="5962650"/>
            <a:ext cx="2286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18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AVOID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030450" y="6191250"/>
            <a:ext cx="2286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+0.4%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030450" y="6457950"/>
            <a:ext cx="228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news+ × forum− → 觀望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859000" y="7086600"/>
            <a:ext cx="25146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4859000" y="7086600"/>
            <a:ext cx="25146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5030450" y="7219950"/>
            <a:ext cx="2286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18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SHORT-LIST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030450" y="7448550"/>
            <a:ext cx="2286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-0.6%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030450" y="7715250"/>
            <a:ext cx="228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news− × forum+ → 警示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4400" y="8610600"/>
            <a:ext cx="16459200" cy="5715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14400" y="8610600"/>
            <a:ext cx="57150" cy="5715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62050" y="87820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CROSS-CHANNEL VALIDATION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62050" y="9067800"/>
            <a:ext cx="15887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兩源共識 (BOTH BULL) +4.1% &gt; 單源 ; </a:t>
            </a: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跨來源驗證</a:t>
            </a: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 是訊號品質的關鍵濾網。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Coverage &amp; Daily Sentiment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Artifact: phase4_text_coverage.json · 1932 stocks × 4380 days panel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A.24 · 涵蓋率與每日情感序列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Coverage </a:t>
            </a:r>
            <a:r>
              <a:rPr sz="26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 文本訊號的「值不值得用」之衡量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3943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933700"/>
            <a:ext cx="39433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143250"/>
            <a:ext cx="34861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TOP 50 STOCK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409950"/>
            <a:ext cx="348615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92%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152900"/>
            <a:ext cx="3486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日均覆蓋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6350" y="2933700"/>
            <a:ext cx="3943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6350" y="2933700"/>
            <a:ext cx="39433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14950" y="3143250"/>
            <a:ext cx="34861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TOP 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4950" y="3409950"/>
            <a:ext cx="348615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74%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4950" y="4152900"/>
            <a:ext cx="3486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日均覆蓋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58300" y="2933700"/>
            <a:ext cx="3943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58300" y="2933700"/>
            <a:ext cx="394335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86900" y="3143250"/>
            <a:ext cx="34861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1500+ 小型股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6900" y="3409950"/>
            <a:ext cx="348615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38%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86900" y="4152900"/>
            <a:ext cx="3486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日均覆蓋 · 警示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430250" y="2933700"/>
            <a:ext cx="3943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3430250" y="2933700"/>
            <a:ext cx="394335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658850" y="3143250"/>
            <a:ext cx="34861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PEAK ARTICLES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658850" y="3409950"/>
            <a:ext cx="348615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4,210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658850" y="4152900"/>
            <a:ext cx="3486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單日峰值 (2024-08)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81965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— DAILY MARKET SENTIMENT INDEX (2018-2025)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5143500"/>
            <a:ext cx="16459200" cy="36195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485900" y="8420100"/>
            <a:ext cx="156019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85900" y="5429250"/>
            <a:ext cx="9525" cy="29908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485900" y="84201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00150" y="853440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2018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14750" y="84201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29000" y="853440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2019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84201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57850" y="853440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2020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72450" y="84201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86700" y="853440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2021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401300" y="84201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15550" y="853440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2022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630150" y="84201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344400" y="853440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2023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859000" y="84201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573250" y="853440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2024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087850" y="84201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6802100" y="853440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2025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428750" y="842010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9650" y="8324850"/>
            <a:ext cx="381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-1.0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85900" y="8420100"/>
            <a:ext cx="15601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428750" y="7667625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9650" y="7572375"/>
            <a:ext cx="381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-0.5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485900" y="7667625"/>
            <a:ext cx="15601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428750" y="6924675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9650" y="6829425"/>
            <a:ext cx="381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+0.0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485900" y="6924675"/>
            <a:ext cx="15601950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428750" y="6181725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9650" y="6086475"/>
            <a:ext cx="381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+0.5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485900" y="6181725"/>
            <a:ext cx="15601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428750" y="542925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9650" y="5334000"/>
            <a:ext cx="381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+1.0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485900" y="5429250"/>
            <a:ext cx="15601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1485900" y="6553200"/>
            <a:ext cx="533400" cy="10477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9300" y="6657975"/>
            <a:ext cx="533400" cy="88582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2552700" y="6448425"/>
            <a:ext cx="542925" cy="109537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095625" y="6210300"/>
            <a:ext cx="533400" cy="23812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629025" y="6210300"/>
            <a:ext cx="542925" cy="98107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171950" y="7191375"/>
            <a:ext cx="533400" cy="65722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705350" y="7400925"/>
            <a:ext cx="542925" cy="44767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5248275" y="6981825"/>
            <a:ext cx="533400" cy="41910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781675" y="6657975"/>
            <a:ext cx="542925" cy="3238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6324600" y="6391275"/>
            <a:ext cx="533400" cy="26670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858000" y="6305550"/>
            <a:ext cx="542925" cy="8572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400925" y="6305550"/>
            <a:ext cx="533400" cy="2095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934325" y="6515100"/>
            <a:ext cx="542925" cy="23812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477250" y="6753225"/>
            <a:ext cx="533400" cy="52387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9010650" y="7191375"/>
            <a:ext cx="542925" cy="8572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9553575" y="6810375"/>
            <a:ext cx="533400" cy="38100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086975" y="6448425"/>
            <a:ext cx="542925" cy="3619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629900" y="6153150"/>
            <a:ext cx="533400" cy="29527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1163300" y="6153150"/>
            <a:ext cx="542925" cy="2095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1706225" y="6362700"/>
            <a:ext cx="533400" cy="29527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2239625" y="6657975"/>
            <a:ext cx="542925" cy="4381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2782550" y="7096125"/>
            <a:ext cx="533400" cy="30480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3315950" y="7191375"/>
            <a:ext cx="542925" cy="2095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3858875" y="6600825"/>
            <a:ext cx="533400" cy="5905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4392275" y="6391275"/>
            <a:ext cx="542925" cy="2095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4935200" y="6210300"/>
            <a:ext cx="533400" cy="18097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5468600" y="6210300"/>
            <a:ext cx="542925" cy="952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6011525" y="6305550"/>
            <a:ext cx="533400" cy="35242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6544925" y="6657975"/>
            <a:ext cx="542925" cy="2095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5943600" y="5524500"/>
            <a:ext cx="9525" cy="28956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181600" y="5543550"/>
            <a:ext cx="1524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COVID-19 crash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0" y="8915400"/>
            <a:ext cx="16459200" cy="3048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14400" y="8915400"/>
            <a:ext cx="57150" cy="3048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162050" y="9048750"/>
            <a:ext cx="15887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極端事件 (COVID-19 / 2022 升息) 情感指數皆出現 -0.6 級重挫，</a:t>
            </a: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系統能即時捕捉市場情緒拐點。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Signal Decay · PSI by Pillar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Artifact: phase6_psi_30d.json · PSI computed on 30-day rolling window vs train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A.25 · 訊號衰減監控 · 9 支柱 PSI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PSI Drift Monitor </a:t>
            </a:r>
            <a:r>
              <a:rPr sz="26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 9 pillars × 30 日 · 文本 0.13 警告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16459200" cy="5524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4900" y="31051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6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— POPULATION STABILITY INDEX BY PILLAR · 30-day rolling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5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00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43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57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71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00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14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28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57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71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86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14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29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43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71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86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00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29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57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86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914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43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257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372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86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600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715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829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943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057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172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86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00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515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629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743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858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972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086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200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315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429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543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658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772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886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001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115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229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343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58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572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686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801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915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029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144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258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72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486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601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715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829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944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058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172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287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401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515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629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744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858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972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1087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1201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1315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1430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1544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1658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1772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887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2001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2115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2230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2344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2573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2687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2801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2915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3030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3144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3258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3373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3487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3601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3716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3830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3944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4058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4173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4287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4401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4516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4630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4744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4859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4973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5087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5201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5316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5430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5544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5659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5773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5887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6002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6116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6230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6344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6459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6573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6687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6802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6916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7030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6192500" y="65151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Warning 0.10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485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600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714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828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943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2057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2171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2286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2400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2514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2628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2743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2857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2971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3086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3200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3314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3429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3543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3657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3771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3886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4000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4114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4229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4343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4457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4572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4686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4800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4914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029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143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257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5372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86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5600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5715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829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943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6057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6172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6286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6400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6515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6629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6743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6858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6972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7086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7200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7315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7429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7543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7658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7772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7886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8001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8115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8229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8343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8458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8572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8686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8801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8915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9029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144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258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372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486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601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715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829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944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0058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0172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0287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10401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10515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0629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10744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10858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10972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11087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1201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1315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11430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11544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11658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11772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11887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2001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2115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12230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12344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12458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12573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12687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12801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12915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13030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13144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13258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13373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13487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13601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13716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13830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13944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14058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14173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14287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14401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14516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14630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14744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14859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14973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15087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15201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15316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15430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15544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15659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5773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15887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16002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16116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16230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6344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16459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16573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16687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16802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16916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7030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16192500" y="470535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Alert 0.25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1485900" y="7334250"/>
            <a:ext cx="1238250" cy="4762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1295400" y="7048500"/>
            <a:ext cx="16192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0.04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295400" y="79248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Risk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1800225" y="8172450"/>
            <a:ext cx="609600" cy="209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1800225" y="8172450"/>
            <a:ext cx="6096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OK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3200400" y="7210425"/>
            <a:ext cx="1238250" cy="600075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3009900" y="6924675"/>
            <a:ext cx="16192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40AF"/>
                </a:solidFill>
                <a:latin typeface="Times New Roman"/>
                <a:ea typeface="Microsoft JhengHei"/>
                <a:cs typeface="Microsoft JhengHei"/>
              </a:rPr>
              <a:t>0.05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3009900" y="79248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Trend</a:t>
            </a:r>
          </a:p>
        </p:txBody>
      </p:sp>
      <p:sp>
        <p:nvSpPr>
          <p:cNvPr id="301" name="Rectangle 300"/>
          <p:cNvSpPr/>
          <p:nvPr/>
        </p:nvSpPr>
        <p:spPr>
          <a:xfrm>
            <a:off x="3514725" y="8172450"/>
            <a:ext cx="609600" cy="209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3514725" y="8172450"/>
            <a:ext cx="6096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OK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4914900" y="7086600"/>
            <a:ext cx="1238250" cy="7239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4724400" y="6800850"/>
            <a:ext cx="16192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0.06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4724400" y="79248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Momentum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5229225" y="8172450"/>
            <a:ext cx="609600" cy="209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5229225" y="8172450"/>
            <a:ext cx="6096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OK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6629400" y="6972300"/>
            <a:ext cx="1238250" cy="838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6438900" y="6686550"/>
            <a:ext cx="16192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891B2"/>
                </a:solidFill>
                <a:latin typeface="Times New Roman"/>
                <a:ea typeface="Microsoft JhengHei"/>
                <a:cs typeface="Microsoft JhengHei"/>
              </a:rPr>
              <a:t>0.07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6438900" y="79248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Valuation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6943725" y="8172450"/>
            <a:ext cx="609600" cy="209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6943725" y="8172450"/>
            <a:ext cx="6096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OK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8343900" y="7334250"/>
            <a:ext cx="1238250" cy="4762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8153400" y="7048500"/>
            <a:ext cx="16192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0.04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8153400" y="79248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Fund.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8658225" y="8172450"/>
            <a:ext cx="609600" cy="209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8658225" y="8172450"/>
            <a:ext cx="6096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OK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10058400" y="6848475"/>
            <a:ext cx="1238250" cy="9620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9867900" y="6562725"/>
            <a:ext cx="16192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0.08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9867900" y="79248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Industry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10372725" y="8172450"/>
            <a:ext cx="609600" cy="209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10372725" y="8172450"/>
            <a:ext cx="6096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OK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11772900" y="6724650"/>
            <a:ext cx="1238250" cy="10858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11582400" y="6438900"/>
            <a:ext cx="16192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0.09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11582400" y="79248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Chip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12087225" y="8172450"/>
            <a:ext cx="609600" cy="209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12087225" y="8172450"/>
            <a:ext cx="6096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OK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13487400" y="6248400"/>
            <a:ext cx="1238250" cy="1562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13296900" y="5962650"/>
            <a:ext cx="16192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0.13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13296900" y="79248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Sentiment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13801725" y="8172450"/>
            <a:ext cx="609600" cy="2095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13801725" y="8172450"/>
            <a:ext cx="6096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WARN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15201900" y="7086600"/>
            <a:ext cx="1238250" cy="7239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15011400" y="6800850"/>
            <a:ext cx="16192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C4899"/>
                </a:solidFill>
                <a:latin typeface="Times New Roman"/>
                <a:ea typeface="Microsoft JhengHei"/>
                <a:cs typeface="Microsoft JhengHei"/>
              </a:rPr>
              <a:t>0.06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15011400" y="79248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Event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15516225" y="8172450"/>
            <a:ext cx="609600" cy="209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15516225" y="8172450"/>
            <a:ext cx="6096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OK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914400" y="8610600"/>
            <a:ext cx="16459200" cy="5715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914400" y="8610600"/>
            <a:ext cx="57150" cy="5715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1162050" y="87820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EARLY WARNING · 早期警示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1162050" y="9067800"/>
            <a:ext cx="15887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Sentiment 0.13 已過 0.10 警告線 · 仍低於 0.25 alert · </a:t>
            </a: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建議季度更新詞表 · 避免衰減</a:t>
            </a: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。其餘 8 支柱皆穩定。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Limitations &amp; Future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Self-assessment per BCG due diligence template · open issues tracked at issues/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A.26 · 五大限制 + 五大未來方向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誠實的研究自評 </a:t>
            </a:r>
            <a:r>
              <a:rPr sz="26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 Limitations &amp; Future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1940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LIMITATIONS · 五大限制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1623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162300"/>
            <a:ext cx="80962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900" y="3333750"/>
            <a:ext cx="571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5450" y="33337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日頻限制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5450" y="3657600"/>
            <a:ext cx="6286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無 intraday 微結構訊號 (tick / order book)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2672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267200"/>
            <a:ext cx="80962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4900" y="4438650"/>
            <a:ext cx="571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5450" y="44386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台股限制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5450" y="4762500"/>
            <a:ext cx="6286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未跨市場 (HK / SG / US ADR) · 政策外溢未建模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3721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5372100"/>
            <a:ext cx="80962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4900" y="5543550"/>
            <a:ext cx="571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5450" y="55435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黑天鵝盲點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5450" y="5867400"/>
            <a:ext cx="6286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極端事件 (戰爭 / 疫情) 訓練樣本稀少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64770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6477000"/>
            <a:ext cx="80962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4900" y="6648450"/>
            <a:ext cx="571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5450" y="66484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文本來源偏誤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5450" y="6972300"/>
            <a:ext cx="6286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40% 集中於 Top 5 熱門股 · 中小型股訊號薄弱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75819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" y="7581900"/>
            <a:ext cx="80962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4900" y="7753350"/>
            <a:ext cx="571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5450" y="77533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靜態詞表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95450" y="8077200"/>
            <a:ext cx="6286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500 詞表為 2024 校驗 · 半年衰減 PSI &gt; 0.1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77350" y="281940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— FUTURE WORK · 五大未來方向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77350" y="31623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77350" y="3162300"/>
            <a:ext cx="80962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67850" y="3333750"/>
            <a:ext cx="571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33337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加入 Intraday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3657600"/>
            <a:ext cx="6286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tick / 1-min K · order flow imbalance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77350" y="42672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277350" y="4267200"/>
            <a:ext cx="80962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67850" y="4438650"/>
            <a:ext cx="571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44386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跨市場 portfolio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4762500"/>
            <a:ext cx="6286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TW + HK + ADR · 統一 9-pillar · ~5,000 stocks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77350" y="53721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277350" y="5372100"/>
            <a:ext cx="80962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67850" y="5543550"/>
            <a:ext cx="571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0" y="55435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線上學習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0" y="5867400"/>
            <a:ext cx="6286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EWMA + concept drift detection · 月更新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77350" y="64770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77350" y="6477000"/>
            <a:ext cx="80962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67850" y="6648450"/>
            <a:ext cx="571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66484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LLM 輔助情感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0" y="6972300"/>
            <a:ext cx="6286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GPT / Llama embedding 取代部分詞表 · 強化中小型股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77350" y="75819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277350" y="7581900"/>
            <a:ext cx="80962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67850" y="7753350"/>
            <a:ext cx="571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58400" y="77533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因果機制建模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0" y="8077200"/>
            <a:ext cx="6286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do-calculus + IV · 從相關走向因果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8763000"/>
            <a:ext cx="16459200" cy="4191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14400" y="8763000"/>
            <a:ext cx="57150" cy="419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62050" y="8896350"/>
            <a:ext cx="158877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系統設計時即承認自身邊界 · </a:t>
            </a: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誠實 &gt; 過譽 · 這是 v11.5.17 與一般學術原型最根本的差別。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Bibliography · 15 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Full BibTeX in references.bib · all referenced in code comments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A.27 · 參考文獻 · 四大領域 15 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Standing on Shoulders </a:t>
            </a:r>
            <a:r>
              <a:rPr sz="26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 方法論立基於 50 年量化研究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8096250" cy="29337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933700"/>
            <a:ext cx="80962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143250"/>
            <a:ext cx="76390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METHODOLOGY · 方法論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50520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3500" y="3505200"/>
            <a:ext cx="74104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López de Prado (2018). Advances in Financial Machine Learning. Wiley.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01955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3500" y="4019550"/>
            <a:ext cx="74104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Bailey &amp; López de Prado (2014). The Deflated Sharpe Ratio. SSRN 2460551.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53390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4533900"/>
            <a:ext cx="74104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Harvey, Liu &amp; Zhu (2016). … and the Cross-Section of Expected Returns. RFS 29(1).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04825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5048250"/>
            <a:ext cx="74104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Lopez de Prado &amp; Lewis (2019). Detection of False Investment Strategies. JPM 45.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9250" y="2933700"/>
            <a:ext cx="8096250" cy="29337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39250" y="2933700"/>
            <a:ext cx="80962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7850" y="3143250"/>
            <a:ext cx="76390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FACTOR MODELS · 因子模型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7850" y="350520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58350" y="3505200"/>
            <a:ext cx="74104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Fama &amp; French (1993). Common Risk Factors in the Returns on Stocks and Bonds. JFE 33.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7850" y="401955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8350" y="4019550"/>
            <a:ext cx="74104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Carhart (1997). On Persistence in Mutual Fund Performance. JF 52.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7850" y="453390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58350" y="4533900"/>
            <a:ext cx="74104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Asness, Moskowitz &amp; Pedersen (2013). Value and Momentum Everywhere. JF 68.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7850" y="504825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58350" y="5048250"/>
            <a:ext cx="74104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Hou, Xue &amp; Zhang (2015). Digesting Anomalies: An Investment Approach. RFS 28.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6096000"/>
            <a:ext cx="8096250" cy="29337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" y="6096000"/>
            <a:ext cx="80962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6305550"/>
            <a:ext cx="76390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BEHAVIORAL FINANCE · 行為財務學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666750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33500" y="6667500"/>
            <a:ext cx="74104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DeBondt &amp; Thaler (1985). Does the Stock Market Overreact? JF 40.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718185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33500" y="7181850"/>
            <a:ext cx="74104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Tetlock (2007). Giving Content to Investor Sentiment. JF 62.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9620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33500" y="7696200"/>
            <a:ext cx="74104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Loughran &amp; McDonald (2011). When Is a Liability Not a Liability? JF 66.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39250" y="6096000"/>
            <a:ext cx="8096250" cy="29337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39250" y="6096000"/>
            <a:ext cx="809625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67850" y="6305550"/>
            <a:ext cx="76390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ML &amp; TEXT · 機器學習與文本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67850" y="666750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58350" y="6667500"/>
            <a:ext cx="74104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Chen &amp; Guestrin (2016). XGBoost: A Scalable Tree Boosting System. KDD.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67850" y="718185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58350" y="7181850"/>
            <a:ext cx="74104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Lundberg &amp; Lee (2017). A Unified Approach to Interpreting Model Predictions. NeurIPS.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67850" y="769620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58350" y="7696200"/>
            <a:ext cx="74104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Ke et al. (2017). LightGBM: A Highly Efficient Gradient Boosting Decision Tree. NeurIPS.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67850" y="821055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EA580C"/>
                </a:solidFill>
                <a:latin typeface="Times New Roman"/>
                <a:ea typeface="Microsoft JhengHei"/>
                <a:cs typeface="Microsoft JhengHei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58350" y="8210550"/>
            <a:ext cx="74104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Ardia et al. (2021). Sentometrics: Computing Time Series of Sentiment. JSS 99.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4400" y="9067800"/>
            <a:ext cx="16459200" cy="3048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9067800"/>
            <a:ext cx="57150" cy="3048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62050" y="9201150"/>
            <a:ext cx="15887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所有方法論皆有同行審核之文獻支撐；</a:t>
            </a: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本系統為 50 年量化文獻在台股的工程實作</a:t>
            </a: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Tools · Python Ecosystem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requirements.txt · pyproject.toml · 5 functional groups × 3 libs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A.28 · 工具棧 · 15 個核心套件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Python Stack </a:t>
            </a:r>
            <a:r>
              <a:rPr sz="26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 Data → ML → NLP → Viz → Governance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3333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933700"/>
            <a:ext cx="33337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3950" y="3143250"/>
            <a:ext cx="29146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DATA · 資料層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23950" y="3676650"/>
            <a:ext cx="38100" cy="609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8250" y="3600450"/>
            <a:ext cx="28003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pandas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8250" y="388620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v2.2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8250" y="4095750"/>
            <a:ext cx="2800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panel data 主鍵對齊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23950" y="4552950"/>
            <a:ext cx="38100" cy="609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8250" y="4476750"/>
            <a:ext cx="28003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numpy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50" y="476250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v2.0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8250" y="4972050"/>
            <a:ext cx="2800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向量運算 / 統計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23950" y="5429250"/>
            <a:ext cx="38100" cy="609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5353050"/>
            <a:ext cx="28003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duckdb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8250" y="563880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v0.10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8250" y="5848350"/>
            <a:ext cx="2800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本地 OLAP · WAL off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62450" y="2933700"/>
            <a:ext cx="3333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62450" y="2933700"/>
            <a:ext cx="33337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3143250"/>
            <a:ext cx="29146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ML · 模型層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3676650"/>
            <a:ext cx="38100" cy="609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86300" y="3600450"/>
            <a:ext cx="28003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xgboost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6300" y="388620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v1.7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6300" y="4095750"/>
            <a:ext cx="2800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★ winner · D+20 AUC 0.6455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4552950"/>
            <a:ext cx="38100" cy="609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86300" y="4476750"/>
            <a:ext cx="28003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lightgbm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6300" y="476250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v4.x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6300" y="4972050"/>
            <a:ext cx="2800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次佳引擎 · D+20 AUC 0.6391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5429250"/>
            <a:ext cx="38100" cy="609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86300" y="5353050"/>
            <a:ext cx="28003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scikit-learn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86300" y="563880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v1.5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86300" y="5848350"/>
            <a:ext cx="2800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preprocess / metrics /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10500" y="2933700"/>
            <a:ext cx="3333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810500" y="2933700"/>
            <a:ext cx="33337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20050" y="3143250"/>
            <a:ext cx="29146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TUNE · 搜尋層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20050" y="3676650"/>
            <a:ext cx="38100" cy="609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4350" y="3600450"/>
            <a:ext cx="28003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optuna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4350" y="388620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v3.6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4350" y="4095750"/>
            <a:ext cx="2800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TPE Sampler · 50 trials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20050" y="4552950"/>
            <a:ext cx="38100" cy="609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34350" y="4476750"/>
            <a:ext cx="28003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shap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4350" y="476250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v0.46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34350" y="4972050"/>
            <a:ext cx="2800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tree explainer · top-20 features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20050" y="5429250"/>
            <a:ext cx="38100" cy="609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34350" y="5353050"/>
            <a:ext cx="28003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joblib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34350" y="563880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v1.4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34350" y="5848350"/>
            <a:ext cx="2800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model serialization · 6 horizons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258550" y="2933700"/>
            <a:ext cx="3333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258550" y="2933700"/>
            <a:ext cx="333375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468100" y="3143250"/>
            <a:ext cx="29146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NLP · 文本層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468100" y="3676650"/>
            <a:ext cx="38100" cy="609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582400" y="3600450"/>
            <a:ext cx="28003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jieba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582400" y="388620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v0.42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582400" y="4095750"/>
            <a:ext cx="2800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中文斷詞 · 自定義金融詞典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468100" y="4552950"/>
            <a:ext cx="38100" cy="609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582400" y="4476750"/>
            <a:ext cx="28003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snownlp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582400" y="476250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v0.12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82400" y="4972050"/>
            <a:ext cx="2800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中文情緒五桶分位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1468100" y="5429250"/>
            <a:ext cx="38100" cy="609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582400" y="5353050"/>
            <a:ext cx="28003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wordcloud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582400" y="563880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v1.9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582400" y="5848350"/>
            <a:ext cx="2800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視覺化 · Q1 vs Q5 對比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4706600" y="2933700"/>
            <a:ext cx="3333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4706600" y="2933700"/>
            <a:ext cx="33337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4916150" y="3143250"/>
            <a:ext cx="29146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VIZ + GOV · 服務層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4916150" y="3676650"/>
            <a:ext cx="38100" cy="6096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030450" y="3600450"/>
            <a:ext cx="28003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streamlit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5030450" y="388620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v1.39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5030450" y="4095750"/>
            <a:ext cx="2800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13 頁互動儀表板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4916150" y="4552950"/>
            <a:ext cx="38100" cy="6096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5030450" y="4476750"/>
            <a:ext cx="28003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plotly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030450" y="476250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v5.24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5030450" y="4972050"/>
            <a:ext cx="2800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dark-glint chart 語言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4916150" y="5429250"/>
            <a:ext cx="38100" cy="6096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5030450" y="5353050"/>
            <a:ext cx="28003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matplotlib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5030450" y="563880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v3.9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5030450" y="5848350"/>
            <a:ext cx="2800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static report figures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14400" y="6667500"/>
            <a:ext cx="16459200" cy="20955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6667500"/>
            <a:ext cx="57150" cy="20955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62050" y="68389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WHY THIS STACK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62050" y="7124700"/>
            <a:ext cx="15887700" cy="156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純 Python · MIT/Apache 授權 · 全部可在 </a:t>
            </a: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Streamlit Cloud / Docker / Conda</a:t>
            </a:r>
            <a:r>
              <a:rPr sz="15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 本地或雲端重現；</a:t>
            </a:r>
            <a:r>
              <a:t/>
            </a:r>
            <a:br/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XGBoost + LightGBM 雙引擎並行 · </a:t>
            </a:r>
            <a:r>
              <a:rPr sz="1500" b="1" i="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Optuna 150 trials × 6 horizon × engine = 900 次搜尋</a:t>
            </a:r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；SHAP 提供個股可解釋性、Streamlit 13 頁將模型結果暴露給研究員與經理人。</a:t>
            </a:r>
          </a:p>
          <a:p>
            <a:pPr algn="l">
              <a:lnSpc>
                <a:spcPct val="150000"/>
              </a:lnSpc>
            </a:pPr>
            <a:r>
              <a:rPr sz="1200" b="1" i="0" spc="20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AUDIT</a:t>
            </a:r>
            <a:r>
              <a:t/>
            </a:r>
            <a:br/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所有依賴版本鎖在 </a:t>
            </a:r>
            <a:r>
              <a:rPr sz="1300" b="1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requirements.txt</a:t>
            </a: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、commit hash + joblib 同步、</a:t>
            </a:r>
            <a:r>
              <a:rPr sz="13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任何一段績效都可從原始資料 → 重現到分數差 &lt; 1e-6。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Methodology · 5 Core Methods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López de Prado (2018) · Bailey &amp; López de Prado (2014) · Lundberg &amp; Lee (2017)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A.29 · 方法論 · 公式 + 我們的應用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Method × Application </a:t>
            </a:r>
            <a:r>
              <a:rPr sz="26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 從學術到實證的 1:1 對應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16459200" cy="10287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933700"/>
            <a:ext cx="76200" cy="10287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0150" y="308610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2600" y="3124200"/>
            <a:ext cx="209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Purged WF-CV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2600" y="3390900"/>
            <a:ext cx="2286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時序交叉驗證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2600" y="3714750"/>
            <a:ext cx="3429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↪ López de Prado (2018) §7.4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5900" y="30861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FORMULA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5900" y="3295650"/>
            <a:ext cx="5143500" cy="533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29250" y="3295650"/>
            <a:ext cx="48577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-2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Fold k 之 train ∩ test̂(t±h) = 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8000" y="3086100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OUR APPLICATION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68000" y="3295650"/>
            <a:ext cx="6477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4 fold × 20 日 embargo · 防止 D+20 標籤跨期重疊洩漏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038600"/>
            <a:ext cx="16459200" cy="10287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4038600"/>
            <a:ext cx="76200" cy="10287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00150" y="419100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2600" y="4229100"/>
            <a:ext cx="209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Deflated Sharpe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52600" y="4495800"/>
            <a:ext cx="2286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多重檢定校正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52600" y="4819650"/>
            <a:ext cx="3429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↪ Bailey &amp; López de Prado (2014)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95900" y="41910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FORMULA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95900" y="4400550"/>
            <a:ext cx="5143500" cy="533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29250" y="4400550"/>
            <a:ext cx="48577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-2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DSR = (SR̂ − E[max SR_n]) · √(T−1) / Φ⁻¹(1−α)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68000" y="4191000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OUR APPLICATION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68000" y="4400550"/>
            <a:ext cx="6477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原始 SR̂ 2.41 → DSR 12.12 · 扣 150 trials skew/kurt 後 p ≪ 0.001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5143500"/>
            <a:ext cx="16459200" cy="10287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" y="5143500"/>
            <a:ext cx="76200" cy="10287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00150" y="529590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52600" y="5334000"/>
            <a:ext cx="209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LOPO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2600" y="5600700"/>
            <a:ext cx="2286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支柱貢獻分析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52600" y="5924550"/>
            <a:ext cx="3429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↪ Custom · feature ablation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95900" y="52959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FORMULA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95900" y="5505450"/>
            <a:ext cx="5143500" cy="533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29250" y="5505450"/>
            <a:ext cx="48577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-2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ΔAUC_p = AUC(全 91) − AUC(91 \ pillar p)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68000" y="5295900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OUR APPLICATION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68000" y="5505450"/>
            <a:ext cx="6477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Risk +138.6 bps · Trend +64.9 · Chip / Event / Industry 共 −49 bps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6248400"/>
            <a:ext cx="16459200" cy="10287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4400" y="6248400"/>
            <a:ext cx="7620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00150" y="640080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52600" y="6438900"/>
            <a:ext cx="209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SHAP TreeExplainer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52600" y="6705600"/>
            <a:ext cx="2286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個股可解釋性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52600" y="7029450"/>
            <a:ext cx="3429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↪ Lundberg &amp; Lee (2017)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95900" y="64008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FORMULA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95900" y="6610350"/>
            <a:ext cx="5143500" cy="533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29250" y="6610350"/>
            <a:ext cx="48577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-2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φ_i(x) = E[f(x) | x_i] − E[f(x)]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68000" y="6400800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OUR APPLICATION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68000" y="6610350"/>
            <a:ext cx="6477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Top 20 全局特徵 · per-stock 解釋 → Streamlit 個股檢視頁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0" y="7353300"/>
            <a:ext cx="16459200" cy="10287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14400" y="7353300"/>
            <a:ext cx="76200" cy="10287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00150" y="750570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52600" y="7543800"/>
            <a:ext cx="209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PSI / KS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52600" y="7810500"/>
            <a:ext cx="2286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漂移監控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52600" y="8134350"/>
            <a:ext cx="3429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↪ Basel III FRTB · industry standard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95900" y="75057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FORMULA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95900" y="7715250"/>
            <a:ext cx="5143500" cy="533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29250" y="7715250"/>
            <a:ext cx="48577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-2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PSI = Σ (p_i − q_i) ln(p_i / q_i)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68000" y="7505700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OUR APPLICATION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68000" y="7715250"/>
            <a:ext cx="6477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91 features 月測 · Text PSI 0.13 觸發 WARN · 對策每月詞向量重訓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4400" y="8382000"/>
            <a:ext cx="16459200" cy="9525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14400" y="8382000"/>
            <a:ext cx="57150" cy="9525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62050" y="85534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METHOD-TO-EVIDENCE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62050" y="8839200"/>
            <a:ext cx="158877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每個結論都可逆向追溯到一個方法、每個方法都有一篇引用文獻；</a:t>
            </a:r>
            <a:r>
              <a:t/>
            </a:r>
            <a:br/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這 5 大方法疊加 = </a:t>
            </a:r>
            <a:r>
              <a:rPr sz="15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從原始資料到 9 / 9 治理關卡 PASS 的審計鏈</a:t>
            </a:r>
            <a:r>
              <a:rPr sz="15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3619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Data Sources &amp; Extended 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A.30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Source · TWSE / TPEx · 公開資訊觀測站 · CMoney 文本 · 課程指定資料庫 BDA-2026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0" y="975360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APPENDIX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4100" y="9801225"/>
            <a:ext cx="1143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— A.30 · 資料來源 + 延伸期刊文獻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6668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 spc="-8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Data Provenance </a:t>
            </a:r>
            <a:r>
              <a:rPr sz="2600" b="1" i="0" spc="-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· 每筆樣本可回溯至公開來源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1940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DATA SOURCES · 資料來源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105150"/>
            <a:ext cx="809625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105150"/>
            <a:ext cx="80962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314700"/>
            <a:ext cx="76390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PRICE / VOLUME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619500"/>
            <a:ext cx="76390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TWSE · TPEx · 公開資訊觀測站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019550"/>
            <a:ext cx="7639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1,930 檔股票 × 505 交易日 · OHLCV + 融資融券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514850"/>
            <a:ext cx="76390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↪ data/raw/stock_prices.parquet · 4.2 GB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048250"/>
            <a:ext cx="809625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5048250"/>
            <a:ext cx="80962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257800"/>
            <a:ext cx="76390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06B6D4"/>
                </a:solidFill>
                <a:latin typeface="Times New Roman"/>
                <a:ea typeface="Microsoft JhengHei"/>
                <a:cs typeface="Microsoft JhengHei"/>
              </a:rPr>
              <a:t>FUNDAMENTALS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562600"/>
            <a:ext cx="76390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財報資料庫 · 季頻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962650"/>
            <a:ext cx="7639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IFRS 報表三表 · 主鍵 (stock_id, period) · lag 45 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6457950"/>
            <a:ext cx="76390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↪ data/raw/financial_statements.parquet · 312 MB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6991350"/>
            <a:ext cx="809625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6991350"/>
            <a:ext cx="809625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7200900"/>
            <a:ext cx="76390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TEXT CORPUS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7505700"/>
            <a:ext cx="76390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CMoney 新聞 + PTT Stock 論壇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905750"/>
            <a:ext cx="7639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948K 文本 · T 日 15:00 截止 · 自定義金融詞典 1,521 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8401050"/>
            <a:ext cx="76390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 spc="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↪ data/raw/text/ · 8.7 GB · jieba 斷詞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34500" y="281940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Times New Roman"/>
                <a:ea typeface="Microsoft JhengHei"/>
                <a:cs typeface="Microsoft JhengHei"/>
              </a:rPr>
              <a:t>EXTENDED REFERENCES · 延伸文獻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34500" y="3105150"/>
            <a:ext cx="8039100" cy="85725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334500" y="3105150"/>
            <a:ext cx="803910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44050" y="327660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7C3AED"/>
                </a:solidFill>
                <a:latin typeface="Times New Roman"/>
                <a:ea typeface="Microsoft JhengHei"/>
                <a:cs typeface="Microsoft JhengHei"/>
              </a:rPr>
              <a:t>TAIWAN MARKET · 台股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4050" y="3467100"/>
            <a:ext cx="152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7C3AED"/>
                </a:solidFill>
                <a:latin typeface="Times New Roman"/>
                <a:ea typeface="Microsoft JhengHei"/>
                <a:cs typeface="Microsoft JhengHei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6450" y="3467100"/>
            <a:ext cx="7467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Lin &amp; Lee (2010). 台股報酬可預測性. 臺大管理論叢 21(1).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44050" y="3676650"/>
            <a:ext cx="152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7C3AED"/>
                </a:solidFill>
                <a:latin typeface="Times New Roman"/>
                <a:ea typeface="Microsoft JhengHei"/>
                <a:cs typeface="Microsoft JhengHei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6450" y="3676650"/>
            <a:ext cx="7467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張 (2018). 台灣股市規模效應與動能效應. 中山管理評論 26(2).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516350" y="3752850"/>
            <a:ext cx="762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1" spc="4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+ 1 more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34500" y="4038600"/>
            <a:ext cx="8039100" cy="85725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334500" y="4038600"/>
            <a:ext cx="80391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44050" y="421005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TIME-SERIES VALIDATION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44050" y="4400550"/>
            <a:ext cx="152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6450" y="4400550"/>
            <a:ext cx="7467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Cerqueira et al. (2020). Evaluating time series forecasting models. ML 109.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44050" y="4610100"/>
            <a:ext cx="152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6450" y="4610100"/>
            <a:ext cx="7467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Hyndman &amp; Athanasopoulos (2021). Forecasting: Principles and Practice (3e).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34500" y="4972050"/>
            <a:ext cx="8039100" cy="85725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334500" y="4972050"/>
            <a:ext cx="80391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44050" y="514350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GOVERNANCE · 治理規範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44050" y="5334000"/>
            <a:ext cx="152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6450" y="5334000"/>
            <a:ext cx="7467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Basel III · FRTB (2019). Minimum capital requirements for market risk.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44050" y="5543550"/>
            <a:ext cx="152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B981"/>
                </a:solidFill>
                <a:latin typeface="Times New Roman"/>
                <a:ea typeface="Microsoft JhengHei"/>
                <a:cs typeface="Microsoft JhengHei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96450" y="5543550"/>
            <a:ext cx="7467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EU AI Act (2024). High-risk AI systems Article 9 — risk management.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34500" y="5905500"/>
            <a:ext cx="8039100" cy="85725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334500" y="5905500"/>
            <a:ext cx="80391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44050" y="607695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DATA &amp; TOOLING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44050" y="6267450"/>
            <a:ext cx="152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·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96450" y="6267450"/>
            <a:ext cx="7467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McKinney (2011). pandas: a Foundational Python Library for DA. PyHPC.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44050" y="6477000"/>
            <a:ext cx="152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59E0B"/>
                </a:solidFill>
                <a:latin typeface="Times New Roman"/>
                <a:ea typeface="Microsoft JhengHei"/>
                <a:cs typeface="Microsoft JhengHei"/>
              </a:rPr>
              <a:t>·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96450" y="6477000"/>
            <a:ext cx="7467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Akiba et al. (2019). Optuna: A Next-generation Hyperparameter Optimization Framework. KDD.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516350" y="6553200"/>
            <a:ext cx="762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1" spc="4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+ 1 more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4400" y="8877300"/>
            <a:ext cx="16459200" cy="7620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14400" y="8877300"/>
            <a:ext cx="57150" cy="762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62050" y="90487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Times New Roman"/>
                <a:ea typeface="Microsoft JhengHei"/>
                <a:cs typeface="Microsoft JhengHei"/>
              </a:rPr>
              <a:t>PROVENANCE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62050" y="9334500"/>
            <a:ext cx="158877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F172A"/>
                </a:solidFill>
                <a:latin typeface="Times New Roman"/>
                <a:ea typeface="Microsoft JhengHei"/>
                <a:cs typeface="Microsoft JhengHei"/>
              </a:rPr>
              <a:t>948,976 筆樣本 · 1,623 候選因子 · 91 篩選後特徵 · 全部</a:t>
            </a:r>
            <a:r>
              <a:rPr sz="14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 SQL 可回溯</a:t>
            </a:r>
            <a:r>
              <a:rPr sz="1400" b="0" i="0">
                <a:solidFill>
                  <a:srgbClr val="334155"/>
                </a:solidFill>
                <a:latin typeface="Times New Roman"/>
                <a:ea typeface="Microsoft JhengHei"/>
                <a:cs typeface="Microsoft JhengHei"/>
              </a:rPr>
              <a:t>；本研究遵循 BDA-2026 課程資料規範、所有外部引用標明出處、所有方法論可獨立復現。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