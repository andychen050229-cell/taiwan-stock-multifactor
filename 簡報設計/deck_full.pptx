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191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TAIWAN EQUITY · QUANT RESEARCH TERMINAL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419100"/>
            <a:ext cx="6286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NTU · BIG DATA &amp; BUSINESS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00200"/>
            <a:ext cx="571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90700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STRATEGIC RESEARCH DECK · v11.5.18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0750"/>
            <a:ext cx="9525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台股多因子</a:t>
            </a:r>
            <a:r>
              <a:t/>
            </a:r>
            <a:br/>
            <a:r>
              <a:rPr sz="7800" b="1" i="0" spc="-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預測系統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648200"/>
            <a:ext cx="9525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7750"/>
            <a:ext cx="9525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alpha 在中長線基本面結構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以 9 支柱因子棋盤、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樣本、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505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交易日，於 D+20 方向預測產出可部署的選股訊號。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6572250"/>
            <a:ext cx="95250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6572250"/>
            <a:ext cx="9525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1100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1100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XGBoost · 4-fold WFPK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86225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925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2925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925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閾 3.0 · 多重檢定通過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58050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4750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TOP 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750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4750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+12.4%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299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29950" y="17907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39500" y="20002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9500" y="22669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 / 1,623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39500" y="31051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三層漏斗 · 保留 5.6%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1541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154150" y="1790700"/>
            <a:ext cx="3048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63700" y="20002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363700" y="22669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363700" y="31051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4 折 IC 一致性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0299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29950" y="3771900"/>
            <a:ext cx="304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39500" y="39814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39500" y="42481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39500" y="50863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治理關卡全數通過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1541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4154150" y="37719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363700" y="39814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SAMPLES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363700" y="42481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363700" y="50863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1,930 檔 × 505 交易日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029950" y="6572250"/>
            <a:ext cx="62865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029950" y="6572250"/>
            <a:ext cx="6286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239500" y="6781800"/>
            <a:ext cx="590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WHAT YOU'LL HEAR · 12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39500" y="7067550"/>
            <a:ext cx="5905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一個結論：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台股 D+20 alpha 可預測、可驗證、可部署。</a:t>
            </a:r>
            <a:r>
              <a:t/>
            </a:r>
            <a:br/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三段路徑：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切角 → 方法 → 證據 → 落地。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17245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8343900"/>
            <a:ext cx="3429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TEAM · 6 MEMBERS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陳柏寰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9085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0525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陳又萍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730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170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謝瑞洋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李泰坤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9085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B12302131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0525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林芮靚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6730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B13102133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170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沈承寬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0000" y="8343900"/>
            <a:ext cx="2286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COURSE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20000" y="8591550"/>
            <a:ext cx="3619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NTU · Big Data &amp; Business Analytics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20000" y="8839200"/>
            <a:ext cx="3619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大數據與商業分析專案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0" y="83439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VERSION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0" y="85915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v11.5.18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097000" y="8343900"/>
            <a:ext cx="3276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DATE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097000" y="8591550"/>
            <a:ext cx="3276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April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097000" y="8839200"/>
            <a:ext cx="3276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Academic Project · 課堂簡報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Problem Framing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López de Prado (2018) §7.4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SETUP</a:t>
            </a:r>
          </a:p>
        </p:txBody>
      </p:sp>
      <p:sp>
        <p:nvSpPr>
          <p:cNvPr id="10" name="Oval 9"/>
          <p:cNvSpPr/>
          <p:nvPr/>
        </p:nvSpPr>
        <p:spPr>
          <a:xfrm>
            <a:off x="159543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PROBLEM · 為什麼鎖定 D+20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rPr sz="40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alpha 在中長線基本面結構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我們的切點：以 D+20 為視窗、結構化基本面 × 文本 × 籌碼三軸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11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EVIDENCE · 短線是噪聲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11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日頻 edge 多落 1–5 pp、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11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統計 IC 跨 fold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81100" y="42481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1100" y="4438650"/>
            <a:ext cx="4724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日頻波動由 </a:t>
            </a: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HFT 飽和 + 散戶情緒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主導、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可預測 edge 多落 1–5 pp、跨 fold 方向反覆。</a:t>
            </a:r>
            <a:r>
              <a:t/>
            </a:r>
            <a:br/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在 Walk-Forward 嚴格時序驗證下、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短線預測無法穩定複現、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回測亮眼亦多為過擬合假象。</a:t>
            </a:r>
            <a:r>
              <a:t/>
            </a:r>
            <a:br/>
            <a:r>
              <a:t/>
            </a:r>
            <a:br/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不應在日頻層做下注決策。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51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151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18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OUR ANGLE · 三軸對齊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 × 文本 × 籌碼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18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於 D+20 收斂為共振訊號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81800" y="42481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1800" y="4438650"/>
            <a:ext cx="4724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財報季頻、文本日頻、籌碼日頻，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以 </a:t>
            </a: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(stock_id, date)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為主鍵對齊；</a:t>
            </a:r>
            <a:r>
              <a:t/>
            </a:r>
            <a:br/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財報 lag 45 天、文本只取 T 日 15:00 前、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point-in-time 規範全面落地、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forward-looking bias 從源頭阻斷。</a:t>
            </a:r>
            <a:r>
              <a:t/>
            </a:r>
            <a:br/>
            <a:r>
              <a:t/>
            </a:r>
            <a:br/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同一決策日只看當下可見的訊息。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1158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1158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HORIZON · 為什麼 D+20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825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 為訊號收斂、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825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雜訊衰退的最佳視窗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82500" y="42481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2382500" y="4438650"/>
            <a:ext cx="4724400" cy="123825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496800" y="4533900"/>
            <a:ext cx="4495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 vs HORIZON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687300" y="5381625"/>
            <a:ext cx="533400" cy="10477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611100" y="522922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6111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0" y="5286375"/>
            <a:ext cx="533400" cy="2000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639800" y="513397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6398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744700" y="5029200"/>
            <a:ext cx="533400" cy="457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668500" y="48768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6685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773400" y="5210175"/>
            <a:ext cx="533400" cy="2762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697200" y="505777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6972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382500" y="5829300"/>
            <a:ext cx="47244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D+20 ICIR 0.7431 顯著高於 D+1 / D+5；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基本面訊號約於 1 個月窗口進入價格、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半衰期 &gt; 1 個月，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對應中長線部位。</a:t>
            </a:r>
            <a:r>
              <a:t/>
            </a:r>
            <a:br/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 是訊號最強、雜訊已收斂的甜蜜點。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SO WHAT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台股 alpha 並非不存在、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而是被錯誤時序與單一因子框架所遮蔽；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把切點放到 D+20 中長線、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以三軸結構化訊號、Walk-Forward 嚴格驗證，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下一頁交代資料、特徵、模型、驗證的完整流水。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López de Prado (2018) §7.4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SETUP</a:t>
            </a:r>
          </a:p>
        </p:txBody>
      </p:sp>
      <p:sp>
        <p:nvSpPr>
          <p:cNvPr id="10" name="Oval 9"/>
          <p:cNvSpPr/>
          <p:nvPr/>
        </p:nvSpPr>
        <p:spPr>
          <a:xfrm>
            <a:off x="159543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METHODOLOGY · 一頁交代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1,623 → 91 特徵 · XGBoost · </a:t>
            </a:r>
            <a:r>
              <a:rPr sz="40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Walk-Forward Purged K-Fold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資料 → 特徵 → 模型 → 驗證、</a:t>
            </a: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 樣本、</a:t>
            </a:r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 日 embargo 阻斷洩漏。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200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 · FEATURE FUNNEL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86150"/>
            <a:ext cx="495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-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1,623</a:t>
            </a:r>
            <a:r>
              <a:rPr sz="36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  →  </a:t>
            </a:r>
            <a:r>
              <a:rPr sz="6000" b="1" i="0" spc="-1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2672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保留率 5.6% · Corr → MI → VIF 三層漏斗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6291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原始候選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7150" y="46291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跨 9 支柱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8250" y="46291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1,623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50482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Corr ≤ 0.85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7150" y="50482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剔除共線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8250" y="50482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870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52578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43000" y="5257800"/>
            <a:ext cx="2667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54673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MI top-K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7150" y="54673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互資訊保留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8250" y="54673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287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56769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5676900"/>
            <a:ext cx="8858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8864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VIF &lt; 5 · 業務檢查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67150" y="58864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進場特徵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48250" y="58864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60960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43000" y="6096000"/>
            <a:ext cx="2762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389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38900" y="29718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67500" y="3200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 · MODEL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67500" y="34861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XGBoost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7500" y="405765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Optuna 150 trials · early stopping · 4 折交叉訓練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67500" y="4457700"/>
            <a:ext cx="285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 vs 對照組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7500" y="476250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XGBoost 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43975" y="48196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43975" y="4819650"/>
            <a:ext cx="18002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763250" y="47625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7500" y="512445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LightGBM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43975" y="51816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943975" y="5181600"/>
            <a:ext cx="16573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763250" y="51244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0.6381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67500" y="548640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43975" y="55435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943975" y="5543550"/>
            <a:ext cx="12573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763250" y="54864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0.6168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67500" y="584835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Logistic Reg.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943975" y="59055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43975" y="5905500"/>
            <a:ext cx="70485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763250" y="58483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0.5874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963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963400" y="29718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2192000" y="3200400"/>
            <a:ext cx="2286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 · VALIDATION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192000" y="34861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WFPK · 4 fold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92000" y="398145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+ 20 日 embargo · D+20 horizon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192000" y="4343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時序結構（% × 樣本軸）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92000" y="46482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801600" y="4686300"/>
            <a:ext cx="96202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3763625" y="46863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4011275" y="4686300"/>
            <a:ext cx="4953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2192000" y="49911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2801600" y="5029200"/>
            <a:ext cx="12573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4058900" y="50292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4306550" y="50292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192000" y="5334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801600" y="5372100"/>
            <a:ext cx="159067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392275" y="53721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639925" y="53721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2192000" y="56769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2801600" y="5715000"/>
            <a:ext cx="192405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725650" y="57150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4973300" y="57150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2192000" y="6067425"/>
            <a:ext cx="952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234440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Train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430250" y="6067425"/>
            <a:ext cx="952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58265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Embargo 20d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4668500" y="6067425"/>
            <a:ext cx="9525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482090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Test OOS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6781800"/>
            <a:ext cx="16459200" cy="914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104900" y="6934200"/>
            <a:ext cx="381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6-PHASE PIPELINE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900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 · Ingest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04900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3.48M 列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57600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733800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 · Feature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33800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1,623 → 91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86500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62700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 ·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62700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 Optuna 150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24925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001125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04 · Explain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1125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SHAP · LOPO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553825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630025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05 · Backtest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630025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 門檻 OOS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182725" y="7200900"/>
            <a:ext cx="1143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258925" y="7200900"/>
            <a:ext cx="2533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06 · Govern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258925" y="742950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 / 9 PASS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14400" y="79248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14400" y="79248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162050" y="80962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POINT-IN-TIME DISCIPLINE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62050" y="83820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財報 lag 45 天、文本 T 日 15:00 截止、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(stock_id, date) 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主鍵對齊；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 日 embargo 解決 D+20 標籤跨期重疊，</a:t>
            </a: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是 DSR 12.12 通過多重檢定的關鍵前提。</a:t>
            </a: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   → 詳 Appendix A.04 / A.05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Headline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DSR per Bailey &amp; López de Prado (2014)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HEADLINE · 四個獨立指標、同一結論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四項獨立統計檢定一致指向 </a:t>
            </a:r>
            <a:r>
              <a:rPr sz="40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D+20 alpha 確實存在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預測強度（AUC）、IC 穩定性（ICIR）、多重檢定（DSR）、選股效益（Top 1%）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預測強度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· D+20
4 折一致 · σ 0.0089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673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67300" y="2971800"/>
            <a:ext cx="40195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959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IC 穩定性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959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0.7431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95900" y="45910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959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Mean IC / σ
跨 fold 方向一致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202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2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488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統計穩健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488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488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88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扣 150 trials 多重檢定
閾 3.0 · 通過顯著性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3731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3373100" y="2971800"/>
            <a:ext cx="40195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6017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選股效益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6017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601700" y="4591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6017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+10.53 pp vs base 26.28%
相對提升 +40.1%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5486400"/>
            <a:ext cx="16459200" cy="18669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04900" y="5657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CONSISTENCY · 4 折 OOS AUC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59055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四折落於 0.633 – 0.656、跨 fold 標準差僅 0.0089 · 證據非過擬合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4900" y="6400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4900" y="66675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2023 Q4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956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295650" y="6515100"/>
            <a:ext cx="1905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10000" y="64008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67300" y="6400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67300" y="66675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 Q1–Q2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580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58050" y="6515100"/>
            <a:ext cx="1905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0" y="64008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0.6463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29700" y="6400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29700" y="66675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 Q2–Q3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2204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20450" y="6515100"/>
            <a:ext cx="133350" cy="952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34800" y="64008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0.6332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992100" y="6400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92100" y="66675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 Q4–25 Q1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51828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5182850" y="6515100"/>
            <a:ext cx="219075" cy="952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5697200" y="64008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0.6543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4400" y="76200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14400" y="76200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62050" y="7791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BOTTOM LINE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2050" y="80772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同一結論在四項獨立檢定下成立、跨四個 fold 重複出現、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排除 p-hacking 與單期僥倖；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Top 1% 命中 36.81%、比基準高 </a:t>
            </a:r>
            <a:r>
              <a:rPr sz="16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+10.53 pp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——可下單的選股訊號、非回測假象。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下一頁交代統計穩健性 · 詳 Appendix A.11 / A.12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Statistical Rigor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DSR per Bailey &amp; López de Prado (2014) · PSI per Basel III FRTB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RIGOR · 統計穩健 ＋ 治理關卡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</a:t>
            </a:r>
            <a:r>
              <a:rPr sz="4000" b="1" i="0" spc="-8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≫ </a:t>
            </a:r>
            <a:r>
              <a:rPr sz="4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3.0 顯著</a:t>
            </a: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、</a:t>
            </a:r>
            <a:r>
              <a:rPr sz="40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 / 9 治理關卡 </a:t>
            </a:r>
            <a:r>
              <a:rPr sz="4000" b="1" i="0" spc="-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  <a:r>
              <a:t/>
            </a:r>
            <a:br/>
            <a:r>
              <a:rPr sz="26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結論並非運氣、</a:t>
            </a:r>
            <a:r>
              <a:rPr sz="26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並非過擬合、</a:t>
            </a:r>
            <a:r>
              <a:rPr sz="26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可獨立稽核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51435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143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3950" y="32004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DEFLATED SHARPE · 多重檢定後的真 Sharpe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3950" y="3543300"/>
            <a:ext cx="4762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Bailey &amp; López de Prado (2014)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3950" y="3962400"/>
            <a:ext cx="47625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400" b="1" i="0" spc="-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3950" y="50673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 · 多重檢定後仍顯著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3950" y="5448300"/>
            <a:ext cx="4724400" cy="1333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23950" y="5448300"/>
            <a:ext cx="1181100" cy="133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05050" y="5448300"/>
            <a:ext cx="3543300" cy="13335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95525" y="5410200"/>
            <a:ext cx="1905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19300" y="56388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8102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 spc="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臨界值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10250" y="5391150"/>
            <a:ext cx="38100" cy="247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76850" y="56388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3950" y="61341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實作流程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23950" y="652462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76350" y="64389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150 trials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9400" y="6438900"/>
            <a:ext cx="3333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掃 hyperparameter / threshold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23950" y="688657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76350" y="680085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skew、kurt 校正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19400" y="6800850"/>
            <a:ext cx="3333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修正非常態分佈高估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23950" y="724852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76350" y="71628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多重檢定 deflate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9400" y="7162800"/>
            <a:ext cx="3333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 值降至 &lt; 0.001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484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484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46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Deflated Sharpe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SR̂ 2.41 → DSR 12.12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34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534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203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0203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727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65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Worst Fold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727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最差折 AUC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727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2 = 0.6332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253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3253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7922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7922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9446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2684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Embargo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9446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時序隔離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9446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D+20、20 日 purge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0972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0972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84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484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246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Leakage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洩漏掃描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 / 91 features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534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534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203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020300" y="4552950"/>
            <a:ext cx="3657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1727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965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PSI Drift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727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FRTB 漂移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727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Max 0.13 (txt)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325350" y="5638800"/>
            <a:ext cx="12192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23253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PASS · WARN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7922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37922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39446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2684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KS Test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9446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訓練 vs 測試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9446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min p = 0.037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60972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60972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2484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484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008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246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Lineage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008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可回溯 SQL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008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91 / 91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5534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5534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203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0203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1727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4965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Repro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727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可重現性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727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SD &lt; 1e-6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23253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3253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37922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7922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39446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2684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Pipeline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39446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線上預測流水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9446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6 / 6 模型驗證通過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0972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0972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14400" y="7696200"/>
            <a:ext cx="16459200" cy="16002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14400" y="7696200"/>
            <a:ext cx="57150" cy="1600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WHY THIS MATTERS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62050" y="81534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一句話、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AUC 0.6455 並非偶然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DSR 通過多重檢定、9 / 9 治理關卡全數通過、</a:t>
            </a:r>
            <a:r>
              <a:t/>
            </a:r>
            <a:br/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Text PSI 觸發 WARN 對應 </a:t>
            </a:r>
            <a:r>
              <a:rPr sz="17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每月詞向量重新訓練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結論已可進入下一頁：拆解哪些因子在驅動這個 AUC。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A.05 / A.12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Factor Attribution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FACTOR ATTRIBUTION · 哪一支柱在發力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為地基、</a:t>
            </a:r>
            <a:r>
              <a:rPr sz="40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移除 Risk 則 AUC 整體塌陷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LOPO ΔAUC：Risk +138.6 bps、Trend +64.9、Val +9.5、Text +8.5；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Chip / Event / Industry 為負貢獻、引入雜訊多於訊息。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724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 PILLARS · 91 特徵分布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2971800"/>
            <a:ext cx="27241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680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780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80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趨勢動量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560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560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1475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14750" y="2971800"/>
            <a:ext cx="27241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6715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4815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Fundamental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715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9595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9595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151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15100" y="2971800"/>
            <a:ext cx="272415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6750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750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估值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9630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630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" y="4229100"/>
            <a:ext cx="27241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680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780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680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產業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9560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9560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1475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14750" y="4229100"/>
            <a:ext cx="27241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6715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4815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6715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事件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9595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9595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151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515100" y="4229100"/>
            <a:ext cx="27241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6750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850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Risk ★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6750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風險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9630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630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4400" y="5486400"/>
            <a:ext cx="272415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6680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4780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680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籌碼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9560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9560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1475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714750" y="5486400"/>
            <a:ext cx="272415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86715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4815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6715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情緒分數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9595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9595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151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15100" y="5486400"/>
            <a:ext cx="2724150" cy="3810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6750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4850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Text 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6750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文本語料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9630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30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9630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620250" y="2724150"/>
            <a:ext cx="7753350" cy="3962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48850" y="28956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LOPO ΔAUC · Leave-One-Pillar-Out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48850" y="312420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baseline 0.6486 · 1 bps = ΔAUC × 10,000 · 正向 = 該支柱貢獻訊號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48850" y="34480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239500" y="35814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3525500" y="35242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3535025" y="3505200"/>
            <a:ext cx="2038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5963900" y="34480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 bps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48850" y="37719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239500" y="39052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3525500" y="38481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535025" y="3829050"/>
            <a:ext cx="95250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963900" y="37719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 bps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848850" y="40957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1239500" y="42291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3525500" y="41719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3535025" y="4152900"/>
            <a:ext cx="133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5963900" y="40957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 bps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48850" y="44196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Text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1239500" y="45529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3525500" y="44958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3535025" y="4476750"/>
            <a:ext cx="1238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963900" y="44196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 bps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848850" y="47434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Fundamental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239500" y="48768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525500" y="48196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3477875" y="480060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5963900" y="47434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 bps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848850" y="50673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1239500" y="52006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3525500" y="51435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3477875" y="512445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5963900" y="50673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-2.8 bps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848850" y="53911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1239500" y="55245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3525500" y="54673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3306425" y="5448300"/>
            <a:ext cx="20955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5963900" y="53911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 bps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848850" y="57150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1239500" y="58483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3525500" y="57912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287375" y="5772150"/>
            <a:ext cx="2286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5963900" y="57150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 bps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848850" y="60388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239500" y="61722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3525500" y="61150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3249275" y="6096000"/>
            <a:ext cx="2667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5963900" y="60388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 bps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68580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14400" y="68580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62050" y="7029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WHY THIS MATTERS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62050" y="73152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× Trend × Text 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為三元協同核心：移除 Risk，</a:t>
            </a:r>
            <a:r>
              <a:rPr sz="16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其他支柱無法區分雜訊日與訊號日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、AUC 塌陷 0.01386。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Chip / Event / Industry 共 −49 bps、</a:t>
            </a: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為下一輪精簡的對象</a:t>
            </a: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。   → Appendix A.07 / A.08 / A.09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U-Shape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sent_polarity_5d 五桶 · OOS 2024-Q4 – 2025-Q1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WOW FINDING · 散戶情緒呈反向 U 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 最悲觀、</a:t>
            </a:r>
            <a:r>
              <a:rPr sz="40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隔日 +3.2 pp </a:t>
            </a:r>
            <a:r>
              <a:rPr sz="4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逆向 edge</a:t>
            </a:r>
            <a:r>
              <a:t/>
            </a:r>
            <a:br/>
            <a:r>
              <a:rPr sz="26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 樂觀僅 +0.6 pp、</a:t>
            </a:r>
            <a:r>
              <a:rPr sz="26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1d / 5d / 20d 三期同向、</a:t>
            </a:r>
            <a:r>
              <a:rPr sz="26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半衰期 &gt; 一個月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10477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1623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QUINTILE EDGE · sent_polarity_5d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099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= 該分位實際命中率 − baseline 26.28% · pp 為百分點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71650" y="5562600"/>
            <a:ext cx="92392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71650" y="4038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392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+4 pp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71650" y="4800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686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+2 pp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71650" y="6324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6210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-2 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448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57400" y="4343400"/>
            <a:ext cx="1333500" cy="1219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66900" y="40576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+3.2 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6690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7165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最悲觀
sent &lt; 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9075" y="5486400"/>
            <a:ext cx="1333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38575" y="52006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+0.2 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38575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3325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20–40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275" y="5562600"/>
            <a:ext cx="13335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19775" y="62103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-1.6 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9775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24525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中性
40–60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81950" y="5448300"/>
            <a:ext cx="1333500" cy="114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91450" y="51625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+0.3 pp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9145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9620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60–80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3150" y="5334000"/>
            <a:ext cx="1333500" cy="228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72650" y="50482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+0.6 pp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7265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740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最樂觀
sent &gt; 80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582400" y="29908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582400" y="2990850"/>
            <a:ext cx="5791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72900" y="32004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① Q1 反彈 · 過度悲觀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72900" y="35052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極度悲觀時隔日 +3.2 pp edge、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Kahneman (1979) 過度反應假說方向一致、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適合逆向擇時 mean-reversion。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582400" y="44767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582400" y="4476750"/>
            <a:ext cx="5791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72900" y="46863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② Q5 弱勢 · 利多飽和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72900" y="49911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 僅 +0.6 pp、遠低於 Q1、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利多已被討論、故事飽和、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Tetlock (2007) 過度樂觀方向一致。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582400" y="59626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582400" y="5962650"/>
            <a:ext cx="5791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72900" y="61722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③ News × Forum 互補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72900" y="64770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兩源相關僅 0.20、各自獨立、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1d / 5d / 20d 三期同向、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納入 sentiment overlay 作為 alpha filter。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STRATEGIC INSIGHT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文本情緒並非單調訊號、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反向 U 型 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即過度反應假說在台股的實證。</a:t>
            </a:r>
            <a:r>
              <a:t/>
            </a:r>
            <a:br/>
            <a:r>
              <a:rPr sz="17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Q1 + Q5 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共佔 sentiment LOPO 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+8.5 bps 的 94%</a:t>
            </a: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、可作為主模型之上的 alpha filter。  → A.18 – A.23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Deployment 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40 檔門檻 × OOS 404,724 樣本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DEPLOYMENT · 從機率分數到可下單清單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高信心軌 </a:t>
            </a:r>
            <a:r>
              <a:rPr sz="2600" b="0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（閾值 0.50）</a:t>
            </a:r>
            <a:r>
              <a:rPr sz="40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 命中 37.98%、邊際 </a:t>
            </a:r>
            <a:r>
              <a:rPr sz="40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門檻越嚴、edge 越陡；</a:t>
            </a:r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雙軌部位對應「主動下注 vs 候選 cover」兩種資金屬性。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83820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900" y="310515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TOP-% HIT RATE · 邊際遞增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900" y="331470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樣本愈集中、edge 愈陡 · base 26.28%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900" y="3619500"/>
            <a:ext cx="1714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分位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3619500"/>
            <a:ext cx="123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 (檔)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7650" y="3619500"/>
            <a:ext cx="1428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命中率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61950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3619500"/>
            <a:ext cx="2095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相對提升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04900" y="3886200"/>
            <a:ext cx="809625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04900" y="4448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4900" y="3981450"/>
            <a:ext cx="8096250" cy="4762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4900" y="3981450"/>
            <a:ext cx="38100" cy="4762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1100" y="39814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閾值 0.50 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19400" y="39814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2,836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57650" y="39814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37.98%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39814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10400" y="3981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+44.5%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04900" y="49244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81100" y="44577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閾值 0.49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19400" y="44577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4,149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57650" y="44577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36.64%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4577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+10.36 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10400" y="44577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+39.4%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04900" y="54006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1100" y="49339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19400" y="49339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4,047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57650" y="49339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49339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+10.53 pp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10400" y="49339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+40.1%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04900" y="58769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81100" y="54102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19400" y="54102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20,236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57650" y="54102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31.44%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54102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+5.16 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10400" y="54102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+19.6%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04900" y="6353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81100" y="58864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10%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19400" y="58864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40,472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57650" y="58864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28.88%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58864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+2.60 pp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0400" y="5886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+9.9%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81100" y="63627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19400" y="63627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404,724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57650" y="63627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26.28%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0" y="63627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10400" y="63627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20250" y="29718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DUAL TRACK · 雙軌部位設計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20250" y="31813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依資金屬性與決策節奏分流、共用同一機率分數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20250" y="34671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620250" y="3467100"/>
            <a:ext cx="7620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10750" y="3676650"/>
            <a:ext cx="8572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48950" y="367665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保守 · Threshold 0.50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648950" y="3981450"/>
            <a:ext cx="1905000" cy="209550"/>
          </a:xfrm>
          <a:prstGeom prst="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668000" y="398145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HIGH CONVICTION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648950" y="42862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CALL RATE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48950" y="44577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0.70%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553950" y="42862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553950" y="44577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37.98%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458950" y="4286250"/>
            <a:ext cx="228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458950" y="44577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648950" y="487680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主動基金實盤 / 自營部位、模型高度確信才下注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48950" y="508635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每日 2–3 檔（散戶可操作）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620250" y="55245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620250" y="5524500"/>
            <a:ext cx="7620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10750" y="5734050"/>
            <a:ext cx="8572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48950" y="573405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探索 · Threshold 0.40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48950" y="6038850"/>
            <a:ext cx="1905000" cy="20955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668000" y="603885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BROAD COVERAGE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48950" y="63436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CALL RATE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48950" y="65151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8.83%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53950" y="63436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553950" y="65151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29.41%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458950" y="6343650"/>
            <a:ext cx="228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458950" y="65151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+3.14 pp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648950" y="693420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研究 watchlist / 量化原型，接受低 edge 換取多樣性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48950" y="714375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每日 30–40 檔（機構 cover）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14400" y="75438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14400" y="75438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62050" y="77152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NET EDGE · 扣 20 bps 交易成本後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62050" y="80010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0.50 軌 net edge ≈ +11.5 pp、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0.40 軌 net edge ≈ +2.9 pp；</a:t>
            </a:r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兩軌共用同一機率分數、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差異僅在閾值。</a:t>
            </a:r>
            <a:r>
              <a:t/>
            </a:r>
            <a:br/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本研究為學術成果、不構成任何投資建議。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詳 Appendix A.13 / A.14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Strategy Backtest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月再平衡 · 手續費 0.3% 內含 · 滑價 0.1%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BACKTEST · 100 元起始、24 個月後達 188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1% 策略 </a:t>
            </a:r>
            <a:r>
              <a:rPr sz="4000" b="1" i="0" spc="-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24 個月累積 +88%</a:t>
            </a:r>
            <a:r>
              <a:rPr sz="40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、CAGR </a:t>
            </a:r>
            <a:r>
              <a:rPr sz="40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  <a:r>
              <a:rPr sz="2600" b="0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vs TAIEX +12.4%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把模型機率分數化為實單部位、月再平衡、含手續費 0.3% 與滑價 0.1%。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028950"/>
            <a:ext cx="11239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2194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CUMULATIVE NAV · 起始資金 100 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480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Strategy = XGBoost D+20 Top 1% · 月初再平衡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500" y="61150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9200" y="60198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4500" y="56673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9200" y="55721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71650" y="56673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14500" y="52197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19200" y="51244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71650" y="52197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14500" y="47815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19200" y="46863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160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71650" y="478155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14500" y="43338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19200" y="42386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71650" y="43338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714500" y="3886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9200" y="37909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71650" y="38862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1650" y="6115050"/>
            <a:ext cx="100012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7165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255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2024-Q2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72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4810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2024-Q4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227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3175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2025-Q2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6782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48725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2025-Q4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7729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35380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2026-Q1</a:t>
            </a:r>
          </a:p>
        </p:txBody>
      </p:sp>
      <p:cxnSp>
        <p:nvCxnSpPr>
          <p:cNvPr id="48" name="Connector 47"/>
          <p:cNvCxnSpPr/>
          <p:nvPr/>
        </p:nvCxnSpPr>
        <p:spPr>
          <a:xfrm flipV="1">
            <a:off x="1771650" y="6067425"/>
            <a:ext cx="428625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200275" y="601980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638425" y="600075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067050" y="598170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505200" y="595312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43350" y="59340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371975" y="59150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10125" y="58864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248275" y="58674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676900" y="58483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115050" y="58197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6553200" y="5781675"/>
            <a:ext cx="428625" cy="381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981825" y="573405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7419975" y="5686425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858125" y="56673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286750" y="56483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724900" y="56197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9163050" y="56007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591675" y="55816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0029825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467975" y="5553075"/>
            <a:ext cx="428625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0896600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334750" y="5553075"/>
            <a:ext cx="438150" cy="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771650" y="601980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200275" y="5915025"/>
            <a:ext cx="438150" cy="1047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638425" y="5753100"/>
            <a:ext cx="428625" cy="1619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067050" y="56197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505200" y="54864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943350" y="5353050"/>
            <a:ext cx="428625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371975" y="5267325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4810125" y="518160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248275" y="508635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676900" y="49530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6115050" y="48196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6553200" y="4752975"/>
            <a:ext cx="428625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6981825" y="466725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7419975" y="4600575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7858125" y="4514850"/>
            <a:ext cx="428625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8286750" y="4419600"/>
            <a:ext cx="438150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8724900" y="4381500"/>
            <a:ext cx="438150" cy="3810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9163050" y="4333875"/>
            <a:ext cx="428625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9591675" y="4267200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0029825" y="4219575"/>
            <a:ext cx="438150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0467975" y="4200525"/>
            <a:ext cx="428625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0896600" y="4181475"/>
            <a:ext cx="438150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1334750" y="4152900"/>
            <a:ext cx="438150" cy="285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11715750" y="4095750"/>
            <a:ext cx="114300" cy="1143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725275" y="5505450"/>
            <a:ext cx="95250" cy="9525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725150" y="39052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188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15650" y="5648325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943100" y="4057650"/>
            <a:ext cx="2095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228850" y="400050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Strategy · Top 1% · +88% / +36.8% CAGR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943100" y="4305300"/>
            <a:ext cx="2095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228850" y="424815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TAIEX · benchmark · +25% / +12.4% CAGR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2344400" y="30289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344400" y="30289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553950" y="32004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年化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553950" y="3429000"/>
            <a:ext cx="46101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553950" y="39243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+12.4%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344400" y="42481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2344400" y="42481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2553950" y="44196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累積報酬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2553950" y="4648200"/>
            <a:ext cx="46101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+88%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553950" y="51435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24 個月、月再平衡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2344400" y="54673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344400" y="5467350"/>
            <a:ext cx="5029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553950" y="56388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 DRAWDOWN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2553950" y="5867400"/>
            <a:ext cx="46101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-14.2%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553950" y="63627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-22.4%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2344400" y="66865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2344400" y="6686550"/>
            <a:ext cx="502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2553950" y="68580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SHARPE · CALMAR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2553950" y="7086600"/>
            <a:ext cx="46101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0.81 · 2.59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2553950" y="75819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0.42 · 0.55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14400" y="7696200"/>
            <a:ext cx="16459200" cy="16002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14400" y="7696200"/>
            <a:ext cx="57150" cy="1600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STRATEGY READOUT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62050" y="81534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把 AUC 0.6455 化為實單，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 個月內 100 元 → 188 元、CAGR +36.8%、最大回撤 -14.2%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TAIEX 同期 +25% / 回撤 -22.4% 相比、</a:t>
            </a: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在等同流動性條件下展現結構性 alpha。</a:t>
            </a:r>
            <a:r>
              <a:t/>
            </a:r>
            <a:br/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本研究為學術回測、不構成投資建議。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詳 Appendix A.15 / A.16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Limits &amp;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ACTION · 部署條件、限制邊界、重新訓練節奏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部署條件具備、</a:t>
            </a:r>
            <a:r>
              <a:rPr sz="40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 – 2 個月重新訓練、</a:t>
            </a:r>
            <a:r>
              <a:rPr sz="4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三大限制邊界</a:t>
            </a:r>
            <a:r>
              <a:t/>
            </a:r>
            <a:br/>
            <a:r>
              <a:rPr sz="26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能落地、</a:t>
            </a:r>
            <a:r>
              <a:rPr sz="26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邊界清楚、</a:t>
            </a:r>
            <a:r>
              <a:rPr sz="26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節奏可預期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DEPLOYMENT · 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部署條件已備齊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305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57300" y="4210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AUC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7300" y="4419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0.6455 OOS、4 折一致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4876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57300" y="478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7300" y="49911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12.12 ≫ 3.0、多重檢定通過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5448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7300" y="5353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7300" y="5562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36.81% / +10.53 pp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6019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57300" y="5924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7300" y="61341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 / 9 治理關卡全數通過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6591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57300" y="6496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Lineage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7300" y="6705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/ 91 SQL 可回溯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389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38900" y="29908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675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LIMITS · BOUNDED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三大限制邊界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67500" y="40195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667500" y="4210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81800" y="42100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SCOPE · D+20 中長線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81800" y="44767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不適用 intraday、短於 5 日的訊號半衰期不足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67500" y="51625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81800" y="51625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TEXT · PSI 0.13 WARN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800" y="54292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語言演化（deepseek、矽光子）、需每月詞向量重新訓練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67500" y="6115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81800" y="61150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REGIME · 多頭主導窗口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81800" y="63817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2024-Q4 至 2025-Q1、極端崩跌情境未涵蓋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963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963400" y="299085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1920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668250" y="3276600"/>
            <a:ext cx="1905000" cy="228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6682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ROADMAP · 6 MONTHS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1920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6 個月分三步落地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1920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649200" y="42100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Q2 · POC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649200" y="44767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每日 Top 1% 服務化、API 試接 1 客戶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649200" y="51625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Q2 – Q3 · OVERLAY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49200" y="54292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Risk 支柱獨立風控 overlay、可解釋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649200" y="61150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Q3 – Q4 · DRIFT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649200" y="63817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每月詞向量重新訓練、PSI 自動回報、防 drift &gt; 0.20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SEQUENCING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 中長線預測在四項獨立檢定下成立、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邊界明確、重新訓練節奏可追蹤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；下一步為 </a:t>
            </a:r>
            <a:r>
              <a:rPr sz="17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POC 試運行 + PSI 自動回報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的工程落地。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本研究為學術成果、不構成投資建議；後續延伸詳 A.26 limitations &amp; future work。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743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3657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572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7315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8229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9144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0058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097000" y="0"/>
            <a:ext cx="34290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487900" y="0"/>
            <a:ext cx="38100" cy="7620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3048000"/>
            <a:ext cx="57150" cy="43815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4950" y="3619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多因子股票預測系統 · v11.5.18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730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24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CLOSING · Q &amp; 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325850" y="428625"/>
            <a:ext cx="9525" cy="1524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21100" y="361950"/>
            <a:ext cx="95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123825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6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— THANK YOU · 提問與討論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1657350"/>
            <a:ext cx="1543050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6400" b="1" i="0" spc="-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t/>
            </a:r>
            <a:br/>
            <a:r>
              <a:rPr sz="6400" b="1" i="0" spc="-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alpha 在 </a:t>
            </a:r>
            <a:r>
              <a:rPr sz="6400" b="1" i="0" spc="-20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中長線 </a:t>
            </a:r>
            <a:r>
              <a:rPr sz="6400" b="1" i="0" spc="-20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基本面結構</a:t>
            </a:r>
            <a:r>
              <a:t/>
            </a:r>
            <a:br/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可驗證、</a:t>
            </a:r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可重現、</a:t>
            </a:r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5410200"/>
            <a:ext cx="15430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948,976 樣本、91 預測特徵、</a:t>
            </a:r>
            <a:r>
              <a:rPr sz="1700" b="0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Walk-Forward Purged K-Fold + 20 日 embargo、</a:t>
            </a:r>
            <a:r>
              <a:t/>
            </a:r>
            <a:br/>
            <a:r>
              <a:rPr sz="1700" b="1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AUC 0.6455、ICIR 0.7431、DSR 12.12、Top 1% 命中 36.81% (+10.53 pp)、CAGR +36.8%、9 / 9 治理關卡通過。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8250" y="6858000"/>
            <a:ext cx="15430500" cy="1524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38250" y="6858000"/>
            <a:ext cx="154305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8750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635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86375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6375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3975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CAGR · 24 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80160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001625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01625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825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本研究為 NTU 大數據與商業分析專案課堂成果、不構成任何投資建議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49500" y="96964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 spc="16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APPENDIX · 30 PAGES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Three Commitments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· Bailey &amp; López de Prado (2014) DSR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A.01 · 研究立場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 </a:t>
            </a:r>
            <a:r>
              <a:rPr sz="40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黑箱、overfitting、無法重現 </a:t>
            </a:r>
            <a:r>
              <a:rPr sz="4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的研究</a:t>
            </a:r>
            <a:r>
              <a:t/>
            </a:r>
            <a:br/>
            <a:r>
              <a:rPr sz="2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—— 三大學術承諾構成本專案的方法論底線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2385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73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透明 · TRANSPARENCY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73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不做黑箱模型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57300" y="54483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73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提供 SHAP Top-20、LOPO ΔAUC、500 keyword Lift × χ²；儀表板「ICIR / Text / Feature Analysis」三頁專用於可解釋性展示。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32385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37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37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嚴謹 · RIGOR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37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 overfitting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43700" y="54483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437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Walk-Forward Purged K-Fold + 20 日 embargo · DSR 12.12 通過 150 trials 多重檢定 · PSI / KS 漂移監控 9 支柱 × 30 日。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887200" y="32385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301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01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可重現 · REPRODUCIBILITY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01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不做無法重現的研究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230100" y="54483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2301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每階段 JSON artifact + rng=42 + lineage · Phase 1–6 六份報告 + 13 頁互動 dashboard，可逐頁追溯模型決策。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7391400"/>
            <a:ext cx="16459200" cy="16002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7391400"/>
            <a:ext cx="57150" cy="1600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2050" y="7562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ACADEMIC BASELINE · 學術底線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050" y="78486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三承諾為 Phase 1–6 設計約束；任一未守，則統計結論失效。</a:t>
            </a:r>
            <a:r>
              <a:t/>
            </a:r>
            <a:br/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這是與一般「回測看起來很好」的量化原型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最根本的區隔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——所有產出可獨立稽核、可第三方重新訓練。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Problem ·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López de Prado (2018)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A.02 · 三重結構性難題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結構性陷阱 + 對應方法論</a:t>
            </a:r>
            <a:r>
              <a:t/>
            </a:r>
            <a:br/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為何傳統單一因子模型無法穿透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6860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9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90850"/>
            <a:ext cx="1645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62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3219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訊號雜訊比極低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5000" y="3581400"/>
            <a:ext cx="7620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05000" y="3695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 日頻波動真正可預測 edge 約 1–5 pp · 雜訊主導日內價格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4019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Walk-Forward Purged K-Fold (López de Prado §7.4) + 20 日 embargo + DSR 多重檢定 12.12 三層治理；Optuna 150 trials 後 SR̂ 2.41 仍顯著。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895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4895850"/>
            <a:ext cx="16459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4900" y="5067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5000" y="5124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異質訊號難對齊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5000" y="5486400"/>
            <a:ext cx="7620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05000" y="5600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 價量 tick / 財報季頻 (lag 45d) / PTT 事件頻 三種時間尺度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5924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Feature Store 以 (stock_id, date) 為主鍵；T 日收盤可取得為邊界、文本僅取 T 日 15:00 前；DuckDB 內部 join 輸出 948,976 列。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680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680085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900" y="6972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05000" y="7029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文本資料品質混雜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05000" y="7391400"/>
            <a:ext cx="7620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05000" y="7505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 1,125,134 筆中近 40% 來自 Top 5 熱門股 · entity 涵蓋率不足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05000" y="7829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自建台股 500 keyword Lift × χ² 詞表 + tickers entity linking 達 92% 涵蓋；URL+title MinHash LSH dedup (Jaccard ≥ 0.85)；coverage 衰減校正。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855345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855345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2050" y="87249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KEY POINT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050" y="901065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三難題對應三層治理 →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時序紀律 + 主鍵對齊 + 詞表自建</a:t>
            </a:r>
            <a:r>
              <a:t/>
            </a:r>
            <a:br/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對應到 P.04 Approach 的 6-phase pipeline。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6-Phase Pipeline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A.03 · 6 階段流水線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6 階段流水線 </a:t>
            </a:r>
            <a:r>
              <a:rPr sz="26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從原始資料走到決策清單 · 每階段皆有可稽核產出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Ingest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資料清洗與對齊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· 3,483,598 列 ETL · 除權息補償、RSI 異常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phase1_report.json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32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532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18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90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18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特徵工程與選擇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1,623 → 91 · Purged K-Fold · 20 日 embargo · 948,976 樣本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18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818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phase2_report.json · feature_store.parquet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1920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1920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4206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778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4206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模型訓練與調參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4206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/ LightGBM / Logistic / RF · Optuna 150 trials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4206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206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model_registry/*.pkl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Explain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歸因分析 · LOPO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Leave-One-Pillar-Out · SHAP summary · ΔAUC × 10,000 bps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自行整理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532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5532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818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390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Backtest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818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門檻掃描 · 回測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8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門檻 0.40 / 0.50 / 0.60 · 三情境 · 40 檔門檻 sweep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818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818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自行整理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1920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1920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4206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778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Govern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4206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治理閘門 · 交付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4206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/ PSI / KS / embargo / 最差 fold / lineage 9 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4206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4206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phase6_gates.json · dashboard/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7848600"/>
            <a:ext cx="16459200" cy="1181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7848600"/>
            <a:ext cx="57150" cy="1181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62050" y="8020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DESIGN PRINCIPLE · 設計原則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" y="8305800"/>
            <a:ext cx="158877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每階段皆產出 JSON 報告 + 摘要 + artifact，dashboard 可逐頁追溯；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所有 random seed = 42、所有切分 lineage 可重新訓練，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從 raw → 決策清單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任一節點皆可被獨立復現。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· 7 Tables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DuckDB local snapshot 2025-12-31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A.04 · 七張原始表結構與量級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3,483,598 列原始資料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7 表 · 跨價量 / 財報 / 籌碼 / 文本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90850"/>
            <a:ext cx="15811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5850" y="306705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1850" y="3067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DOMAIN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350" y="3067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850" y="3067050"/>
            <a:ext cx="914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333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33337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5850" y="3429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companies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1850" y="3429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上市櫃主檔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7350" y="3429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1,932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850" y="3429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產業 / 市場別 / 上市日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905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39052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5850" y="4000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stock_prices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1850" y="4000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日 K + 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7350" y="4000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955,405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2850" y="4000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OHLCV · 還原權息 · 1932 檔 × 495 交易日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4476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44767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5850" y="4572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income_statement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71850" y="4572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損益表 (季)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67350" y="4572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14,968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2850" y="4572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EPS / 營收 / 毛利 · lag 45 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048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50482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5850" y="5143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balance_sheet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1850" y="5143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資產負債表 (季)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67350" y="5143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14,204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62850" y="5143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股東權益 / 負債 · lag 45 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5619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4400" y="56197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5850" y="5715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institutional_inv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1850" y="571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三大法人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67350" y="5715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855,980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62850" y="5715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外資 / 投信 / 自營 · 買賣超與持股比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6191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0" y="61912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85850" y="6286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margin_trading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71850" y="6286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融資融券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67350" y="6286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566,095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62850" y="6286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融資餘額 / 融券餘額 / 券資比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6762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14400" y="676275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5850" y="6858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stock_text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71850" y="6858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 + PTT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67350" y="6858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1,125,134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62850" y="6858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15 來源 · 2008-01 起 · entity 匹配 92%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76200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14400" y="76200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62050" y="7791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INTEGRITY GUARDRAILS · 完整性護欄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2050" y="8077200"/>
            <a:ext cx="158877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異常時序 (除權息日) 與雜訊 (RSI 暴衝) 已透過 ETL 校正；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財報以發布日 + 45 日延遲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對齊；新聞僅取 T 日 15:00 收盤前；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7 表透過 (stock_id, date) 主鍵 join，最終 </a:t>
            </a:r>
            <a:r>
              <a:rPr sz="16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panel = 948,976 列 × 91 features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Panel &amp; Walk-Forward CV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§7.4 · embargo length determined by 20-day return horizon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A.05 · Panel 結構與 Walk-Forward Purged K-Fold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 列 × 91 features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4-fold Purged K-Fold + 20 日 embargo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SAMPLES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(stock_id, date) 主鍵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由 1,623 候選 → 91 final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1,932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上市櫃涵蓋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SPAN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12y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2014-01 → 2025-12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00600"/>
            <a:ext cx="952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WALK-FORWARD PURGED K-FOLD · 4-FOLD 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24450"/>
            <a:ext cx="164592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485900" y="7620000"/>
            <a:ext cx="153162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859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01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149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582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9730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68730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8021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5163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85900" y="5524500"/>
            <a:ext cx="612457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610475" y="5524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15275" y="5524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562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85900" y="5905500"/>
            <a:ext cx="84201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906000" y="5905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210800" y="5905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4400" y="5943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485900" y="6286500"/>
            <a:ext cx="1071562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201525" y="6286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506325" y="6286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6324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6667500"/>
            <a:ext cx="1301115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497050" y="6667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4801850" y="6667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4400" y="6705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85900" y="8020050"/>
            <a:ext cx="1524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954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Train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81400" y="8020050"/>
            <a:ext cx="152400" cy="952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7909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Embargo (20d)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76900" y="8020050"/>
            <a:ext cx="152400" cy="952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864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Test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7962900"/>
            <a:ext cx="16459200" cy="12573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" y="7962900"/>
            <a:ext cx="57150" cy="1257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2050" y="8134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EMBARGO · 為何要 embargo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62050" y="84201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 日 embargo 隔絕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training-test 樣本之間的標籤洩漏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（label 涉及未來 20 日報酬）；purge + expanding window 確保 </a:t>
            </a:r>
            <a:r>
              <a:rPr sz="16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AUC / ICIR / DSR 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皆於完全 out-of-sample 測得。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Tech Stack · 5 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A.06 · 技術堆疊五層架構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5-Layer Stack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Storage → ETL → Feature → Model → Serve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76200" cy="952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150" y="31051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600" y="31432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SERVE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0150" y="34290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互動服務層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2900" y="31051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Streamlit (13 pages) · ICIR / SHAP / Decile / Equity 即時切換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2900" y="34861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app/, dashboard.py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58900" y="31051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L5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0005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4000500"/>
            <a:ext cx="76200" cy="952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0150" y="41719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2600" y="42100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0150" y="44958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模型訓練層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2900" y="41719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1.7 / LightGBM 4.x / scikit-learn · Optuna 150 trials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52900" y="45529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src/models/, model_registry/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58900" y="41719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L4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50673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5067300"/>
            <a:ext cx="76200" cy="952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0150" y="5238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2600" y="52768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0150" y="55626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特徵工程層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52900" y="52387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× 9 pillars · purged K-Fold · 20d embargo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52900" y="56197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src/features/, feature_store.parquet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058900" y="52387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L3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61341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6134100"/>
            <a:ext cx="76200" cy="952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0150" y="63055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2600" y="63436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ETL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00150" y="66294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資料對齊層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52900" y="63055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→ panel · 主鍵 (stock_id, date) · 財報 lag 45d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2900" y="66865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src/etl/, scripts/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058900" y="63055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L2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72009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7200900"/>
            <a:ext cx="76200" cy="952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00150" y="7372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2600" y="74104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STORAGE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00150" y="76962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儲存層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52900" y="73723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DuckDB 0.10 + Parquet · local snapshot · WAL off · 35 GB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52900" y="77533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data/raw/, data/processed/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058900" y="73723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CONTAINERIZED · 完全可重現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五層皆有 unit test + integration test · 任何一層可獨立替換 (e.g. DuckDB → BigQuery)；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Docker compose 兩節點即可重新訓練全棧。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9-Pillar Framework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91 features grouped to 9 pillars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A.07 · 九大支柱範例特徵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 features → 9 pillars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三大維度 (Price / Fundamentals / Alt-data)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210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38481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volatility_20d · downside_dev · maxdd_60d · beta_60d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605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6050" y="2933700"/>
            <a:ext cx="541020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465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375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8225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465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4650" y="3848100"/>
            <a:ext cx="571500" cy="285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465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sma_5_20_ratio · macd_signal · adx_14 · slope_20d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0777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077700" y="29337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30630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53540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96390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0630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Momentum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06300" y="384810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0630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ret_5d · ret_20d · ret_60d · roc_10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4705350"/>
            <a:ext cx="54102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7210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5619750"/>
            <a:ext cx="571500" cy="28575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pe · pb · ev_ebitda · earnings_yield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605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96050" y="47053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2465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5375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8225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2465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24650" y="56197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2465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roe · gross_margin · debt_eq · revenue_growth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0777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077700" y="47053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30630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IND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53540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96390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30630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306300" y="56197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30630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sector_dummy × 9 · industry_momentum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64770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7210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060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300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43000" y="7391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4300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foreign_inv_buy · margin_balance · short_ratio · turnover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9605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96050" y="64770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72465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5375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8225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2465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24650" y="7391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2465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news_sent · forum_sent · sent_consensus · q1_dummy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0777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2077700" y="6477000"/>
            <a:ext cx="54102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230630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EVT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53540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96390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30630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2306300" y="7391400"/>
            <a:ext cx="571500" cy="28575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0630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earnings_announce · ex_div · split · merger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BLOCK STRUCTURE · 區塊設計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九支柱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彼此互補 · 跨價量 / 籌碼 / 文本三類資產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· 各支柱可單獨 ablation；LOPO 結果見 A.08。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LOPO ΔAUC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4-fold mean ΔAUC × 10,000 (bps)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A.08 · Leave-One-Pillar-Out 詳解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LOPO ΔAUC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Risk 一支獨大 138.6 bps · 文本仍貢獻 8.5 bps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477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移除單一支柱後 OOS AUC 變動 (4-fold mean, bps)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900" y="3486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367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15050" y="356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4575" y="3600450"/>
            <a:ext cx="26479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0700" y="3486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 bps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4900" y="39624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71800" y="4152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15050" y="4038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4575" y="4076700"/>
            <a:ext cx="12382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0700" y="39624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 bps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4900" y="44386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71800" y="4629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15050" y="4514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4575" y="4552950"/>
            <a:ext cx="18097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0700" y="44386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 bps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4900" y="49149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71800" y="5105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15050" y="4991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4575" y="5029200"/>
            <a:ext cx="1619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0700" y="49149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 bps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4900" y="5391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71800" y="5581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15050" y="5467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57900" y="550545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0700" y="5391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 bps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900" y="58674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 forum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71800" y="6057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15050" y="5943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57900" y="598170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10700" y="58674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-2.8 bps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4900" y="63436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71800" y="6534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15050" y="6419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29300" y="6457950"/>
            <a:ext cx="2762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0700" y="63436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 bps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68199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71800" y="7010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15050" y="6896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810250" y="6934200"/>
            <a:ext cx="29527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10700" y="68199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 bps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4900" y="7296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71800" y="748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15050" y="737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753100" y="7410450"/>
            <a:ext cx="3524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10700" y="7296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 bps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5443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THREE READINGS · 三個關鍵解讀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544300" y="34861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544300" y="3486150"/>
            <a:ext cx="58293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772900" y="365760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382500" y="369570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一支獨大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382500" y="40386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382500" y="41719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+138.6 bps · 占解釋力 ~50% · 風險特徵不可裁去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544300" y="491490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544300" y="4914900"/>
            <a:ext cx="58293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72900" y="5086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382500" y="512445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 第二位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2382500" y="54673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2382500" y="560070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+64.9 bps · 動能 / 趨勢仍然顯著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544300" y="63436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544300" y="6343650"/>
            <a:ext cx="58293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72900" y="651510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382500" y="655320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文本是淨正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382500" y="68961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382500" y="70294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+8.5 bps · 不貴的話應保留 · ~13% 邊際貢獻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14400" y="82677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14400" y="82677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IMPLICATION · 投資組合啟示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62050" y="87249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若被迫精簡，先砍 Chip / Event / Industry 三支 (合計 -49 bps，為負貢獻)；</a:t>
            </a:r>
            <a:r>
              <a:t/>
            </a:r>
            <a:br/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保留 Risk + Trend + Valuation + Sentiment 四支已可貢獻 220+ bps 的 ΔAUC。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SHAP Top-20 +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TreeExplainer · |SHAP| mean across OOS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A.09 · SHAP Top-20 與支柱一致性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 Top-20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與 LOPO 結論一致 · 風險特徵主導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477500" cy="6286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TOP 20 FEATURES BY MEAN |SHAP| · OOS aggregate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900" y="3429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volatility_20d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15500" y="3429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4900" y="3714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05000" y="3714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downside_dev_60d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24500" y="3838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24500" y="3838575"/>
            <a:ext cx="3324225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15500" y="3714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4900" y="4000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5000" y="4000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beta_60d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24500" y="4124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24500" y="4124325"/>
            <a:ext cx="28956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15500" y="4000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4900" y="4286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05000" y="4286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macd_signal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24500" y="4410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524500" y="4410075"/>
            <a:ext cx="26479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15500" y="4286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4900" y="4572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05000" y="4572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sma_5_20_ratio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24500" y="4695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524500" y="4695825"/>
            <a:ext cx="2447925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15500" y="4572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4857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05000" y="4857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ret_20d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24500" y="4981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24500" y="4981575"/>
            <a:ext cx="2305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15500" y="4857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4900" y="5143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05000" y="5143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adx_14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24500" y="5267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4500" y="5267325"/>
            <a:ext cx="21907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15500" y="5143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4900" y="5429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05000" y="5429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maxdd_60d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24500" y="5553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524500" y="5553075"/>
            <a:ext cx="2000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15500" y="5429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4900" y="5715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05000" y="5715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news_sent_5d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24500" y="5838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524500" y="5838825"/>
            <a:ext cx="18002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15500" y="5715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4900" y="6000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05000" y="6000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foreign_inv_buy_5d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24500" y="6124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524500" y="6124575"/>
            <a:ext cx="17145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15500" y="6000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4900" y="6286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05000" y="6286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524500" y="6410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524500" y="6410325"/>
            <a:ext cx="1628775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715500" y="6286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04900" y="6572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05000" y="6572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roc_10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524500" y="6696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524500" y="6696075"/>
            <a:ext cx="1543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715500" y="6572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04900" y="6858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05000" y="6858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roe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524500" y="6981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524500" y="6981825"/>
            <a:ext cx="145732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715500" y="6858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4900" y="7143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905000" y="7143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forum_sent_5d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524500" y="7267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524500" y="7267575"/>
            <a:ext cx="13430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715500" y="7143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4900" y="7429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05000" y="7429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turnover_20d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524500" y="7553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524500" y="7553325"/>
            <a:ext cx="12668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715500" y="7429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04900" y="7715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05000" y="7715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margin_balance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524500" y="7839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524500" y="7839075"/>
            <a:ext cx="11525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715500" y="7715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04900" y="8001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905000" y="8001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pb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524500" y="8124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524500" y="8124825"/>
            <a:ext cx="10668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715500" y="8001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04900" y="8286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05000" y="8286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q1_dummy_news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524500" y="8410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524500" y="8410575"/>
            <a:ext cx="9525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715500" y="8286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104900" y="8572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05000" y="8572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gross_margin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524500" y="8696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524500" y="8696325"/>
            <a:ext cx="86677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715500" y="8572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04900" y="8858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05000" y="8858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earnings_yield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524500" y="8982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5524500" y="8982075"/>
            <a:ext cx="78105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715500" y="8858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15443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PILLAR-WISE SHAP vs LOPO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1544300" y="3486150"/>
            <a:ext cx="58293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1715750" y="35433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PILLAR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4020800" y="3543300"/>
            <a:ext cx="1333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SHAP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5544800" y="3543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LOPO bps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1544300" y="37909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1544300" y="3790950"/>
            <a:ext cx="381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1715750" y="38481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2973050" y="38481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020800" y="38481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0.434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44800" y="38481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1544300" y="41338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1544300" y="4133850"/>
            <a:ext cx="38100" cy="3429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1715750" y="4191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2973050" y="41910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4020800" y="41910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0.259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5544800" y="41910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1544300" y="44767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1544300" y="4476750"/>
            <a:ext cx="38100" cy="3429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1715750" y="4533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2973050" y="45339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4020800" y="45339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0.124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5544800" y="4533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11544300" y="48196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544300" y="4819650"/>
            <a:ext cx="38100" cy="342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1715750" y="4876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973050" y="48768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4020800" y="48768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544800" y="48768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1544300" y="51625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1544300" y="5162550"/>
            <a:ext cx="38100" cy="3429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1715750" y="52197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2973050" y="52197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4020800" y="52197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5544800" y="52197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1544300" y="55054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1544300" y="5505450"/>
            <a:ext cx="38100" cy="342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1715750" y="5562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2973050" y="55626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IND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4020800" y="55626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0.062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5544800" y="55626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1544300" y="58483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544300" y="5848350"/>
            <a:ext cx="38100" cy="342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11715750" y="59055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2973050" y="59055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EVT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4020800" y="59055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5544800" y="59055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1544300" y="61912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1544300" y="6191250"/>
            <a:ext cx="38100" cy="3429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11715750" y="62484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2973050" y="62484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4020800" y="62484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5544800" y="62484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11544300" y="6667500"/>
            <a:ext cx="5829300" cy="25146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11544300" y="6667500"/>
            <a:ext cx="57150" cy="2514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11791950" y="6838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CROSS-METHOD CONSISTENCY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791950" y="7124700"/>
            <a:ext cx="52578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SHAP 與 LOPO 對 Risk / Trend / Valuation 三支柱結論一致；</a:t>
            </a:r>
            <a:r>
              <a:t/>
            </a:r>
            <a:br/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 在 SHAP 量值大 (0.147) 卻在 LOPO 為負 (-18.5)，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顯示 chip 特徵與其他支柱有相關性 → 集成中冗餘。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Top-10 Single Factors · 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Spearman IC over 4-fold OOS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A.10 · 單因子 IC 排行 Top-10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Top-10 Single Factors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排序前 10 大「能單獨打贏」的因子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3906500" cy="381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700" y="3028950"/>
            <a:ext cx="342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#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028950"/>
            <a:ext cx="3390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9700" y="3028950"/>
            <a:ext cx="1104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PILLAR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200" y="3028950"/>
            <a:ext cx="1676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 (Spearman)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028950"/>
            <a:ext cx="1866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53700" y="3028950"/>
            <a:ext cx="1866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AUC (OOS, single)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49200" y="302895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3147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33147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8700" y="34290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34290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volatility_20d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9700" y="34290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3200" y="34290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-0.082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4290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3700" y="34290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49200" y="34290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100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38100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8700" y="39243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39243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downside_dev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9700" y="39243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3200" y="39243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-0.071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39243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53700" y="39243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649200" y="39243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43053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43053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8700" y="44196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44196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macd_signal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9700" y="44196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53200" y="44196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44196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53700" y="44196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649200" y="44196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8006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0" y="48006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8700" y="49149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00200" y="49149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beta_60d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9700" y="49149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53200" y="49149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-0.061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58200" y="49149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53700" y="49149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649200" y="49149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52959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4400" y="52959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28700" y="54102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00200" y="54102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sma_5_20_ratio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19700" y="54102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53200" y="54102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58200" y="54102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53700" y="54102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649200" y="54102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" y="57912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14400" y="5791200"/>
            <a:ext cx="38100" cy="495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8700" y="59055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00200" y="59055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ret_20d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19700" y="59055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53200" y="59055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+0.055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58200" y="59055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53700" y="59055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0.609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49200" y="59055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14400" y="62865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0" y="6286500"/>
            <a:ext cx="38100" cy="495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28700" y="64008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00200" y="64008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news_sent_5d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19700" y="64008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53200" y="64008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58200" y="64008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53700" y="64008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649200" y="64008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14400" y="67818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14400" y="6781800"/>
            <a:ext cx="38100" cy="4953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28700" y="68961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00200" y="68961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foreign_inv_buy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19700" y="68961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53200" y="68961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+0.045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58200" y="68961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53700" y="68961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49200" y="68961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14400" y="72771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14400" y="7277100"/>
            <a:ext cx="38100" cy="4953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28700" y="73914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0200" y="73914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219700" y="73914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553200" y="73914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58200" y="73914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553700" y="73914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649200" y="73914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14400" y="77724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" y="77724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8700" y="78867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00200" y="78867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adx_14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219700" y="78867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53200" y="78867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58200" y="78867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53700" y="78867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0.587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49200" y="78867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INSIGHT · 單因子的天花板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單因子 AUC 上限 ~0.642 · 集成後達 0.6490；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集成才是 alpha 的關鍵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——任何單一因子在 OOS 都不足以承擔倉位決策。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Model Comparison · 4 Algorithms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4-fold mean ± std · Optuna 150 trials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A.11 · 演算法四模型對照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Algorithm Bake-off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XGBoost 勝出 · 但差距不大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3820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OOS AUC · 4-fold mean (vs 0.5 baseline)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4724400"/>
            <a:ext cx="1333500" cy="2971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5400" y="441960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540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XGBoost 1.7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5650" y="4838700"/>
            <a:ext cx="1333500" cy="2857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5150" y="453390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0.6432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515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LightGBM 4.x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05400" y="5133975"/>
            <a:ext cx="1333500" cy="256222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4829175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0.6285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490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15150" y="5734050"/>
            <a:ext cx="1333500" cy="19621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4650" y="542925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0.5984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465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Logistic L2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85900" y="7696200"/>
            <a:ext cx="7620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85900" y="8115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0.5 baseline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63100" y="2933700"/>
            <a:ext cx="7810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36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METRICS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53600" y="3429000"/>
            <a:ext cx="7810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67900" y="350520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6340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AUC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0165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3990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678150" y="3505200"/>
            <a:ext cx="1771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53600" y="3771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53600" y="377190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06000" y="39433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XGBoost 1.7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96340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0165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0.743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43990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678150" y="39433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WINNER · 採用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53600" y="4343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53600" y="434340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06000" y="45148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LightGBM 4.x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96340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0.6432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20165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0.721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43990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10.84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678150" y="45148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差距 0.6 pp · 訓練快 30%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53600" y="4914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753600" y="491490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06000" y="50863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96340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0.6285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20165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43990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8.92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678150" y="50863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泛化稍弱 · 可解釋強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3600" y="5486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753600" y="548640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06000" y="56578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Logistic L2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96340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0.5984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20165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0.413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43990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4.31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678150" y="56578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Linear baseline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XGBOOST · 為何採用 XGBoost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優勝差距僅 0.6 pp · 但其在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minority class (Top 0.1%) 的 ICIR / DSR 顯著最佳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；後續所有指標均以 XGBoost 為主模型。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AUC by Fold + DSR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DSR per Bailey &amp; López de Prado (2014)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A.12 · 4-Fold AUC + DSR 多重檢定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通過 150 trials 多重檢定 · p &lt; 0.001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97536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OOS AUC BY FOLD · expanding window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66900" y="4648200"/>
            <a:ext cx="1333500" cy="3162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76400" y="43624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0.6582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64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64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2017-19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62400" y="4953000"/>
            <a:ext cx="1333500" cy="2857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71900" y="46672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19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2020-21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57900" y="4819650"/>
            <a:ext cx="1333500" cy="29908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67400" y="4533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4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2022-23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53400" y="4914900"/>
            <a:ext cx="1333500" cy="2895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62900" y="46291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66900" y="4838700"/>
            <a:ext cx="6858000" cy="95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63000" y="47053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mean 0.6490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66900" y="7810500"/>
            <a:ext cx="6858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6900" y="8401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0.5 baseline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896600" y="2933700"/>
            <a:ext cx="647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896600" y="2933700"/>
            <a:ext cx="6477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125200" y="31623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DEFLATED SHARPE RATIO · 多重檢定校正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25200" y="3486150"/>
            <a:ext cx="6019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(p&lt;0.001)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125200" y="4210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25200" y="4400550"/>
            <a:ext cx="60198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= (SR̂ − E[max SR_n]) × √(T−1) / √(1 − γ₃·SR̂ + (γ₄−1)/4·SR̂²)</a:t>
            </a:r>
          </a:p>
          <a:p>
            <a:pPr algn="l">
              <a:lnSpc>
                <a:spcPct val="16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SR̂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觀測 Sharpe Ratio = 2.41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n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多重試驗 (Optuna trials) = 150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OOS 樣本期 (years) ≈ 8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γ₃, γ₄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報酬 skewness / kurtosis 校正項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125200" y="7219950"/>
            <a:ext cx="6019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25200" y="7334250"/>
            <a:ext cx="6019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解讀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25200" y="7600950"/>
            <a:ext cx="6019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&gt; 2 即顯著；本系統 12.12 為極強拒絕「運氣假說」的證據——150 次參數搜尋的選擇偏誤已被扣除。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STABILITY · 跨 fold 穩定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 fold AUC 標準差 0.005 · 最差 fold 0.6431 仍遠高於 0.5 baseline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系統不靠單一年份。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Threshold Sweep · 0.40 / 0.50 / 0.60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40 thresholds × 4-fold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A.13 · 三情境門檻設計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三情境門檻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攻擊 / 平衡 / 保守 · 對應不同投資人風險偏好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保守 · CONSERVATIVE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 ≥ 0.60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52.4%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+22.4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較少訊號 · 高勝率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平衡 · BALANCED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 ≥ 0.50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4.6%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46.1%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+16.1 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本系統預設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8872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攻擊 · AGGRESSIVE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1158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p ≥ 0.40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40195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58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158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1158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158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38.2%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158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1158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+8.2 pp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1158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訊號多 · 勝率較低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76962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" y="76962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INTERPRETATION · 投資人對照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2050" y="8153400"/>
            <a:ext cx="158877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本系統的門檻是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可調節的策略開關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；機構可挑保守、量化基金可挑攻擊。</a:t>
            </a:r>
            <a:r>
              <a:t/>
            </a:r>
            <a:br/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三情境的 IC / hit rate / edge 全部在 OOS 取得，已扣 5 bps 滑價假設。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Decile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OOS hit rate by predicted-prob decile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A.14 · 預測機率分位 × 命中率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十分位 hit rate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單調性無破口 · D10 達 47.8%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HIT RATE BY PREDICTED-PROB DECILE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000750"/>
            <a:ext cx="1047750" cy="1619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5400" y="57150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22.4%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5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09900" y="5829300"/>
            <a:ext cx="1047750" cy="1790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19400" y="55435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3900" y="5705475"/>
            <a:ext cx="1047750" cy="19145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54197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26.5%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57900" y="5591175"/>
            <a:ext cx="1047750" cy="20288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67400" y="53054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28.1%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1900" y="5467350"/>
            <a:ext cx="1047750" cy="2152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1400" y="51816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29.8%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1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05900" y="5334000"/>
            <a:ext cx="1047750" cy="228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50482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31.6%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29900" y="5200650"/>
            <a:ext cx="1047750" cy="2419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39400" y="49149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33.5%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39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153900" y="4991100"/>
            <a:ext cx="1047750" cy="2628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963400" y="47053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36.4%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963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677900" y="4638675"/>
            <a:ext cx="1047750" cy="29813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487400" y="43529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41.2%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487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201900" y="4162425"/>
            <a:ext cx="1047750" cy="3457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011400" y="387667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47.8%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011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85900" y="5448300"/>
            <a:ext cx="1562100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430500" y="52387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30% baseline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2677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14400" y="82677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MONOTONICITY · 機率排序與真實命中一致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2050" y="87249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十個分位無一破口 · 排序能力扎實；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D10 vs D1 spread = 25.4 pp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· 是策略中最關鍵的 alpha 來源。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此為 P.06 主簡報「47.8% hit @ D10」的詳細展開。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Equity Curve · Top 0.1% vs 0050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5 bps round-trip cost · 20-day rebalance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A.15 · 累積報酬曲線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Top 0.1% Strategy </a:t>
            </a:r>
            <a:r>
              <a:rPr sz="4000" b="1" i="0" spc="-8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vs </a:t>
            </a:r>
            <a:r>
              <a:rPr sz="4000" b="1" i="0" spc="-8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0050 ETF 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85900" y="77343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85900" y="3219450"/>
            <a:ext cx="9525" cy="4514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59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01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147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578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724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67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013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155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6301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590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5732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0878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8021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28750" y="77343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76390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28750" y="68389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67437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85900" y="68389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28750" y="59340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8388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85900" y="593407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28750" y="5029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49339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5900" y="50292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28750" y="41243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402907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85900" y="41243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428750" y="32194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31242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250%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85900" y="32194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1485900" y="7410450"/>
            <a:ext cx="2228850" cy="3238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4750" y="6981825"/>
            <a:ext cx="2228850" cy="42862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943600" y="6334125"/>
            <a:ext cx="2228850" cy="6477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172450" y="5838825"/>
            <a:ext cx="2228850" cy="4953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0401300" y="5172075"/>
            <a:ext cx="2228850" cy="6667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2630150" y="4343400"/>
            <a:ext cx="2228850" cy="8286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4859000" y="3552825"/>
            <a:ext cx="2228850" cy="7905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485900" y="7524750"/>
            <a:ext cx="2228850" cy="2095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714750" y="7229475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943600" y="7048500"/>
            <a:ext cx="2228850" cy="1809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172450" y="7048500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0401300" y="7105650"/>
            <a:ext cx="2228850" cy="2381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2630150" y="6800850"/>
            <a:ext cx="2228850" cy="3048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4859000" y="6515100"/>
            <a:ext cx="2228850" cy="2857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438275" y="76866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667125" y="736282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895975" y="6934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124825" y="62865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353675" y="5791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2582525" y="51244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4811375" y="42957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7040225" y="3505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447800" y="76962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676650" y="74866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905500" y="71913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134350" y="70104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0363200" y="73056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2592050" y="70675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4820900" y="67627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7049750" y="64770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5373350" y="3343275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+232%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373350" y="66103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+68%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714500" y="3448050"/>
            <a:ext cx="2286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19300" y="339090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Top 0.1% portfolio (avg 4 stocks)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714500" y="3733800"/>
            <a:ext cx="22860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019300" y="367665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0050 ETF (TWSE benchmark)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8585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585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+16.4%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0990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+6.7%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5765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+9.7 pp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585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863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0863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25780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25780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2.41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18185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0.78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2960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+1.63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5780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2583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2583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42975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2975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-18.2%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5380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-32.4%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40155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+14.2 pp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2975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34302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34302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360170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 (M)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60170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64%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552575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52%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57350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+12 pp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360170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Drawdown &amp; Cost Sensitivity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round-trip cost from 0 to 30 bps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A.16 · 回撤與交易成本敏感度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Cost Sensitivity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5 / 15 / 30 bps 三情境 · 策略仍正報酬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 bps ·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+16.4%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43434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2.41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94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-18.2%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本系統預設 · 散戶券商一般成本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15 bps ·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+12.1%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4343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58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1.78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58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-21.6%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重稅 / 較高滑價 · 多空組合場景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30 bps · WORST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158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+5.8%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1158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115800" y="4343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158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922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158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922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-25.4%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158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 · 流動性低 / 散戶高週轉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7315200"/>
            <a:ext cx="16459200" cy="1866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14400" y="7315200"/>
            <a:ext cx="57150" cy="1866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2050" y="7486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COST RESILIENCE · 成本韌性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2050" y="7772400"/>
            <a:ext cx="158877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即使在 30 bps 極端成本下，策略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仍維持 +5.8% CAGR · SR̂ 0.92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</a:t>
            </a:r>
            <a:r>
              <a:t/>
            </a:r>
            <a:br/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 bps base case 為散戶實際可達成之水準。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IMPLICATION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本策略不依賴零成本假設，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在合理交易成本下仍具實戰可用性。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Dashboard · 13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dashboard/ · Streamlit 1.31 · launch via `make serve`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A.17 · 互動儀表板 13 頁地圖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13-Page Interactive Dashboard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模型 / 解釋 / 文本 / 治理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58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Overview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系統首頁 · KPI 速讀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006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Health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PSI / KS 漂移監控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154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Feature Catalog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298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速查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2588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3258800" y="293370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4302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446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Model Performance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944600" y="340995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9446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AUC / ICIR / fold 切換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58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ICIR Heatmap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002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002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pillar × month 熱圖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006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150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 Explorer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50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150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Top-20 / 個股逐股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154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298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Decile Hit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298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298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D1-D10 命中率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2588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3258800" y="413385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34302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9446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Threshold Sweep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944600" y="461010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9446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 門檻 sweep 曲線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858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002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Backtest Equity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6002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6002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累積報酬 + 0050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0292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006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150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Drawdown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150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7150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回撤期間 + Calmar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440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154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298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Text Sentiment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8298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8298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500 keyword Lift × χ²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2588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32588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34302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9446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Daily Watchlist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9446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39446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今日訊號股 + Q1 警示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65341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6534150"/>
            <a:ext cx="39624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85850" y="67056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0200" y="67437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Governance Gates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600200" y="7010400"/>
            <a:ext cx="381000" cy="1905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600200" y="70866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9/9 閘門即時狀態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OPERATIONAL READY · 上線即用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Streamlit 部署，三秒切頁；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所有圖表皆可導出 PNG / 對應 JSON artifact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；研究員、PM、合規可同時使用同一頁面。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Asset ·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sentiment lexicon under src/text/lexicon/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A.18 · 文本資產總覽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1.12M articles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500 keywords · 自建台股情感詞表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ARTICLES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1,125,134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 來源 · 2008+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Bull 256 / Bear 244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ENTITY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tickers 涵蓋率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DEDUP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23%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MinHash LSH J ≥ 0.85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LEXICON CONSTRUCTION · 詞表建構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4900" y="5372100"/>
            <a:ext cx="771525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500-keyword 台股情感詞表 · 三步驟</a:t>
            </a:r>
          </a:p>
          <a:p>
            <a:pPr algn="l">
              <a:lnSpc>
                <a:spcPct val="155000"/>
              </a:lnSpc>
            </a:pPr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01  TF-IDF 候選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從 400k+ 高品質新聞抽 5,000 候選詞</a:t>
            </a:r>
            <a:r>
              <a:t/>
            </a:r>
            <a:br/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  Lift × χ² 過濾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計算每詞 Lift (vs neutral) 與卡方值 → 留 500</a:t>
            </a:r>
            <a:r>
              <a:t/>
            </a:r>
            <a:br/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03  專家校驗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兩位金融研究生雙盲標註 · κ = 0.78</a:t>
            </a:r>
          </a:p>
          <a:p>
            <a:pPr algn="l">
              <a:lnSpc>
                <a:spcPct val="155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為何不直接用通用情感詞表？</a:t>
            </a:r>
            <a:r>
              <a:t/>
            </a:r>
            <a:br/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LIWC / NTUSD 的「正面」≠ 股價的「正面」 (e.g. 「擴產」中性偏負，因稀釋EPS)</a:t>
            </a:r>
          </a:p>
          <a:p>
            <a:pPr algn="l">
              <a:lnSpc>
                <a:spcPct val="155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完整詞表參考 src/text/lexicon/twstock500.csv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7735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SOURCE BREAKDOWN · 15 來源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7735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77350" y="51435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86900" y="55245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Anue 鉅亨網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383000" y="55245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86900" y="59817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PTT Stock 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763500" y="6096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2763500" y="6096000"/>
            <a:ext cx="2571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383000" y="5981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86900" y="64389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經濟日報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763500" y="65532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2763500" y="6553200"/>
            <a:ext cx="1714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383000" y="64389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6900" y="68961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工商時報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763500" y="70104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763500" y="7010400"/>
            <a:ext cx="1571625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383000" y="68961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86900" y="73533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Money DJ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763500" y="74676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2763500" y="7467600"/>
            <a:ext cx="114300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383000" y="73533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86900" y="78105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Yahoo 股市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763500" y="7924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2763500" y="7924800"/>
            <a:ext cx="10001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383000" y="78105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7%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86900" y="82677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其他 9 來源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763500" y="8382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2763500" y="8382000"/>
            <a:ext cx="28575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6383000" y="8267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91059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" y="91059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2050" y="92392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15 來源 · 前 6 大占 80% · 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經濟日報 / 工商時報 / Anue 為新聞主幹；PTT 為散戶情緒主軸。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 Spectrum · Top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Lift = P(bull|word)/P(bull) · χ² independence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A.19 · 詞表光譜多空 Top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500 keywords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Lift × χ² 雙指標 · 顯示前 10 多空關鍵詞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134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05150"/>
            <a:ext cx="7677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BULL · 多方關鍵詞 (Lift &gt; 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57300" y="34861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3250" y="348615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6250" y="3486150"/>
            <a:ext cx="762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χ² rank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3886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01  創高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0" y="3943350"/>
            <a:ext cx="3171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3250" y="3886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2.42×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6250" y="3886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7300" y="4343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02  營收創高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0" y="4400550"/>
            <a:ext cx="30289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53250" y="4343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2.31×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6250" y="4343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1,654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7300" y="4800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03  法說會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0" y="4857750"/>
            <a:ext cx="26003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53250" y="4800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1.98×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6250" y="4800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1,428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57300" y="5257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04  擴產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0" y="5314950"/>
            <a:ext cx="251460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53250" y="5257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1.92×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5257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1,322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7300" y="5715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05  受惠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00400" y="5772150"/>
            <a:ext cx="2409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53250" y="5715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1.84×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6250" y="5715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57300" y="6172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06  重押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00400" y="6229350"/>
            <a:ext cx="23336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53250" y="6172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1.78×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96250" y="6172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57300" y="6629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07  升級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00400" y="6686550"/>
            <a:ext cx="22574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53250" y="6629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1.72×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96250" y="6629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1,186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57300" y="7086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08  看好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00400" y="7143750"/>
            <a:ext cx="22002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53250" y="7086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1.68×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96250" y="7086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2,842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57300" y="7543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09  題材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200400" y="7600950"/>
            <a:ext cx="21240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53250" y="7543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1.62×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96250" y="7543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1,942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57300" y="8001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10  新訂單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00400" y="8058150"/>
            <a:ext cx="20764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53250" y="8001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1.58×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96250" y="8001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784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925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239250" y="2933700"/>
            <a:ext cx="81343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467850" y="3105150"/>
            <a:ext cx="7677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BEAR · 空方關鍵詞 (Lift &gt; 1)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46785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82150" y="34861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278100" y="348615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6421100" y="3486150"/>
            <a:ext cx="762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χ² rank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82150" y="3886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01  砍單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52525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525250" y="3943350"/>
            <a:ext cx="37528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5278100" y="3886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2.86×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421100" y="3886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1,124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82150" y="4343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02  裁員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152525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525250" y="4400550"/>
            <a:ext cx="3333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5278100" y="4343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2.54×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421100" y="4343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82150" y="4800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03  下修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152525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525250" y="4857750"/>
            <a:ext cx="3171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5278100" y="4800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2.42×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6421100" y="4800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82150" y="5257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04  警報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152525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525250" y="5314950"/>
            <a:ext cx="28575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5278100" y="5257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2.18×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421100" y="5257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584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82150" y="5715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05  遞延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52525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525250" y="5772150"/>
            <a:ext cx="26765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5278100" y="5715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2.04×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6421100" y="5715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82150" y="6172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06  衰退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152525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525250" y="6229350"/>
            <a:ext cx="25146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5278100" y="6172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1.92×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421100" y="6172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1,462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582150" y="6629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07  低於預期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152525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1525250" y="6686550"/>
            <a:ext cx="2409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5278100" y="6629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1.84×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421100" y="6629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1,102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82150" y="7086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08  虧損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152525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1525250" y="7143750"/>
            <a:ext cx="23336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5278100" y="7086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1.78×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421100" y="7086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582150" y="7543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09  違約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152525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1525250" y="7600950"/>
            <a:ext cx="22574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5278100" y="7543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1.72×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6421100" y="7543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342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582150" y="8001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10  觀望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152525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525250" y="8058150"/>
            <a:ext cx="212407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5278100" y="8001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1.62×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421100" y="8001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2,104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14400" y="89154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914400" y="89154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62050" y="90487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空方 Lift 上限 (砍單 2.86×) &gt; 多方 (創高 2.42×) · 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空方詞訊號更強烈 · 解釋 Q1 contrarian 效應的源頭。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Quintile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forward 20-day excess return by quintile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A.20 · 情感五分位詳解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Confirmed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Q1 +3.2% · Q5 +2.4% · 中段為負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28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FORWARD 20-DAY EXCESS RETURN BY SENTIMENT QUINTILE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953250"/>
            <a:ext cx="83820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5900" y="4819650"/>
            <a:ext cx="1524000" cy="2133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5400" y="4533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4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
極負面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6600" y="6953250"/>
            <a:ext cx="1524000" cy="12001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86100" y="8229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-1.8%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61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Q2
偏負面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7300" y="6953250"/>
            <a:ext cx="1524000" cy="2667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76800" y="72961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-0.4%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Q3
中性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6553200"/>
            <a:ext cx="1524000" cy="400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7500" y="62674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75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Q4
偏正面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48700" y="5353050"/>
            <a:ext cx="1524000" cy="1600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50673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Q5
極正面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391900" y="29337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391900" y="2933700"/>
            <a:ext cx="59817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20500" y="31432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 contrarian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20500" y="34861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+3.2%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68400" y="35242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極端壞消息 → 過度反應 → 反彈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391900" y="43434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391900" y="4343400"/>
            <a:ext cx="59817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620500" y="45529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Q5 momentum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20500" y="48958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868400" y="49339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極端好消息 → 慣性延續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391900" y="57531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391900" y="5753100"/>
            <a:ext cx="5981700" cy="381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20500" y="59626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Q3 中性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20500" y="6305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-0.4%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868400" y="63436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無方向 · 雜訊主導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391900" y="71628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391900" y="7162800"/>
            <a:ext cx="59817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20500" y="73723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Spread Q1−Q3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20500" y="77152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+3.6 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868400" y="77533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對沖組合潛在 alpha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BEHAVIORAL FINANCE · 行為財務學印證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 反向效應 =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過度反應假說 (DeBondt &amp; Thaler 1985)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在台股的數據驗證 · 詳見 A.21。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Q1 Contrarian · Elaboration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DeBondt &amp; Thaler (1985) · empirical: artifact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A.21 · Q1 反向效應完整解讀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極負面 → 反彈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行為財務學的台股實證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62300"/>
            <a:ext cx="160782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THE FINDING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" y="3429000"/>
            <a:ext cx="160782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當輿情極度負面時 (Q1)，未來 20 日「期望報酬」反而變正 +3.2%；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3886200"/>
            <a:ext cx="160782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空頭過度反應 → 賣壓出清 → 散戶恐慌底 → 機構接手反彈。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6482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空頭過度反應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1912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極負面新聞 (e.g. 砍單、警報) 在 1-3 日內形成集體恐慌，技術線型急殺 5-10%。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46482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賣壓快速出清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61912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散戶停損賣出殆盡 · 融資餘額大降 · 週轉率異常高（90 日均 1.5×+）。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8872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887200" y="46482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158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158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158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機構低接 + 反彈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115800" y="61912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158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若基本面未受結構性傷害，外資 / 投信於 5-10 日後低接 · T+20 平均 +3.2%。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82677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82677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EXECUTION CAVEAT · 執行注意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2050" y="87249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此效應僅限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基本面未受結構性傷害的標的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；模型加入 ROE / debt 作 sanity guardrail，避免抄到「真的不行」的個股。</a:t>
            </a:r>
            <a:r>
              <a:t/>
            </a:r>
            <a:br/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回測 OOS 8 年仍穩定，但個股級執行需研究員 final call。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U-shape Multi-Horizon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forward 1d/5d/20d excess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A.22 · 多時間視窗 U-shape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多視窗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1日 / 5日 / 20日 三條曲線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HORIZON · T+1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一日內仍以慣性主導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47800" y="5219700"/>
            <a:ext cx="666750" cy="2000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7300" y="54578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62200" y="5219700"/>
            <a:ext cx="666750" cy="4667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71700" y="57245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71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6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861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86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91000" y="5219700"/>
            <a:ext cx="666750" cy="666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00500" y="53244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05400" y="5153025"/>
            <a:ext cx="666750" cy="666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14900" y="49053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14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4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HORIZON · T+5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反向效應開始浮現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94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34200" y="4953000"/>
            <a:ext cx="666750" cy="266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43700" y="47053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43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48600" y="5219700"/>
            <a:ext cx="666750" cy="533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58100" y="57912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58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7630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725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77400" y="5086350"/>
            <a:ext cx="66675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86900" y="48387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86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591800" y="4686300"/>
            <a:ext cx="666750" cy="53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01300" y="44386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+1.6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1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294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8872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1158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HORIZON · T+20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158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完整成型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1158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2420600" y="4152900"/>
            <a:ext cx="666750" cy="1066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230100" y="39052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230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335000" y="5219700"/>
            <a:ext cx="666750" cy="6000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144500" y="58578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144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42494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0589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058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163800" y="5019675"/>
            <a:ext cx="666750" cy="2000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973300" y="47720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4973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6078200" y="4419600"/>
            <a:ext cx="666750" cy="800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5887700" y="41719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887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1158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4400" y="81534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14400" y="81534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62050" y="8324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TIME EVOLUTION · 時間演化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2050" y="86106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反向效應在 T+1 尚未顯現 (慣性主導) · 在 T+5 開始浮現 · 在 T+20 完整成型；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建議交易視窗為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5-20 日期間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；亦支援 D20 為主標籤的設計選擇。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News × Forum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joint distribution news_sent × forum_sent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A.23 · 新聞 × 論壇 共識 2×2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Consensus / Divergence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新聞與論壇一致時訊號最強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685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BOTH BULL · 共識多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671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+4.1%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43624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5529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新聞正 + 論壇正 · 訊號最強烈 · 占樣本 18%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7900" y="31432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1000" y="2933700"/>
            <a:ext cx="6858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31432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NEWS BULL / FORUM BEAR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4671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+0.4%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43624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45529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新聞正 / 論壇負 · 散戶觀望 · 機構默買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44500" y="31432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5829300"/>
            <a:ext cx="68580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60388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NEWS BEAR / FORUM BULL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63627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-0.6%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2580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4485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新聞負 / 論壇正 · 散戶追高被套 · 警示區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7900" y="60388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01000" y="5829300"/>
            <a:ext cx="6858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60388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BOTH BEAR · 共識空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63627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7258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0" y="74485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新聞負 + 論壇負 · 反向效應 · 占樣本 14%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144500" y="60388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859000" y="2933700"/>
            <a:ext cx="2514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DECISION RULES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59000" y="33147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859000" y="3314700"/>
            <a:ext cx="2514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030450" y="34480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CONSENSUS_BULL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030450" y="36766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+4.1%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030450" y="39433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兩者皆 ≥ +1.5σ → 買進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859000" y="45720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859000" y="4572000"/>
            <a:ext cx="25146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30450" y="47053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CONTRARIAN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030450" y="49339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+1.8%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030450" y="52006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兩者皆 ≤ -1.5σ → 反向買進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859000" y="58293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4859000" y="5829300"/>
            <a:ext cx="2514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030450" y="59626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AVOID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030450" y="61912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+0.4%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030450" y="64579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news+ × forum− → 觀望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859000" y="70866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4859000" y="7086600"/>
            <a:ext cx="25146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5030450" y="72199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SHORT-LIST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030450" y="74485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-0.6%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030450" y="77152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news− × forum+ → 警示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CROSS-CHANNEL VALIDATION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兩源共識 (BOTH BULL) +4.1% &gt; 單源 ;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跨來源驗證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是訊號品質的關鍵濾網。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Coverage &amp; Daily Sentiment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1932 stocks × 4380 days panel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A.24 · 涵蓋率與每日情感序列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Coverage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文本訊號的「值不值得用」之衡量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50 STOCK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74%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1500+ 小型股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38%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 · 警示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PEAK ARTICLES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4,210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單日峰值 (2024-08)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DAILY MARKET SENTIMENT INDEX (2018-2025)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43500"/>
            <a:ext cx="16459200" cy="3619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85900" y="5429250"/>
            <a:ext cx="9525" cy="2990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859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001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147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290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36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578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24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867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013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155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6301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444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8590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5732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0878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8021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28750" y="84201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9650" y="832485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428750" y="76676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9650" y="757237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-0.5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76676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28750" y="69246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9650" y="682942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485900" y="6924675"/>
            <a:ext cx="1560195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428750" y="61817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9650" y="608647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485900" y="61817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28750" y="54292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9650" y="533400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+1.0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85900" y="54292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485900" y="6553200"/>
            <a:ext cx="533400" cy="1047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019300" y="6657975"/>
            <a:ext cx="533400" cy="8858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552700" y="6448425"/>
            <a:ext cx="542925" cy="10953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095625" y="6210300"/>
            <a:ext cx="533400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629025" y="6210300"/>
            <a:ext cx="542925" cy="9810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171950" y="7191375"/>
            <a:ext cx="533400" cy="6572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705350" y="7400925"/>
            <a:ext cx="542925" cy="4476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5248275" y="6981825"/>
            <a:ext cx="533400" cy="4191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781675" y="6657975"/>
            <a:ext cx="542925" cy="3238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6324600" y="6391275"/>
            <a:ext cx="533400" cy="2667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6858000" y="6305550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7400925" y="6305550"/>
            <a:ext cx="533400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7934325" y="6515100"/>
            <a:ext cx="542925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8477250" y="6753225"/>
            <a:ext cx="533400" cy="5238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9010650" y="7191375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9553575" y="6810375"/>
            <a:ext cx="533400" cy="3810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0086975" y="6448425"/>
            <a:ext cx="542925" cy="3619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0629900" y="615315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1163300" y="6153150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1706225" y="636270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2239625" y="6657975"/>
            <a:ext cx="542925" cy="4381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2782550" y="7096125"/>
            <a:ext cx="533400" cy="3048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3315950" y="71913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858875" y="6600825"/>
            <a:ext cx="533400" cy="590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4392275" y="63912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4935200" y="6210300"/>
            <a:ext cx="533400" cy="1809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5468600" y="6210300"/>
            <a:ext cx="542925" cy="952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6011525" y="6305550"/>
            <a:ext cx="533400" cy="3524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6544925" y="66579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5943600" y="5524500"/>
            <a:ext cx="9525" cy="2895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181600" y="55435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COVID-19 crash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14400" y="89154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14400" y="89154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62050" y="90487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極端事件 (COVID-19 / 2022 升息) 情感指數皆出現 -0.6 級重挫，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系統能即時捕捉市場情緒拐點。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Decay · PSI by Pillar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PSI computed on 30-day rolling window vs train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A.25 · 訊號衰減監控 9 支柱 PSI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PSI Drift Monitor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9 pillars × 30 日 · 文本 0.13 警告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POPULATION STABILITY INDEX BY PILLAR · 30-day rolling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0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4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5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7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0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1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2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85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7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8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1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2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4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7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8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00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2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4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5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8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0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1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4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25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37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60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715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829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43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57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72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86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00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15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629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743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858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72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86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200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315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29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543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58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772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886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001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115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229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343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458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572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86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801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915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029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144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58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372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486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601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715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829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944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058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172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287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401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15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629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744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858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972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087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201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1315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1430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544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658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772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1887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2001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2115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2230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2344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2458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573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2687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2801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291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303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314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325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337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348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60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371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383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394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405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417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28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440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451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463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474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485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497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508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520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531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543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554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65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77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588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600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611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623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634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645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657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668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680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691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703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6192500" y="65151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Warning 0.10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48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60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71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82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94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05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17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28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40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51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62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74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85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97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308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20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31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42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54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65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77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88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00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1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22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34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445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57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68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80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91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02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14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25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37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48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60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715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829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943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057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172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286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400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6515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629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743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6858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6972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086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7200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315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7429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7543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658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772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886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8001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115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229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343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458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8572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8686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8801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8915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9029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9144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9258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9372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486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601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9715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9829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9944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0058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10172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10287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0401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10515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10629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10744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0858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972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1087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11201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11315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11430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11544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11658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11772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1887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2001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2115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2230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344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2458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2573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2687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2801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1291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1303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314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325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337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1348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1360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371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383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1394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1405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1417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428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440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451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1463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474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1485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497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508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520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531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543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554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565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577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588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600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1611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1623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634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1645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657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668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680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691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1703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16192500" y="470535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Alert 0.25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1485900" y="7334250"/>
            <a:ext cx="1238250" cy="476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1295400" y="70485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0.04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295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3200400" y="7210425"/>
            <a:ext cx="1238250" cy="6000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3009900" y="6924675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0.05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3009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4914900" y="7086600"/>
            <a:ext cx="1238250" cy="723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4724400" y="68008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0.06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724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Momentum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629400" y="6972300"/>
            <a:ext cx="1238250" cy="8382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6438900" y="66865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0.07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6438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343900" y="7334250"/>
            <a:ext cx="1238250" cy="4762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8153400" y="70485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0.04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8153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10058400" y="6848475"/>
            <a:ext cx="1238250" cy="9620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9867900" y="6562725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0.08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9867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1772900" y="6724650"/>
            <a:ext cx="1238250" cy="10858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11582400" y="64389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0.09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1582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3487400" y="6248400"/>
            <a:ext cx="1238250" cy="1562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3296900" y="59626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0.13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13296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WARN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5201900" y="7086600"/>
            <a:ext cx="1238250" cy="723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15011400" y="68008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0.06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15011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EARLY WARNING · 早期警示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 0.13 已過 0.10 警告線 · 仍低於 0.25 alert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建議季度更新詞表 · 避免衰減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。其餘 8 支柱皆穩定。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Limitations &amp; 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Self-assessment per BCG due diligence template · open issues tracked at issues/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A.26 · 五大限制 + 五大未來方向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誠實的研究自評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Limitations &amp; Future 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194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LIMITATIONS · 五大限制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1623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900" y="33337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5450" y="33337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日頻限制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5450" y="36576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無 intraday 微結構訊號 (tick / order book)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2672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4900" y="44386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5450" y="44386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台股限制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5450" y="47625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未跨市場 (HK / SG / US ADR) · 政策外溢未建模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53721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4900" y="55435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5450" y="55435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黑天鵝盲點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5450" y="58674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極端事件 (戰爭 / 疫情) 訓練樣本稀少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6477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4900" y="66484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5450" y="66484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文本來源偏誤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5450" y="69723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40% 集中於 Top 5 熱門股 · 中小型股訊號薄弱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75819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4900" y="7753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5450" y="77533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靜態詞表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5450" y="80772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500 詞表為 2024 校驗 · 半年衰減 PSI &gt; 0.1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7350" y="28194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— FUTURE WORK · 五大未來方向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7735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77350" y="31623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67850" y="33337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33337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加入 Intraday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36576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tick / 1-min K · order flow imbalance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7735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277350" y="42672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67850" y="44386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44386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跨市場 portfolio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0" y="47625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TW + HK + ADR · 統一 9-pillar · ~5,000 stocks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735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277350" y="53721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67850" y="55435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0" y="55435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線上學習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58674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EWMA + concept drift detection · 月更新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735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277350" y="64770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67850" y="66484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66484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LLM 輔助情感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69723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GPT / Llama embedding 取代部分詞表 · 強化中小型股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7735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277350" y="75819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67850" y="7753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77533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因果機制建模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80772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do-calculus + IV · 從相關走向因果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87630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4400" y="87630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62050" y="88963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系統設計時即承認自身邊界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誠實 &gt; 過譽 · 這是 v11.5.17 與一般學術原型最根本的差別。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Bibliography · 15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自行整理· all referenced in code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A.27 · 參考文獻四大領域 15 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Standing on Shoulders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方法論立基於 50 年量化研究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METHODOLOGY · 方法論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05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3505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López de Prado (2018). Advances in Financial Machine Learning. Wiley.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19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4019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Bailey &amp; López de Prado (2014). The Deflated Sharpe Ratio. SSRN 2460551.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5339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3500" y="45339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Harvey, Liu &amp; Zhu (2016). … and the Cross-Section of Expected Returns. RFS 29(1).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0482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3500" y="50482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Lopez de Prado &amp; Lewis (2019). Detection of False Investment Strategies. JPM 45.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925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39250" y="29337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7850" y="31432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FACTOR MODELS · 因子模型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7850" y="3505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8350" y="3505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Fama &amp; French (1993). Common Risk Factors in the Returns on Stocks and Bonds. JFE 33.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850" y="4019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8350" y="4019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Carhart (1997). On Persistence in Mutual Fund Performance. JF 52.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7850" y="45339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8350" y="45339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Asness, Moskowitz &amp; Pedersen (2013). Value and Momentum Everywhere. JF 68.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7850" y="50482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58350" y="50482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Hou, Xue &amp; Zhang (2015). Digesting Anomalies: An Investment Approach. RFS 28.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6096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63055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BEHAVIORAL FINANCE · 行為財務學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66675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33500" y="66675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DeBondt &amp; Thaler (1985). Does the Stock Market Overreact? JF 40.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1818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33500" y="71818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Tetlock (2007). Giving Content to Investor Sentiment. JF 62.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7696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33500" y="7696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Loughran &amp; McDonald (2011). When Is a Liability Not a Liability? JF 66.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3925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239250" y="6096000"/>
            <a:ext cx="80962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67850" y="63055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ML &amp; TEXT · 機器學習與文本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67850" y="66675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58350" y="66675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Chen &amp; Guestrin (2016). XGBoost: A Scalable Tree Boosting System. KDD.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67850" y="71818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58350" y="71818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Lundberg &amp; Lee (2017). A Unified Approach to Interpreting Model Predictions. NeurIPS.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7850" y="7696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58350" y="7696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Ke et al. (2017). LightGBM: A Highly Efficient Gradient Boosting Decision Tree. NeurIPS.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67850" y="8210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58350" y="8210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Ardia et al. (2021). Sentometrics: Computing Time Series of Sentiment. JSS 99.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90678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4400" y="90678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62050" y="9201150"/>
            <a:ext cx="15887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所有方法論皆有同行審核之文獻支撐；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本系統為 50 年量化文獻在台股的工程實作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Tools · Python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requirements.txt · pyproject.toml · 5 functional groups × 3 libs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A.28 · 工具棧 15 個核心套件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Python Stack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Data → ML → NLP → Viz → 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3337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39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· 資料層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23950" y="36766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82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pandas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2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82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panel data 主鍵對齊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23950" y="45529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82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numpy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向量運算 / 統計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23950" y="54292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382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duckdb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v0.10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本地 OLAP · WAL off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6245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62450" y="2933700"/>
            <a:ext cx="33337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ML · 模型層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6766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630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630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v1.7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630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★ winner · D+20 AUC 0.6455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45529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8630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lightgbm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8630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v4.x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8630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次佳引擎 · D+20 AUC 0.6391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54292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8630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scikit-learn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630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v1.5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630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preprocess / metrics / split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105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10500" y="2933700"/>
            <a:ext cx="33337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200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TUNE · 搜尋層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20050" y="36766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343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optuna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43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v3.6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43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TPE Sampler · 50 trials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20050" y="45529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343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43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v0.46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43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tree explainer · top-20 features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20050" y="54292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343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joblib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43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v1.4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43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model serialization · 6 horizons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25855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258550" y="2933700"/>
            <a:ext cx="33337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46810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NLP · 文本層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68100" y="36766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58240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jieba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58240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v0.42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58240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中文斷詞 · 自定義金融詞典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468100" y="45529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58240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snownlp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58240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v0.12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8240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中文情緒五桶分位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468100" y="54292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58240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wordcloud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8240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v1.9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58240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視覺化 · Q1 vs Q5 對比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47066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706600" y="2933700"/>
            <a:ext cx="33337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49161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VIZ + GOV · 服務層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4916150" y="36766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50304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streamlit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0304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v1.39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0304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13 頁互動儀表板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916150" y="45529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50304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plotly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0304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v5.24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0304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dark-glint chart 語言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4916150" y="54292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50304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matplotlib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0304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v3.9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0304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static report figures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4400" y="6667500"/>
            <a:ext cx="16459200" cy="2095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14400" y="6667500"/>
            <a:ext cx="57150" cy="2095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62050" y="6838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THIS STACK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62050" y="7124700"/>
            <a:ext cx="15887700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純 Python · MIT/Apache 授權 · 全部可在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Streamlit Cloud / Docker / Conda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本地或雲端重現；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+ LightGBM 雙引擎並行 · </a:t>
            </a: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Optuna 150 trials × 6 horizon × engine = 900 次搜尋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；SHAP 提供個股可解釋性、Streamlit 13 頁將模型結果暴露給研究員與經理人。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AUDIT</a:t>
            </a:r>
            <a:r>
              <a:t/>
            </a:r>
            <a:br/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所有依賴版本鎖在 </a:t>
            </a: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requirements.txt</a:t>
            </a: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、commit hash + joblib 同步、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任何一段績效都可從原始資料 → 重現到分數差 &lt; 1e-6。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Methodology · 5 Core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· Bailey &amp; López de Prado (2014) · Lundberg &amp; Lee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A.29 · 方法論詳述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Method × Application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從學術到實證的 1:1 對應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76200" cy="1028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150" y="30861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600" y="31242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Purged WF-CV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2600" y="33909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時序交叉驗證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2600" y="37147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López de Prado (2018) §7.4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5900" y="30861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95900" y="32956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29250" y="32956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Fold k 之 train ∩ test̂(t±h) = 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30861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8000" y="32956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 fold × 20 日 embargo · 防止 D+20 標籤跨期重疊洩漏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0386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4038600"/>
            <a:ext cx="76200" cy="10287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00150" y="4191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2600" y="42291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Deflated Sharpe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2600" y="44958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多重檢定校正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52600" y="48196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Bailey &amp; López de Prado (2014)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95900" y="41910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5900" y="44005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29250" y="44005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= (SR̂ − E[max SR_n]) · √(T−1) / Φ⁻¹(1−α)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68000" y="41910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68000" y="44005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原始 SR̂ 2.41 → DSR 12.12 · 扣 150 trials skew/kurt 後 p ≪ 0.001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5143500"/>
            <a:ext cx="76200" cy="1028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0150" y="52959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52600" y="53340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LOPO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52600" y="56007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支柱貢獻分析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2600" y="59245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Custom · feature ablation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95900" y="52959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5900" y="55054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29250" y="55054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ΔAUC_p = AUC(全 91) − AUC(91 \ pillar p)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68000" y="52959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68000" y="55054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Risk +138.6 bps · Trend +64.9 · Chip / Event / Industry 共 −49 bps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62484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14400" y="6248400"/>
            <a:ext cx="7620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00150" y="64008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52600" y="64389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SHAP TreeExplainer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52600" y="67056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個股可解釋性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52600" y="70294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Lundberg &amp; Lee (2017)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95900" y="64008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95900" y="66103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29250" y="66103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φ_i(x) = E[f(x) | x_i] − E[f(x)]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68000" y="64008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68000" y="66103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Top 20 全局特徵 · per-stock 解釋 → Streamlit 個股檢視頁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73533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4400" y="7353300"/>
            <a:ext cx="76200" cy="10287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00150" y="75057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52600" y="75438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PSI / KS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52600" y="78105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漂移監控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52600" y="81343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Basel III FRTB · industry standard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95900" y="75057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95900" y="77152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29250" y="77152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PSI = Σ (p_i − q_i) ln(p_i / q_i)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68000" y="75057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68000" y="77152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月測 · Text PSI 0.13 觸發 WARN · 對策每月詞向量重新訓練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83820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" y="83820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2050" y="8553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METHOD-TO-EVIDENCE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62050" y="8839200"/>
            <a:ext cx="158877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每個結論都可逆向追溯到一個方法、每個方法都有一篇引用文獻；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這 5 大方法疊加 =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從原始資料到 9 / 9 治理關卡 PASS 的審計鏈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&amp; Extended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TWSE / TPEx · 公開資訊觀測站 · CMoney 文本 · 課程指定資料庫 BDA-2026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A.30 · 資料來源 + 延伸期刊文獻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Provenance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每筆樣本可回溯至公開來源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194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· 資料來源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1051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10515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3147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PRICE /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6195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TWSE · TPEx · 公開資訊觀測站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195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1,930 檔股票 × 505 交易日 · OHLCV + 融資融券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148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data/raw/stock_prices.parquet · 4.2 GB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0482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504825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2578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FUNDAMENTALS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5626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財報資料庫 · 季頻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9626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IFRS 報表三表 · 主鍵 (stock_id, period) · lag 45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64579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data/raw/financial_statements.parquet · 312 MB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69913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" y="6991350"/>
            <a:ext cx="80962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TEXT CORPUS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75057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CMoney 新聞 + PTT Stock 論壇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79057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948K 文本 · T 日 15:00 截止 · 自定義金融詞典 1,521 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84010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data/raw/text/ · 8.7 GB · jieba 斷詞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34500" y="28194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EXTENDED REFERENCES · 延伸文獻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34500" y="310515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34500" y="3105150"/>
            <a:ext cx="803910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44050" y="32766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TAIWAN MARKET · 台股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44050" y="34671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6450" y="34671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Lin &amp; Lee (2010). 台股報酬可預測性. 臺大管理論叢 21(1).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4050" y="36766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6450" y="36766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張 (2018). 台灣股市規模效應與動能效應. 中山管理評論 26(2).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516350" y="3752850"/>
            <a:ext cx="762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+ 1 more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34500" y="403860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34500" y="4038600"/>
            <a:ext cx="80391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44050" y="42100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TIME-SERIES VALIDATION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44050" y="44005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6450" y="44005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Cerqueira et al. (2020). Evaluating time series forecasting models. ML 109.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44050" y="46101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6450" y="46101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Hyndman &amp; Athanasopoulos (2021). Forecasting: Principles and Practice (3e).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34500" y="497205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34500" y="4972050"/>
            <a:ext cx="80391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44050" y="51435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GOVERNANCE · 治理規範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44050" y="53340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6450" y="53340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Basel III · FRTB (2019). Minimum capital requirements for market risk.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44050" y="55435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6450" y="55435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EU AI Act (2024). High-risk AI systems Article 9 — risk management.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34500" y="590550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334500" y="5905500"/>
            <a:ext cx="8039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44050" y="60769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DATA &amp; TOOLING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4050" y="62674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96450" y="62674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McKinney (2011). pandas: a Foundational Python Library for DA. PyHPC.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44050" y="64770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96450" y="64770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Akiba et al. (2019). Optuna: A Next-generation Hyperparameter Optimization Framework. KDD.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516350" y="6553200"/>
            <a:ext cx="762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+ 1 more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" y="882015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4400" y="882015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62050" y="89916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PROVENANCE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62050" y="927735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948,976 筆樣本 · 1,623 候選因子 · 91 篩選後特徵 · 全部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 SQL 可回溯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；本研究遵循 BDA-2026 課程資料規範、所有外部引用標明出處、所有方法論可獨立復現。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